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0F2B46"/>
                </a:solidFill>
                <a:latin typeface="Microsoft YaHei"/>
              </a:defRPr>
            </a:pPr>
            <a:r>
              <a:t>英国三明治站点 · 产能建设进展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A6A7A"/>
                </a:solidFill>
                <a:latin typeface="Microsoft YaHei"/>
              </a:defRPr>
            </a:pPr>
            <a:r>
              <a:t>研发支撑能力升级  |  2026年7月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170432"/>
            <a:ext cx="3063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1298448"/>
            <a:ext cx="54864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F2B46"/>
                </a:solidFill>
                <a:latin typeface="Microsoft YaHei"/>
              </a:defRPr>
            </a:pPr>
            <a:r>
              <a:t>B902 东侧扩建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627632"/>
            <a:ext cx="2807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A6A7A"/>
                </a:solidFill>
                <a:latin typeface="Microsoft YaHei"/>
              </a:defRPr>
            </a:pPr>
            <a:r>
              <a:t>新增规模化产能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20240"/>
            <a:ext cx="280720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定位：</a:t>
            </a:r>
            <a:r>
              <a:rPr b="0">
                <a:solidFill>
                  <a:srgbClr val="2C3E50"/>
                </a:solidFill>
              </a:rPr>
              <a:t>反应、加氢、过滤干燥能力提升，支撑英国中长期产能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范围：</a:t>
            </a:r>
            <a:r>
              <a:rPr b="0">
                <a:solidFill>
                  <a:srgbClr val="2C3E50"/>
                </a:solidFill>
              </a:rPr>
              <a:t>东侧新建四层主体及设备夹层，总建筑面积约 3,099 平方米；10 台反应釜、2,500 升加氢釜、3 套过滤干燥机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投资：</a:t>
            </a:r>
            <a:r>
              <a:rPr b="0">
                <a:solidFill>
                  <a:srgbClr val="2C3E50"/>
                </a:solidFill>
              </a:rPr>
              <a:t>可行性阶段投资测算已完成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进展：</a:t>
            </a:r>
            <a:r>
              <a:rPr b="0">
                <a:solidFill>
                  <a:srgbClr val="2C3E50"/>
                </a:solidFill>
              </a:rPr>
              <a:t>可行性研究已完成（2026年5月）；后续进入概念设计及详细设计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节点：</a:t>
            </a:r>
            <a:r>
              <a:rPr b="0">
                <a:solidFill>
                  <a:srgbClr val="2C3E50"/>
                </a:solidFill>
              </a:rPr>
              <a:t>规划许可 → 施工建设 → 2030年5月竣工目标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1170432"/>
            <a:ext cx="3063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5032" y="1298448"/>
            <a:ext cx="54864" cy="3474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298448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F2B46"/>
                </a:solidFill>
                <a:latin typeface="Microsoft YaHei"/>
              </a:defRPr>
            </a:pPr>
            <a:r>
              <a:t>B902 既有厂房改造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1627632"/>
            <a:ext cx="2807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A6A7A"/>
                </a:solidFill>
                <a:latin typeface="Microsoft YaHei"/>
              </a:defRPr>
            </a:pPr>
            <a:r>
              <a:t>近期投产能力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1920240"/>
            <a:ext cx="280720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定位：</a:t>
            </a:r>
            <a:r>
              <a:rPr b="0">
                <a:solidFill>
                  <a:srgbClr val="2C3E50"/>
                </a:solidFill>
              </a:rPr>
              <a:t>在现有厂房内补齐制备液相色谱、冻干及五级密闭日常运行能力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制备液相色谱 + 冻干：</a:t>
            </a:r>
            <a:r>
              <a:rPr b="0">
                <a:solidFill>
                  <a:srgbClr val="2C3E50"/>
                </a:solidFill>
              </a:rPr>
              <a:t>技术可行性研究已完成；投资测算已完成；冻干长周期驱动分期实施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C1 模块五级密闭升级：</a:t>
            </a:r>
            <a:r>
              <a:rPr b="0">
                <a:solidFill>
                  <a:srgbClr val="2C3E50"/>
                </a:solidFill>
              </a:rPr>
              <a:t>范围与费用测算已完成；须与液相色谱改造同步交付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>
                <a:solidFill>
                  <a:srgbClr val="2C3E50"/>
                </a:solidFill>
              </a:rPr>
              <a:t>改造线优先兑现 2027 年可运行能力；与扩建线并行、分阶段投产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1170432"/>
            <a:ext cx="3063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298448"/>
            <a:ext cx="54864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1298448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F2B46"/>
                </a:solidFill>
                <a:latin typeface="Microsoft YaHei"/>
              </a:defRPr>
            </a:pPr>
            <a:r>
              <a:t>高活实验室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627632"/>
            <a:ext cx="2807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A6A7A"/>
                </a:solidFill>
                <a:latin typeface="Microsoft YaHei"/>
              </a:defRPr>
            </a:pPr>
            <a:r>
              <a:t>新增高活运行能力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20240"/>
            <a:ext cx="280720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定位：</a:t>
            </a:r>
            <a:r>
              <a:rPr b="0">
                <a:solidFill>
                  <a:srgbClr val="2C3E50"/>
                </a:solidFill>
              </a:rPr>
              <a:t>新增高活实验与运行能力，与五级密闭升级及制备液相色谱能力衔接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投资：</a:t>
            </a:r>
            <a:r>
              <a:rPr b="0">
                <a:solidFill>
                  <a:srgbClr val="2C3E50"/>
                </a:solidFill>
              </a:rPr>
              <a:t>投资测算同步推进中</a:t>
            </a:r>
          </a:p>
          <a:p>
            <a:pPr>
              <a:spcAft>
                <a:spcPts val="700"/>
              </a:spcAft>
              <a:defRPr sz="1050">
                <a:latin typeface="Microsoft YaHei"/>
              </a:defRPr>
            </a:pPr>
            <a:r>
              <a:rPr b="1">
                <a:solidFill>
                  <a:srgbClr val="0F2B46"/>
                </a:solidFill>
              </a:rPr>
              <a:t>进展：</a:t>
            </a:r>
            <a:r>
              <a:rPr b="0">
                <a:solidFill>
                  <a:srgbClr val="2C3E50"/>
                </a:solidFill>
              </a:rPr>
              <a:t>已与三明治站点、发现园进行多轮接洽；完成布局初步合理设计与设备数量测算，初步确认可行性，选定空间并完成设计准备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170432"/>
            <a:ext cx="1828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280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F2B46"/>
                </a:solidFill>
                <a:latin typeface="Microsoft YaHei"/>
              </a:defRPr>
            </a:pPr>
            <a:r>
              <a:t>园区布局示意（概念阶段）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673352"/>
            <a:ext cx="1417320" cy="960120"/>
          </a:xfrm>
          <a:prstGeom prst="rect">
            <a:avLst/>
          </a:prstGeom>
          <a:solidFill>
            <a:srgbClr val="E8EEF4"/>
          </a:solidFill>
          <a:ln>
            <a:solidFill>
              <a:srgbClr val="9AA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82880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0F2B46"/>
                </a:solidFill>
                <a:latin typeface="Microsoft YaHei"/>
              </a:defRPr>
            </a:pPr>
            <a:r>
              <a:t>既有 B902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5A6A7A"/>
                </a:solidFill>
                <a:latin typeface="Microsoft YaHei"/>
              </a:defRPr>
            </a:pPr>
            <a:r>
              <a:t>改造区</a:t>
            </a:r>
            <a:br/>
            <a:r>
              <a:t>（色谱/冻干/密闭升级）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04320" y="1673352"/>
            <a:ext cx="1051560" cy="960120"/>
          </a:xfrm>
          <a:prstGeom prst="rect">
            <a:avLst/>
          </a:prstGeom>
          <a:solidFill>
            <a:srgbClr val="D9EAE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67160" y="1883664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009688"/>
                </a:solidFill>
                <a:latin typeface="Microsoft YaHei"/>
              </a:defRPr>
            </a:pPr>
            <a:r>
              <a:t>东侧扩建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5A6A7A"/>
                </a:solidFill>
                <a:latin typeface="Microsoft YaHei"/>
              </a:defRPr>
            </a:pPr>
            <a:r>
              <a:t>反应/加氢/过滤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2770632"/>
            <a:ext cx="2560320" cy="502920"/>
          </a:xfrm>
          <a:prstGeom prst="rect">
            <a:avLst/>
          </a:prstGeom>
          <a:solidFill>
            <a:srgbClr val="FBF3E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8895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C9A227"/>
                </a:solidFill>
                <a:latin typeface="Microsoft YaHei"/>
              </a:defRPr>
            </a:pPr>
            <a:r>
              <a:t>高活实验室（已选空间 · 布局初定）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9834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A6A7A"/>
                </a:solidFill>
                <a:latin typeface="Microsoft YaHei"/>
              </a:defRPr>
            </a:pPr>
            <a:r>
              <a:t>可替换为实际效果图或正式平面布置图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486400"/>
            <a:ext cx="3703320" cy="658368"/>
          </a:xfrm>
          <a:prstGeom prst="roundRect">
            <a:avLst/>
          </a:prstGeom>
          <a:solidFill>
            <a:srgbClr val="F4F6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77840"/>
            <a:ext cx="3374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F2B46"/>
                </a:solidFill>
                <a:latin typeface="Microsoft YaHei"/>
              </a:defRPr>
            </a:pPr>
            <a:r>
              <a:t>可行性研究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5A6A7A"/>
                </a:solidFill>
                <a:latin typeface="Microsoft YaHei"/>
              </a:defRPr>
            </a:pPr>
            <a:r>
              <a:t>扩建 / 改造 已完成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4528" y="5486400"/>
            <a:ext cx="3703320" cy="658368"/>
          </a:xfrm>
          <a:prstGeom prst="roundRect">
            <a:avLst/>
          </a:prstGeom>
          <a:solidFill>
            <a:srgbClr val="F4F6F8"/>
          </a:solidFill>
          <a:ln>
            <a:solidFill>
              <a:srgbClr val="0F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577840"/>
            <a:ext cx="3374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F2B46"/>
                </a:solidFill>
                <a:latin typeface="Microsoft YaHei"/>
              </a:defRPr>
            </a:pPr>
            <a:r>
              <a:t>投资测算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5A6A7A"/>
                </a:solidFill>
                <a:latin typeface="Microsoft YaHei"/>
              </a:defRPr>
            </a:pPr>
            <a:r>
              <a:t>扩建 / 改造 已完成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5486400"/>
            <a:ext cx="3703320" cy="658368"/>
          </a:xfrm>
          <a:prstGeom prst="roundRect">
            <a:avLst/>
          </a:prstGeom>
          <a:solidFill>
            <a:srgbClr val="F4F6F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577840"/>
            <a:ext cx="3374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F2B46"/>
                </a:solidFill>
                <a:latin typeface="Microsoft YaHei"/>
              </a:defRPr>
            </a:pPr>
            <a:r>
              <a:t>高活实验室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5A6A7A"/>
                </a:solidFill>
                <a:latin typeface="Microsoft YaHei"/>
              </a:defRPr>
            </a:pPr>
            <a:r>
              <a:t>布局与空间已初步确定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