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92" r:id="rId43"/>
    <p:sldId id="288" r:id="rId34"/>
    <p:sldId id="289" r:id="rId35"/>
    <p:sldId id="290" r:id="rId36"/>
    <p:sldId id="291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300" y="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0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直接工程费</c:v>
                </c:pt>
              </c:strCache>
            </c:strRef>
          </c:tx>
          <c:spPr>
            <a:solidFill>
              <a:srgbClr val="0F2B46"/>
            </a:solidFill>
          </c:spPr>
          <c:invertIfNegative val="1"/>
          <c:cat>
            <c:strRef>
              <c:f>Sheet1!$A$2:$A$2</c:f>
              <c:strCache>
                <c:ptCount val="1"/>
                <c:pt idx="0">
                  <c:v>项目 OOM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59489961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AAF-4E79-B91E-CFC30B612CC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其他项目费</c:v>
                </c:pt>
              </c:strCache>
            </c:strRef>
          </c:tx>
          <c:spPr>
            <a:solidFill>
              <a:srgbClr val="1A4A6E"/>
            </a:solidFill>
          </c:spPr>
          <c:invertIfNegative val="1"/>
          <c:cat>
            <c:strRef>
              <c:f>Sheet1!$A$2:$A$2</c:f>
              <c:strCache>
                <c:ptCount val="1"/>
                <c:pt idx="0">
                  <c:v>项目 OOM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5077946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AAF-4E79-B91E-CFC30B612CC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一般风险与预备费</c:v>
                </c:pt>
              </c:strCache>
            </c:strRef>
          </c:tx>
          <c:spPr>
            <a:solidFill>
              <a:srgbClr val="009688"/>
            </a:solidFill>
          </c:spPr>
          <c:invertIfNegative val="1"/>
          <c:cat>
            <c:strRef>
              <c:f>Sheet1!$A$2:$A$2</c:f>
              <c:strCache>
                <c:ptCount val="1"/>
                <c:pt idx="0">
                  <c:v>项目 OOM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13540182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AAF-4E79-B91E-CFC30B612C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layout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zh-CN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c:style val="2"/>
  <c:chart>
    <c:title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£</c:v>
                </c:pt>
              </c:strCache>
            </c:strRef>
          </c:tx>
          <c:dPt>
            <c:idx val="0"/>
            <c:bubble3D val="0"/>
            <c:spPr>
              <a:solidFill>
                <a:srgbClr val="0F2B46"/>
              </a:solidFill>
            </c:spPr>
            <c:extLst>
              <c:ext xmlns:c16="http://schemas.microsoft.com/office/drawing/2014/chart" uri="{C3380CC4-5D6E-409C-BE32-E72D297353CC}">
                <c16:uniqueId val="{00000001-B306-4629-ACAC-21F1DC9C074E}"/>
              </c:ext>
            </c:extLst>
          </c:dPt>
          <c:dPt>
            <c:idx val="1"/>
            <c:bubble3D val="0"/>
            <c:spPr>
              <a:solidFill>
                <a:srgbClr val="1A4A6E"/>
              </a:solidFill>
            </c:spPr>
            <c:extLst>
              <c:ext xmlns:c16="http://schemas.microsoft.com/office/drawing/2014/chart" uri="{C3380CC4-5D6E-409C-BE32-E72D297353CC}">
                <c16:uniqueId val="{00000003-B306-4629-ACAC-21F1DC9C074E}"/>
              </c:ext>
            </c:extLst>
          </c:dPt>
          <c:dPt>
            <c:idx val="2"/>
            <c:bubble3D val="0"/>
            <c:spPr>
              <a:solidFill>
                <a:srgbClr val="009688"/>
              </a:solidFill>
            </c:spPr>
            <c:extLst>
              <c:ext xmlns:c16="http://schemas.microsoft.com/office/drawing/2014/chart" uri="{C3380CC4-5D6E-409C-BE32-E72D297353CC}">
                <c16:uniqueId val="{00000005-B306-4629-ACAC-21F1DC9C074E}"/>
              </c:ext>
            </c:extLst>
          </c:dPt>
          <c:dPt>
            <c:idx val="3"/>
            <c:bubble3D val="0"/>
            <c:spPr>
              <a:solidFill>
                <a:srgbClr val="C9A227"/>
              </a:solidFill>
            </c:spPr>
            <c:extLst>
              <c:ext xmlns:c16="http://schemas.microsoft.com/office/drawing/2014/chart" uri="{C3380CC4-5D6E-409C-BE32-E72D297353CC}">
                <c16:uniqueId val="{00000007-B306-4629-ACAC-21F1DC9C074E}"/>
              </c:ext>
            </c:extLst>
          </c:dPt>
          <c:dPt>
            <c:idx val="4"/>
            <c:bubble3D val="0"/>
            <c:spPr>
              <a:solidFill>
                <a:srgbClr val="5B6EAE"/>
              </a:solidFill>
            </c:spPr>
            <c:extLst>
              <c:ext xmlns:c16="http://schemas.microsoft.com/office/drawing/2014/chart" uri="{C3380CC4-5D6E-409C-BE32-E72D297353CC}">
                <c16:uniqueId val="{00000009-B306-4629-ACAC-21F1DC9C074E}"/>
              </c:ext>
            </c:extLst>
          </c:dPt>
          <c:dPt>
            <c:idx val="5"/>
            <c:bubble3D val="0"/>
            <c:spPr>
              <a:solidFill>
                <a:srgbClr val="2E6DA4"/>
              </a:solidFill>
            </c:spPr>
            <c:extLst>
              <c:ext xmlns:c16="http://schemas.microsoft.com/office/drawing/2014/chart" uri="{C3380CC4-5D6E-409C-BE32-E72D297353CC}">
                <c16:uniqueId val="{0000000B-B306-4629-ACAC-21F1DC9C074E}"/>
              </c:ext>
            </c:extLst>
          </c:dPt>
          <c:dPt>
            <c:idx val="6"/>
            <c:bubble3D val="0"/>
            <c:spPr>
              <a:solidFill>
                <a:srgbClr val="8A9BAE"/>
              </a:solidFill>
            </c:spPr>
            <c:extLst>
              <c:ext xmlns:c16="http://schemas.microsoft.com/office/drawing/2014/chart" uri="{C3380CC4-5D6E-409C-BE32-E72D297353CC}">
                <c16:uniqueId val="{0000000D-B306-4629-ACAC-21F1DC9C074E}"/>
              </c:ext>
            </c:extLst>
          </c:dPt>
          <c:dPt>
            <c:idx val="7"/>
            <c:bubble3D val="0"/>
            <c:spPr>
              <a:solidFill>
                <a:srgbClr val="0F2B46"/>
              </a:solidFill>
            </c:spPr>
            <c:extLst>
              <c:ext xmlns:c16="http://schemas.microsoft.com/office/drawing/2014/chart" uri="{C3380CC4-5D6E-409C-BE32-E72D297353CC}">
                <c16:uniqueId val="{0000000F-B306-4629-ACAC-21F1DC9C074E}"/>
              </c:ext>
            </c:extLst>
          </c:dPt>
          <c:dPt>
            <c:idx val="8"/>
            <c:bubble3D val="0"/>
            <c:spPr>
              <a:solidFill>
                <a:srgbClr val="1A4A6E"/>
              </a:solidFill>
            </c:spPr>
            <c:extLst>
              <c:ext xmlns:c16="http://schemas.microsoft.com/office/drawing/2014/chart" uri="{C3380CC4-5D6E-409C-BE32-E72D297353CC}">
                <c16:uniqueId val="{00000011-B306-4629-ACAC-21F1DC9C074E}"/>
              </c:ext>
            </c:extLst>
          </c:dPt>
          <c:dPt>
            <c:idx val="9"/>
            <c:bubble3D val="0"/>
            <c:spPr>
              <a:solidFill>
                <a:srgbClr val="009688"/>
              </a:solidFill>
            </c:spPr>
            <c:extLst>
              <c:ext xmlns:c16="http://schemas.microsoft.com/office/drawing/2014/chart" uri="{C3380CC4-5D6E-409C-BE32-E72D297353CC}">
                <c16:uniqueId val="{00000013-B306-4629-ACAC-21F1DC9C074E}"/>
              </c:ext>
            </c:extLst>
          </c:dPt>
          <c:dPt>
            <c:idx val="10"/>
            <c:bubble3D val="0"/>
            <c:spPr>
              <a:solidFill>
                <a:srgbClr val="C9A227"/>
              </a:solidFill>
            </c:spPr>
            <c:extLst>
              <c:ext xmlns:c16="http://schemas.microsoft.com/office/drawing/2014/chart" uri="{C3380CC4-5D6E-409C-BE32-E72D297353CC}">
                <c16:uniqueId val="{00000015-B306-4629-ACAC-21F1DC9C074E}"/>
              </c:ext>
            </c:extLst>
          </c:dPt>
          <c:cat>
            <c:strRef>
              <c:f>Sheet1!$A$2:$A$12</c:f>
              <c:strCache>
                <c:ptCount val="11"/>
                <c:pt idx="0">
                  <c:v>场地清理拆除</c:v>
                </c:pt>
                <c:pt idx="1">
                  <c:v>地下结构</c:v>
                </c:pt>
                <c:pt idx="2">
                  <c:v>地上结构</c:v>
                </c:pt>
                <c:pt idx="3">
                  <c:v>内部装修</c:v>
                </c:pt>
                <c:pt idx="4">
                  <c:v>装置与设备</c:v>
                </c:pt>
                <c:pt idx="5">
                  <c:v>建筑机电</c:v>
                </c:pt>
                <c:pt idx="6">
                  <c:v>工艺设备</c:v>
                </c:pt>
                <c:pt idx="7">
                  <c:v>既有建筑改造</c:v>
                </c:pt>
                <c:pt idx="8">
                  <c:v>室外工程</c:v>
                </c:pt>
                <c:pt idx="9">
                  <c:v>临建 (8%)</c:v>
                </c:pt>
                <c:pt idx="10">
                  <c:v>承包商管理费与利润 (5%)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254960</c:v>
                </c:pt>
                <c:pt idx="1">
                  <c:v>1499680</c:v>
                </c:pt>
                <c:pt idx="2">
                  <c:v>3942636</c:v>
                </c:pt>
                <c:pt idx="3">
                  <c:v>1270672</c:v>
                </c:pt>
                <c:pt idx="4">
                  <c:v>154960</c:v>
                </c:pt>
                <c:pt idx="5">
                  <c:v>9532716</c:v>
                </c:pt>
                <c:pt idx="6">
                  <c:v>23249083</c:v>
                </c:pt>
                <c:pt idx="7">
                  <c:v>204000</c:v>
                </c:pt>
                <c:pt idx="8">
                  <c:v>1859520</c:v>
                </c:pt>
                <c:pt idx="9">
                  <c:v>3357458</c:v>
                </c:pt>
                <c:pt idx="10">
                  <c:v>2266284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6-B306-4629-ACAC-21F1DC9C07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zh-CN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0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直接费用合计</c:v>
                </c:pt>
              </c:strCache>
            </c:strRef>
          </c:tx>
          <c:spPr>
            <a:solidFill>
              <a:srgbClr val="0F2B46"/>
            </a:solidFill>
          </c:spPr>
          <c:invertIfNegative val="1"/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3026800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254A-43CB-B67E-5805FE3214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间接费用合计</c:v>
                </c:pt>
              </c:strCache>
            </c:strRef>
          </c:tx>
          <c:spPr>
            <a:solidFill>
              <a:srgbClr val="1A4A6E"/>
            </a:solidFill>
          </c:spPr>
          <c:invertIfNegative val="1"/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1072500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254A-43CB-B67E-5805FE32147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一般风险与预备费</c:v>
                </c:pt>
              </c:strCache>
            </c:strRef>
          </c:tx>
          <c:spPr>
            <a:solidFill>
              <a:srgbClr val="009688"/>
            </a:solidFill>
          </c:spPr>
          <c:invertIfNegative val="1"/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1229800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254A-43CB-B67E-5805FE3214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layout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zh-CN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c:style val="2"/>
  <c:chart>
    <c:title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£</c:v>
                </c:pt>
              </c:strCache>
            </c:strRef>
          </c:tx>
          <c:dPt>
            <c:idx val="0"/>
            <c:bubble3D val="0"/>
            <c:spPr>
              <a:solidFill>
                <a:srgbClr val="0F2B46"/>
              </a:solidFill>
            </c:spPr>
            <c:extLst>
              <c:ext xmlns:c16="http://schemas.microsoft.com/office/drawing/2014/chart" uri="{C3380CC4-5D6E-409C-BE32-E72D297353CC}">
                <c16:uniqueId val="{00000001-C4E0-4AA3-BBC1-509BEC594AC9}"/>
              </c:ext>
            </c:extLst>
          </c:dPt>
          <c:dPt>
            <c:idx val="1"/>
            <c:bubble3D val="0"/>
            <c:spPr>
              <a:solidFill>
                <a:srgbClr val="1A4A6E"/>
              </a:solidFill>
            </c:spPr>
            <c:extLst>
              <c:ext xmlns:c16="http://schemas.microsoft.com/office/drawing/2014/chart" uri="{C3380CC4-5D6E-409C-BE32-E72D297353CC}">
                <c16:uniqueId val="{00000003-C4E0-4AA3-BBC1-509BEC594AC9}"/>
              </c:ext>
            </c:extLst>
          </c:dPt>
          <c:dPt>
            <c:idx val="2"/>
            <c:bubble3D val="0"/>
            <c:spPr>
              <a:solidFill>
                <a:srgbClr val="009688"/>
              </a:solidFill>
            </c:spPr>
            <c:extLst>
              <c:ext xmlns:c16="http://schemas.microsoft.com/office/drawing/2014/chart" uri="{C3380CC4-5D6E-409C-BE32-E72D297353CC}">
                <c16:uniqueId val="{00000005-C4E0-4AA3-BBC1-509BEC594AC9}"/>
              </c:ext>
            </c:extLst>
          </c:dPt>
          <c:dPt>
            <c:idx val="3"/>
            <c:bubble3D val="0"/>
            <c:spPr>
              <a:solidFill>
                <a:srgbClr val="C9A227"/>
              </a:solidFill>
            </c:spPr>
            <c:extLst>
              <c:ext xmlns:c16="http://schemas.microsoft.com/office/drawing/2014/chart" uri="{C3380CC4-5D6E-409C-BE32-E72D297353CC}">
                <c16:uniqueId val="{00000007-C4E0-4AA3-BBC1-509BEC594AC9}"/>
              </c:ext>
            </c:extLst>
          </c:dPt>
          <c:dPt>
            <c:idx val="4"/>
            <c:bubble3D val="0"/>
            <c:spPr>
              <a:solidFill>
                <a:srgbClr val="5B6EAE"/>
              </a:solidFill>
            </c:spPr>
            <c:extLst>
              <c:ext xmlns:c16="http://schemas.microsoft.com/office/drawing/2014/chart" uri="{C3380CC4-5D6E-409C-BE32-E72D297353CC}">
                <c16:uniqueId val="{00000009-C4E0-4AA3-BBC1-509BEC594AC9}"/>
              </c:ext>
            </c:extLst>
          </c:dPt>
          <c:dPt>
            <c:idx val="5"/>
            <c:bubble3D val="0"/>
            <c:spPr>
              <a:solidFill>
                <a:srgbClr val="2E6DA4"/>
              </a:solidFill>
            </c:spPr>
            <c:extLst>
              <c:ext xmlns:c16="http://schemas.microsoft.com/office/drawing/2014/chart" uri="{C3380CC4-5D6E-409C-BE32-E72D297353CC}">
                <c16:uniqueId val="{0000000B-C4E0-4AA3-BBC1-509BEC594AC9}"/>
              </c:ext>
            </c:extLst>
          </c:dPt>
          <c:dPt>
            <c:idx val="6"/>
            <c:bubble3D val="0"/>
            <c:spPr>
              <a:solidFill>
                <a:srgbClr val="8A9BAE"/>
              </a:solidFill>
            </c:spPr>
            <c:extLst>
              <c:ext xmlns:c16="http://schemas.microsoft.com/office/drawing/2014/chart" uri="{C3380CC4-5D6E-409C-BE32-E72D297353CC}">
                <c16:uniqueId val="{0000000D-C4E0-4AA3-BBC1-509BEC594AC9}"/>
              </c:ext>
            </c:extLst>
          </c:dPt>
          <c:dPt>
            <c:idx val="7"/>
            <c:bubble3D val="0"/>
            <c:spPr>
              <a:solidFill>
                <a:srgbClr val="0F2B46"/>
              </a:solidFill>
            </c:spPr>
            <c:extLst>
              <c:ext xmlns:c16="http://schemas.microsoft.com/office/drawing/2014/chart" uri="{C3380CC4-5D6E-409C-BE32-E72D297353CC}">
                <c16:uniqueId val="{0000000F-C4E0-4AA3-BBC1-509BEC594AC9}"/>
              </c:ext>
            </c:extLst>
          </c:dPt>
          <c:cat>
            <c:strRef>
              <c:f>Sheet1!$A$2:$A$9</c:f>
              <c:strCache>
                <c:ptCount val="8"/>
                <c:pt idx="0">
                  <c:v>冻干机</c:v>
                </c:pt>
                <c:pt idx="1">
                  <c:v>HPLC 撬装</c:v>
                </c:pt>
                <c:pt idx="2">
                  <c:v>储罐/容器</c:v>
                </c:pt>
                <c:pt idx="3">
                  <c:v>泵组</c:v>
                </c:pt>
                <c:pt idx="4">
                  <c:v>土建结构</c:v>
                </c:pt>
                <c:pt idx="5">
                  <c:v>机械与管道</c:v>
                </c:pt>
                <c:pt idx="6">
                  <c:v>电气仪表</c:v>
                </c:pt>
                <c:pt idx="7">
                  <c:v>暖通空调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967000</c:v>
                </c:pt>
                <c:pt idx="1">
                  <c:v>358000</c:v>
                </c:pt>
                <c:pt idx="2">
                  <c:v>200000</c:v>
                </c:pt>
                <c:pt idx="3">
                  <c:v>50000</c:v>
                </c:pt>
                <c:pt idx="4">
                  <c:v>326000</c:v>
                </c:pt>
                <c:pt idx="5">
                  <c:v>264000</c:v>
                </c:pt>
                <c:pt idx="6">
                  <c:v>128000</c:v>
                </c:pt>
                <c:pt idx="7">
                  <c:v>35300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C4E0-4AA3-BBC1-509BEC594A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zh-CN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0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主设备小计</c:v>
                </c:pt>
              </c:strCache>
            </c:strRef>
          </c:tx>
          <c:spPr>
            <a:solidFill>
              <a:srgbClr val="0F2B46"/>
            </a:solidFill>
          </c:spPr>
          <c:invertIfNegative val="1"/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1905000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28A-4C9E-9487-3B26086F69C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全项目预备费</c:v>
                </c:pt>
              </c:strCache>
            </c:strRef>
          </c:tx>
          <c:spPr>
            <a:solidFill>
              <a:srgbClr val="1A4A6E"/>
            </a:solidFill>
          </c:spPr>
          <c:invertIfNegative val="1"/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571500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28A-4C9E-9487-3B26086F69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layout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zh-CN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c:style val="2"/>
  <c:chart>
    <c:title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£</c:v>
                </c:pt>
              </c:strCache>
            </c:strRef>
          </c:tx>
          <c:dPt>
            <c:idx val="0"/>
            <c:bubble3D val="0"/>
            <c:spPr>
              <a:solidFill>
                <a:srgbClr val="0F2B46"/>
              </a:solidFill>
            </c:spPr>
            <c:extLst>
              <c:ext xmlns:c16="http://schemas.microsoft.com/office/drawing/2014/chart" uri="{C3380CC4-5D6E-409C-BE32-E72D297353CC}">
                <c16:uniqueId val="{00000001-B33B-41CE-B0F1-8F5C30E40A4E}"/>
              </c:ext>
            </c:extLst>
          </c:dPt>
          <c:dPt>
            <c:idx val="1"/>
            <c:bubble3D val="0"/>
            <c:spPr>
              <a:solidFill>
                <a:srgbClr val="1A4A6E"/>
              </a:solidFill>
            </c:spPr>
            <c:extLst>
              <c:ext xmlns:c16="http://schemas.microsoft.com/office/drawing/2014/chart" uri="{C3380CC4-5D6E-409C-BE32-E72D297353CC}">
                <c16:uniqueId val="{00000003-B33B-41CE-B0F1-8F5C30E40A4E}"/>
              </c:ext>
            </c:extLst>
          </c:dPt>
          <c:dPt>
            <c:idx val="2"/>
            <c:bubble3D val="0"/>
            <c:spPr>
              <a:solidFill>
                <a:srgbClr val="009688"/>
              </a:solidFill>
            </c:spPr>
            <c:extLst>
              <c:ext xmlns:c16="http://schemas.microsoft.com/office/drawing/2014/chart" uri="{C3380CC4-5D6E-409C-BE32-E72D297353CC}">
                <c16:uniqueId val="{00000005-B33B-41CE-B0F1-8F5C30E40A4E}"/>
              </c:ext>
            </c:extLst>
          </c:dPt>
          <c:cat>
            <c:strRef>
              <c:f>Sheet1!$A$2:$A$4</c:f>
              <c:strCache>
                <c:ptCount val="3"/>
                <c:pt idx="0">
                  <c:v>1. 固定隔离器</c:v>
                </c:pt>
                <c:pt idx="1">
                  <c:v>2. HVAC 与气闸</c:v>
                </c:pt>
                <c:pt idx="2">
                  <c:v>3. 柔性隔离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1000000</c:v>
                </c:pt>
                <c:pt idx="1">
                  <c:v>575000</c:v>
                </c:pt>
                <c:pt idx="2">
                  <c:v>330000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3B-41CE-B0F1-8F5C30E40A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zh-CN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0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建筑工程费</c:v>
                </c:pt>
              </c:strCache>
            </c:strRef>
          </c:tx>
          <c:spPr>
            <a:solidFill>
              <a:srgbClr val="0F2B46"/>
            </a:solidFill>
          </c:spPr>
          <c:invertIfNegative val="1"/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1951140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BBD6-446B-B8E1-11971AFFC0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专业服务费</c:v>
                </c:pt>
              </c:strCache>
            </c:strRef>
          </c:tx>
          <c:spPr>
            <a:solidFill>
              <a:srgbClr val="1A4A6E"/>
            </a:solidFill>
          </c:spPr>
          <c:invertIfNegative val="1"/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141800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BBD6-446B-B8E1-11971AFFC04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业主（凯莱英）供货设备</c:v>
                </c:pt>
              </c:strCache>
            </c:strRef>
          </c:tx>
          <c:spPr>
            <a:solidFill>
              <a:srgbClr val="009688"/>
            </a:solidFill>
          </c:spPr>
          <c:invertIfNegative val="1"/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1957045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BBD6-446B-B8E1-11971AFFC04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风险预备费</c:v>
                </c:pt>
              </c:strCache>
            </c:strRef>
          </c:tx>
          <c:spPr>
            <a:solidFill>
              <a:srgbClr val="C9A227"/>
            </a:solidFill>
          </c:spPr>
          <c:invertIfNegative val="1"/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397875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BBD6-446B-B8E1-11971AFFC04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通胀</c:v>
                </c:pt>
              </c:strCache>
            </c:strRef>
          </c:tx>
          <c:spPr>
            <a:solidFill>
              <a:srgbClr val="5B6EAE"/>
            </a:solidFill>
          </c:spPr>
          <c:invertIfNegative val="1"/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96184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BBD6-446B-B8E1-11971AFFC0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layout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zh-CN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c:style val="2"/>
  <c:chart>
    <c:title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£</c:v>
                </c:pt>
              </c:strCache>
            </c:strRef>
          </c:tx>
          <c:dPt>
            <c:idx val="0"/>
            <c:bubble3D val="0"/>
            <c:spPr>
              <a:solidFill>
                <a:srgbClr val="0F2B46"/>
              </a:solidFill>
            </c:spPr>
            <c:extLst>
              <c:ext xmlns:c16="http://schemas.microsoft.com/office/drawing/2014/chart" uri="{C3380CC4-5D6E-409C-BE32-E72D297353CC}">
                <c16:uniqueId val="{00000001-68D7-4AD6-9329-F42AC3E71419}"/>
              </c:ext>
            </c:extLst>
          </c:dPt>
          <c:dPt>
            <c:idx val="1"/>
            <c:bubble3D val="0"/>
            <c:spPr>
              <a:solidFill>
                <a:srgbClr val="1A4A6E"/>
              </a:solidFill>
            </c:spPr>
            <c:extLst>
              <c:ext xmlns:c16="http://schemas.microsoft.com/office/drawing/2014/chart" uri="{C3380CC4-5D6E-409C-BE32-E72D297353CC}">
                <c16:uniqueId val="{00000003-68D7-4AD6-9329-F42AC3E71419}"/>
              </c:ext>
            </c:extLst>
          </c:dPt>
          <c:dPt>
            <c:idx val="2"/>
            <c:bubble3D val="0"/>
            <c:spPr>
              <a:solidFill>
                <a:srgbClr val="009688"/>
              </a:solidFill>
            </c:spPr>
            <c:extLst>
              <c:ext xmlns:c16="http://schemas.microsoft.com/office/drawing/2014/chart" uri="{C3380CC4-5D6E-409C-BE32-E72D297353CC}">
                <c16:uniqueId val="{00000005-68D7-4AD6-9329-F42AC3E71419}"/>
              </c:ext>
            </c:extLst>
          </c:dPt>
          <c:dPt>
            <c:idx val="3"/>
            <c:bubble3D val="0"/>
            <c:spPr>
              <a:solidFill>
                <a:srgbClr val="C9A227"/>
              </a:solidFill>
            </c:spPr>
            <c:extLst>
              <c:ext xmlns:c16="http://schemas.microsoft.com/office/drawing/2014/chart" uri="{C3380CC4-5D6E-409C-BE32-E72D297353CC}">
                <c16:uniqueId val="{00000007-68D7-4AD6-9329-F42AC3E71419}"/>
              </c:ext>
            </c:extLst>
          </c:dPt>
          <c:dPt>
            <c:idx val="4"/>
            <c:bubble3D val="0"/>
            <c:spPr>
              <a:solidFill>
                <a:srgbClr val="5B6EAE"/>
              </a:solidFill>
            </c:spPr>
            <c:extLst>
              <c:ext xmlns:c16="http://schemas.microsoft.com/office/drawing/2014/chart" uri="{C3380CC4-5D6E-409C-BE32-E72D297353CC}">
                <c16:uniqueId val="{00000009-68D7-4AD6-9329-F42AC3E71419}"/>
              </c:ext>
            </c:extLst>
          </c:dPt>
          <c:dPt>
            <c:idx val="5"/>
            <c:bubble3D val="0"/>
            <c:spPr>
              <a:solidFill>
                <a:srgbClr val="2E6DA4"/>
              </a:solidFill>
            </c:spPr>
            <c:extLst>
              <c:ext xmlns:c16="http://schemas.microsoft.com/office/drawing/2014/chart" uri="{C3380CC4-5D6E-409C-BE32-E72D297353CC}">
                <c16:uniqueId val="{0000000B-68D7-4AD6-9329-F42AC3E71419}"/>
              </c:ext>
            </c:extLst>
          </c:dPt>
          <c:dPt>
            <c:idx val="6"/>
            <c:bubble3D val="0"/>
            <c:spPr>
              <a:solidFill>
                <a:srgbClr val="8A9BAE"/>
              </a:solidFill>
            </c:spPr>
            <c:extLst>
              <c:ext xmlns:c16="http://schemas.microsoft.com/office/drawing/2014/chart" uri="{C3380CC4-5D6E-409C-BE32-E72D297353CC}">
                <c16:uniqueId val="{0000000D-68D7-4AD6-9329-F42AC3E71419}"/>
              </c:ext>
            </c:extLst>
          </c:dPt>
          <c:cat>
            <c:strRef>
              <c:f>Sheet1!$A$2:$A$8</c:f>
              <c:strCache>
                <c:ptCount val="7"/>
                <c:pt idx="0">
                  <c:v>1. 改造工程</c:v>
                </c:pt>
                <c:pt idx="1">
                  <c:v>2. 上部结构</c:v>
                </c:pt>
                <c:pt idx="2">
                  <c:v>3. 装饰</c:v>
                </c:pt>
                <c:pt idx="3">
                  <c:v>4. 家具与设备</c:v>
                </c:pt>
                <c:pt idx="4">
                  <c:v>5. 机电安装</c:v>
                </c:pt>
                <c:pt idx="5">
                  <c:v>6. 临建与承包商设计</c:v>
                </c:pt>
                <c:pt idx="6">
                  <c:v>7. 管理费与利润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65567</c:v>
                </c:pt>
                <c:pt idx="1">
                  <c:v>68690</c:v>
                </c:pt>
                <c:pt idx="2">
                  <c:v>58898</c:v>
                </c:pt>
                <c:pt idx="3">
                  <c:v>765000</c:v>
                </c:pt>
                <c:pt idx="4">
                  <c:v>537574</c:v>
                </c:pt>
                <c:pt idx="5">
                  <c:v>362500</c:v>
                </c:pt>
                <c:pt idx="6">
                  <c:v>92911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8D7-4AD6-9329-F42AC3E714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zh-CN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EC0413-CECC-4D9D-A560-39AD2CC714BD}" type="datetimeFigureOut">
              <a:rPr lang="zh-CN" altLang="en-US" smtClean="0"/>
              <a:t>2026/9/7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8EEACD-83A4-40A3-B838-B95901C149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8059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D8EEACD-83A4-40A3-B838-B95901C1490C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997747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dirty="0" err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</a:t>
            </a:r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"/>
            <a:ext cx="201168" cy="6501384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02920" y="1051560"/>
            <a:ext cx="2331720" cy="347472"/>
          </a:xfrm>
          <a:prstGeom prst="roundRect">
            <a:avLst>
              <a:gd name="adj" fmla="val 1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内部汇报 · 整体汇报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5544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凯莱英 UK · Sandwich 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945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资本项目汇报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670048"/>
            <a:ext cx="14630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2920" y="2880360"/>
            <a:ext cx="269748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2880360"/>
            <a:ext cx="2697480" cy="9144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" y="315468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B902 东侧扩建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393192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4A6E"/>
                </a:solidFill>
                <a:latin typeface="微软雅黑"/>
                <a:ea typeface="微软雅黑"/>
                <a:cs typeface="微软雅黑"/>
              </a:rPr>
              <a:t>£78.1M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70916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2030-05 竣工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64992" y="2880360"/>
            <a:ext cx="269748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364992" y="2880360"/>
            <a:ext cx="2697480" cy="9144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529584" y="315468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 + 冻干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9584" y="393192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5B6EAE"/>
                </a:solidFill>
                <a:latin typeface="微软雅黑"/>
                <a:ea typeface="微软雅黑"/>
                <a:cs typeface="微软雅黑"/>
              </a:rPr>
              <a:t>£5.33M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9584" y="470916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2027-12 / 2028-03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27064" y="2880360"/>
            <a:ext cx="269748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27064" y="2880360"/>
            <a:ext cx="2697480" cy="9144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91656" y="315468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模块 OEB5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393192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8B6914"/>
                </a:solidFill>
                <a:latin typeface="微软雅黑"/>
                <a:ea typeface="微软雅黑"/>
                <a:cs typeface="微软雅黑"/>
              </a:rPr>
              <a:t>£2.48M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6" y="470916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2027-10 安装确认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89136" y="2880360"/>
            <a:ext cx="269748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089136" y="2880360"/>
            <a:ext cx="2697480" cy="9144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53728" y="315468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OEB5 高活实验室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393192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7A6F"/>
                </a:solidFill>
                <a:latin typeface="微软雅黑"/>
                <a:ea typeface="微软雅黑"/>
                <a:cs typeface="微软雅黑"/>
              </a:rPr>
              <a:t>£4.54M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470916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计划 2027-11 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852160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四条独立工作流  ·  2026年9月7日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项目概览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四条独立工作流 · 可行性 / 概念 / 内部估算量级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1051560"/>
          <a:ext cx="11368735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07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子项目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范围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投资（估算量级）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关键节点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B902 东侧扩建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新建四层+夹层，反应/加氢/过滤干燥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£78.1M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2030-05 竣工（保持）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HPLC + 冻干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 PDF footprint 改造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£5.33M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2027-12 HPLC / 2028-03 冻干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C1 模块 OEB5 升级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现有 C1 模块 OEB5 日常运行能力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£2.48M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2027-10 安装确认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OEB5 高活实验室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 G-128 套间改造；GIFA 215 m²；4+1 台隔离器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£4.54M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计划 2027-11 交付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251960"/>
            <a:ext cx="11423599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048" y="4251960"/>
            <a:ext cx="82296" cy="868680"/>
          </a:xfrm>
          <a:prstGeom prst="rect">
            <a:avLst/>
          </a:prstGeom>
          <a:solidFill>
            <a:srgbClr val="B4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5216" y="4325112"/>
            <a:ext cx="11112703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交付关联：厂房内改造（制备 HPLC + 冻干）与 C1 模块升级须同步完成，方能为制备 HPLC 操作提供 OEB5 能力；制备 HPLC 单元驱动整体交付时间线。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" y="5212080"/>
            <a:ext cx="11423599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84048" y="5212080"/>
            <a:ext cx="82296" cy="6400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5216" y="5285232"/>
            <a:ext cx="11112703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产能依据：欧洲商务已整理面向 Sandwich 的高活需求与机会（2027–2030）。已列名 AZ、Genmab、BioNTech、NCC，另有 Roche、信达、宜联询盘海外高活产能。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925312"/>
            <a:ext cx="11423599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84048" y="5925312"/>
            <a:ext cx="82296" cy="502920"/>
          </a:xfrm>
          <a:prstGeom prst="rect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5216" y="5964596"/>
            <a:ext cx="11112703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厂房内三条线合计（改造</a:t>
            </a:r>
            <a:r>
              <a:rPr sz="13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£5.33M + C1 £2.48M + </a:t>
            </a:r>
            <a:r>
              <a:rPr sz="13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高活实验室</a:t>
            </a:r>
            <a:r>
              <a:rPr sz="13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£4.54M）约 £12.35M，不含 902 东侧扩建。各线口径不同：扩建与改造为可行性量级，C1 </a:t>
            </a:r>
            <a:r>
              <a:rPr sz="13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为内部估算，高活实验室为概念阶段成本计划</a:t>
            </a:r>
            <a:r>
              <a:rPr sz="13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高活需求：客户在问产能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欧洲商务整理 · Sandwich 高活项目需求与机会（2027–2030）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4 家列名客户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AZ · Genmab · BioNTech · NCC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76523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59403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3 家询盘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Roche · 信达 · 宜联（无量）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68999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1879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 条已丢失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AZ Exatecan + linker GMP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61475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44355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明确问扩建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AZ、Genmab 已表示关注 SW 计划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" y="2516970"/>
            <a:ext cx="1142359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5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欧洲商务已列出面向</a:t>
            </a: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Sandwich </a:t>
            </a:r>
            <a:r>
              <a:rPr sz="15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的高活需求与机会</a:t>
            </a: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pPr>
              <a:spcAft>
                <a:spcPts val="700"/>
              </a:spcAft>
            </a:pP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5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已列名客户为</a:t>
            </a: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AZ、Genmab、BioNTech、NCC；另有</a:t>
            </a: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Roche、信达、宜联询问高活海外产能</a:t>
            </a: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pPr>
              <a:spcAft>
                <a:spcPts val="700"/>
              </a:spcAft>
            </a:pP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5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AZ、Genmab</a:t>
            </a: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明确希望了解</a:t>
            </a: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SW </a:t>
            </a:r>
            <a:r>
              <a:rPr sz="15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高活扩建计划。部分项目的诉求是欧美第二供，用于对冲供应风险</a:t>
            </a: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pPr>
              <a:spcAft>
                <a:spcPts val="700"/>
              </a:spcAft>
            </a:pP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5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BioNTech</a:t>
            </a: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希望把现由中国支持的早期项目延伸到</a:t>
            </a: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Sandwich，并列明能力要求：与</a:t>
            </a: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TJ4 相当的高活密闭（1 ng/m³）、</a:t>
            </a:r>
            <a:r>
              <a:rPr sz="15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实验室至公斤级、适用的高活色谱、高活冻干、与常规分析分开的高活分析</a:t>
            </a:r>
            <a:r>
              <a:rPr sz="15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" y="4590966"/>
            <a:ext cx="371033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84048" y="4590966"/>
            <a:ext cx="3710330" cy="7315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0352" y="4737270"/>
            <a:ext cx="341772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密闭与高活分析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5048166"/>
            <a:ext cx="341772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BioNTech 要求与 TJ4 相当的密闭（1 ng/m³），以及与常规分析分开的高活分析。对应 G-128 高活实验室。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40682" y="4590966"/>
            <a:ext cx="371033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40682" y="4590966"/>
            <a:ext cx="3710330" cy="7315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386986" y="4737270"/>
            <a:ext cx="341772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高活色谱与冻干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6986" y="5048166"/>
            <a:ext cx="341772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同一客户列明 fit-for-purpose 高活色谱与高活冻干。对应厂房内 HPLC + 冻干改造。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7316" y="4590966"/>
            <a:ext cx="371033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097316" y="4590966"/>
            <a:ext cx="3710330" cy="73152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43620" y="4737270"/>
            <a:ext cx="341772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第二供窗口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3620" y="5048166"/>
            <a:ext cx="341772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Genmab 计划 2026 年底报 BLA，天津已进入商业批次，正在评估欧美第二供。AZ 多个 API 亦以第二供为前提。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4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高活需求 · 客户与项目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960120"/>
          <a:ext cx="11368735" cy="54909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334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40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客户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2027–2030 量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商务产值口径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要点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Exatecan（ASYM-128214）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43A2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已丢失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43.2 kg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$5–6M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2025-09 询盘。GMP payload-linker 已选 Procos（意大利）；非 GMP 仍在药明康德宁波。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ADC linker AZ14374332（ASYM-147285，Exatecan 为中间体）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43A2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已丢失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37 kg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$18M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与上一行同一组丢失机会。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AZD5305（ASYM-124995）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4A6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在谈 · 第二供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TBD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SW 已有部分研发活动；AZ 未提供商业量。商务：若 SW 扩展高活产能，可争取第二供。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Camizestrant / AZD9833（ASYM-147692）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4A6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在谈 · 第二供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~8,800 kg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$5M/yr?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仅末步为高活。现供 Cambrex US。公斤数由中间体年需求估算，不是 AZ 确认的 API 订单。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其他 ADC 管线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询盘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 ADC payload-linker 管线较多；近期沟通中表示希望了解 SW 高活扩建计划。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Genmab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LD038.TFA（ASYM-129959）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4A6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在谈 · 第二供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71.8 kg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$86M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Payload-linker。计划 2026 年底报 BLA。天津已完成 PPQ、商业批次进行中。客户评估欧美第二供，关注 SW 扩建计划。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BioNTech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BNT3214（ASYM-139154）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在谈 · 转至 SW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 kg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$15–20M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现由中国支持早期研究；希望项目推进后由 Sandwich 长期供货。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NCC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Exatecan mesylate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968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已列需求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kg（2027）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TBD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仅列 2027 年 6 kg，其后年份与产值为 TBD。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Roche / 信达 / 宜联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高活海外产能询盘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询盘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三家亦在询问高活海外产能。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5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56032"/>
            <a:ext cx="1142359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4048" y="256032"/>
            <a:ext cx="128016" cy="265176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502920"/>
            <a:ext cx="1965960" cy="365760"/>
          </a:xfrm>
          <a:prstGeom prst="roundRect">
            <a:avLst>
              <a:gd name="adj" fmla="val 18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051560"/>
            <a:ext cx="1078351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一、B902 东侧扩建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783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Scitech · RIBA Stage 1 · 300291-RE-0001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514600"/>
            <a:ext cx="164592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84048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3108960"/>
            <a:ext cx="82296" cy="32004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FS 完成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RIBA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40682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40682" y="3108960"/>
            <a:ext cx="82296" cy="32004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23562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£78.1M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3562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 OOM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7316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97316" y="3108960"/>
            <a:ext cx="82296" cy="32004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80196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2030-05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196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总控完成（集团口径保持）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6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执行摘要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2026-05-22 · Issue A1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FS 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RIBA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0682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40682" y="1051560"/>
            <a:ext cx="82296" cy="1024128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23562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£78.1M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562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 OOM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7316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97316" y="1051560"/>
            <a:ext cx="82296" cy="1024128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0196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2030-05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1618488"/>
            <a:ext cx="343601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dirty="0" err="1" smtClean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总控完成</a:t>
            </a:r>
            <a:endParaRPr sz="1200" b="0" dirty="0">
              <a:solidFill>
                <a:srgbClr val="5A6A7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29768" y="2276856"/>
            <a:ext cx="11332159" cy="1113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6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范围：东侧约</a:t>
            </a:r>
            <a:r>
              <a:rPr sz="16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600 m²，四层+设备夹层，10 台反应釜、2500 L 加氢釜、3 </a:t>
            </a:r>
            <a:r>
              <a:rPr sz="16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套过滤干燥机及公用工程</a:t>
            </a:r>
            <a:r>
              <a:rPr sz="16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6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方案：Option</a:t>
            </a:r>
            <a:r>
              <a:rPr sz="16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1 — </a:t>
            </a:r>
            <a:r>
              <a:rPr sz="16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拆除</a:t>
            </a:r>
            <a:r>
              <a:rPr sz="16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sz="16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迁址原加氢厂房；与</a:t>
            </a:r>
            <a:r>
              <a:rPr sz="16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902 </a:t>
            </a:r>
            <a:r>
              <a:rPr sz="16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低层楼面贯通</a:t>
            </a:r>
            <a:r>
              <a:rPr sz="16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6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进展：FS</a:t>
            </a:r>
            <a:r>
              <a:rPr sz="16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完成</a:t>
            </a:r>
            <a:r>
              <a:rPr sz="1600" b="0" dirty="0" smtClean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；</a:t>
            </a:r>
            <a:r>
              <a:rPr lang="zh-CN" altLang="en-US" sz="1600" b="0" dirty="0" smtClean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计划</a:t>
            </a:r>
            <a:r>
              <a:rPr sz="1600" b="0" dirty="0" smtClean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2030-05 </a:t>
            </a:r>
            <a:r>
              <a:rPr sz="1600" b="0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竣工，沿用设计方总控计划；RIBA</a:t>
            </a:r>
            <a:r>
              <a:rPr sz="1600" b="0" dirty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600" b="0" dirty="0" err="1" smtClean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概念设计启动延后</a:t>
            </a:r>
            <a:r>
              <a:rPr sz="1600" b="0" dirty="0" smtClean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600" b="0" dirty="0">
              <a:solidFill>
                <a:srgbClr val="2C3E5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7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投资总览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300291-CM-0001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11423599" cy="475488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107899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 OOM 总价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07899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£78,108,089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627632"/>
          <a:ext cx="5577839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60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17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63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直接工程费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£59,489,961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场地清理拆除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£254,960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地下结构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dirty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£1,499,680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地上结构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£3,942,636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内部装修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dirty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£1,270,672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装置与设备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£154,960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建筑机电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£9,532,716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工艺设备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£23,249,083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既有建筑改造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£204,000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室外工程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£1,859,520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临建 (8%)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£3,357,458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承包商管理费与利润 (5%)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£2,266,284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63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小计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£47,591,969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637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预备费（25%）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dirty="0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£11,897,992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26480" y="1627632"/>
          <a:ext cx="5626302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09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53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091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其他项目费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£5,077,946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设计团队费 (8%)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£3,807,357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勘测与调查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BREEAM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£150,000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规划与法定费用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£25,000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小计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£4,062,357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预备费（25%）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£1,015,589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一般风险与预备费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£13,540,182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全项目预备费（25%）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£12,913,582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风险登记册（概率加权总和）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£626,600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8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投资结构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OOM 构成与直接工程费分项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371033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96012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1224381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£78,108,089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343601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OOM 总价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0682" y="1051560"/>
            <a:ext cx="371033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40682" y="1051560"/>
            <a:ext cx="82296" cy="96012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23562" y="1224381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£59,489,961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562" y="1618488"/>
            <a:ext cx="343601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直接工程费（含 25%）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7316" y="1051560"/>
            <a:ext cx="371033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97316" y="1051560"/>
            <a:ext cx="82296" cy="96012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0196" y="1224381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£18,618,128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1618488"/>
            <a:ext cx="343601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其他费及可行性风险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" y="2176272"/>
            <a:ext cx="5577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2249424"/>
            <a:ext cx="5212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 OOM 三板块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475488" y="2542032"/>
          <a:ext cx="5394960" cy="3703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6126480" y="2176272"/>
            <a:ext cx="5626303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09360" y="2249424"/>
            <a:ext cx="5257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直接工程费 — 分项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6217920" y="2542032"/>
          <a:ext cx="5440680" cy="3703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9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整体周期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300291-PM-PR-0002  ·  </a:t>
            </a:r>
            <a:r>
              <a:rPr sz="1300" b="0" dirty="0" err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总控时间轴（条块长度按日历比例</a:t>
            </a:r>
            <a:r>
              <a:rPr sz="1300" b="0" dirty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）· 沿用设计方总控计划</a:t>
            </a:r>
            <a:r>
              <a:rPr sz="1300" b="0" dirty="0" smtClean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，2030-05 </a:t>
            </a:r>
            <a:r>
              <a:rPr sz="1300" b="0" dirty="0" err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竣工</a:t>
            </a:r>
            <a:endParaRPr sz="1300" b="0" dirty="0">
              <a:solidFill>
                <a:srgbClr val="5A6A7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84048" y="1042415"/>
            <a:ext cx="11423599" cy="53858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048" y="1042415"/>
            <a:ext cx="11423599" cy="5385816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E2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96896" y="1344168"/>
            <a:ext cx="7610551" cy="10972"/>
          </a:xfrm>
          <a:prstGeom prst="rect">
            <a:avLst/>
          </a:prstGeom>
          <a:solidFill>
            <a:srgbClr val="DD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96896" y="1316736"/>
            <a:ext cx="10972" cy="4709160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76856" y="1097280"/>
            <a:ext cx="64008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67915" y="1316736"/>
            <a:ext cx="10972" cy="4709160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7875" y="1097280"/>
            <a:ext cx="64008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1474" y="1316736"/>
            <a:ext cx="10972" cy="4709160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1434" y="1097280"/>
            <a:ext cx="64008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60221" y="1316736"/>
            <a:ext cx="10972" cy="4709160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40181" y="1097280"/>
            <a:ext cx="64008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53780" y="1316736"/>
            <a:ext cx="10972" cy="4709160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3740" y="1097280"/>
            <a:ext cx="64008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1316736"/>
            <a:ext cx="2066543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可行性 RIBA 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96896" y="1410919"/>
            <a:ext cx="7610551" cy="239739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596896" y="1429207"/>
            <a:ext cx="155634" cy="203163"/>
          </a:xfrm>
          <a:prstGeom prst="roundRect">
            <a:avLst>
              <a:gd name="adj" fmla="val 42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80599" y="1316736"/>
            <a:ext cx="1453895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2026/05 – 2026/05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1744841"/>
            <a:ext cx="11277295" cy="42810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1744841"/>
            <a:ext cx="2066543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概念 RIBA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96896" y="1839024"/>
            <a:ext cx="7610551" cy="239739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985983" y="1857312"/>
            <a:ext cx="1156886" cy="203163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80599" y="1744841"/>
            <a:ext cx="1453895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2026/07 – 2027/02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2172946"/>
            <a:ext cx="2066543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方案 RIBA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96896" y="2267130"/>
            <a:ext cx="7610551" cy="239739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111743" y="2285418"/>
            <a:ext cx="1156886" cy="203163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80599" y="2172946"/>
            <a:ext cx="1453895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2027/02 – 2027/09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2601052"/>
            <a:ext cx="11277295" cy="42810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2601052"/>
            <a:ext cx="2066543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96896" y="2695235"/>
            <a:ext cx="7610551" cy="239739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13889" y="2713523"/>
            <a:ext cx="762611" cy="203163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80599" y="2601052"/>
            <a:ext cx="1453895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2027/10 – 2028/03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" y="3029157"/>
            <a:ext cx="2066543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详细 RIBA 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96896" y="3123341"/>
            <a:ext cx="7610551" cy="239739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9077" y="3141629"/>
            <a:ext cx="1156886" cy="203163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80599" y="3029157"/>
            <a:ext cx="1453895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2027/10 – 2028/06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3457263"/>
            <a:ext cx="11277295" cy="42810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" y="3457263"/>
            <a:ext cx="2066543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长周期设备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96896" y="3551446"/>
            <a:ext cx="7610551" cy="239739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109058" y="3569734"/>
            <a:ext cx="2609479" cy="203163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80599" y="3457263"/>
            <a:ext cx="1453895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2028/03 – 2029/07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3885368"/>
            <a:ext cx="2066543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中等周期设备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596896" y="3979551"/>
            <a:ext cx="7610551" cy="239739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290633" y="3997839"/>
            <a:ext cx="581037" cy="203163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80599" y="3885368"/>
            <a:ext cx="1453895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2028/04 – 2028/08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4313474"/>
            <a:ext cx="11277295" cy="42810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5488" y="4313474"/>
            <a:ext cx="2066543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施工准备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596896" y="4407657"/>
            <a:ext cx="7610551" cy="239739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726411" y="4425945"/>
            <a:ext cx="140071" cy="203163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280599" y="4313474"/>
            <a:ext cx="1453895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2028/07 – 2028/08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5488" y="4741579"/>
            <a:ext cx="2066543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施工 RIBA 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596896" y="4835762"/>
            <a:ext cx="7610551" cy="239739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871670" y="4854050"/>
            <a:ext cx="2427905" cy="203163"/>
          </a:xfrm>
          <a:prstGeom prst="roundRect">
            <a:avLst>
              <a:gd name="adj" fmla="val 42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80599" y="4741579"/>
            <a:ext cx="1453895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2028/08 – 2029/11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" y="5169685"/>
            <a:ext cx="11277295" cy="42810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5488" y="5169685"/>
            <a:ext cx="2066543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调试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96896" y="5263868"/>
            <a:ext cx="7610551" cy="239739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304764" y="5282156"/>
            <a:ext cx="176386" cy="203163"/>
          </a:xfrm>
          <a:prstGeom prst="roundRect">
            <a:avLst>
              <a:gd name="adj" fmla="val 42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80599" y="5169685"/>
            <a:ext cx="1453895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2029/11 – 2029/12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5488" y="5597790"/>
            <a:ext cx="2066543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验证/竣工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96896" y="5691973"/>
            <a:ext cx="7610551" cy="239739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486338" y="5710261"/>
            <a:ext cx="721108" cy="203163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280599" y="5597790"/>
            <a:ext cx="1453895" cy="42810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2029/12 – 2030/05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77933" y="1316736"/>
            <a:ext cx="16459" cy="4709160"/>
          </a:xfrm>
          <a:prstGeom prst="rect">
            <a:avLst/>
          </a:prstGeom>
          <a:solidFill>
            <a:srgbClr val="B4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23653" y="1097280"/>
            <a:ext cx="438912" cy="20116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1">
                <a:solidFill>
                  <a:srgbClr val="B43A2A"/>
                </a:solidFill>
                <a:latin typeface="微软雅黑"/>
                <a:ea typeface="微软雅黑"/>
                <a:cs typeface="微软雅黑"/>
              </a:rPr>
              <a:t>约今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882999" y="6217919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047591" y="6135623"/>
            <a:ext cx="694944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71719" y="6217919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36311" y="6135623"/>
            <a:ext cx="694944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设计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60439" y="6217919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25031" y="6135623"/>
            <a:ext cx="694944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施工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449159" y="6217919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613751" y="6135623"/>
            <a:ext cx="694944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节点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10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决策事项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850392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84048" y="850392"/>
            <a:ext cx="109728" cy="2688336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76656" y="1938528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1033272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是否批准进入 RIBA 2（概念设计）？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648456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3648456"/>
            <a:ext cx="109728" cy="2688336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76656" y="4736592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3831336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是否推进模块化建造方案比选？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11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56032"/>
            <a:ext cx="1142359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4048" y="256032"/>
            <a:ext cx="128016" cy="265176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502920"/>
            <a:ext cx="1965960" cy="365760"/>
          </a:xfrm>
          <a:prstGeom prst="roundRect">
            <a:avLst>
              <a:gd name="adj" fmla="val 18000"/>
            </a:avLst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改造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051560"/>
            <a:ext cx="1078351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二、厂房内 HPLC + 冻干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783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RBPC · Project 9802 · P01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514600"/>
            <a:ext cx="164592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84048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3108960"/>
            <a:ext cx="82296" cy="32004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技术可行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FS P01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6523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76523" y="3108960"/>
            <a:ext cx="82296" cy="32004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59403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£5.33M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9403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8999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68999" y="3108960"/>
            <a:ext cx="82296" cy="32004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51879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HPLC 目标（+3 个月）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61475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61475" y="3108960"/>
            <a:ext cx="82296" cy="32004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44355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2028-03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4355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冻干目标（+3 个月）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12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执行摘要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9802-RBP-ZZ-ZZ-RP-X-100000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技术可行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FS P01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76523" y="1051560"/>
            <a:ext cx="82296" cy="102412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59403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£5.33M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68999" y="1051560"/>
            <a:ext cx="82296" cy="102412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1879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HPLC 目标（+3 个月）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61475" y="1051560"/>
            <a:ext cx="82296" cy="102412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44355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2028-03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冻干目标（+3 个月）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2276856"/>
            <a:ext cx="1133215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范围：制备 HPLC（DAC300/CP300）+ 冻干机（隔离器、除湿、纯蒸汽发生器等）及配套改造。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投资：Total CAPEX Estimate £5.33M（直接+间接+30% 项目预备费）；非最终 Capex。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周期：冻干机长周期驱动；优先冻干后 HPLC。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关联：须与 C1 模块 OEB5 升级同步交付，方可实现制备 HPLC 的 OEB5 运行能力。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需求对应：欧洲商务清单中，BioNTech 将高活色谱与高活冻干列为转至 Sandwich 长期供货的能力要求。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13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范围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786384"/>
            <a:ext cx="5638647" cy="562355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84048" y="786384"/>
            <a:ext cx="91440" cy="5623559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3503" y="89611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261872"/>
            <a:ext cx="5346039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DAC300/CP300 泵撬；移动头罐；2000 L 废液罐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Hanbon 供货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PG.05 区域安装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8999" y="786384"/>
            <a:ext cx="5638647" cy="562355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68999" y="786384"/>
            <a:ext cx="91440" cy="5623559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8455" y="89611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1879" y="1261872"/>
            <a:ext cx="5346039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冻干腔、隔离器、双 CIP、除湿、PSG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东富龙（Tofflon）供货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气闸/改造约 20 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14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投资总览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9802-RBP-ZZ-ZZ-CP-X-100001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11423599" cy="457200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1078992"/>
            <a:ext cx="5943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078992"/>
            <a:ext cx="4754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£5,329,100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609344"/>
          <a:ext cx="5577839" cy="4736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60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17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4353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直接费用合计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£3,026,800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4353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 主工艺设备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£2,047,500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35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1.1 冻干机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£967,000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35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 HPLC 撬装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£358,000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35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1.3 储罐/容器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35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1.4 泵组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435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1.5 价格风险（30%）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£472,500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4353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 基础设施改造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£979,300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435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2.1 土建结构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£326,000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435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2.2 机械与管道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£264,000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435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2.3 电气仪表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£128,000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435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2.4 暖通空调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£35,300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43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2.5 价格风险（30%）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£226,000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26480" y="1609344"/>
          <a:ext cx="5626302" cy="4736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09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53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207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间接费用合计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£1,072,500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2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 FEED 研究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£225,000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2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 详细设计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£289,000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2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 CDM 费用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£235,000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 调试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£76,000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 价格风险（30%）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£247,500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207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一般风险与预备费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£1,229,800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2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全项目预备费（30%）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£1,229,800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15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投资结构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直接 / 间接 / 一般风险与预备费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2746171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1024128"/>
            <a:ext cx="82296" cy="86868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1180490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£5,329,100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91056"/>
            <a:ext cx="2471851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1024128"/>
            <a:ext cx="2746171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76523" y="1024128"/>
            <a:ext cx="82296" cy="86868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59403" y="1180490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£3,026,800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591056"/>
            <a:ext cx="2471851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直接费用合计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1024128"/>
            <a:ext cx="2746171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68999" y="1024128"/>
            <a:ext cx="82296" cy="86868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1879" y="1180490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£1,072,500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591056"/>
            <a:ext cx="2471851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间接费用合计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1024128"/>
            <a:ext cx="2746171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61475" y="1024128"/>
            <a:ext cx="82296" cy="86868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44355" y="1180490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£1,229,800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591056"/>
            <a:ext cx="2471851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一般风险与预备费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2011680"/>
            <a:ext cx="11423599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647" y="2084831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1. 主工艺设备    £2,047,500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6208" y="2084831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2. 基础设施改造    £979,300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4048" y="2788920"/>
            <a:ext cx="5577840" cy="3547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207" y="28346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项目总投资构成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429768" y="3090672"/>
          <a:ext cx="5486400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126480" y="2788920"/>
            <a:ext cx="5626303" cy="3547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09360" y="2834640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直接费用 — 分项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6217920" y="3090672"/>
          <a:ext cx="5440680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16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FS §4.4 图 1 · 以 2026-09 启动重新基线（原 6 月口径 +3 个月）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987552"/>
            <a:ext cx="82296" cy="84124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冻干制造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8–10 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76523" y="987552"/>
            <a:ext cx="82296" cy="84124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59403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 供货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~18 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68999" y="987552"/>
            <a:ext cx="82296" cy="84124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1879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FEED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12–14 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61475" y="987552"/>
            <a:ext cx="82296" cy="84124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44355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详细设计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18–20 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1920240"/>
            <a:ext cx="11423599" cy="4507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4048" y="1920240"/>
            <a:ext cx="11423599" cy="4507992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E2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0" y="2221992"/>
            <a:ext cx="7674559" cy="10972"/>
          </a:xfrm>
          <a:prstGeom prst="rect">
            <a:avLst/>
          </a:prstGeom>
          <a:solidFill>
            <a:srgbClr val="DD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60320" y="2194560"/>
            <a:ext cx="10972" cy="3831336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48839" y="1975104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 H1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29102" y="2194560"/>
            <a:ext cx="10972" cy="3831336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17622" y="1975104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 H2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46415" y="2194560"/>
            <a:ext cx="10972" cy="3831336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4935" y="1975104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 H1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30837" y="2194560"/>
            <a:ext cx="10972" cy="3831336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19357" y="1975104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 H2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48149" y="2194560"/>
            <a:ext cx="10972" cy="3831336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36669" y="1975104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2028 H1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" y="2194560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FS / 基准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60320" y="2231993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757665" y="2250281"/>
            <a:ext cx="146304" cy="128016"/>
          </a:xfrm>
          <a:prstGeom prst="roundRect">
            <a:avLst>
              <a:gd name="adj" fmla="val 42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08031" y="2194560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2026/05 – 2026/05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2434018"/>
            <a:ext cx="11277295" cy="23945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2434018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Engineer 就位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60320" y="2471451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908849" y="2489739"/>
            <a:ext cx="328909" cy="128016"/>
          </a:xfrm>
          <a:prstGeom prst="roundRect">
            <a:avLst>
              <a:gd name="adj" fmla="val 42000"/>
            </a:avLst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08031" y="2434018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2026/09 – 2026/10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" y="2673477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FEED（示意）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2710910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369323" y="2729198"/>
            <a:ext cx="1063474" cy="128016"/>
          </a:xfrm>
          <a:prstGeom prst="roundRect">
            <a:avLst>
              <a:gd name="adj" fmla="val 42000"/>
            </a:avLst>
          </a:prstGeom>
          <a:solidFill>
            <a:srgbClr val="6D5B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08031" y="2673477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2026/10 – 2027/01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2912935"/>
            <a:ext cx="11277295" cy="23945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5488" y="2912935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详细设计（示意）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60320" y="2950368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443761" y="2968656"/>
            <a:ext cx="1523948" cy="128016"/>
          </a:xfrm>
          <a:prstGeom prst="roundRect">
            <a:avLst>
              <a:gd name="adj" fmla="val 42000"/>
            </a:avLst>
          </a:prstGeom>
          <a:solidFill>
            <a:srgbClr val="6D5B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308031" y="2912935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2027/01 – 2027/06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" y="3152394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冻干规格 / 资金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560320" y="3189827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50050" y="3208115"/>
            <a:ext cx="603001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08031" y="3152394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2026/09 – 2026/11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3391852"/>
            <a:ext cx="11277295" cy="23945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75488" y="3391852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冻干制造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560320" y="3429285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840760" y="3447573"/>
            <a:ext cx="2751877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308031" y="3391852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2026/11 – 2027/08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75488" y="3631311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 FAT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560320" y="3668744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603601" y="3687032"/>
            <a:ext cx="372764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308031" y="3631311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2027/08 – 2027/09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3870769"/>
            <a:ext cx="11277295" cy="23945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5488" y="3870769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冻干运输安装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560320" y="3908202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987329" y="3926490"/>
            <a:ext cx="1206002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08031" y="3870769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2027/09 – 2027/12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5488" y="4110228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冻干验证 → PQ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560320" y="4147661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9204295" y="4165949"/>
            <a:ext cx="756492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308031" y="4110228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2027/12 – 2028/03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57200" y="4349686"/>
            <a:ext cx="11277295" cy="23945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5488" y="4349686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 规格 / 资金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560320" y="4387119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5060033" y="4405407"/>
            <a:ext cx="613964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308031" y="4349686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2026/12 – 2027/02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75488" y="4589145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 制造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560320" y="4626578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761707" y="4644866"/>
            <a:ext cx="1370456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308031" y="4589145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2027/02 – 2027/06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4828603"/>
            <a:ext cx="11277295" cy="23945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75488" y="4828603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 FAT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560320" y="4866036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143128" y="4884324"/>
            <a:ext cx="285055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308031" y="4828603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2027/06 – 2027/07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75488" y="5068062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 运输安装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560320" y="5105495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7515892" y="5123783"/>
            <a:ext cx="690710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308031" y="5068062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2027/07 – 2027/09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57200" y="5307520"/>
            <a:ext cx="11277295" cy="23945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5488" y="5307520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移动头罐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560320" y="5344953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4764014" y="5363241"/>
            <a:ext cx="3135605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308031" y="5307520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2026/11 – 2027/08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5488" y="5546979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废液罐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560320" y="5584412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764014" y="5602700"/>
            <a:ext cx="2982114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308031" y="5546979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2026/11 – 2027/08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7200" y="5786437"/>
            <a:ext cx="11277295" cy="23945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5488" y="5786437"/>
            <a:ext cx="2029967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560320" y="5823870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6452417" y="5842158"/>
            <a:ext cx="1249856" cy="128016"/>
          </a:xfrm>
          <a:prstGeom prst="roundRect">
            <a:avLst>
              <a:gd name="adj" fmla="val 42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308031" y="5786437"/>
            <a:ext cx="1426464" cy="23945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2027/04 – 2027/08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788249" y="2194560"/>
            <a:ext cx="16459" cy="3831336"/>
          </a:xfrm>
          <a:prstGeom prst="rect">
            <a:avLst/>
          </a:prstGeom>
          <a:solidFill>
            <a:srgbClr val="B4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568793" y="1975104"/>
            <a:ext cx="438912" cy="20116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>
                <a:solidFill>
                  <a:srgbClr val="B43A2A"/>
                </a:solidFill>
                <a:latin typeface="微软雅黑"/>
                <a:ea typeface="微软雅黑"/>
                <a:cs typeface="微软雅黑"/>
              </a:rPr>
              <a:t>约今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168499" y="6217919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333091" y="6135623"/>
            <a:ext cx="694944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完成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357219" y="6217919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21811" y="6135623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采购 / 制造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879695" y="6217919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44287" y="6135623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施工 / 验证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402171" y="6217919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566763" y="6135623"/>
            <a:ext cx="694944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关键路径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590891" y="6217919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55483" y="6135623"/>
            <a:ext cx="745236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工程师就位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8829903" y="6217919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6D5B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994495" y="6135623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§4.3 示意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17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决策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850392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84048" y="850392"/>
            <a:ext cx="109728" cy="2688336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76656" y="1938528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1033272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是否批准进入 FEED？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648456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3648456"/>
            <a:ext cx="109728" cy="2688336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76656" y="4736592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3831336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是否批准长周期设备早期采购资金？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18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56032"/>
            <a:ext cx="1142359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4048" y="256032"/>
            <a:ext cx="128016" cy="265176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502920"/>
            <a:ext cx="1965960" cy="365760"/>
          </a:xfrm>
          <a:prstGeom prst="roundRect">
            <a:avLst>
              <a:gd name="adj" fmla="val 18000"/>
            </a:avLst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C1 OEB5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051560"/>
            <a:ext cx="1078351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三、C1 模块 OEB5 升级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783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Sandwich PDF · 内部估算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514600"/>
            <a:ext cx="164592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84048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3108960"/>
            <a:ext cx="82296" cy="32004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OEB5 日常运行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升级目标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40682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40682" y="3108960"/>
            <a:ext cx="82296" cy="32004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23562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£2.48M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3562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7316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97316" y="3108960"/>
            <a:ext cx="82296" cy="32004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80196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196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安装与确认目标（+3 个月）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19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执行摘要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现有 C1 模块 OEB5 日常运行能力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OEB5 日常运行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升级目标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0682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40682" y="1051560"/>
            <a:ext cx="82296" cy="102412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23562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£2.48M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562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7316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97316" y="1051560"/>
            <a:ext cx="82296" cy="102412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0196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安装与确认目标（+3 个月）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2276856"/>
            <a:ext cx="1133215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范围：二层物料分装与首层最终包装固定隔离器；HVAC 升级；进出气闸联锁及雾化淋浴；覆盖各单元操作与废物流的定制柔性隔离器。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估算：已取得供应商预算报价 —— ILC Dover 反应釜投料柔性隔离器整包 £115,800（含 R19–R22 投料方案概念设计）；Howorth 单腔分装隔离器 £250,000/台。两者均为 Ex Works 口径，不含包装、运输、安装与调试。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交付关联：须与厂房内改造（制备 HPLC + 冻干）同步完成，方能为制备 HPLC 操作提供 OEB5 能力。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周期：假设与改造项目一并批准；制备 HPLC 单元驱动 C1 模块升级交付时间线。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范围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786384"/>
            <a:ext cx="5638647" cy="27386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84048" y="786384"/>
            <a:ext cx="91440" cy="2738627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3503" y="89611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固定隔离器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261872"/>
            <a:ext cx="5346039" cy="2171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三层（second floor）：物料分装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一层（ground floor）：最终包装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8999" y="786384"/>
            <a:ext cx="5638647" cy="27386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68999" y="786384"/>
            <a:ext cx="91440" cy="2738627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8455" y="89611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HVAC 与气闸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1879" y="1261872"/>
            <a:ext cx="5346039" cy="2171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HVAC 升级，支持日常 OEB5 运行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进出气闸联锁升级，含雾化淋浴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3671315"/>
            <a:ext cx="5638647" cy="27386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84048" y="3671315"/>
            <a:ext cx="91440" cy="2738627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3503" y="3781044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柔性隔离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146804"/>
            <a:ext cx="5346039" cy="2171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多台定制柔性隔离器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覆盖模块内各单元操作及废物流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8999" y="3671315"/>
            <a:ext cx="5638647" cy="27386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68999" y="3671315"/>
            <a:ext cx="91440" cy="2738627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88455" y="3781044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估价依据（供应商报价）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146804"/>
            <a:ext cx="5346039" cy="2171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柔性隔离器：ILC Dover JS26-11384-0（2026-07-22）整包 £115,800，EXW，不含运输安装；交期约 20 周（图纸批准后）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固定隔离器：Howorth Q26543（2026-08-11）单腔分装隔离器 £250,000/台；选项 190 RTP £18,000、样机 £17,000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21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投资总览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内部估算 · 主设备 + 30% 项目预备费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11423599" cy="457200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1078992"/>
            <a:ext cx="5943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078992"/>
            <a:ext cx="4754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£2,476,500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627632"/>
          <a:ext cx="11423598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49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86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主设备（设备与设计费）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£1,905,000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 固定隔离器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£1,000,000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1.1 三层（second floor）物料分装固定隔离器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£500,000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 一层（ground floor）最终包装固定隔离器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£500,000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 HVAC 与气闸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£575,000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2.1 HVAC 系统改造/升级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£350,000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2.2 气闸联锁及雾化淋浴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£225,000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 柔性隔离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£330,000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3.1 各单元操作定制柔性隔离器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£330,000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一般风险与预备费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£571,500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811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全项目预备费（30%）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£571,500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22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投资结构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主设备小计 / 全项目预备费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371033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98755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1229319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£2,476,500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3436010" cy="395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0682" y="1051560"/>
            <a:ext cx="371033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40682" y="1051560"/>
            <a:ext cx="82296" cy="98755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23562" y="1229319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£1,905,000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562" y="1618488"/>
            <a:ext cx="3436010" cy="395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主设备小计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7316" y="1051560"/>
            <a:ext cx="371033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97316" y="1051560"/>
            <a:ext cx="82296" cy="98755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0196" y="1229319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£571,500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1618488"/>
            <a:ext cx="3436010" cy="395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全项目预备费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" y="2212848"/>
            <a:ext cx="55778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21207" y="22860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项目总投资构成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429768" y="2578608"/>
          <a:ext cx="5486400" cy="3611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6126480" y="2212848"/>
            <a:ext cx="5626303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09360" y="2286000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主设备 — 分项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6217920" y="2578608"/>
          <a:ext cx="5440680" cy="3611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23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假设与改造项目一并批准 · 以 2026-09 启动重新基线（原 6 月口径 +3 个月）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987552"/>
            <a:ext cx="82296" cy="84124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范围定稿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8 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76523" y="987552"/>
            <a:ext cx="82296" cy="84124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59403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详细设计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12 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68999" y="987552"/>
            <a:ext cx="82296" cy="84124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1879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下单/制造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 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61475" y="987552"/>
            <a:ext cx="82296" cy="84124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44355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安装确认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8 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1920240"/>
            <a:ext cx="11423599" cy="4507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4048" y="1920240"/>
            <a:ext cx="11423599" cy="4507992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E2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15768" y="2221992"/>
            <a:ext cx="7427670" cy="10972"/>
          </a:xfrm>
          <a:prstGeom prst="rect">
            <a:avLst/>
          </a:prstGeom>
          <a:solidFill>
            <a:srgbClr val="DD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15768" y="2194560"/>
            <a:ext cx="10972" cy="3831336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04287" y="1975104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 H2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07947" y="2194560"/>
            <a:ext cx="10972" cy="3831336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96467" y="1975104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 H1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56211" y="2194560"/>
            <a:ext cx="10972" cy="3831336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44731" y="1975104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 H2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" y="2194560"/>
            <a:ext cx="2185415" cy="95783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范围定稿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15768" y="2405283"/>
            <a:ext cx="7427670" cy="53638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709381" y="2423571"/>
            <a:ext cx="977325" cy="499811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16590" y="2194560"/>
            <a:ext cx="1517904" cy="95783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2026/10 – 2026/12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152394"/>
            <a:ext cx="11277295" cy="957834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152394"/>
            <a:ext cx="2185415" cy="95783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详细设计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15768" y="3363117"/>
            <a:ext cx="7427670" cy="53638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702995" y="3381405"/>
            <a:ext cx="1449698" cy="499811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16590" y="3152394"/>
            <a:ext cx="1517904" cy="95783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2026/12 – 2027/03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" y="4110228"/>
            <a:ext cx="2185415" cy="95783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下单及设备制造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15768" y="4320951"/>
            <a:ext cx="7427670" cy="53638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168983" y="4339239"/>
            <a:ext cx="2459601" cy="499811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16590" y="4110228"/>
            <a:ext cx="1517904" cy="95783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2027/03 – 2027/08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5068062"/>
            <a:ext cx="11277295" cy="957834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8" y="5068062"/>
            <a:ext cx="2185415" cy="95783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安装与确认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15768" y="5278785"/>
            <a:ext cx="7427670" cy="53638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661162" y="5297073"/>
            <a:ext cx="977325" cy="499811"/>
          </a:xfrm>
          <a:prstGeom prst="roundRect">
            <a:avLst>
              <a:gd name="adj" fmla="val 42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16590" y="5068062"/>
            <a:ext cx="1517904" cy="95783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2027/08 – 2027/10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41543" y="2194560"/>
            <a:ext cx="16459" cy="3831336"/>
          </a:xfrm>
          <a:prstGeom prst="rect">
            <a:avLst/>
          </a:prstGeom>
          <a:solidFill>
            <a:srgbClr val="B4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87263" y="1975104"/>
            <a:ext cx="438912" cy="20116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1">
                <a:solidFill>
                  <a:srgbClr val="B43A2A"/>
                </a:solidFill>
                <a:latin typeface="微软雅黑"/>
                <a:ea typeface="微软雅黑"/>
                <a:cs typeface="微软雅黑"/>
              </a:rPr>
              <a:t>约今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976725" y="6217919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41317" y="6135623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设计 / 准备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99201" y="6217919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3793" y="6135623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下单 + 制造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021677" y="6217919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86269" y="6135623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施工 / 确认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24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决策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850392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84048" y="850392"/>
            <a:ext cx="109728" cy="2688336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76656" y="1938528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1033272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 C1 OEB5 升级与改造项目一并推进？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648456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3648456"/>
            <a:ext cx="109728" cy="2688336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76656" y="4736592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3831336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是否授权启动 ILC Dover 柔性隔离器及固定隔离器供货方案深化？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25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56032"/>
            <a:ext cx="1142359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4048" y="256032"/>
            <a:ext cx="128016" cy="265176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502920"/>
            <a:ext cx="1965960" cy="365760"/>
          </a:xfrm>
          <a:prstGeom prst="roundRect">
            <a:avLst>
              <a:gd name="adj" fmla="val 18000"/>
            </a:avLst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高活实验室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051560"/>
            <a:ext cx="1078351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四、OEB5 高活实验室（G-128 套间改造）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783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Concept 阶段 · 成本计划 260806 / 概念进度 260727 / 风险登记册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514600"/>
            <a:ext cx="164592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84048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3108960"/>
            <a:ext cx="82296" cy="3200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概念阶段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成本计划 / 概念进度 / 风险登记册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6523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76523" y="3108960"/>
            <a:ext cx="82296" cy="3200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59403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£4.54M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9403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8999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68999" y="3108960"/>
            <a:ext cx="82296" cy="3200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51879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计划交付（概念进度 +6 周）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61475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61475" y="3108960"/>
            <a:ext cx="82296" cy="3200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44355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215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4355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GIFA（实验室约 182 + 办公区约 33）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26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执行摘要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DPH_G-128 Suite Alterations Concept Cost Plan 260806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概念阶段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成本计划 / 概念进度 / 风险登记册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76523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59403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£4.54M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68999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1879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计划交付（概念进度 +6 周）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61475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44355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215 m²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GIFA（实验室约 182 + 办公区约 33）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2276856"/>
            <a:ext cx="1133215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范围：既有 G-128 套间改造为实验室与办公区，GIFA 215 m²；隔离器在成本计划中计列 4 台 × £150,000 + 1 台 × £100,000。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投资：项目投资（含通胀）£4,544,044；不含增值税；估算精度区间 £3.74M – £4.99M。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构成：建筑工程费 £1.95M + 专业服务费 £0.14M + 业主（凯莱英）供货设备 £1.96M + 风险预备费 £0.40M + 通胀 £0.10M。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周期：概念进度（草案）自资金批准与推进决定起 262 个工作日，计划交付 2027 年 11 月；隔离器 2027-07-14 到场。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隔离器费用：为基于与供应商沟通的估算，最终取决于项目范围最终确认的密闭等级。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业主（凯莱英）供货并安装设备待采购 £1,957,045。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需求对应：欧洲商务已列 AZ、Genmab、BioNTech、NCC 等对 SW 高活能力的需求或询盘；BioNTech 明确要求与 TJ4 相当的密闭及独立高活分析。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27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范围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依据 G-128 概念成本计划分项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60704"/>
            <a:ext cx="5638647" cy="21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1060704"/>
            <a:ext cx="91440" cy="2167127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3" y="117043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范围与面积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36192"/>
            <a:ext cx="5346039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既有 G-128 套间（G128 及 G128A–D）改造；GIFA 215 m²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实验室区约 182 m²（机电费率基准）+ 办公区约 33 m²（地毯量）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拆除 G128 与 G128D 之间砌块墙；混凝土墙新开 2 处传递窗洞、2 处门洞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1060704"/>
            <a:ext cx="5638647" cy="21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8999" y="1060704"/>
            <a:ext cx="91440" cy="2167127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88455" y="117043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隔离器与实验设备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1536192"/>
            <a:ext cx="5346039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成本计划：4 台 × £150,000 + 1 台 × £100,000（合计 £700,000）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费用性质：基于与供应商沟通的估算，最终取决于项目范围最终确认的密闭等级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通风柜：假设现有可继续使用，仅列 £20,000 维修保养费用；是否新购为进度中待定项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SF6 检漏测试 £20,000；家具含更衣柜、跨越凳、移动实验台、BIBO 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" y="3374136"/>
            <a:ext cx="5638647" cy="21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84048" y="3374136"/>
            <a:ext cx="91440" cy="2167127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3503" y="3483864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土建与装饰改造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849624"/>
            <a:ext cx="5346039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拆除：家具与实验设备清空、地面与吊顶拆除、燃气/风管/电气/烟感/Crowcon 撤除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新建：墙面衬板 475 m²、新隔断 40 m²；5 樘单开 + 1 樘子母卫生门、2 樘木门、4 樘旧门翻新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装饰：实验室卷材乙烯地面 173 m²、金属吊顶 173 m²、办公区地毯 33 m²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68999" y="3374136"/>
            <a:ext cx="5638647" cy="21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68999" y="3374136"/>
            <a:ext cx="91440" cy="2167127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88455" y="3483864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机电、安全与业主供货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1879" y="3849624"/>
            <a:ext cx="5346039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暖通 £217,920：AHU 恢复使用、全套风管与送回风、袋进袋出 HEPA 排风过滤、BMS 升级、系统平衡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电气 £107,380、消防喷淋 £30,030、门禁/布线/CCTV/火警 £51,345、实验室气体管道 £63,700、雾化淋浴 £35,000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业主（凯莱英）供货并安装设备待采购 £1,957,045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待采购分项：ARD/QC £912,600、隔离器内仪器 £455,345、CRD £589,100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5577840"/>
            <a:ext cx="11423599" cy="83210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84048" y="5577840"/>
            <a:ext cx="82296" cy="832103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85216" y="5596128"/>
            <a:ext cx="1111270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风险与前提：正在就厂房改造事宜征求 DPML 同意 —— 改造完成后实验室将无法按当前运行状态交还 DPML，该沟通进展由 Clare 跟进。目前 DPML（Paul Bax，2026-08-21）原则上同意 PDF 与 DPH（含 G.128）拟议改造，最终以设计审查为准；可启动两项 Licence for Alteration，范围与图纸随设计深化补充。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28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投资总览（1/2）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G-128 Concept Cost Plan · 2026-08-06 · GIFA 215 m²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11423599" cy="438912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1060704"/>
            <a:ext cx="5943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项目投资（含通胀）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060704"/>
            <a:ext cx="4754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£4,544,044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572768"/>
          <a:ext cx="5577839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60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17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39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建筑工程费合计 Total Building Works Estimate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£1,951,140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39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改造工程 Facilitating Works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£65,567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39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1.1 拆除、改造与拆砌（隔断等）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£46,967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39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 机电拆除（燃气、风管、电气、烟感、Crowcon 等）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£18,600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39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上部结构 Superstructure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£68,690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39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2.7 内墙与隔断（墙面衬板、新建隔断、氢气管道包封）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£42,440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39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2.8 内门（5 单开 + 1 子母卫生门、2 木门、4 樘旧门翻新）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£26,250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39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装饰 Finishes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£58,898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39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3.1 墙面装饰（实验室 475 m²、办公区 70 m²）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£9,810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39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3.2 地面（实验室卷材乙烯 173 m²、踢脚 136 m、办公区地毯 33 m²）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£23,631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39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3.3 吊顶（实验室金属吊顶 173 m²、周边收口 136 m）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£25,457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26480" y="1572768"/>
          <a:ext cx="5626302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09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53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77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家具与设备 Fittings, Furnishings and Equipment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£765,000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隔离器 4 台 × £150,000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£600,000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隔离器 1 台 × £100,000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通风柜（假设现有可用，仅列维修保养）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SF6 检漏测试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家具（更衣柜、跨越凳、移动实验台、BIBO 桶）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办公区家具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 机电安装 Services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£537,574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5.6 暖通空调（AHU 恢复使用、全套风管、袋进袋出 HEPA 排风、BMS 升级、系统平衡）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£217,920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5.8 电气（小动力 182 m²、照明 182 m²，含设备接电）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£107,380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5.4 给水（冷热水、水槽复装、雾化淋浴 £35,000）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£38,600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改造与建筑工程小计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£1,495,729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29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投资总览（2/2）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G-128 Concept Cost Plan · 续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1051560"/>
          <a:ext cx="11423598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49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86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临建与承包商设计 Preliminaries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£362,500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6.1 临时工程（保留设备与公共区域防护、临时照明）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£10,500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6.2 现场福利与临建（施工期 21 周）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£21,000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6.3 设计与施工管理（勘查、RIBA 2/3 与 RIBA 4 承包商设计、RIBA 5 现场资源 22 周）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£331,000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 管理费与利润 Overheads and Profit（5.00%）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£92,911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 专业服务费 Professional Services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£141,800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项目管理（合同前 33 周 / 合同后 22 周 / 缺陷期）、设计支持、商务支持与合同管理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£141,800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 业主（凯莱英）供货并安装设备 Equipment (supplied and installed by the Client)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£1,957,045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待采购 £1,957,045（《Equipment List Costs for scoping 5 Aug》）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£1,957,045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 风险预备费 Risk Allowance Estimate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£397,875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10.1 设计发展风险（依风险登记册）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£397,875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 通胀 Inflation（2.15%）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£96,184</a:t>
                      </a:r>
                    </a:p>
                  </a:txBody>
                  <a:tcPr anchor="ctr">
                    <a:solidFill>
                      <a:srgbClr val="1A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自基准日至施工期的通胀调整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£96,184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883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项目投资（含通胀）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£4,544,044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8467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73859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30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业主（凯莱英）供货并安装设备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ARD / QC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05840"/>
            <a:ext cx="11423599" cy="420624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1060704"/>
            <a:ext cx="6583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合计（新购且必须）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060704"/>
            <a:ext cx="4389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£1,957,045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7207"/>
              </p:ext>
            </p:extLst>
          </p:nvPr>
        </p:nvGraphicFramePr>
        <p:xfrm>
          <a:off x="384048" y="1536192"/>
          <a:ext cx="1136873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389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设备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Manufacturer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 / 既有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费用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必须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HPLC 系统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Room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Aglient Technologies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£300,000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HPLC/质谱系统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 top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Agilent Technologies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GCMS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or GCMS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氮气发生器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or GCMS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氢气发生器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or GCMS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电动移液器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Benchtop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Handystep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£1,600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Milli-Q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Undersink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Millipore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制备 HPLC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Large Fumehood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Hanbon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pH 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Fumhood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SFC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 top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Waters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£150,000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 </a:t>
                      </a:r>
                      <a:r>
                        <a:rPr sz="1300" b="0" dirty="0" smtClean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top</a:t>
                      </a:r>
                      <a:endParaRPr sz="1300" b="0" dirty="0">
                        <a:solidFill>
                          <a:srgbClr val="2C3E5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Aglient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质谱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 top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Aglient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£140,000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461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库仑法 KF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Fumehood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Metrohm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31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业主（凯莱英）供货并安装设备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隔离器内仪器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05840"/>
            <a:ext cx="11423599" cy="420624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1060704"/>
            <a:ext cx="6583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合计（新购且必须）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060704"/>
            <a:ext cx="4389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£1,957,045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536192"/>
          <a:ext cx="1136873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389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设备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Manufacturer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 / 既有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费用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必须</a:t>
                      </a:r>
                    </a:p>
                  </a:txBody>
                  <a:tcPr anchor="ctr">
                    <a:solidFill>
                      <a:srgbClr val="0F2B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Huber TC45 浸入式冷却器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Under isolator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Huber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£4,345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卡尔费休滴定仪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1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台式粉末 X 射线衍射仪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Benchtop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粒度仪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5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Malvern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£160,000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冻干机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Benchtop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Tofflon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分析天平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1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微量天平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EasyMax 反应系统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3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£80,000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冷水机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under isolator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Julabo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干燥箱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4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Salvis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新购/既有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£36,000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FTIR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Thermo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£28,000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32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业主（凯莱英）供货并安装设备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CRD（1/2）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05840"/>
            <a:ext cx="11423599" cy="420624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1060704"/>
            <a:ext cx="6583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合计（新购且必须）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060704"/>
            <a:ext cx="4389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£1,957,045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536192"/>
          <a:ext cx="11368735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965960"/>
                <a:gridCol w="2331720"/>
                <a:gridCol w="1234440"/>
                <a:gridCol w="1417320"/>
                <a:gridCol w="1538935"/>
              </a:tblGrid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设备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Manufacturer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 / 既有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费用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必须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实验室冰箱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Room 4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Lec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£750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实验室冰柜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Room 4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Lec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£750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Reactor Ready 双反应釜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Reactor Ready vessels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梅特勒 SP-50 加料单元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 SP-50 Dosing units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£1,600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RX10 控制器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RX10 Controller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£2,400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Heidolph 电机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Heidolph Motors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£1,600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Reactor Ready 支架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Reactor Ready Stand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真空泵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Vacuubrand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循环冷水机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Huber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£23,000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分析天平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Either/or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大称量天平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Either/or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Sartorius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EasyMax 反应系统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FH2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£160,000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33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业主（凯莱英）供货并安装设备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CRD（2/2）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05840"/>
            <a:ext cx="11423599" cy="420624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1060704"/>
            <a:ext cx="6583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合计（新购且必须）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060704"/>
            <a:ext cx="4389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£1,957,045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536192"/>
          <a:ext cx="11368735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965960"/>
                <a:gridCol w="2331720"/>
                <a:gridCol w="1234440"/>
                <a:gridCol w="1417320"/>
                <a:gridCol w="1538935"/>
              </a:tblGrid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设备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Manufacturer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 / 既有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费用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必须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冷水机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FH2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Julabo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£24,000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梅特勒 SP-50 加料单元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FH3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Tolesdo SP-50 Dosing units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冷水机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FH3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Julabo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Stem 加热模块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FH3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Electrothermal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搅拌加热板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FH3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IKA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£1,200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Biotage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FH4 - Flexible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Biotage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旋转蒸发仪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FH4 - Flexible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Heidolph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真空泵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FH4 - Flexible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Vacuubrand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顶置搅拌器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FH4 - Flexible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软件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Software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器皿清洗机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Miscellaneous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Miele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34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投资结构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项目投资构成与建筑工程费分项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£4,544,044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项目投资（含通胀）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8028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98028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80908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£1,951,140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908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建筑工程费合计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12009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12009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94889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£1,957,045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4889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业主（凯莱英）供货设备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5989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25989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08869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£397,875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08869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风险预备费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39970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639970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822850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£3,740,000 – £4,990,000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2850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估算精度区间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103120"/>
            <a:ext cx="5577840" cy="4224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21207" y="2157984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项目投资构成</a:t>
            </a:r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429768" y="2450592"/>
          <a:ext cx="5486400" cy="3767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6126480" y="2103120"/>
            <a:ext cx="5626303" cy="4224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09360" y="2157984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建筑工程费 — 分项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6217920" y="2450592"/>
          <a:ext cx="5440680" cy="3767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35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Asymchem Concept Programme_260727（DRAFT CONCEPT PROGRAMME）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987552"/>
            <a:ext cx="82296" cy="84124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262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总工期（工作日）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76523" y="987552"/>
            <a:ext cx="82296" cy="84124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59403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2026-10-13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资金批准与推进决定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68999" y="987552"/>
            <a:ext cx="82296" cy="84124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1879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2027-07-14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隔离器到场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61475" y="987552"/>
            <a:ext cx="82296" cy="84124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44355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2027-11-12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计划交付（含进度风险预留）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5879592"/>
            <a:ext cx="11423599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进度说明：各项活动于 2027 年 10 月下旬完成，余量计入末段进度风险预留，交付目标 2027 年 11 月。后续设计推进中部分工作有并行压缩的空间，但取决于最终确认的风险处理方式与可接受的风险水平。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4048" y="1920240"/>
            <a:ext cx="11423599" cy="39410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84048" y="1920240"/>
            <a:ext cx="11423599" cy="3941063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E2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560320" y="2221992"/>
            <a:ext cx="7674559" cy="10972"/>
          </a:xfrm>
          <a:prstGeom prst="rect">
            <a:avLst/>
          </a:prstGeom>
          <a:solidFill>
            <a:srgbClr val="DD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60320" y="2194560"/>
            <a:ext cx="10972" cy="3264407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48839" y="1975104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 H2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2439" y="2194560"/>
            <a:ext cx="10972" cy="3264407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40959" y="1975104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 H1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07961" y="2194560"/>
            <a:ext cx="10972" cy="3264407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96481" y="1975104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 H2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" y="2194560"/>
            <a:ext cx="2029967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资金批准节点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560320" y="2228849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246131" y="2247137"/>
            <a:ext cx="146304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308031" y="2194560"/>
            <a:ext cx="1426464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2026/10 – 2026/10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2427731"/>
            <a:ext cx="11277295" cy="233171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5488" y="2427731"/>
            <a:ext cx="2029967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顾问任命 + BoD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60320" y="2462021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246131" y="2480309"/>
            <a:ext cx="212275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08031" y="2427731"/>
            <a:ext cx="1426464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2026/10 – 2026/10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" y="2660903"/>
            <a:ext cx="2029967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主承包商招标任命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560320" y="2695193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474735" y="2713481"/>
            <a:ext cx="555180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08031" y="2660903"/>
            <a:ext cx="1426464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2026/10 – 2026/11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2894075"/>
            <a:ext cx="11277295" cy="233171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" y="2894075"/>
            <a:ext cx="2029967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合同授予与动员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560320" y="2928365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029916" y="2946653"/>
            <a:ext cx="457207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308031" y="2894075"/>
            <a:ext cx="1426464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2026/11 – 2026/12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5488" y="3127247"/>
            <a:ext cx="2029967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勘查与项目控制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560320" y="3161537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503453" y="3179825"/>
            <a:ext cx="930744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308031" y="3127247"/>
            <a:ext cx="1426464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2026/12 – 2027/02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3360419"/>
            <a:ext cx="11277295" cy="233171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5488" y="3360419"/>
            <a:ext cx="2029967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实验室设计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560320" y="3394709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503453" y="3412997"/>
            <a:ext cx="1730857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308031" y="3360419"/>
            <a:ext cx="1426464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2026/12 – 2027/04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" y="3593591"/>
            <a:ext cx="2029967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CDM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560320" y="3627881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503453" y="3646169"/>
            <a:ext cx="4490433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308031" y="3593591"/>
            <a:ext cx="1426464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2026/12 – 2027/09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" y="3826763"/>
            <a:ext cx="11277295" cy="233171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5488" y="3826763"/>
            <a:ext cx="2029967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隔离器采购制造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560320" y="3861053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732056" y="3879341"/>
            <a:ext cx="2988179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308031" y="3826763"/>
            <a:ext cx="1426464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2027/01 – 2027/07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75488" y="4059935"/>
            <a:ext cx="2029967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通风柜采购（待定）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560320" y="4094225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4732056" y="4112513"/>
            <a:ext cx="2988179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308031" y="4059935"/>
            <a:ext cx="1426464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2027/01 – 2027/07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7200" y="4293107"/>
            <a:ext cx="11277295" cy="233171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5488" y="4293107"/>
            <a:ext cx="2029967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实验室家具采购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560320" y="4327397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4732056" y="4345685"/>
            <a:ext cx="2449327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08031" y="4293107"/>
            <a:ext cx="1426464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2027/01 – 2027/06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5488" y="4526279"/>
            <a:ext cx="2029967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分包工程招标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560320" y="4560569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732056" y="4578857"/>
            <a:ext cx="2220723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308031" y="4526279"/>
            <a:ext cx="1426464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2027/01 – 2027/05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4759451"/>
            <a:ext cx="11277295" cy="233171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5488" y="4759451"/>
            <a:ext cx="2029967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施工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560320" y="4793741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001766" y="4812029"/>
            <a:ext cx="1763515" cy="128016"/>
          </a:xfrm>
          <a:prstGeom prst="roundRect">
            <a:avLst>
              <a:gd name="adj" fmla="val 42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308031" y="4759451"/>
            <a:ext cx="1426464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2027/05 – 2027/09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75488" y="4992623"/>
            <a:ext cx="2029967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调试与移交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560320" y="5026913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8781611" y="5045201"/>
            <a:ext cx="326576" cy="128016"/>
          </a:xfrm>
          <a:prstGeom prst="roundRect">
            <a:avLst>
              <a:gd name="adj" fmla="val 42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308031" y="4992623"/>
            <a:ext cx="1426464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2027/09 – 2027/10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57200" y="5225795"/>
            <a:ext cx="11277295" cy="233171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5488" y="5225795"/>
            <a:ext cx="2029967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进度风险预留 → 交付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560320" y="5260085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9124517" y="5278373"/>
            <a:ext cx="571509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308031" y="5225795"/>
            <a:ext cx="1426464" cy="2331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2027/10 – 2027/11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622395" y="5650991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786987" y="5568695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设计 / 合约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144871" y="5650991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09463" y="5568695"/>
            <a:ext cx="173736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采购 / 制造 / 预留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376007" y="5650991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40599" y="5568695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施工 / 调试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36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决策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850392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84048" y="850392"/>
            <a:ext cx="109728" cy="2688336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76656" y="1938528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1033272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是否批准资金与推进决定节点？概念进度以此为起点，262 个工作日加 6 周启动与决策时间，计划交付 2027 年 11 月。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648456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3648456"/>
            <a:ext cx="109728" cy="2688336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76656" y="4736592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3831336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是否安排 AHU 状况核查与既有通风柜可用性确认？二者为风险登记册中金额最高的两项。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37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"/>
            <a:ext cx="12191695" cy="6501384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1874519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2971800"/>
            <a:ext cx="137160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24612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B8C5D6"/>
                </a:solidFill>
                <a:latin typeface="微软雅黑"/>
                <a:ea typeface="微软雅黑"/>
                <a:cs typeface="微软雅黑"/>
              </a:rPr>
              <a:t>Asymchem UK  ·  Sandwich  ·  2026年9月7日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49039"/>
            <a:ext cx="103327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dirty="0">
                <a:solidFill>
                  <a:srgbClr val="8A9BAE"/>
                </a:solidFill>
                <a:latin typeface="微软雅黑"/>
                <a:ea typeface="微软雅黑"/>
                <a:cs typeface="微软雅黑"/>
              </a:rPr>
              <a:t>UK PDF </a:t>
            </a:r>
            <a:r>
              <a:rPr sz="1600" b="0" dirty="0" err="1" smtClean="0">
                <a:solidFill>
                  <a:srgbClr val="8A9BAE"/>
                </a:solidFill>
                <a:latin typeface="微软雅黑"/>
                <a:ea typeface="微软雅黑"/>
                <a:cs typeface="微软雅黑"/>
              </a:rPr>
              <a:t>资本项目</a:t>
            </a:r>
            <a:endParaRPr sz="1600" b="0" dirty="0">
              <a:solidFill>
                <a:srgbClr val="8A9BA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1051560" y="4572000"/>
            <a:ext cx="2468880" cy="640080"/>
          </a:xfrm>
          <a:prstGeom prst="roundRect">
            <a:avLst>
              <a:gd name="adj" fmla="val 18000"/>
            </a:avLst>
          </a:prstGeom>
          <a:solidFill>
            <a:srgbClr val="1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B902 扩建  £78.1M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4572000"/>
            <a:ext cx="2468880" cy="640080"/>
          </a:xfrm>
          <a:prstGeom prst="roundRect">
            <a:avLst>
              <a:gd name="adj" fmla="val 18000"/>
            </a:avLst>
          </a:prstGeom>
          <a:solidFill>
            <a:srgbClr val="1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HPLC + 冻干  £5.33M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4572000"/>
            <a:ext cx="2468880" cy="640080"/>
          </a:xfrm>
          <a:prstGeom prst="roundRect">
            <a:avLst>
              <a:gd name="adj" fmla="val 18000"/>
            </a:avLst>
          </a:prstGeom>
          <a:solidFill>
            <a:srgbClr val="1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C1 OEB5  £2.48M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51976" y="4572000"/>
            <a:ext cx="2468880" cy="640080"/>
          </a:xfrm>
          <a:prstGeom prst="roundRect">
            <a:avLst>
              <a:gd name="adj" fmla="val 18000"/>
            </a:avLst>
          </a:prstGeom>
          <a:solidFill>
            <a:srgbClr val="1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高活实验室  £4.54M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BAE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BAE"/>
                </a:solidFill>
                <a:latin typeface="微软雅黑"/>
                <a:ea typeface="微软雅黑"/>
                <a:cs typeface="微软雅黑"/>
              </a:rPr>
              <a:t>37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3230</Words>
  <Application>Microsoft Office PowerPoint</Application>
  <PresentationFormat>宽屏</PresentationFormat>
  <Paragraphs>962</Paragraphs>
  <Slides>36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41" baseType="lpstr">
      <vt:lpstr>等线</vt:lpstr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>generated using python-pptx</dc:description>
  <cp:lastModifiedBy>Tao Li0056</cp:lastModifiedBy>
  <cp:revision>7</cp:revision>
  <dcterms:created xsi:type="dcterms:W3CDTF">2013-01-27T09:14:16Z</dcterms:created>
  <dcterms:modified xsi:type="dcterms:W3CDTF">2026-09-07T02:20:17Z</dcterms:modified>
  <cp:category/>
</cp:coreProperties>
</file>