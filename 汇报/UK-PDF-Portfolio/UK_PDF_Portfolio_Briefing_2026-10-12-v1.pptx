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dPt>
            <c:idx val="7"/>
            <c:spPr>
              <a:solidFill>
                <a:srgbClr val="0F2B46"/>
              </a:solidFill>
            </c:spPr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一期业主设备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963445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 UK · Sandwich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608832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一、地面层改造 + C1 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 £5.33M  ·  C1 £2.48M
2027-10 C1 / 2027-12 HPLC / 2028-06 冻干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6344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6344" y="2880360"/>
            <a:ext cx="3608832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9224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224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一期口径
计划 2027-11 交付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9768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9768" y="2880360"/>
            <a:ext cx="3608832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2648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三、B902 东侧扩建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648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2648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可研评估 OOM
2030-05 竣工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三部分  ·  2026年10月12日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三部分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160520"/>
                <a:gridCol w="2286000"/>
                <a:gridCol w="2407615"/>
              </a:tblGrid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改造（地面层）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一、C1 模块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 C1 模块 OEB5 日常运行能力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二、OEB5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£3.55M（一期）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三、B902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新建四层+夹层，反应/加氢/过滤干燥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竣工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第一、二部分合计（改造 £5.33M + C1 £2.48M + 高活实验室一期 £3.55M）约 £11.36M，不含 B902 东侧扩建。各线口径不同：扩建与改造为可行性量级，C1 为内部估算，高活实验室为概念阶段成本计划。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高活需求：客户在问产能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家列名客户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450592"/>
            <a:ext cx="11423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欧洲商务已列出面向 Sandwich 的高活需求与机会。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已列名客户为 AZ、Genmab、BioNTech、NCC；另有 Roche、信达、宜联询问高活海外产能。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AZ、Genmab 明确希望了解 SW 高活扩建计划。部分项目的诉求是欧美第二供，用于对冲供应风险。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BioNTech 希望把现由中国支持的早期项目延伸到 Sandwich，并列明能力要求：与 TJ4 相当的高活密闭（1 ng/m³）、实验室至公斤级、适用的高活色谱、高活冻干、与常规分析分开的高活分析。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高活色谱与冻干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20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 计划 2026 年底报 BLA，天津已进入商业批次，正在评估欧美第二供。AZ 多个 API 亦以第二供为前提。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 · 客户与项目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960120"/>
          <a:ext cx="1136873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1325880"/>
                <a:gridCol w="1143000"/>
                <a:gridCol w="1143000"/>
                <a:gridCol w="3733495"/>
              </a:tblGrid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询盘。GMP payload-linker 已选 Procos（意大利）；非 GMP 仍在药明康德宁波。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与上一行同一组丢失机会。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已有部分研发活动；AZ 未提供商业量。商务：若 SW 扩展高活产能，可争取第二供。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$5M/yr?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仅末步为高活。现供 Cambrex US。公斤数由中间体年需求估算，不是 AZ 确认的 API 订单。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 2026 年底报 BLA。天津已完成 PPQ、商业批次进行中。客户评估欧美第二供，关注 SW 扩建计划。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 Sandwich 长期供货。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三家亦在询问高活海外产能。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一、Pilot Plant 地面层改造 + C1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冻干（RBPC FS P01）  ·  C1 模块 OEB5 升级（内部估算）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第一部分投资合计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C1 OEB5 升级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最晚节点（冻干目标）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第一部分 · 投资与节点总览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冻干与 C1 OEB5 升级同步交付，共同形成制备 HPLC 的 OEB5 运行能力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97280"/>
          <a:ext cx="113687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554480"/>
                <a:gridCol w="4206240"/>
                <a:gridCol w="2057400"/>
                <a:gridCol w="1767535"/>
              </a:tblGrid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投资估算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估算依据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£5,329,100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 £3,026,800 + 间接 £1,072,500 + 30% 项目预备费 £1,229,800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2027-12；冻干 2028-06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RBPC FS P01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£2,476,500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 £1,905,000 + 30% 项目预备费 £571,500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安装与确认 2027-10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内部估算；供应商预算报价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7150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£7,805,600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其中项目预备费 £1,801,300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611880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主要设备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 £967,000；HPLC 撬装 £358,000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 £1,000,000；柔性隔离 £330,000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与气闸 £575,000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0682" y="3611880"/>
            <a:ext cx="371033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5274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交付关联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C1 升级先于 HPLC 投用完成（2027-10 → 2027-12）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冻干机制造 8–10 个月，为第一部分关键路径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3611880"/>
            <a:ext cx="371033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1908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预备费口径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两条线均按 30% 计列项目预备费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合计 £1,801,300，HPLC + 冻干另含 30% 价格风险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废液罐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国内汉邦供货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区域安装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冻干腔、隔离器、双 CIP、除湿、PSG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东富龙（Tofflon）供货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气闸/改造约 20 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51505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32049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范围：二层物料分装与首层最终包装固定隔离器；HVAC 升级；进出气闸联锁及雾化淋浴；覆盖各单元操作与废物流的定制柔性隔离器。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估算：已取得供应商预算报价 —— ILC Dover 反应釜投料柔性隔离器整包 £115,800（含 R19–R22 投料方案概念设计）；Howorth 单腔分装隔离器 £250,000/台。两者均为 Ex Works 口径，不含包装、运输、安装与调试。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选型：不建议采用国内隔离器方案；英国落地须符合 UK 标准并取得 CE 标志，补认证至少增加 3–4 个月，且本项目需要成品高完整性隔离器。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交付关联：须与厂房内改造（制备 HPLC + 冻干）同步完成，方能为制备 HPLC 操作提供 OEB5 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周期：假设与改造项目一并批准；制备 HPLC 单元驱动 C1 模块升级交付时间线。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隔离器选型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须 CE 标志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英国落地前提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+3–4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事后补认证下限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成品高完整性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本项目所需类型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英国落地须符合 UK 标准并取得 CE 标志。国内既有方案暂不具备 CE。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事后补做 CE：按已有项目经验至少增加 3–4 个月；若认证要求改设计，周期还会延长。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CE 所需设计与测试文件，国内方案设计时未按该标准准备，补齐工作量大。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本项目需要成品高完整性隔离器。已接触的国内供应商资料难以直接用于本项目；东富龙以设备定制隔离器为主，与本需求不匹配。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推荐路径：按已取得的 Howorth、ILC Dover 预算报价推进供货方案深化。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1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8558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6910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第一部分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17495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46913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 HPLC + 冻干与 C1 OEB5 升级一并推进（合计 £7.81M），进入 FEED？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70967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09672"/>
            <a:ext cx="109728" cy="17495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32841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289255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是否批准冻干机等长周期设备早期采购资金？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568951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568951"/>
            <a:ext cx="109728" cy="17495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518769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75183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确认不采用国内隔离器方案，按已取得的 Howorth / ILC Dover 预算报价深化供货。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投资：一期项目投资（含通胀）£3,550,444；不含增值税。含二期及后续设备的全口径为 £4,300,044。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一期业主设备 £0.96M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隔离器费用：目前为基于与供应商沟通的估算，最终取决于项目范围最终确认的密闭等级。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业主设备按分阶段清单待采购 £1,713,045：一期 £963,445 计入本期，二期及后续 £749,600 不计入本期。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业主（凯莱英）供货并安装设备：一期 £963,445（分阶段清单待采购合计 £1,713,045）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一期分项：ARD/QC £662,600、隔离器内仪器 £175,345、CRD £125,500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业主设备分阶段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Equipment List Costs for scoping 0911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一期设备（计入本期）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待采购合计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开业配置：分析 HPLC 先购 1 套；质谱及气源纳入一期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隔离器内固体操作仪器纳入一期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同期按一个项目配置反应系统（EasyMax 等先购 1 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制备 HPLC、粒度仪、自动滴定仪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结晶筛选与部分反应配套、器皿清洗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软件 £200,000，计入后续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630728"/>
                <a:gridCol w="2630728"/>
                <a:gridCol w="2632557"/>
              </a:tblGrid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ARD / QC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£832,600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£662,600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隔离器内仪器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£383,345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£175,345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£497,100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£125,500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£371,600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一期设备（分阶段清单，计入本期）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二期及后续设备 £749,600（不计入本期）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535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£3,550,444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£832,600  ·  一期 £662,600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£383,345  ·  一期 £175,345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自动滴定仪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软件（待定）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一期项目投资构成与建筑工程费分项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£1,951,140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建筑工程费合计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一期业主设备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£397,875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风险预备费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二期及后续设备（不计入）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一期项目投资构成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建筑工程费 — 分项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29802" y="2139696"/>
            <a:ext cx="16459" cy="3419856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7552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是否批准资金与推进决定节点？概念进度以此为起点，262 个工作日加 6 周启动与决策时间，计划交付 2027 年 11 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是否按分阶段清单批准一期业主设备采购（£963,445）？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评估结论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三、B902 东侧扩建（评估结果）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7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 UK  ·  Sandwich  ·  2026年10月12日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UK PDF 资本项目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7815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地面层改造 + C1  £7.81M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367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高活实验室一期  £3.55M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4919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B902 扩建  £78.1M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