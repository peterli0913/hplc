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直接费用合计</c:v>
                </c:pt>
              </c:strCache>
            </c:strRef>
          </c:tx>
          <c:spPr>
            <a:solidFill>
              <a:srgbClr val="0F2B46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3026800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间接费用合计</c:v>
                </c:pt>
              </c:strCache>
            </c:strRef>
          </c:tx>
          <c:spPr>
            <a:solidFill>
              <a:srgbClr val="1A4A6E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1072500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一般风险与预备费</c:v>
                </c:pt>
              </c:strCache>
            </c:strRef>
          </c:tx>
          <c:spPr>
            <a:solidFill>
              <a:srgbClr val="009688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1229800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spPr>
              <a:solidFill>
                <a:srgbClr val="0F2B46"/>
              </a:solidFill>
            </c:spPr>
          </c:dPt>
          <c:dPt>
            <c:idx val="1"/>
            <c:spPr>
              <a:solidFill>
                <a:srgbClr val="1A4A6E"/>
              </a:solidFill>
            </c:spPr>
          </c:dPt>
          <c:dPt>
            <c:idx val="2"/>
            <c:spPr>
              <a:solidFill>
                <a:srgbClr val="009688"/>
              </a:solidFill>
            </c:spPr>
          </c:dPt>
          <c:dPt>
            <c:idx val="3"/>
            <c:spPr>
              <a:solidFill>
                <a:srgbClr val="C9A227"/>
              </a:solidFill>
            </c:spPr>
          </c:dPt>
          <c:dPt>
            <c:idx val="4"/>
            <c:spPr>
              <a:solidFill>
                <a:srgbClr val="5B6EAE"/>
              </a:solidFill>
            </c:spPr>
          </c:dPt>
          <c:dPt>
            <c:idx val="5"/>
            <c:spPr>
              <a:solidFill>
                <a:srgbClr val="2E6DA4"/>
              </a:solidFill>
            </c:spPr>
          </c:dPt>
          <c:dPt>
            <c:idx val="6"/>
            <c:spPr>
              <a:solidFill>
                <a:srgbClr val="8A9BAE"/>
              </a:solidFill>
            </c:spPr>
          </c:dPt>
          <c:dPt>
            <c:idx val="7"/>
            <c:spPr>
              <a:solidFill>
                <a:srgbClr val="0F2B46"/>
              </a:solidFill>
            </c:spPr>
          </c:dPt>
          <c:cat>
            <c:strRef>
              <c:f>Sheet1!$A$2:$A$9</c:f>
              <c:strCache>
                <c:ptCount val="8"/>
                <c:pt idx="0">
                  <c:v>冻干机</c:v>
                </c:pt>
                <c:pt idx="1">
                  <c:v>HPLC 撬装</c:v>
                </c:pt>
                <c:pt idx="2">
                  <c:v>储罐/容器</c:v>
                </c:pt>
                <c:pt idx="3">
                  <c:v>泵组</c:v>
                </c:pt>
                <c:pt idx="4">
                  <c:v>土建结构</c:v>
                </c:pt>
                <c:pt idx="5">
                  <c:v>机械与管道</c:v>
                </c:pt>
                <c:pt idx="6">
                  <c:v>电气仪表</c:v>
                </c:pt>
                <c:pt idx="7">
                  <c:v>暖通空调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967000</c:v>
                </c:pt>
                <c:pt idx="1">
                  <c:v>358000</c:v>
                </c:pt>
                <c:pt idx="2">
                  <c:v>200000</c:v>
                </c:pt>
                <c:pt idx="3">
                  <c:v>50000</c:v>
                </c:pt>
                <c:pt idx="4">
                  <c:v>326000</c:v>
                </c:pt>
                <c:pt idx="5">
                  <c:v>264000</c:v>
                </c:pt>
                <c:pt idx="6">
                  <c:v>128000</c:v>
                </c:pt>
                <c:pt idx="7">
                  <c:v>35300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主设备小计</c:v>
                </c:pt>
              </c:strCache>
            </c:strRef>
          </c:tx>
          <c:spPr>
            <a:solidFill>
              <a:srgbClr val="0F2B46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1905000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全项目预备费</c:v>
                </c:pt>
              </c:strCache>
            </c:strRef>
          </c:tx>
          <c:spPr>
            <a:solidFill>
              <a:srgbClr val="1A4A6E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571500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spPr>
              <a:solidFill>
                <a:srgbClr val="0F2B46"/>
              </a:solidFill>
            </c:spPr>
          </c:dPt>
          <c:dPt>
            <c:idx val="1"/>
            <c:spPr>
              <a:solidFill>
                <a:srgbClr val="1A4A6E"/>
              </a:solidFill>
            </c:spPr>
          </c:dPt>
          <c:dPt>
            <c:idx val="2"/>
            <c:spPr>
              <a:solidFill>
                <a:srgbClr val="009688"/>
              </a:solidFill>
            </c:spPr>
          </c:dPt>
          <c:cat>
            <c:strRef>
              <c:f>Sheet1!$A$2:$A$4</c:f>
              <c:strCache>
                <c:ptCount val="3"/>
                <c:pt idx="0">
                  <c:v>1. 固定隔离器</c:v>
                </c:pt>
                <c:pt idx="1">
                  <c:v>2. HVAC 与气闸</c:v>
                </c:pt>
                <c:pt idx="2">
                  <c:v>3. 柔性隔离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1000000</c:v>
                </c:pt>
                <c:pt idx="1">
                  <c:v>575000</c:v>
                </c:pt>
                <c:pt idx="2">
                  <c:v>330000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建筑工程费</c:v>
                </c:pt>
              </c:strCache>
            </c:strRef>
          </c:tx>
          <c:spPr>
            <a:solidFill>
              <a:srgbClr val="0F2B46"/>
            </a:solidFill>
          </c:spPr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1951140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专业服务费</c:v>
                </c:pt>
              </c:strCache>
            </c:strRef>
          </c:tx>
          <c:spPr>
            <a:solidFill>
              <a:srgbClr val="1A4A6E"/>
            </a:solidFill>
          </c:spPr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141800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业主（凯莱英）供货设备</c:v>
                </c:pt>
              </c:strCache>
            </c:strRef>
          </c:tx>
          <c:spPr>
            <a:solidFill>
              <a:srgbClr val="009688"/>
            </a:solidFill>
          </c:spPr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1713045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风险预备费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397875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通胀</c:v>
                </c:pt>
              </c:strCache>
            </c:strRef>
          </c:tx>
          <c:spPr>
            <a:solidFill>
              <a:srgbClr val="5B6EAE"/>
            </a:solidFill>
          </c:spPr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96184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spPr>
              <a:solidFill>
                <a:srgbClr val="0F2B46"/>
              </a:solidFill>
            </c:spPr>
          </c:dPt>
          <c:dPt>
            <c:idx val="1"/>
            <c:spPr>
              <a:solidFill>
                <a:srgbClr val="1A4A6E"/>
              </a:solidFill>
            </c:spPr>
          </c:dPt>
          <c:dPt>
            <c:idx val="2"/>
            <c:spPr>
              <a:solidFill>
                <a:srgbClr val="009688"/>
              </a:solidFill>
            </c:spPr>
          </c:dPt>
          <c:dPt>
            <c:idx val="3"/>
            <c:spPr>
              <a:solidFill>
                <a:srgbClr val="C9A227"/>
              </a:solidFill>
            </c:spPr>
          </c:dPt>
          <c:dPt>
            <c:idx val="4"/>
            <c:spPr>
              <a:solidFill>
                <a:srgbClr val="5B6EAE"/>
              </a:solidFill>
            </c:spPr>
          </c:dPt>
          <c:dPt>
            <c:idx val="5"/>
            <c:spPr>
              <a:solidFill>
                <a:srgbClr val="2E6DA4"/>
              </a:solidFill>
            </c:spPr>
          </c:dPt>
          <c:dPt>
            <c:idx val="6"/>
            <c:spPr>
              <a:solidFill>
                <a:srgbClr val="8A9BAE"/>
              </a:solidFill>
            </c:spPr>
          </c:dPt>
          <c:cat>
            <c:strRef>
              <c:f>Sheet1!$A$2:$A$8</c:f>
              <c:strCache>
                <c:ptCount val="7"/>
                <c:pt idx="0">
                  <c:v>1. 改造工程</c:v>
                </c:pt>
                <c:pt idx="1">
                  <c:v>2. 上部结构</c:v>
                </c:pt>
                <c:pt idx="2">
                  <c:v>3. 装饰</c:v>
                </c:pt>
                <c:pt idx="3">
                  <c:v>4. 家具与设备</c:v>
                </c:pt>
                <c:pt idx="4">
                  <c:v>5. 机电安装</c:v>
                </c:pt>
                <c:pt idx="5">
                  <c:v>6. 临建与承包商设计</c:v>
                </c:pt>
                <c:pt idx="6">
                  <c:v>7. 管理费与利润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65567</c:v>
                </c:pt>
                <c:pt idx="1">
                  <c:v>68690</c:v>
                </c:pt>
                <c:pt idx="2">
                  <c:v>58898</c:v>
                </c:pt>
                <c:pt idx="3">
                  <c:v>765000</c:v>
                </c:pt>
                <c:pt idx="4">
                  <c:v>537574</c:v>
                </c:pt>
                <c:pt idx="5">
                  <c:v>362500</c:v>
                </c:pt>
                <c:pt idx="6">
                  <c:v>92911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201168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2331720" cy="347472"/>
          </a:xfrm>
          <a:prstGeom prst="roundRect">
            <a:avLst>
              <a:gd name="adj" fmla="val 1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内部汇报 · 整体汇报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凯莱英 UK · Sandwich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资本项目汇报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70048"/>
            <a:ext cx="14630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2697480" cy="9144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5B6EAE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2027-12 / 2028-06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64992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4992" y="2880360"/>
            <a:ext cx="2697480" cy="9144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9584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模块 OEB5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2027-10 安装确认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7064" y="2880360"/>
            <a:ext cx="2697480" cy="9144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OEB5 高活实验室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7A6F"/>
                </a:solidFill>
                <a:latin typeface="微软雅黑"/>
                <a:ea typeface="微软雅黑"/>
                <a:cs typeface="微软雅黑"/>
              </a:rPr>
              <a:t>£4.30M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 2027-11 交付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89136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89136" y="2880360"/>
            <a:ext cx="2697480" cy="9144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3728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B902 东侧扩建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4A6E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2030-05 竣工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四条独立工作流  ·  2026年9月11日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项目概览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四条独立工作流 · 可行性 / 概念 / 内部估算量级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51560"/>
          <a:ext cx="11368735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2286000"/>
                <a:gridCol w="2407615"/>
              </a:tblGrid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投资（估算量级）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关键节点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+ 冻干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 PDF footprint 改造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£5.33M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2027-12 HPLC / 2028-06 冻干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 模块 OEB5 升级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现有 C1 模块 OEB5 日常运行能力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£2.48M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2027-10 安装确认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OEB5 高活实验室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 G-128 套间改造；GIFA 215 m²；4+1 台隔离器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£4.30M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 2027-11 交付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B902 东侧扩建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新建四层+夹层，反应/加氢/过滤干燥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£78.1M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2030-05 竣工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251960"/>
            <a:ext cx="1142359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4251960"/>
            <a:ext cx="82296" cy="86868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4325112"/>
            <a:ext cx="11112703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交付关联：厂房内改造（制备 HPLC + 冻干）与 C1 模块升级须同步完成，方能为制备 HPLC 操作提供 OEB5 能力；制备 HPLC 单元驱动整体交付时间线。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5212080"/>
            <a:ext cx="1142359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5212080"/>
            <a:ext cx="82296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5285232"/>
            <a:ext cx="11112703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产能依据：欧洲商务已整理面向 Sandwich 的高活需求与机会（2027–2030）。已列名 AZ、Genmab、BioNTech、NCC，另有 Roche、信达、宜联询盘海外高活产能。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5925312"/>
            <a:ext cx="11423599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5925312"/>
            <a:ext cx="82296" cy="502920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5998464"/>
            <a:ext cx="11112703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厂房内三条线合计（改造 £5.33M + C1 £2.48M + 高活实验室 £4.30M）约 £12.11M，不含 902 东侧扩建。各线口径不同：扩建与改造为可行性量级，C1 为内部估算，高活实验室为概念阶段成本计划。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高活需求：客户在问产能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欧洲商务整理 · Sandwich 高活项目需求与机会（2027–2030）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4 家列名客户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 · Genmab · BioNTech · NCC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3 家询盘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Roche · 信达 · 宜联（无量）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 条已丢失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 Exatecan + linker GMP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明确问扩建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AZ、Genmab 已表示关注 SW 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2203704"/>
            <a:ext cx="114235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欧洲商务已列出面向 Sandwich 的高活需求与机会。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已列名客户为 AZ、Genmab、BioNTech、NCC；另有 Roche、信达、宜联询问高活海外产能。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AZ、Genmab 明确希望了解 SW 高活扩建计划。部分项目的诉求是欧美第二供，用于对冲供应风险。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BioNTech 希望把现由中国支持的早期项目延伸到 Sandwich，并列明能力要求：与 TJ4 相当的高活密闭（1 ng/m³）、实验室至公斤级、适用的高活色谱、高活冻干、与常规分析分开的高活分析。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4828032"/>
            <a:ext cx="3710330" cy="7315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密闭与高活分析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BioNTech 要求与 TJ4 相当的密闭（1 ng/m³），以及与常规分析分开的高活分析。对应 G-128 高活实验室。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0682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40682" y="4828032"/>
            <a:ext cx="3710330" cy="731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6986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高活色谱与冻干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6986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同一客户列明 fit-for-purpose 高活色谱与高活冻干。对应厂房内 HPLC + 冻干改造。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7316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7316" y="4828032"/>
            <a:ext cx="3710330" cy="7315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3620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第二供窗口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3620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Genmab 计划 2026 年底报 BLA，天津已进入商业批次，正在评估欧美第二供。AZ 多个 API 亦以第二供为前提。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4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高活需求 · 客户与项目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960120"/>
          <a:ext cx="11368735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606040"/>
                <a:gridCol w="1325880"/>
                <a:gridCol w="1143000"/>
                <a:gridCol w="1143000"/>
                <a:gridCol w="3733495"/>
              </a:tblGrid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客户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2027–2030 量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商务产值口径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要点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Exatecan（ASYM-128214）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B43A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已丢失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43.2 kg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$5–6M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2025-09 询盘。GMP payload-linker 已选 Procos（意大利）；非 GMP 仍在药明康德宁波。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ADC linker AZ14374332（ASYM-147285，Exatecan 为中间体）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B43A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已丢失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 kg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$18M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与上一行同一组丢失机会。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AZD5305（ASYM-124995）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 已有部分研发活动；AZ 未提供商业量。商务：若 SW 扩展高活产能，可争取第二供。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Camizestrant / AZD9833（ASYM-147692）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~8,800 kg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$5M/yr?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仅末步为高活。现供 Cambrex US。公斤数由中间体年需求估算，不是 AZ 确认的 API 订单。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 ADC 管线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 ADC payload-linker 管线较多；近期沟通中表示希望了解 SW 高活扩建计划。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Genmab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LD038.TFA（ASYM-129959）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71.8 kg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$86M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Payload-linker。计划 2026 年底报 BLA。天津已完成 PPQ、商业批次进行中。客户评估欧美第二供，关注 SW 扩建计划。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BioNTech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BNT3214（ASYM-139154）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转至 SW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kg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$15–20M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现由中国支持早期研究；希望项目推进后由 Sandwich 长期供货。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NCC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Exatecan mesylate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00968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已列需求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kg（2027）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仅列 2027 年 6 kg，其后年份与产值为 TBD。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Roche / 信达 / 宜联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高活海外产能询盘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三家亦在询问高活海外产能。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5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改造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一、厂房内 HPLC + 冻干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RBPC · Project 9802 · P01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技术可行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P01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目标（+3 个月）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2028-06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冻干目标（+3 个月）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6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9802-RBP-ZZ-ZZ-RP-X-100000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技术可行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P01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目标（+3 个月）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2028-06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冻干目标（+3 个月）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范围：制备 HPLC（DAC300/CP300）+ 冻干机（隔离器、除湿、纯蒸汽发生器等）及配套改造。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投资：Total CAPEX Estimate £5.33M（直接+间接+30% 项目预备费）；非最终 Capex。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周期：冻干机长周期驱动；优先冻干后 HPLC。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关联：须与 C1 模块 OEB5 升级同步交付，方可实现制备 HPLC 的 OEB5 运行能力。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需求对应：欧洲商务清单中，BioNTech 将高活色谱与高活冻干列为转至 Sandwich 长期供货的能力要求。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7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5056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DAC300/CP300 泵撬；移动头罐；2000 L 废液罐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国内汉邦供货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PG.05 区域安装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5056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冻干腔、隔离器、双 CIP、除湿、PSG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东富龙（Tofflon）供货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气闸/改造约 20 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9802-RBP-ZZ-ZZ-CP-X-100001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£5,329,100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09344"/>
          <a:ext cx="5577839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/>
                <a:gridCol w="1561795"/>
              </a:tblGrid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直接费用合计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£3,026,800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主工艺设备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£2,047,500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冻干机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£967,000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HPLC 撬装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£358,000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 储罐/容器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1.4 泵组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 价格风险（30%）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£472,500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 基础设施改造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£979,300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土建结构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£326,000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机械与管道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£264,000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 电气仪表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£128,000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2.4 暖通空调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£35,300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 价格风险（30%）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£226,000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09344"/>
          <a:ext cx="5626302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/>
                <a:gridCol w="1575364"/>
              </a:tblGrid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间接费用合计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£1,072,500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 FEED 研究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£225,000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 详细设计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£289,000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 CDM 费用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£235,000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 调试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£76,000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 价格风险（30%）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£247,500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£1,229,800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全项目预备费（30%）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£1,229,800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 / 间接 / 一般风险与预备费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£5,329,100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£3,026,800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直接费用合计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£1,072,500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间接费用合计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£1,229,800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一般风险与预备费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011680"/>
            <a:ext cx="1142359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7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1. 主工艺设备    £2,047,500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2. 基础设施改造    £979,300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2788920"/>
            <a:ext cx="5577840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7" y="28346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项目总投资构成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429768" y="3090672"/>
          <a:ext cx="548640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126480" y="2788920"/>
            <a:ext cx="5626303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83464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直接费用 — 分项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6217920" y="3090672"/>
          <a:ext cx="5440680" cy="3154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10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§4.4 图 1 · 以 2026-09 启动重新基线（原 6 月口径 +3 个月）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冻干制造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8–10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供货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~18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12–14 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18–20 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0" y="2167128"/>
            <a:ext cx="7674559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3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2163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0683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395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5915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93521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204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78753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7273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2028 H1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213969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FS / 基准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60320" y="218027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34962" y="2198560"/>
            <a:ext cx="146304" cy="128016"/>
          </a:xfrm>
          <a:prstGeom prst="roundRect">
            <a:avLst>
              <a:gd name="adj" fmla="val 42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08031" y="213969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2026/05 – 2026/05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385440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2385440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Engineer 就位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242601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753709" y="2444305"/>
            <a:ext cx="291070" cy="128016"/>
          </a:xfrm>
          <a:prstGeom prst="roundRect">
            <a:avLst>
              <a:gd name="adj" fmla="val 42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08031" y="2385440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2026/09 – 2026/10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263118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FEED（示意）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60320" y="267176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161207" y="2690050"/>
            <a:ext cx="941127" cy="128016"/>
          </a:xfrm>
          <a:prstGeom prst="roundRect">
            <a:avLst>
              <a:gd name="adj" fmla="val 42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08031" y="263118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2027/01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287693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287693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详细设计（示意）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291750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112038" y="2935795"/>
            <a:ext cx="1348626" cy="128016"/>
          </a:xfrm>
          <a:prstGeom prst="roundRect">
            <a:avLst>
              <a:gd name="adj" fmla="val 42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08031" y="287693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" y="312267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冻干规格 / 资金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560320" y="316325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967160" y="3181540"/>
            <a:ext cx="53362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08031" y="312267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2026/09 – 2026/11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36842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5488" y="336842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冻干制造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60320" y="340899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78408" y="3427285"/>
            <a:ext cx="243528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308031" y="336842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" y="361416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 FAT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560320" y="365474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023401" y="3673030"/>
            <a:ext cx="3298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308031" y="361416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2027/08 – 2027/09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85991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5488" y="385991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冻干运输安装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60320" y="390048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362983" y="3918775"/>
            <a:ext cx="1067258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308031" y="385991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2027/09 – 2027/12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5488" y="410565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冻干验证 → PQ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560320" y="414623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439944" y="4164520"/>
            <a:ext cx="1581483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308031" y="410565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2027/12 – 2028/06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435140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5488" y="435140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规格 / 资金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560320" y="439197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772455" y="4410265"/>
            <a:ext cx="543331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08031" y="435140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5488" y="459714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制造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560320" y="463772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393406" y="4656010"/>
            <a:ext cx="1212793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308031" y="459714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2027/02 – 2027/06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84289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5488" y="484289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FAT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60320" y="488346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615902" y="4901755"/>
            <a:ext cx="252261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308031" y="484289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2027/06 – 2027/07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5488" y="508863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运输安装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560320" y="512921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945782" y="5147500"/>
            <a:ext cx="611248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308031" y="508863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2027/07 – 2027/09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533438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5488" y="533438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移动头罐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560320" y="537495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4510492" y="5393245"/>
            <a:ext cx="2774872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308031" y="533438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5488" y="558012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废液罐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560320" y="562070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4510492" y="5638990"/>
            <a:ext cx="2639039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308031" y="558012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" y="582587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5488" y="582587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560320" y="586644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6004654" y="5884735"/>
            <a:ext cx="1106067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308031" y="582587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2027/04 – 2027/08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46983" y="2139696"/>
            <a:ext cx="16459" cy="393192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27527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168499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333091" y="6181344"/>
            <a:ext cx="694944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完成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357219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521811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采购 / 制造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879695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44287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验证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40217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566763" y="6181344"/>
            <a:ext cx="694944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关键路径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59089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755483" y="6181344"/>
            <a:ext cx="745236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工程师就位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829903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994495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§4.3 示意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11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2688336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1938528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是否批准进入 FEED？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648456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648456"/>
            <a:ext cx="109728" cy="2688336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4736592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831336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是否批准长周期设备早期采购资金？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C1 OEB5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二、C1 模块 OEB5 升级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Sandwich PDF · 内部估算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OEB5 日常运行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升级目标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40682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40682" y="3108960"/>
            <a:ext cx="82296" cy="32004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3562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3562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3108960"/>
            <a:ext cx="82296" cy="32004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0196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196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安装与确认目标（+3 个月）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13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现有 C1 模块 OEB5 日常运行能力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OEB5 日常运行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升级目标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安装与确认目标（+3 个月）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范围：二层物料分装与首层最终包装固定隔离器；HVAC 升级；进出气闸联锁及雾化淋浴；覆盖各单元操作与废物流的定制柔性隔离器。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估算：已取得供应商预算报价 —— ILC Dover 反应釜投料柔性隔离器整包 £115,800（含 R19–R22 投料方案概念设计）；Howorth 单腔分装隔离器 £250,000/台。两者均为 Ex Works 口径，不含包装、运输、安装与调试。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选型：不建议采用国内隔离器方案；英国落地须符合 UK 标准并取得 CE 标志，补认证至少增加 3–4 个月，且本项目需要成品高完整性隔离器。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交付关联：须与厂房内改造（制备 HPLC + 冻干）同步完成，方能为制备 HPLC 操作提供 OEB5 能力。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周期：假设与改造项目一并批准；制备 HPLC 单元驱动 C1 模块升级交付时间线。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14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固定隔离器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三层（second floor）：物料分装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一层（ground floor）：最终包装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HVAC 与气闸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HVAC 升级，支持日常 OEB5 运行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进出气闸联锁升级，含雾化淋浴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3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柔性隔离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多台定制柔性隔离器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覆盖模块内各单元操作及废物流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8999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8455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估价依据（供应商报价）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柔性隔离器：ILC Dover JS26-11384-0（2026-07-22）整包 £115,800，EXW，不含运输安装；交期约 20 周（图纸批准后）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固定隔离器：Howorth Q26543（2026-08-11）单腔分装隔离器 £250,000/台；选项 190 RTP £18,000、样机 £17,000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15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隔离器选型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不建议采用国内隔离器方案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须 CE 标志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英国落地前提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+3–4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事后补认证下限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成品高完整性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本项目所需类型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194560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英国落地须符合 UK 标准并取得 CE 标志。国内既有方案（天俱时）未按 UK 标准设计，不具备 CE。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事后补做 CE：按已有项目经验至少增加 3–4 个月；若认证要求改设计，周期还会延长。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CE 所需设计与测试文件，国内方案设计时未按该标准准备，补齐工作量大。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本项目需要成品高完整性隔离器。已接触的国内供应商资料难以直接用于本项目；东富龙以设备定制隔离器为主，与本需求不匹配。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推荐路径：按已取得的 Howorth、ILC Dover 预算报价推进供货方案深化。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16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内部估算 · 主设备 + 30% 项目预备费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£2,476,500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11423598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/>
                <a:gridCol w="3198607"/>
              </a:tblGrid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主设备（设备与设计费）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£1,905,000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固定隔离器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三层（second floor）物料分装固定隔离器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一层（ground floor）最终包装固定隔离器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 HVAC 与气闸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HVAC 系统改造/升级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气闸联锁及雾化淋浴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 柔性隔离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各单元操作定制柔性隔离器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£571,500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1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全项目预备费（30%）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£571,500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17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主设备小计 / 全项目预备费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£2,476,500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£1,905,000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主设备小计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£571,500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全项目预备费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212848"/>
            <a:ext cx="55778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228600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项目总投资构成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29768" y="2578608"/>
          <a:ext cx="54864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126480" y="2212848"/>
            <a:ext cx="562630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28600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主设备 — 分项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217920" y="2578608"/>
          <a:ext cx="544068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18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假设与改造项目一并批准 · 以 2026-09 启动重新基线（原 6 月口径 +3 个月）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范围定稿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下单/制造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 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安装确认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15768" y="2167128"/>
            <a:ext cx="7427671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15768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4287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07947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96467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6211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473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213969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范围定稿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15768" y="235595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709381" y="2374239"/>
            <a:ext cx="977325" cy="513892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16591" y="213969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122676"/>
            <a:ext cx="11277295" cy="9829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312267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15768" y="333893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02995" y="3357219"/>
            <a:ext cx="1449698" cy="513892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16591" y="312267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410565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下单及设备制造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15768" y="432191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68983" y="4340199"/>
            <a:ext cx="2459601" cy="513892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16591" y="410565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2027/03 – 2027/08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088636"/>
            <a:ext cx="11277295" cy="9829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508863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安装与确认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15768" y="530489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661162" y="5323179"/>
            <a:ext cx="977325" cy="513892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16591" y="508863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2027/08 – 2027/10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41543" y="2139696"/>
            <a:ext cx="16459" cy="393192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87263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76725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41317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设计 / 准备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9920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3793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下单 + 制造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21677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86269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确认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19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268833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1938528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 C1 OEB5 升级与改造项目一并推进？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648456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648456"/>
            <a:ext cx="109728" cy="268833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4736592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831336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确认不采用国内隔离器方案，按已取得的 Howorth / ILC Dover 预算报价深化供货。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高活实验室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三、OEB5 高活实验室（G-128 套间改造）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Concept 阶段 · 成本计划 260806 / 概念进度 260727 / 风险登记册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成本计划 / 概念进度 / 风险登记册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£4.30M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计划交付（概念进度 +6 周）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215 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GIFA（实验室约 182 + 办公区约 33）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21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DPH_G-128 Suite Alterations Concept Cost Plan 260806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成本计划 / 概念进度 / 风险登记册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£4.30M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计划交付（概念进度 +6 周）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215 m²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GIFA（实验室约 182 + 办公区约 33）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范围：既有 G-128 套间改造为实验室与办公区，GIFA 215 m²；隔离器在成本计划中计列 4 台 × £150,000 + 1 台 × £100,000。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投资：项目投资（含通胀）£4,300,044；不含增值税；估算精度区间 £3.74M – £4.99M。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构成：建筑工程费 £1.95M + 专业服务费 £0.14M + 业主（凯莱英）供货设备 £1.71M + 风险预备费 £0.40M + 通胀 £0.10M。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周期：概念进度（草案）自资金批准与推进决定起 262 个工作日，计划交付 2027 年 11 月；隔离器 2027-07-14 到场。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隔离器费用：为基于与供应商沟通的估算，最终取决于项目范围最终确认的密闭等级。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业主设备按 0911 分阶段清单待采购 £1,713,045：一期 £963,445，二期及后续 £749,600。成本计划原文设备行 £1,975,045，未改写。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需求对应：欧洲商务已列 AZ、Genmab、BioNTech、NCC 等对 SW 高活能力的需求或询盘；BioNTech 明确要求与 TJ4 相当的密闭及独立高活分析。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22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依据 G-128 概念成本计划分项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3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范围与面积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既有 G-128 套间（G128 及 G128A–D）改造；GIFA 215 m²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实验室区约 182 m²（机电费率基准）+ 办公区约 33 m²（地毯量）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拆除 G128 与 G128D 之间砌块墙；混凝土墙新开 2 处传递窗洞、2 处门洞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8455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隔离器与实验设备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1879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成本计划：4 台 × £150,000 + 1 台 × £100,000（合计 £700,000）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费用性质：基于与供应商沟通的估算，最终取决于项目范围最终确认的密闭等级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通风柜：假设现有可继续使用，仅列 £20,000 维修保养费用；是否新购为进度中待定项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SF6 检漏测试 £20,000；家具含更衣柜、跨越凳、移动实验台、BIBO 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3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土建与装饰改造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拆除：家具与实验设备清空、地面与吊顶拆除、燃气/风管/电气/烟感/Crowcon 撤除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新建：墙面衬板 475 m²、新隔断 40 m²；5 樘单开 + 1 樘子母卫生门、2 樘木门、4 樘旧门翻新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装饰：实验室卷材乙烯地面 173 m²、金属吊顶 173 m²、办公区地毯 33 m²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8999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8999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8455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机电、安全与业主供货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1879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暖通 £217,920：AHU 恢复使用、全套风管与送回风、袋进袋出 HEPA 排风过滤、BMS 升级、系统平衡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电气 £107,380、消防喷淋 £30,030、门禁/布线/CCTV/火警 £51,345、实验室气体管道 £63,700、雾化淋浴 £35,000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业主（凯莱英）供货并安装设备待采购 £1,713,045（0911 清单）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待采购分项：ARD/QC £832,600、隔离器内仪器 £383,345、CRD £497,100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5577840"/>
            <a:ext cx="11423599" cy="8321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5577840"/>
            <a:ext cx="82296" cy="832103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5596128"/>
            <a:ext cx="1111270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风险与前提：正在就厂房改造事宜征求 DPML 同意 —— 改造完成后实验室将无法按当前运行状态交还 DPML，该沟通进展由 Clare 跟进。目前 DPML（Paul Bax，2026-08-21）原则上同意 PDF 与 DPH（含 G.128）拟议改造，最终以设计审查为准；可启动两项 Licence for Alteration，范围与图纸随设计深化补充。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23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业主设备分阶段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Equipment List Costs for scoping 0911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£1,713,045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待采购合计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£963,445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£749,600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二期及后续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£4,300,044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项目投资（待采购全口径）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066543"/>
            <a:ext cx="563864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2066543"/>
            <a:ext cx="82296" cy="2084831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2139696"/>
            <a:ext cx="530946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468880"/>
            <a:ext cx="5364327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开业配置：分析 HPLC 先购 1 套；质谱及气源纳入一期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隔离器内固体操作仪器原则上纳入一期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同期按一个项目配置反应系统（EasyMax 等先购 1 套）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8999" y="2066543"/>
            <a:ext cx="563864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68999" y="2066543"/>
            <a:ext cx="82296" cy="2084831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0167" y="2139696"/>
            <a:ext cx="530946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二期及后续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3591" y="2468880"/>
            <a:ext cx="5364327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制备 HPLC、粒度仪、自动滴定仪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结晶筛选与部分反应配套、器皿清洗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软件 £200,000 尚未分阶段，计入后续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84048" y="4279392"/>
          <a:ext cx="11368733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630728"/>
                <a:gridCol w="2630728"/>
                <a:gridCol w="2632557"/>
              </a:tblGrid>
              <a:tr h="3145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分组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二期及后续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145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ARD / QC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£832,600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£662,600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£170,000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145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隔离器内仪器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£383,345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£175,345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£208,000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145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CRD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£497,100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£125,500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£371,600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1455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£1,713,045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£963,445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£749,600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4048" y="5943600"/>
            <a:ext cx="11423599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SFC、GC 先利旧既有仪器。成本计划原文业主设备 £1,975,045、项目投资 £4,562,044；本期按 0911 待采购计入项目投资，未改写成本计划。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24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投资总览（1/2）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G-128 Concept Cost Plan · 2026-08-06 · GIFA 215 m²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38912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项目投资（含通胀）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607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£4,300,044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72768"/>
          <a:ext cx="5577839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/>
                <a:gridCol w="1561795"/>
              </a:tblGrid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建筑工程费合计 Total Building Works Estimate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£1,951,140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改造工程 Facilitating Works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£65,567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拆除、改造与拆砌（隔断等）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£46,967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机电拆除（燃气、风管、电气、烟感、Crowcon 等）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£18,600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上部结构 Superstructure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£68,690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 内墙与隔断（墙面衬板、新建隔断、氢气管道包封）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£42,440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 内门（5 单开 + 1 子母卫生门、2 木门、4 樘旧门翻新）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£26,250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装饰 Finishes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£58,898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墙面装饰（实验室 475 m²、办公区 70 m²）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£9,810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 地面（实验室卷材乙烯 173 m²、踢脚 136 m、办公区地毯 33 m²）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£23,631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 吊顶（实验室金属吊顶 173 m²、周边收口 136 m）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£25,457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572768"/>
          <a:ext cx="5626302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/>
                <a:gridCol w="1575364"/>
              </a:tblGrid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家具与设备 Fittings, Furnishings and Equipment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£765,000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 4 台 × £150,000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 1 台 × £100,000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通风柜（假设现有可用，仅列维修保养）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SF6 检漏测试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家具（更衣柜、跨越凳、移动实验台、BIBO 桶）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办公区家具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机电安装 Services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£537,574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5.6 暖通空调（AHU 恢复使用、全套风管、袋进袋出 HEPA 排风、BMS 升级、系统平衡）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£217,920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 电气（小动力 182 m²、照明 182 m²，含设备接电）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£107,380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 给水（冷热水、水槽复装、雾化淋浴 £35,000）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£38,600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改造与建筑工程小计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£1,495,729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25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投资总览（2/2）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G-128 Concept Cost Plan · 续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51560"/>
          <a:ext cx="1142359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/>
                <a:gridCol w="3198607"/>
              </a:tblGrid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临建与承包商设计 Preliminaries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£362,500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6.1 临时工程（保留设备与公共区域防护、临时照明）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£10,500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 现场福利与临建（施工期 21 周）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£21,000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 设计与施工管理（勘查、RIBA 2/3 与 RIBA 4 承包商设计、RIBA 5 现场资源 22 周）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£331,000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管理费与利润 Overheads and Profit（5.00%）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£92,911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专业服务费 Professional Services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£141,800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项目管理（合同前 33 周 / 合同后 22 周 / 缺陷期）、设计支持、商务支持与合同管理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£141,800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业主（凯莱英）供货并安装设备 Equipment (supplied and installed by the Client)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£1,713,045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待采购合计（《Equipment List Costs for scoping 0911》）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£1,713,045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 £963,445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£963,445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二期及后续 £749,600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£749,600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风险预备费 Risk Allowance Estimate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£397,875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 设计发展风险（依风险登记册）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£397,875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 通胀 Inflation（2.15%）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£96,184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自基准日至施工期的通胀调整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£96,184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147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项目投资（含通胀）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£4,300,044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26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ARD / QC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£832,600  ·  一期 £662,600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清单合计 £1,713,045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91640"/>
                <a:gridCol w="1965960"/>
                <a:gridCol w="1097280"/>
                <a:gridCol w="868680"/>
                <a:gridCol w="1645920"/>
                <a:gridCol w="1630375"/>
              </a:tblGrid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系统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2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 Technologies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HPLC/质谱系统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Agilent Technologies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GCMS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氮气发生器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氢气发生器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电动移液器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Benchtop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Handystep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Milli-Q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Undersink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Millipore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制备 HPLC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Large Fumehood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国内汉邦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pH 计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Fumhood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SFC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Waters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质谱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库仑法 KF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Fumehood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Metrohm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£45,000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£45,000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27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隔离器内仪器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£383,345  ·  一期 £175,345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清单合计 £1,713,045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91640"/>
                <a:gridCol w="1965960"/>
                <a:gridCol w="1097280"/>
                <a:gridCol w="868680"/>
                <a:gridCol w="1645920"/>
                <a:gridCol w="1630375"/>
              </a:tblGrid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 TC45 浸入式冷却器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 isolator 2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£4,345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£4,345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自动滴定仪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台式粉末 X 射线衍射仪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粒度仪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Malvern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£160,000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分析天平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微量天平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EasyMax 反应系统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3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 isolator 3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干燥箱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4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Salvis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新购/既有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£36,000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£18,000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FTIR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2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Thermo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28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CRD（1/2）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£497,100  ·  一期 £125,500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清单合计 £1,713,045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91640"/>
                <a:gridCol w="1965960"/>
                <a:gridCol w="1097280"/>
                <a:gridCol w="868680"/>
                <a:gridCol w="1645920"/>
                <a:gridCol w="1630375"/>
              </a:tblGrid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实验室冰箱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4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Lec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实验室冰柜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4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Lec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双反应釜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vessels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梅特勒 SP-50 加料单元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 SP-50 Dosing units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RX10 控制器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RX10 Controller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£2,400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 电机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 Motors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支架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Stand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真空泵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Vacuubrand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循环冷水机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分析天平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Either/or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大称量天平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Either/or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Sartorius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EasyMax 反应系统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FH2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£160,000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29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CRD（2/2）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£497,100  ·  一期 £125,500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清单合计 £1,713,045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91640"/>
                <a:gridCol w="1965960"/>
                <a:gridCol w="1097280"/>
                <a:gridCol w="868680"/>
                <a:gridCol w="1645920"/>
                <a:gridCol w="1630375"/>
              </a:tblGrid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FH2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£24,000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Stem 加热模块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Electrothermal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搅拌加热板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IKA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Biotage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Biotage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旋转蒸发仪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真空泵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Vacuubrand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顶置搅拌器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软件（待定）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Software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器皿清洗机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Miscellaneous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Miele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项目投资构成与建筑工程费分项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£4,300,044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项目投资（含通胀）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8028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802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908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£1,951,140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908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建筑工程费合计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2009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1200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94889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£1,713,045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4889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业主（凯莱英）供货设备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5989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598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8869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£397,875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8869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风险预备费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9970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9970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2850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£3,740,000 – £4,990,000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2850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估算精度区间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2103120"/>
            <a:ext cx="5577840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7" y="215798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项目投资构成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29768" y="2450592"/>
          <a:ext cx="5486400" cy="37673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6126480" y="2103120"/>
            <a:ext cx="5626303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157984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建筑工程费 — 分项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6217920" y="2450592"/>
          <a:ext cx="5440680" cy="376732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31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Asymchem Concept Programme_260727（DRAFT CONCEPT PROGRAMME）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262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总工期（工作日）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2026-10-13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资金批准与推进决定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2027-07-14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隔离器到场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计划交付（含进度风险预留）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096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096512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0" y="2167128"/>
            <a:ext cx="7674559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3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52439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4095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07961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9648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213969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资金批准节点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0" y="217953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246131" y="2197825"/>
            <a:ext cx="146304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08031" y="213969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383971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2383971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顾问任命 + BoD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20" y="2423813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246131" y="2442101"/>
            <a:ext cx="212275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08031" y="2383971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262824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主承包商招标任命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2668088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474735" y="2686376"/>
            <a:ext cx="555180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08031" y="262824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872522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2872522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合同授予与动员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60320" y="2912364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029916" y="2930652"/>
            <a:ext cx="457207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08031" y="2872522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2026/12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" y="3116797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勘查与项目控制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3156639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03453" y="3174927"/>
            <a:ext cx="930744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08031" y="3116797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3361073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" y="3361073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实验室设计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560320" y="3400914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03453" y="3419202"/>
            <a:ext cx="1730858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08031" y="3361073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" y="3605348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CDM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60320" y="3645190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03453" y="3663478"/>
            <a:ext cx="4490433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308031" y="3605348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3849624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" y="3849624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隔离器采购制造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560320" y="3889465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732056" y="3907753"/>
            <a:ext cx="29881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308031" y="3849624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" y="4093899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通风柜采购（待定）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60320" y="4133741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732056" y="4152029"/>
            <a:ext cx="29881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308031" y="4093899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338174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5488" y="4338174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实验室家具采购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560320" y="4378016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732056" y="4396304"/>
            <a:ext cx="2449327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08031" y="4338174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4582450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分包工程招标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560320" y="462229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732056" y="4640579"/>
            <a:ext cx="2220723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08031" y="4582450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826725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5488" y="4826725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施工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60320" y="486656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001767" y="4884855"/>
            <a:ext cx="1763515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308031" y="4826725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2027/05 – 2027/09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5488" y="5071001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调试与移交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60320" y="511084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8781611" y="5129130"/>
            <a:ext cx="326576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308031" y="5071001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2027/09 – 2027/10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315276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5488" y="531527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进度风险预留 → 交付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560320" y="5355118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124517" y="5373406"/>
            <a:ext cx="57150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308031" y="531527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2027/10 – 2027/11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622395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86987" y="5669280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设计 / 合约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144871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09463" y="5669280"/>
            <a:ext cx="173736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采购 / 制造 / 预留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376007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540599" y="5669280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调试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84048" y="5980175"/>
            <a:ext cx="11423599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进度说明：各项活动于 2027 年 10 月下旬完成，余量计入末段进度风险预留，交付目标 2027 年 11 月。后续设计推进中部分工作有并行压缩的空间，但取决于最终确认的风险处理方式与可接受的风险水平。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32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1749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174955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1469136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1383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是否批准资金与推进决定节点？概念进度以此为起点，262 个工作日加 6 周启动与决策时间，计划交付 2027 年 11 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2709672"/>
            <a:ext cx="11423599" cy="1749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2709672"/>
            <a:ext cx="109728" cy="174955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328416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2892552"/>
            <a:ext cx="9869119" cy="1383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是否按 0911 分阶段清单批准一期业主设备采购？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568951"/>
            <a:ext cx="11423599" cy="1749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4568951"/>
            <a:ext cx="109728" cy="174955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656" y="5187696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751832"/>
            <a:ext cx="9869119" cy="1383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是否安排 AHU 状况核查与既有通风柜可用性确认？二者为风险登记册中金额最高的两项。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33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可研结论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四、B902 东侧扩建  ·  Scitech RIBA 1  ·  300291-RE-0001  ·  2026-05-22 Issue A1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FS 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RIBA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 OOM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2030-05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总控完成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范围：东侧约 600 m²，四层+设备夹层，10 台反应釜、2500 L 加氢釜、3 套过滤干燥机及公用工程。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方案：Option 1 — 拆除/迁址原加氢厂房；与 902 低层楼面贯通。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进展：FS 完成；计划 2030-05 竣工，沿用设计方总控计划；RIBA 2 概念设计启动延后需在阶段内消化。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34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300291-CM-0001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75488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 OOM 总价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£78,108,089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557783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/>
                <a:gridCol w="1561795"/>
              </a:tblGrid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直接工程费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£59,489,961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场地清理拆除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£254,960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地下结构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£1,499,680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地上结构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£3,942,636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内部装修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£1,270,672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装置与设备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£154,960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建筑机电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£9,532,716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工艺设备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£23,249,083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既有建筑改造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£204,000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室外工程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£1,859,520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临建 (8%)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£3,357,458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承包商管理费与利润 (5%)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£2,266,284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£47,591,969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7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预备费（25%）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£11,897,992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27632"/>
          <a:ext cx="5626302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/>
                <a:gridCol w="1575364"/>
              </a:tblGrid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其他项目费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£5,077,946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设计团队费 (8%)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£3,807,357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勘测与调查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BREEAM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规划与法定费用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£4,062,357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预备费（25%）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£1,015,589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£13,540,182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全项目预备费（25%）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£12,913,582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风险登记册（概率加权总和）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£626,600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35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12191695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971800"/>
            <a:ext cx="137160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B8C5D6"/>
                </a:solidFill>
                <a:latin typeface="微软雅黑"/>
                <a:ea typeface="微软雅黑"/>
                <a:cs typeface="微软雅黑"/>
              </a:rPr>
              <a:t>Asymchem UK  ·  Sandwich  ·  2026年9月11日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UK PDF 资本项目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HPLC + 冻干  £5.33M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85032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C1 OEB5  £2.48M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8504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高活实验室  £4.30M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B902 扩建  £78.1M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