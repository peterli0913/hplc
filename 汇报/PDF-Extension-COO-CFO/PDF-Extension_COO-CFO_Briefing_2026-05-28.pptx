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works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Published OOM total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41968226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Preliminaries &amp; OH&amp;P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Published OOM total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5623743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project costs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Published OOM total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4062357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Risk &amp; contingency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Published OOM total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26453763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GBP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Process equipment (works lin</c:v>
                </c:pt>
                <c:pt idx="1">
                  <c:v>Building services (HVAC/MEP)</c:v>
                </c:pt>
                <c:pt idx="2">
                  <c:v>External works</c:v>
                </c:pt>
                <c:pt idx="3">
                  <c:v>Superstructure</c:v>
                </c:pt>
                <c:pt idx="4">
                  <c:v>Substructure</c:v>
                </c:pt>
                <c:pt idx="5">
                  <c:v>Internal finishes</c:v>
                </c:pt>
                <c:pt idx="6">
                  <c:v>Facilitating / enabling</c:v>
                </c:pt>
                <c:pt idx="7">
                  <c:v>Works to existing building</c:v>
                </c:pt>
                <c:pt idx="8">
                  <c:v>Fittings &amp; equipment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23249083</c:v>
                </c:pt>
                <c:pt idx="1">
                  <c:v>9532716</c:v>
                </c:pt>
                <c:pt idx="2">
                  <c:v>1859520</c:v>
                </c:pt>
                <c:pt idx="3">
                  <c:v>3942636</c:v>
                </c:pt>
                <c:pt idx="4">
                  <c:v>1499680</c:v>
                </c:pt>
                <c:pt idx="5">
                  <c:v>1270672</c:v>
                </c:pt>
                <c:pt idx="6">
                  <c:v>254960</c:v>
                </c:pt>
                <c:pt idx="7">
                  <c:v>204000</c:v>
                </c:pt>
                <c:pt idx="8">
                  <c:v>154960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Asymchem UK — B902 PDF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A6A7A"/>
                </a:solidFill>
              </a:defRPr>
            </a:pPr>
            <a:r>
              <a:t>Investment &amp; Programme Briefing for Group COO/CFO</a:t>
            </a:r>
            <a:br/>
            <a:r>
              <a:t>Feasibility Study (RIBA Stage 1)  |  Discovery Park, Sandwich  |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Conclusion: Extension is feasible subject to planning approval (Scitech executive summary).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Investment (OOM, May 2026 base): £78,108,089 total project cost; base construction £47,591,969.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Scale: 3,099 m² GIFA (~600 m² footprint, 4 floors + plant mezzanine).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Schedule: Feasibility complete; Concept design planned from Jul 2026; construction Aug 2028–Nov 2029; project complete May 2030 per programme.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Decision: Approve progression to RIBA Stage 2 and confirm baseline Option 1 (hydrogenation building removal).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Asset: Existing B902 PDF pilot plant — east-side extension for reactor scale-up &amp; new suites.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Scope: 10 reactors (R25–R34), 2,500 L hydrogenation reactor (R35), 3 filter dryers, handling/milling/continuous areas, HVAC &amp; utilities.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Designer: Scitech-EKIUM under contract to Asymchem (Project 300291).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Baseline design: Option 1 — remove/relocate existing hydrogenation building; highest score in option appraisal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RIBA Stage 1 Feasibility Report &amp; appendices issued (Rev A1, 22 May 2026).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Feasibility walkthrough with UK team: 27 May 2026.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Pre-planning pack in preparation for local authority engagement.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Outstanding: B902 operating data gaps; final confirmation of procurement split; Stage 2 contract / fee proposal (not in published FS pack).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Investment Structure (OOM)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A6A7A"/>
                </a:solidFill>
              </a:defRPr>
            </a:pPr>
            <a:r>
              <a:t>Feasibility-stage order-of-magnitude — not final Capex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5029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0" y="1828800"/>
          <a:ext cx="3017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£78,108,089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 construction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£47,591,969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 → Direct works 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£41,968,226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project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£4,062,357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Risk &amp; contingency (incl. register)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£26,453,763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 cost (GIFA)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£25,204/m²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GIFA (feasibility)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3,099 m²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A7A"/>
                </a:solidFill>
              </a:defRPr>
            </a:pPr>
            <a:r>
              <a:t>Excludes: inflation/FX/tax; client PM &amp; operational costs. Cost plan states client-purchased equipment excluded — reconcile £23.25M process line at Concept.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Direct Works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A6A7A"/>
                </a:solidFill>
              </a:defRPr>
            </a:pPr>
            <a:r>
              <a:t>Works subtotal £41,968,226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554480"/>
          <a:ext cx="5303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1828800"/>
            <a:ext cx="3108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Process equipment (works line 5.6): £23,249,083 (55.4%)</a:t>
            </a:r>
          </a:p>
          <a:p>
            <a:pPr>
              <a:defRPr sz="1100"/>
            </a:pPr>
            <a:r>
              <a:t>Building services (HVAC/MEP): £9,532,716 (22.7%)</a:t>
            </a:r>
          </a:p>
          <a:p>
            <a:pPr>
              <a:defRPr sz="1100"/>
            </a:pPr>
            <a:r>
              <a:t>External works: £1,859,520 (4.4%)</a:t>
            </a:r>
          </a:p>
          <a:p>
            <a:pPr>
              <a:defRPr sz="1100"/>
            </a:pPr>
            <a:r>
              <a:t>Superstructure: £3,942,636 (9.4%)</a:t>
            </a:r>
          </a:p>
          <a:p>
            <a:pPr>
              <a:defRPr sz="1100"/>
            </a:pPr>
            <a:r>
              <a:t>Substructure: £1,499,680 (3.6%)</a:t>
            </a:r>
          </a:p>
          <a:p>
            <a:pPr>
              <a:defRPr sz="1100"/>
            </a:pPr>
            <a:r>
              <a:t>Internal finishes: £1,270,672 (3.0%)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Contingency &amp; Risk Allowance (Feasibility)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Design development (15%): £7,748,149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Construction &amp; equipment risk (25%): £12,913,581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Client contingency (10%): £5,165,433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Risk register (factored): £626,600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Combined risk &amp; contingency provisions are material (~33% on top of base construction plus other costs) — appropriate for Stage 1 OOM, subject to drawdown governance.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Pre-mitigation risk exposure (report §14.3): ~£2.64m cost / 182 weeks programme (factored lower).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Investment Analysis — CFO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Nature of estimate: Order-of-magnitude only; not for final Capex approval (cost plan disclaimer).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No escalation, inflation, FX, or tax in base date 22-May-2026.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Client-purchased process equipment stated excluded; process line £23.25M in works schedule requires reconciliation at Concept Design to avoid double-count or gap.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Excluded: client project management, operations, consumables, survey remediation beyond allowances.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Design fees included: £3,807,357 (8% of construction) — whole-project allowance, not FEED-only.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Accuracy improves at Concept (RIBA 2) with surveys, procurement strategy, and equipment quotes.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Indicative Programme (Scitech Appendix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Feasibility study issued (RIBA 1):  May 2026  [Complete]</a:t>
            </a:r>
          </a:p>
          <a:p>
            <a:pPr>
              <a:spcAft>
                <a:spcPts val="600"/>
              </a:spcAft>
              <a:defRPr sz="1300"/>
            </a:pPr>
            <a:r>
              <a:t>Concept design (RIBA 2):  Jul 2026 – Feb 2027  [Planned]</a:t>
            </a:r>
          </a:p>
          <a:p>
            <a:pPr>
              <a:spcAft>
                <a:spcPts val="600"/>
              </a:spcAft>
              <a:defRPr sz="1300"/>
            </a:pPr>
            <a:r>
              <a:t>Scheme design (RIBA 3):  Feb 2027 – Sep 2027  [Planned]</a:t>
            </a:r>
          </a:p>
          <a:p>
            <a:pPr>
              <a:spcAft>
                <a:spcPts val="600"/>
              </a:spcAft>
              <a:defRPr sz="1300"/>
            </a:pPr>
            <a:r>
              <a:t>Planning consent (target):  Mar 2028  [Planned]</a:t>
            </a:r>
          </a:p>
          <a:p>
            <a:pPr>
              <a:spcAft>
                <a:spcPts val="600"/>
              </a:spcAft>
              <a:defRPr sz="1300"/>
            </a:pPr>
            <a:r>
              <a:t>Detailed design (RIBA 4):  Oct 2027 – Jun 2028  [Planned]</a:t>
            </a:r>
          </a:p>
          <a:p>
            <a:pPr>
              <a:spcAft>
                <a:spcPts val="600"/>
              </a:spcAft>
              <a:defRPr sz="1300"/>
            </a:pPr>
            <a:r>
              <a:t>Construction (RIBA 5):  Aug 2028 – Nov 2029  [Planned]</a:t>
            </a:r>
          </a:p>
          <a:p>
            <a:pPr>
              <a:spcAft>
                <a:spcPts val="600"/>
              </a:spcAft>
              <a:defRPr sz="1300"/>
            </a:pPr>
            <a:r>
              <a:t>Project complete (programme):  May 2030  [Planned]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3A2A"/>
                </a:solidFill>
              </a:defRPr>
            </a:pPr>
            <a:r>
              <a:t>Risk register #13: desired Q3 2028 completion noted as tight vs master programme (construction through Nov 2029; project complete May 2030). Milestone definitions require alignment.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Critical Decisions &amp;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A6A7A"/>
                </a:solidFill>
              </a:defRPr>
            </a:pPr>
            <a:r>
              <a:t>Gate: Concept Stage Gate instruction to proceed — 16 Feb 2027 (programme)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Approve Stage 2 Concept Design appointment (planned 1 Jul 2026).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Confirm Option 1 — hydrogenation building demolition/relocation.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Resolve ground-floor Hastelloy reactor headroom strategy (lower slab vs relocate).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Align internal completion target (Q3 2028 aspiration vs May 2030 programme).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Authorize pre-planning submission and long-lead equipment planning in Concept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Recommendation to Group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Support conditional advancement to RIBA Stage 2 with planning consent as external gate.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Budget planning: use £78.1M OOM as envelope for dialogue; hold separate provision for client-direct equipment and inflation until Concept cost plan issued.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Mandate procurement strategy workshop (risk #18) before major commitments.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Request Scitech stage-gated fee quote and cash-flow phasing for FY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B46"/>
                </a:solidFill>
              </a:defRPr>
            </a:pPr>
            <a:r>
              <a:t>Data Integrity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A7A"/>
                </a:solidFill>
              </a:defRPr>
            </a:pPr>
            <a:r>
              <a:t>Source: Scitech-EKIUM: 300291-RE-0001 Feasibility Report, 300291-CM-0001 Cost Plan, 300291-PM-PR-0002 Programme (May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All figures from published Scitech feasibility deliverables in repository (May 2026).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No RMB conversion or NPV presented — requires group FX and hurdle-rate policy.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Programme dates are indicative; Stage 2+ contract not included in this dataset.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For audit trail: 300291-RE-0001, 300291-CM-0001, 300291-PM-PR-0002, 300291-PM-RA-0001.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