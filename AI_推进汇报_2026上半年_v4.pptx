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67" r:id="rId5"/>
    <p:sldId id="268" r:id="rId6"/>
    <p:sldId id="269" r:id="rId7"/>
    <p:sldId id="270" r:id="rId8"/>
    <p:sldId id="271" r:id="rId18"/>
    <p:sldId id="272" r:id="rId19"/>
    <p:sldId id="273" r:id="rId20"/>
    <p:sldId id="274" r:id="rId21"/>
    <p:sldId id="275" r:id="rId22"/>
    <p:sldId id="258" r:id="rId9"/>
    <p:sldId id="259" r:id="rId10"/>
    <p:sldId id="261" r:id="rId11"/>
    <p:sldId id="263" r:id="rId12"/>
    <p:sldId id="265" r:id="rId13"/>
    <p:sldId id="266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1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31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ableStyles" Target="tableStyles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1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slide1_shap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3474720" cy="640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 上半年汇报</a:t>
            </a:r>
            <a:endParaRPr sz="3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516630" y="3017520"/>
            <a:ext cx="2110740" cy="32194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ctr"/>
            <a:r>
              <a:rPr sz="1500">
                <a:solidFill>
                  <a:srgbClr val="C4D5E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Mid-Year Review 2026</a:t>
            </a:r>
            <a:endParaRPr sz="1500">
              <a:solidFill>
                <a:srgbClr val="C4D5E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74320" y="4892040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www.asymchem.com.cn</a:t>
            </a:r>
            <a:endParaRPr sz="750" b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377440" y="4892040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00" b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Stock Code: 002821.SZ / 6821.HK</a:t>
            </a:r>
            <a:endParaRPr sz="700" b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t>1</a:t>
            </a:r>
            <a:endParaRPr sz="800" b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1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slide1_shap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3474720" cy="640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7E3D"/>
                </a:solidFill>
                <a:latin typeface="Arial" panose="020B0604020202020204"/>
              </a:rPr>
              <a:t>PART 01</a:t>
            </a:r>
            <a:endParaRPr sz="2000" b="1">
              <a:solidFill>
                <a:srgbClr val="FF7E3D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Sandwich 项目管理支持</a:t>
            </a:r>
            <a:endParaRPr sz="3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74320" y="4892040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www.asymchem.com.cn</a:t>
            </a:r>
            <a:endParaRPr sz="750" b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377440" y="4892040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00" b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Stock Code: 002821.SZ / 6821.HK</a:t>
            </a:r>
            <a:endParaRPr sz="700" b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t>2</a:t>
            </a:r>
            <a:endParaRPr sz="800" b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0" y="182880"/>
            <a:ext cx="5760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00366A"/>
                </a:solidFill>
                <a:latin typeface="微软雅黑" panose="020B0503020204020204" charset="-122"/>
              </a:rPr>
              <a:t>连续氢化建设项目 · 上半年推进主线</a:t>
            </a:r>
            <a:endParaRPr sz="2000" b="1">
              <a:solidFill>
                <a:srgbClr val="00366A"/>
              </a:solidFill>
              <a:latin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74320" y="777240"/>
            <a:ext cx="8595360" cy="27432"/>
          </a:xfrm>
          <a:prstGeom prst="rect">
            <a:avLst/>
          </a:prstGeom>
          <a:solidFill>
            <a:srgbClr val="FF7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914400"/>
            <a:ext cx="2103120" cy="1051560"/>
          </a:xfrm>
          <a:prstGeom prst="roundRect">
            <a:avLst/>
          </a:prstGeom>
          <a:solidFill>
            <a:srgbClr val="E7EEFB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2103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00366A"/>
                </a:solidFill>
                <a:latin typeface="微软雅黑" panose="020B0503020204020204" charset="-122"/>
              </a:rPr>
              <a:t>30+</a:t>
            </a:r>
            <a:endParaRPr sz="2200" b="1">
              <a:solidFill>
                <a:srgbClr val="00366A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74320" y="155448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2C3E50"/>
                </a:solidFill>
                <a:latin typeface="微软雅黑" panose="020B0503020204020204" charset="-122"/>
              </a:rPr>
              <a:t>关键设计议题闭环</a:t>
            </a:r>
            <a:endParaRPr sz="900" b="0">
              <a:solidFill>
                <a:srgbClr val="2C3E50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468879" y="914400"/>
            <a:ext cx="2103120" cy="1051560"/>
          </a:xfrm>
          <a:prstGeom prst="roundRect">
            <a:avLst/>
          </a:prstGeom>
          <a:solidFill>
            <a:srgbClr val="E7EEFB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79" y="1005840"/>
            <a:ext cx="2103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00366A"/>
                </a:solidFill>
                <a:latin typeface="微软雅黑" panose="020B0503020204020204" charset="-122"/>
              </a:rPr>
              <a:t>100+</a:t>
            </a:r>
            <a:endParaRPr sz="2200" b="1">
              <a:solidFill>
                <a:srgbClr val="00366A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468879" y="155448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2C3E50"/>
                </a:solidFill>
                <a:latin typeface="微软雅黑" panose="020B0503020204020204" charset="-122"/>
              </a:rPr>
              <a:t>议题双语跟踪追溯</a:t>
            </a:r>
            <a:endParaRPr sz="900" b="0">
              <a:solidFill>
                <a:srgbClr val="2C3E50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663440" y="914400"/>
            <a:ext cx="2103120" cy="1051560"/>
          </a:xfrm>
          <a:prstGeom prst="roundRect">
            <a:avLst/>
          </a:prstGeom>
          <a:solidFill>
            <a:srgbClr val="E7EEFB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005840"/>
            <a:ext cx="2103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3263A7"/>
                </a:solidFill>
                <a:latin typeface="微软雅黑" panose="020B0503020204020204" charset="-122"/>
              </a:rPr>
              <a:t>3 方</a:t>
            </a:r>
            <a:endParaRPr sz="2200" b="1">
              <a:solidFill>
                <a:srgbClr val="3263A7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63440" y="155448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2C3E50"/>
                </a:solidFill>
                <a:latin typeface="微软雅黑" panose="020B0503020204020204" charset="-122"/>
              </a:rPr>
              <a:t>CFCT · IEPE · SW 稳定协作</a:t>
            </a:r>
            <a:endParaRPr sz="900" b="0">
              <a:solidFill>
                <a:srgbClr val="2C3E50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857999" y="914400"/>
            <a:ext cx="2103120" cy="1051560"/>
          </a:xfrm>
          <a:prstGeom prst="roundRect">
            <a:avLst/>
          </a:prstGeom>
          <a:solidFill>
            <a:srgbClr val="E7EEFB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7999" y="1005840"/>
            <a:ext cx="2103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FF7E3D"/>
                </a:solidFill>
                <a:latin typeface="微软雅黑" panose="020B0503020204020204" charset="-122"/>
              </a:rPr>
              <a:t>92 项</a:t>
            </a:r>
            <a:endParaRPr sz="2200" b="1">
              <a:solidFill>
                <a:srgbClr val="FF7E3D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857999" y="155448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2C3E50"/>
                </a:solidFill>
                <a:latin typeface="微软雅黑" panose="020B0503020204020204" charset="-122"/>
              </a:rPr>
              <a:t>国内问题 + 英方风险合并</a:t>
            </a:r>
            <a:endParaRPr sz="900" b="0">
              <a:solidFill>
                <a:srgbClr val="2C3E50"/>
              </a:solidFill>
              <a:latin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74320" y="2148840"/>
            <a:ext cx="2103120" cy="320040"/>
          </a:xfrm>
          <a:prstGeom prst="rect">
            <a:avLst/>
          </a:prstGeom>
          <a:solidFill>
            <a:srgbClr val="003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167128"/>
            <a:ext cx="2011679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① 设计基线对齐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74320" y="2468880"/>
            <a:ext cx="210312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" y="2514600"/>
            <a:ext cx="1956815" cy="18745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</a:rPr>
              <a:t>• PFD / P&amp;ID / URS 三大文件多轮修订至 v0.4–0.5</a:t>
            </a:r>
            <a:endParaRPr sz="850" b="0">
              <a:solidFill>
                <a:srgbClr val="0F2B46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</a:rPr>
              <a:t>• SE01 气液分离器方案闭环、CE-MD 认证范围确定</a:t>
            </a:r>
            <a:endParaRPr sz="850" b="0">
              <a:solidFill>
                <a:srgbClr val="0F2B46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</a:rPr>
              <a:t>• 主要设计文件基本齐备，具备详设启动条件</a:t>
            </a:r>
            <a:endParaRPr sz="850" b="0">
              <a:solidFill>
                <a:srgbClr val="0F2B46"/>
              </a:solidFill>
              <a:latin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468879" y="2148840"/>
            <a:ext cx="2103120" cy="320040"/>
          </a:xfrm>
          <a:prstGeom prst="rect">
            <a:avLst/>
          </a:prstGeom>
          <a:solidFill>
            <a:srgbClr val="003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599" y="2167128"/>
            <a:ext cx="2011679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② 三方协作机制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468879" y="2468880"/>
            <a:ext cx="210312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42032" y="2514600"/>
            <a:ext cx="1956815" cy="18745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</a:rPr>
              <a:t>• 建立并稳定运行中英双周技术协作机制</a:t>
            </a:r>
            <a:endParaRPr sz="850" b="0">
              <a:solidFill>
                <a:srgbClr val="0F2B46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</a:rPr>
              <a:t>• 双语《会议纪要跟踪表》跟踪 100+ 议题</a:t>
            </a:r>
            <a:endParaRPr sz="850" b="0">
              <a:solidFill>
                <a:srgbClr val="0F2B46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</a:rPr>
              <a:t>• 问询 · 分歧 · 变更 全过程可追溯</a:t>
            </a:r>
            <a:endParaRPr sz="850" b="0">
              <a:solidFill>
                <a:srgbClr val="0F2B46"/>
              </a:solidFill>
              <a:latin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663440" y="2148840"/>
            <a:ext cx="2103120" cy="320040"/>
          </a:xfrm>
          <a:prstGeom prst="rect">
            <a:avLst/>
          </a:prstGeom>
          <a:solidFill>
            <a:srgbClr val="003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9159" y="2167128"/>
            <a:ext cx="2011679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③ 关键技术议题应对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663440" y="2468880"/>
            <a:ext cx="210312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36592" y="2514600"/>
            <a:ext cx="1956815" cy="18745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</a:rPr>
              <a:t>• 超临界流体安全阀泄放计算方法论对齐</a:t>
            </a:r>
            <a:endParaRPr sz="850" b="0">
              <a:solidFill>
                <a:srgbClr val="0F2B46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</a:rPr>
              <a:t>• 防爆区域划分（HAC）方向确定</a:t>
            </a:r>
            <a:endParaRPr sz="850" b="0">
              <a:solidFill>
                <a:srgbClr val="0F2B46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</a:rPr>
              <a:t>• 组织国内技术团队与英方对等对话</a:t>
            </a:r>
            <a:endParaRPr sz="850" b="0">
              <a:solidFill>
                <a:srgbClr val="0F2B46"/>
              </a:solidFill>
              <a:latin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857999" y="2148840"/>
            <a:ext cx="2103120" cy="320040"/>
          </a:xfrm>
          <a:prstGeom prst="rect">
            <a:avLst/>
          </a:prstGeom>
          <a:solidFill>
            <a:srgbClr val="003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03719" y="2167128"/>
            <a:ext cx="2011679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④ HAZOP 前对齐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857999" y="2468880"/>
            <a:ext cx="210312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31151" y="2514600"/>
            <a:ext cx="1956815" cy="18745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</a:rPr>
              <a:t>• 国内 33 项待澄清问题 + 英方 59 项 Risk Register</a:t>
            </a:r>
            <a:endParaRPr sz="850" b="0">
              <a:solidFill>
                <a:srgbClr val="0F2B46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</a:rPr>
              <a:t>• 合并至统一《会议纪要跟踪表》系统闭环</a:t>
            </a:r>
            <a:endParaRPr sz="850" b="0">
              <a:solidFill>
                <a:srgbClr val="0F2B46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</a:rPr>
              <a:t>• 为 HAZOP 与 DQ 决策提供风险清单基线</a:t>
            </a:r>
            <a:endParaRPr sz="850" b="0">
              <a:solidFill>
                <a:srgbClr val="0F2B46"/>
              </a:solidFill>
              <a:latin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274320" y="4617720"/>
            <a:ext cx="8595360" cy="27432"/>
          </a:xfrm>
          <a:prstGeom prst="rect">
            <a:avLst/>
          </a:prstGeom>
          <a:solidFill>
            <a:srgbClr val="FF7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4892040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7A89A8"/>
                </a:solidFill>
                <a:latin typeface="Arial" panose="020B0604020202020204"/>
              </a:rPr>
              <a:t>www.asymchem.com.cn</a:t>
            </a:r>
            <a:endParaRPr sz="750" b="0">
              <a:solidFill>
                <a:srgbClr val="7A89A8"/>
              </a:solidFill>
              <a:latin typeface="Arial" panose="020B06040202020202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377440" y="4892040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7A89A8"/>
                </a:solidFill>
                <a:latin typeface="Arial" panose="020B0604020202020204"/>
              </a:rPr>
              <a:t>Stock Code: 002821.SZ / 6821.HK</a:t>
            </a:r>
            <a:endParaRPr sz="700" b="0">
              <a:solidFill>
                <a:srgbClr val="7A89A8"/>
              </a:solidFill>
              <a:latin typeface="Arial" panose="020B0604020202020204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t>3</a:t>
            </a:r>
            <a:endParaRPr sz="800" b="0">
              <a:solidFill>
                <a:srgbClr val="7A89A8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0" y="182880"/>
            <a:ext cx="5760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00366A"/>
                </a:solidFill>
                <a:latin typeface="微软雅黑" panose="020B0503020204020204" charset="-122"/>
              </a:rPr>
              <a:t>连续氢化建设项目 · 阵型与产出</a:t>
            </a:r>
            <a:endParaRPr sz="2000" b="1">
              <a:solidFill>
                <a:srgbClr val="00366A"/>
              </a:solidFill>
              <a:latin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74320" y="777240"/>
            <a:ext cx="8595360" cy="27432"/>
          </a:xfrm>
          <a:prstGeom prst="rect">
            <a:avLst/>
          </a:prstGeom>
          <a:solidFill>
            <a:srgbClr val="FF7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0"/>
            <a:ext cx="85953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C3E50"/>
                </a:solidFill>
                <a:latin typeface="微软雅黑" panose="020B0503020204020204" charset="-122"/>
              </a:rPr>
              <a:t>跨集团三方协同 · 我作为国内项目管理支持，承担对内对外的信息集散与决策推进</a:t>
            </a:r>
            <a:endParaRPr sz="1000" b="0">
              <a:solidFill>
                <a:srgbClr val="2C3E50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4206240" cy="411480"/>
          </a:xfrm>
          <a:prstGeom prst="rect">
            <a:avLst/>
          </a:prstGeom>
          <a:solidFill>
            <a:srgbClr val="003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三方协作阵型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74320" y="1783080"/>
            <a:ext cx="4206240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874519"/>
            <a:ext cx="39319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00366A"/>
                </a:solidFill>
                <a:latin typeface="微软雅黑" panose="020B0503020204020204" charset="-122"/>
              </a:rPr>
              <a:t>CFCT · 撬块交付方</a:t>
            </a:r>
            <a:endParaRPr sz="1050" b="1">
              <a:solidFill>
                <a:srgbClr val="00366A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11480" y="2093976"/>
            <a:ext cx="3931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3263A7"/>
                </a:solidFill>
                <a:latin typeface="微软雅黑" panose="020B0503020204020204" charset="-122"/>
              </a:rPr>
              <a:t>赵子亮 / 范双双</a:t>
            </a:r>
            <a:endParaRPr sz="900" b="1">
              <a:solidFill>
                <a:srgbClr val="3263A7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1480" y="2295144"/>
            <a:ext cx="39319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</a:rPr>
              <a:t>撬块 layout · 反应器设计 · 采购 · 组装 · CE 认证 · 运输</a:t>
            </a:r>
            <a:endParaRPr sz="850" b="0">
              <a:solidFill>
                <a:srgbClr val="0F2B46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11480" y="2551176"/>
            <a:ext cx="39319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00366A"/>
                </a:solidFill>
                <a:latin typeface="微软雅黑" panose="020B0503020204020204" charset="-122"/>
              </a:rPr>
              <a:t>IEPE · 总体设计方</a:t>
            </a:r>
            <a:endParaRPr sz="1050" b="1">
              <a:solidFill>
                <a:srgbClr val="00366A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11480" y="2770632"/>
            <a:ext cx="3931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3263A7"/>
                </a:solidFill>
                <a:latin typeface="微软雅黑" panose="020B0503020204020204" charset="-122"/>
              </a:rPr>
              <a:t>高少峰 / 胡超群 / 孟德智 / 高宇</a:t>
            </a:r>
            <a:endParaRPr sz="900" b="1">
              <a:solidFill>
                <a:srgbClr val="3263A7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11480" y="2971800"/>
            <a:ext cx="39319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</a:rPr>
              <a:t>整体设计 · 控制系统 · Cable · 仪表 · 与英方对接</a:t>
            </a:r>
            <a:endParaRPr sz="850" b="0">
              <a:solidFill>
                <a:srgbClr val="0F2B46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11480" y="3227832"/>
            <a:ext cx="39319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00366A"/>
                </a:solidFill>
                <a:latin typeface="微软雅黑" panose="020B0503020204020204" charset="-122"/>
              </a:rPr>
              <a:t>UK Sandwich · 现场需求方</a:t>
            </a:r>
            <a:endParaRPr sz="1050" b="1">
              <a:solidFill>
                <a:srgbClr val="00366A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11480" y="3447288"/>
            <a:ext cx="3931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3263A7"/>
                </a:solidFill>
                <a:latin typeface="微软雅黑" panose="020B0503020204020204" charset="-122"/>
              </a:rPr>
              <a:t>Keith 等</a:t>
            </a:r>
            <a:endParaRPr sz="900" b="1">
              <a:solidFill>
                <a:srgbClr val="3263A7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1480" y="3648456"/>
            <a:ext cx="39319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</a:rPr>
              <a:t>URS · HAZOP · 现场对接 · 英方风险 Register</a:t>
            </a:r>
            <a:endParaRPr sz="850" b="0">
              <a:solidFill>
                <a:srgbClr val="0F2B46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11480" y="3904488"/>
            <a:ext cx="39319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00366A"/>
                </a:solidFill>
                <a:latin typeface="微软雅黑" panose="020B0503020204020204" charset="-122"/>
              </a:rPr>
              <a:t>集团生产管理办公室 · 项目管理支持</a:t>
            </a:r>
            <a:endParaRPr sz="1050" b="1">
              <a:solidFill>
                <a:srgbClr val="00366A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11480" y="4123944"/>
            <a:ext cx="3931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3263A7"/>
                </a:solidFill>
                <a:latin typeface="微软雅黑" panose="020B0503020204020204" charset="-122"/>
              </a:rPr>
              <a:t>李涛（本人）</a:t>
            </a:r>
            <a:endParaRPr sz="900" b="1">
              <a:solidFill>
                <a:srgbClr val="3263A7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11480" y="4325112"/>
            <a:ext cx="39319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</a:rPr>
              <a:t>跨方沟通协调 · 议题跟踪与闭环 · 汇报与决策推进</a:t>
            </a:r>
            <a:endParaRPr sz="850" b="0">
              <a:solidFill>
                <a:srgbClr val="0F2B46"/>
              </a:solidFill>
              <a:latin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663440" y="1371600"/>
            <a:ext cx="4206240" cy="411480"/>
          </a:xfrm>
          <a:prstGeom prst="rect">
            <a:avLst/>
          </a:prstGeom>
          <a:solidFill>
            <a:srgbClr val="003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0" y="1417320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上半年阶段性产出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663440" y="1783080"/>
            <a:ext cx="4206240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0" y="1874519"/>
            <a:ext cx="91440" cy="822960"/>
          </a:xfrm>
          <a:prstGeom prst="rect">
            <a:avLst/>
          </a:prstGeom>
          <a:solidFill>
            <a:srgbClr val="003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19472" y="1874519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00366A"/>
                </a:solidFill>
                <a:latin typeface="微软雅黑" panose="020B0503020204020204" charset="-122"/>
              </a:rPr>
              <a:t>已完成 / 基本齐备</a:t>
            </a:r>
            <a:endParaRPr sz="1050" b="1">
              <a:solidFill>
                <a:srgbClr val="00366A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919472" y="2112263"/>
            <a:ext cx="3931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</a:rPr>
              <a:t>· PFD · P&amp;ID · URS 三大设计文件</a:t>
            </a:r>
            <a:endParaRPr sz="850" b="0">
              <a:solidFill>
                <a:srgbClr val="0F2B46"/>
              </a:solidFill>
              <a:latin typeface="微软雅黑" panose="020B0503020204020204" charset="-122"/>
            </a:endParaRPr>
          </a:p>
          <a:p>
            <a:pPr algn="l">
              <a:lnSpc>
                <a:spcPct val="125000"/>
              </a:lnSpc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</a:rPr>
              <a:t>· SE01 气液分离器最终方案</a:t>
            </a:r>
            <a:endParaRPr sz="850" b="0">
              <a:solidFill>
                <a:srgbClr val="0F2B46"/>
              </a:solidFill>
              <a:latin typeface="微软雅黑" panose="020B0503020204020204" charset="-122"/>
            </a:endParaRPr>
          </a:p>
          <a:p>
            <a:pPr algn="l">
              <a:lnSpc>
                <a:spcPct val="125000"/>
              </a:lnSpc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</a:rPr>
              <a:t>· 撬块 3D Layout 初版 · 长周期设备清单</a:t>
            </a:r>
            <a:endParaRPr sz="850" b="0">
              <a:solidFill>
                <a:srgbClr val="0F2B46"/>
              </a:solidFill>
              <a:latin typeface="微软雅黑" panose="020B0503020204020204" charset="-122"/>
            </a:endParaRPr>
          </a:p>
          <a:p>
            <a:pPr algn="l">
              <a:lnSpc>
                <a:spcPct val="125000"/>
              </a:lnSpc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</a:rPr>
              <a:t>· CE-MD 认证范围与合同框架</a:t>
            </a:r>
            <a:endParaRPr sz="850" b="0">
              <a:solidFill>
                <a:srgbClr val="0F2B46"/>
              </a:solidFill>
              <a:latin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754880" y="2788920"/>
            <a:ext cx="91440" cy="822960"/>
          </a:xfrm>
          <a:prstGeom prst="rect">
            <a:avLst/>
          </a:prstGeom>
          <a:solidFill>
            <a:srgbClr val="3263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19472" y="2788920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3263A7"/>
                </a:solidFill>
                <a:latin typeface="微软雅黑" panose="020B0503020204020204" charset="-122"/>
              </a:rPr>
              <a:t>推进中</a:t>
            </a:r>
            <a:endParaRPr sz="1050" b="1">
              <a:solidFill>
                <a:srgbClr val="3263A7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919472" y="3026663"/>
            <a:ext cx="3931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</a:rPr>
              <a:t>· 详细设计与设备数据单更新</a:t>
            </a:r>
            <a:endParaRPr sz="850" b="0">
              <a:solidFill>
                <a:srgbClr val="0F2B46"/>
              </a:solidFill>
              <a:latin typeface="微软雅黑" panose="020B0503020204020204" charset="-122"/>
            </a:endParaRPr>
          </a:p>
          <a:p>
            <a:pPr algn="l">
              <a:lnSpc>
                <a:spcPct val="125000"/>
              </a:lnSpc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</a:rPr>
              <a:t>· HAZOP 前问题清单 + 风险 Register 合并跟踪</a:t>
            </a:r>
            <a:endParaRPr sz="850" b="0">
              <a:solidFill>
                <a:srgbClr val="0F2B46"/>
              </a:solidFill>
              <a:latin typeface="微软雅黑" panose="020B0503020204020204" charset="-122"/>
            </a:endParaRPr>
          </a:p>
          <a:p>
            <a:pPr algn="l">
              <a:lnSpc>
                <a:spcPct val="125000"/>
              </a:lnSpc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</a:rPr>
              <a:t>· 撬块采购与制造资源匹配</a:t>
            </a:r>
            <a:endParaRPr sz="850" b="0">
              <a:solidFill>
                <a:srgbClr val="0F2B46"/>
              </a:solidFill>
              <a:latin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4754880" y="3703320"/>
            <a:ext cx="91440" cy="822960"/>
          </a:xfrm>
          <a:prstGeom prst="rect">
            <a:avLst/>
          </a:prstGeom>
          <a:solidFill>
            <a:srgbClr val="FF7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19472" y="3703320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FF7E3D"/>
                </a:solidFill>
                <a:latin typeface="微软雅黑" panose="020B0503020204020204" charset="-122"/>
              </a:rPr>
              <a:t>待启动 / 下半年</a:t>
            </a:r>
            <a:endParaRPr sz="1050" b="1">
              <a:solidFill>
                <a:srgbClr val="FF7E3D"/>
              </a:solidFill>
              <a:latin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919472" y="3941063"/>
            <a:ext cx="3931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</a:rPr>
              <a:t>· HAZOP 正式评审 · 详设定稿</a:t>
            </a:r>
            <a:endParaRPr sz="850" b="0">
              <a:solidFill>
                <a:srgbClr val="0F2B46"/>
              </a:solidFill>
              <a:latin typeface="微软雅黑" panose="020B0503020204020204" charset="-122"/>
            </a:endParaRPr>
          </a:p>
          <a:p>
            <a:pPr algn="l">
              <a:lnSpc>
                <a:spcPct val="125000"/>
              </a:lnSpc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</a:rPr>
              <a:t>· 主设备采购 PO 下达 · CE 认证正式启动</a:t>
            </a:r>
            <a:endParaRPr sz="850" b="0">
              <a:solidFill>
                <a:srgbClr val="0F2B46"/>
              </a:solidFill>
              <a:latin typeface="微软雅黑" panose="020B0503020204020204" charset="-122"/>
            </a:endParaRPr>
          </a:p>
          <a:p>
            <a:pPr algn="l">
              <a:lnSpc>
                <a:spcPct val="125000"/>
              </a:lnSpc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</a:rPr>
              <a:t>· 英方现场对接与安装准备</a:t>
            </a:r>
            <a:endParaRPr sz="850" b="0">
              <a:solidFill>
                <a:srgbClr val="0F2B46"/>
              </a:solidFill>
              <a:latin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74320" y="4892040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7A89A8"/>
                </a:solidFill>
                <a:latin typeface="Arial" panose="020B0604020202020204"/>
              </a:rPr>
              <a:t>www.asymchem.com.cn</a:t>
            </a:r>
            <a:endParaRPr sz="750" b="0">
              <a:solidFill>
                <a:srgbClr val="7A89A8"/>
              </a:solidFill>
              <a:latin typeface="Arial" panose="020B060402020202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377440" y="4892040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7A89A8"/>
                </a:solidFill>
                <a:latin typeface="Arial" panose="020B0604020202020204"/>
              </a:rPr>
              <a:t>Stock Code: 002821.SZ / 6821.HK</a:t>
            </a:r>
            <a:endParaRPr sz="700" b="0">
              <a:solidFill>
                <a:srgbClr val="7A89A8"/>
              </a:solidFill>
              <a:latin typeface="Arial" panose="020B06040202020202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t>4</a:t>
            </a:r>
            <a:endParaRPr sz="800" b="0">
              <a:solidFill>
                <a:srgbClr val="7A89A8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0" y="182880"/>
            <a:ext cx="5760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00366A"/>
                </a:solidFill>
                <a:latin typeface="微软雅黑" panose="020B0503020204020204" charset="-122"/>
              </a:rPr>
              <a:t>连续氢化建设项目 · 下半年节奏与关键里程碑</a:t>
            </a:r>
            <a:endParaRPr sz="2000" b="1">
              <a:solidFill>
                <a:srgbClr val="00366A"/>
              </a:solidFill>
              <a:latin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74320" y="777240"/>
            <a:ext cx="8595360" cy="27432"/>
          </a:xfrm>
          <a:prstGeom prst="rect">
            <a:avLst/>
          </a:prstGeom>
          <a:solidFill>
            <a:srgbClr val="FF7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0"/>
            <a:ext cx="85953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C3E50"/>
                </a:solidFill>
                <a:latin typeface="微软雅黑" panose="020B0503020204020204" charset="-122"/>
              </a:rPr>
              <a:t>以「HAZOP 通过 → 详设定稿 → 主设备采购」为主线，锁定关键节点，为 2027 年现场开车目标铺路</a:t>
            </a:r>
            <a:endParaRPr sz="1000" b="0">
              <a:solidFill>
                <a:srgbClr val="2C3E50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4320" y="1463040"/>
            <a:ext cx="2743200" cy="320040"/>
          </a:xfrm>
          <a:prstGeom prst="rect">
            <a:avLst/>
          </a:prstGeom>
          <a:solidFill>
            <a:srgbClr val="003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81328"/>
            <a:ext cx="2560320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Q3 2026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74320" y="1783080"/>
            <a:ext cx="27432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87452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3263A7"/>
                </a:solidFill>
                <a:latin typeface="微软雅黑" panose="020B0503020204020204" charset="-122"/>
              </a:rPr>
              <a:t>详设与 HAZOP 双线推进</a:t>
            </a:r>
            <a:endParaRPr sz="1050" b="1">
              <a:solidFill>
                <a:srgbClr val="3263A7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11479" y="2194560"/>
            <a:ext cx="246888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0F2B46"/>
                </a:solidFill>
                <a:latin typeface="微软雅黑" panose="020B0503020204020204" charset="-122"/>
              </a:rPr>
              <a:t>· HAZOP 正式评审通过</a:t>
            </a:r>
            <a:endParaRPr sz="900" b="0">
              <a:solidFill>
                <a:srgbClr val="0F2B46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0F2B46"/>
                </a:solidFill>
                <a:latin typeface="微软雅黑" panose="020B0503020204020204" charset="-122"/>
              </a:rPr>
              <a:t>· 详细设计基本定稿</a:t>
            </a:r>
            <a:endParaRPr sz="900" b="0">
              <a:solidFill>
                <a:srgbClr val="0F2B46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0F2B46"/>
                </a:solidFill>
                <a:latin typeface="微软雅黑" panose="020B0503020204020204" charset="-122"/>
              </a:rPr>
              <a:t>· 长周期设备下 PO</a:t>
            </a:r>
            <a:endParaRPr sz="900" b="0">
              <a:solidFill>
                <a:srgbClr val="0F2B46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0F2B46"/>
                </a:solidFill>
                <a:latin typeface="微软雅黑" panose="020B0503020204020204" charset="-122"/>
              </a:rPr>
              <a:t>· 英方风险 Register 全部闭环</a:t>
            </a:r>
            <a:endParaRPr sz="900" b="0">
              <a:solidFill>
                <a:srgbClr val="0F2B46"/>
              </a:solidFill>
              <a:latin typeface="微软雅黑" panose="020B0503020204020204" charset="-122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3022091" y="2446020"/>
            <a:ext cx="128016" cy="182880"/>
          </a:xfrm>
          <a:prstGeom prst="rightArrow">
            <a:avLst/>
          </a:prstGeom>
          <a:solidFill>
            <a:srgbClr val="FF7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154679" y="1463040"/>
            <a:ext cx="2743200" cy="320040"/>
          </a:xfrm>
          <a:prstGeom prst="rect">
            <a:avLst/>
          </a:prstGeom>
          <a:solidFill>
            <a:srgbClr val="003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6120" y="1481328"/>
            <a:ext cx="2560320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Q4 2026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154679" y="1783080"/>
            <a:ext cx="27432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39" y="187452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3263A7"/>
                </a:solidFill>
                <a:latin typeface="微软雅黑" panose="020B0503020204020204" charset="-122"/>
              </a:rPr>
              <a:t>采购 · CE 认证正式启动</a:t>
            </a:r>
            <a:endParaRPr sz="1050" b="1">
              <a:solidFill>
                <a:srgbClr val="3263A7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291839" y="2194560"/>
            <a:ext cx="246888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0F2B46"/>
                </a:solidFill>
                <a:latin typeface="微软雅黑" panose="020B0503020204020204" charset="-122"/>
              </a:rPr>
              <a:t>· 主设备 PO 下达 · 制造启动</a:t>
            </a:r>
            <a:endParaRPr sz="900" b="0">
              <a:solidFill>
                <a:srgbClr val="0F2B46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0F2B46"/>
                </a:solidFill>
                <a:latin typeface="微软雅黑" panose="020B0503020204020204" charset="-122"/>
              </a:rPr>
              <a:t>· CE-MD 认证正式启动</a:t>
            </a:r>
            <a:endParaRPr sz="900" b="0">
              <a:solidFill>
                <a:srgbClr val="0F2B46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0F2B46"/>
                </a:solidFill>
                <a:latin typeface="微软雅黑" panose="020B0503020204020204" charset="-122"/>
              </a:rPr>
              <a:t>· 详设剩余问题清单闭环</a:t>
            </a:r>
            <a:endParaRPr sz="900" b="0">
              <a:solidFill>
                <a:srgbClr val="0F2B46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0F2B46"/>
                </a:solidFill>
                <a:latin typeface="微软雅黑" panose="020B0503020204020204" charset="-122"/>
              </a:rPr>
              <a:t>· 现场安装准备启动</a:t>
            </a:r>
            <a:endParaRPr sz="900" b="0">
              <a:solidFill>
                <a:srgbClr val="0F2B46"/>
              </a:solidFill>
              <a:latin typeface="微软雅黑" panose="020B0503020204020204" charset="-122"/>
            </a:endParaRPr>
          </a:p>
        </p:txBody>
      </p:sp>
      <p:sp>
        <p:nvSpPr>
          <p:cNvPr id="16" name="Right Arrow 15"/>
          <p:cNvSpPr/>
          <p:nvPr/>
        </p:nvSpPr>
        <p:spPr>
          <a:xfrm>
            <a:off x="5902451" y="2446020"/>
            <a:ext cx="128016" cy="182880"/>
          </a:xfrm>
          <a:prstGeom prst="rightArrow">
            <a:avLst/>
          </a:prstGeom>
          <a:solidFill>
            <a:srgbClr val="FF7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0" y="1463040"/>
            <a:ext cx="2743200" cy="320040"/>
          </a:xfrm>
          <a:prstGeom prst="rect">
            <a:avLst/>
          </a:prstGeom>
          <a:solidFill>
            <a:srgbClr val="003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79" y="1481328"/>
            <a:ext cx="2560320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2027 Q1–Q3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035040" y="1783080"/>
            <a:ext cx="27432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187452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3263A7"/>
                </a:solidFill>
                <a:latin typeface="微软雅黑" panose="020B0503020204020204" charset="-122"/>
              </a:rPr>
              <a:t>组装 · FAT · 现场开车</a:t>
            </a:r>
            <a:endParaRPr sz="1050" b="1">
              <a:solidFill>
                <a:srgbClr val="3263A7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172200" y="2194560"/>
            <a:ext cx="246888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0F2B46"/>
                </a:solidFill>
                <a:latin typeface="微软雅黑" panose="020B0503020204020204" charset="-122"/>
              </a:rPr>
              <a:t>· 撬块组装完成 · FAT 通过</a:t>
            </a:r>
            <a:endParaRPr sz="900" b="0">
              <a:solidFill>
                <a:srgbClr val="0F2B46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0F2B46"/>
                </a:solidFill>
                <a:latin typeface="微软雅黑" panose="020B0503020204020204" charset="-122"/>
              </a:rPr>
              <a:t>· 运输与英方现场接收</a:t>
            </a:r>
            <a:endParaRPr sz="900" b="0">
              <a:solidFill>
                <a:srgbClr val="0F2B46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0F2B46"/>
                </a:solidFill>
                <a:latin typeface="微软雅黑" panose="020B0503020204020204" charset="-122"/>
              </a:rPr>
              <a:t>· SAT 与调试</a:t>
            </a:r>
            <a:endParaRPr sz="900" b="0">
              <a:solidFill>
                <a:srgbClr val="0F2B46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0F2B46"/>
                </a:solidFill>
                <a:latin typeface="微软雅黑" panose="020B0503020204020204" charset="-122"/>
              </a:rPr>
              <a:t>· 现场开车与移交</a:t>
            </a:r>
            <a:endParaRPr sz="900" b="0">
              <a:solidFill>
                <a:srgbClr val="0F2B46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74320" y="3840480"/>
            <a:ext cx="8595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366A"/>
                </a:solidFill>
                <a:latin typeface="微软雅黑" panose="020B0503020204020204" charset="-122"/>
              </a:rPr>
              <a:t>关键成果目标</a:t>
            </a:r>
            <a:endParaRPr sz="1100" b="1">
              <a:solidFill>
                <a:srgbClr val="00366A"/>
              </a:solidFill>
              <a:latin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74320" y="4160520"/>
            <a:ext cx="2743200" cy="256032"/>
          </a:xfrm>
          <a:prstGeom prst="rect">
            <a:avLst/>
          </a:prstGeom>
          <a:solidFill>
            <a:srgbClr val="003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4178807"/>
            <a:ext cx="25603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FFFFFF"/>
                </a:solidFill>
                <a:latin typeface="微软雅黑" panose="020B0503020204020204" charset="-122"/>
              </a:rPr>
              <a:t>短期 · Q3</a:t>
            </a:r>
            <a:endParaRPr sz="9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74320" y="4416552"/>
            <a:ext cx="2743200" cy="3383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443484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0F2B46"/>
                </a:solidFill>
                <a:latin typeface="微软雅黑" panose="020B0503020204020204" charset="-122"/>
              </a:rPr>
              <a:t>HAZOP 通过 · 详设定稿</a:t>
            </a:r>
            <a:endParaRPr sz="900" b="0">
              <a:solidFill>
                <a:srgbClr val="0F2B46"/>
              </a:solidFill>
              <a:latin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3154679" y="4160520"/>
            <a:ext cx="2743200" cy="256032"/>
          </a:xfrm>
          <a:prstGeom prst="rect">
            <a:avLst/>
          </a:prstGeom>
          <a:solidFill>
            <a:srgbClr val="3263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46120" y="4178807"/>
            <a:ext cx="25603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FFFFFF"/>
                </a:solidFill>
                <a:latin typeface="微软雅黑" panose="020B0503020204020204" charset="-122"/>
              </a:rPr>
              <a:t>中期 · Q4</a:t>
            </a:r>
            <a:endParaRPr sz="9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3154679" y="4416552"/>
            <a:ext cx="2743200" cy="3383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46120" y="443484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0F2B46"/>
                </a:solidFill>
                <a:latin typeface="微软雅黑" panose="020B0503020204020204" charset="-122"/>
              </a:rPr>
              <a:t>主设备 PO · CE 认证启动</a:t>
            </a:r>
            <a:endParaRPr sz="900" b="0">
              <a:solidFill>
                <a:srgbClr val="0F2B46"/>
              </a:solidFill>
              <a:latin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035040" y="4160520"/>
            <a:ext cx="2743200" cy="256032"/>
          </a:xfrm>
          <a:prstGeom prst="rect">
            <a:avLst/>
          </a:prstGeom>
          <a:solidFill>
            <a:srgbClr val="FF7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79" y="4178807"/>
            <a:ext cx="25603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FFFFFF"/>
                </a:solidFill>
                <a:latin typeface="微软雅黑" panose="020B0503020204020204" charset="-122"/>
              </a:rPr>
              <a:t>长期 · 2027</a:t>
            </a:r>
            <a:endParaRPr sz="9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6035040" y="4416552"/>
            <a:ext cx="2743200" cy="3383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6479" y="443484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0F2B46"/>
                </a:solidFill>
                <a:latin typeface="微软雅黑" panose="020B0503020204020204" charset="-122"/>
              </a:rPr>
              <a:t>FAT · 现场开车与移交</a:t>
            </a:r>
            <a:endParaRPr sz="900" b="0">
              <a:solidFill>
                <a:srgbClr val="0F2B46"/>
              </a:solidFill>
              <a:latin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74320" y="4892040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7A89A8"/>
                </a:solidFill>
                <a:latin typeface="Arial" panose="020B0604020202020204"/>
              </a:rPr>
              <a:t>www.asymchem.com.cn</a:t>
            </a:r>
            <a:endParaRPr sz="750" b="0">
              <a:solidFill>
                <a:srgbClr val="7A89A8"/>
              </a:solidFill>
              <a:latin typeface="Arial" panose="020B0604020202020204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377440" y="4892040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7A89A8"/>
                </a:solidFill>
                <a:latin typeface="Arial" panose="020B0604020202020204"/>
              </a:rPr>
              <a:t>Stock Code: 002821.SZ / 6821.HK</a:t>
            </a:r>
            <a:endParaRPr sz="700" b="0">
              <a:solidFill>
                <a:srgbClr val="7A89A8"/>
              </a:solidFill>
              <a:latin typeface="Arial" panose="020B06040202020202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t>5</a:t>
            </a:r>
            <a:endParaRPr sz="800" b="0">
              <a:solidFill>
                <a:srgbClr val="7A89A8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0" y="182880"/>
            <a:ext cx="5760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1">
                <a:solidFill>
                  <a:srgbClr val="00366A"/>
                </a:solidFill>
                <a:latin typeface="微软雅黑" panose="020B0503020204020204" charset="-122"/>
              </a:rPr>
              <a:t>连续氢化建设项目 · 原计划 vs 当前计划</a:t>
            </a:r>
            <a:endParaRPr sz="2000" b="1">
              <a:solidFill>
                <a:srgbClr val="00366A"/>
              </a:solidFill>
              <a:latin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74320" y="777240"/>
            <a:ext cx="8595360" cy="27432"/>
          </a:xfrm>
          <a:prstGeom prst="rect">
            <a:avLst/>
          </a:prstGeom>
          <a:solidFill>
            <a:srgbClr val="FF7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0"/>
            <a:ext cx="8595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2C3E50"/>
                </a:solidFill>
                <a:latin typeface="微软雅黑" panose="020B0503020204020204" charset="-122"/>
              </a:rPr>
              <a:t>整体开车目标 2027-06 → 2027-09，约 +3 个月；并非单一节点，而是设计阶段整体后移 5 个月带动的连锁传导</a:t>
            </a:r>
            <a:endParaRPr sz="1050" b="0">
              <a:solidFill>
                <a:srgbClr val="2C3E50"/>
              </a:solidFill>
              <a:latin typeface="微软雅黑" panose="020B0503020204020204" charset="-122"/>
            </a:endParaRPr>
          </a:p>
        </p:txBody>
      </p:sp>
      <p:pic>
        <p:nvPicPr>
          <p:cNvPr id="5" name="Picture 4" descr="timeline_compa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225296"/>
            <a:ext cx="8595360" cy="24231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74320" y="3712463"/>
            <a:ext cx="8595360" cy="18288"/>
          </a:xfrm>
          <a:prstGeom prst="rect">
            <a:avLst/>
          </a:prstGeom>
          <a:solidFill>
            <a:srgbClr val="DCE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3794760"/>
            <a:ext cx="1645920" cy="292608"/>
          </a:xfrm>
          <a:prstGeom prst="rect">
            <a:avLst/>
          </a:prstGeom>
          <a:solidFill>
            <a:srgbClr val="003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" y="3813048"/>
            <a:ext cx="153619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>
                <a:solidFill>
                  <a:srgbClr val="FFFFFF"/>
                </a:solidFill>
                <a:latin typeface="微软雅黑" panose="020B0503020204020204" charset="-122"/>
              </a:rPr>
              <a:t>① 既有厂房升级改造 · 空间与消防受限</a:t>
            </a:r>
            <a:endParaRPr sz="8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74320" y="4087368"/>
            <a:ext cx="16459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4142232"/>
            <a:ext cx="1499616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>
                <a:solidFill>
                  <a:srgbClr val="0F2B46"/>
                </a:solidFill>
                <a:latin typeface="微软雅黑" panose="020B0503020204020204" charset="-122"/>
              </a:rPr>
              <a:t>既有中试厂房改造，空间与中英防爆/消防规范双重受限；buffer tank 等设备多次调整，触发部分 HAZOP 重做</a:t>
            </a:r>
            <a:endParaRPr sz="750" b="0">
              <a:solidFill>
                <a:srgbClr val="0F2B46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011680" y="3794760"/>
            <a:ext cx="1645920" cy="292608"/>
          </a:xfrm>
          <a:prstGeom prst="rect">
            <a:avLst/>
          </a:prstGeom>
          <a:solidFill>
            <a:srgbClr val="003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66544" y="3813048"/>
            <a:ext cx="153619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>
                <a:solidFill>
                  <a:srgbClr val="FFFFFF"/>
                </a:solidFill>
                <a:latin typeface="微软雅黑" panose="020B0503020204020204" charset="-122"/>
              </a:rPr>
              <a:t>② 深度技术议题 · 中英标准细节差异</a:t>
            </a:r>
            <a:endParaRPr sz="8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011680" y="4087368"/>
            <a:ext cx="16459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84832" y="4142232"/>
            <a:ext cx="1499616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>
                <a:solidFill>
                  <a:srgbClr val="0F2B46"/>
                </a:solidFill>
                <a:latin typeface="微软雅黑" panose="020B0503020204020204" charset="-122"/>
              </a:rPr>
              <a:t>泄放/超临界、清洗、分离器、控制与联锁等，中英思路与文档粒度不同，多个议题上升到科研级论证，耗时显著</a:t>
            </a:r>
            <a:endParaRPr sz="750" b="0">
              <a:solidFill>
                <a:srgbClr val="0F2B46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749040" y="3794760"/>
            <a:ext cx="1645920" cy="292608"/>
          </a:xfrm>
          <a:prstGeom prst="rect">
            <a:avLst/>
          </a:prstGeom>
          <a:solidFill>
            <a:srgbClr val="003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03904" y="3813048"/>
            <a:ext cx="153619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>
                <a:solidFill>
                  <a:srgbClr val="FFFFFF"/>
                </a:solidFill>
                <a:latin typeface="微软雅黑" panose="020B0503020204020204" charset="-122"/>
              </a:rPr>
              <a:t>③ 设计交付物范围扩展 · 匹配 UK 工程文档体系</a:t>
            </a:r>
            <a:endParaRPr sz="8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749040" y="4087368"/>
            <a:ext cx="16459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22192" y="4142232"/>
            <a:ext cx="1499616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>
                <a:solidFill>
                  <a:srgbClr val="0F2B46"/>
                </a:solidFill>
                <a:latin typeface="微软雅黑" panose="020B0503020204020204" charset="-122"/>
              </a:rPr>
              <a:t>对比初版 35 项，现扩展至 55+ 项，新增 FDS/SDS/HDS、I/O Schedule、SIL/LOPA、Cable Schedule 等</a:t>
            </a:r>
            <a:endParaRPr sz="750" b="0">
              <a:solidFill>
                <a:srgbClr val="0F2B46"/>
              </a:solidFill>
              <a:latin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486400" y="3794760"/>
            <a:ext cx="1645920" cy="292608"/>
          </a:xfrm>
          <a:prstGeom prst="rect">
            <a:avLst/>
          </a:prstGeom>
          <a:solidFill>
            <a:srgbClr val="003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41264" y="3813048"/>
            <a:ext cx="153619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>
                <a:solidFill>
                  <a:srgbClr val="FFFFFF"/>
                </a:solidFill>
                <a:latin typeface="微软雅黑" panose="020B0503020204020204" charset="-122"/>
              </a:rPr>
              <a:t>④ 三方协作机制沉淀 · 前期必要投入</a:t>
            </a:r>
            <a:endParaRPr sz="8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486400" y="4087368"/>
            <a:ext cx="16459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59552" y="4142232"/>
            <a:ext cx="1499616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>
                <a:solidFill>
                  <a:srgbClr val="0F2B46"/>
                </a:solidFill>
                <a:latin typeface="微软雅黑" panose="020B0503020204020204" charset="-122"/>
              </a:rPr>
              <a:t>CFCT/IEPE/UK 三方跨语言协作基线建立，双方合并 92 项问题（33+59）系统闭环，降低后续返工</a:t>
            </a:r>
            <a:endParaRPr sz="750" b="0">
              <a:solidFill>
                <a:srgbClr val="0F2B46"/>
              </a:solidFill>
              <a:latin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7223760" y="3794760"/>
            <a:ext cx="1645920" cy="292608"/>
          </a:xfrm>
          <a:prstGeom prst="rect">
            <a:avLst/>
          </a:prstGeom>
          <a:solidFill>
            <a:srgbClr val="003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78624" y="3813048"/>
            <a:ext cx="153619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>
                <a:solidFill>
                  <a:srgbClr val="FFFFFF"/>
                </a:solidFill>
                <a:latin typeface="微软雅黑" panose="020B0503020204020204" charset="-122"/>
              </a:rPr>
              <a:t>⑤ 采购与 CE 认证前置 · 依赖设计冻结</a:t>
            </a:r>
            <a:endParaRPr sz="8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7223760" y="4087368"/>
            <a:ext cx="16459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96912" y="4142232"/>
            <a:ext cx="1499616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>
                <a:solidFill>
                  <a:srgbClr val="0F2B46"/>
                </a:solidFill>
                <a:latin typeface="微软雅黑" panose="020B0503020204020204" charset="-122"/>
              </a:rPr>
              <a:t>长周期物料需等关键设计冻结再下 PO；CE-MD 范围/PED/ATEX 与 NB 反复对齐，较初版延长约 2-3 个月</a:t>
            </a:r>
            <a:endParaRPr sz="750" b="0">
              <a:solidFill>
                <a:srgbClr val="0F2B46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74320" y="4892040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>
                <a:solidFill>
                  <a:srgbClr val="7A89A8"/>
                </a:solidFill>
                <a:latin typeface="Arial" panose="020B0604020202020204"/>
              </a:rPr>
              <a:t>www.asymchem.com.cn</a:t>
            </a:r>
            <a:endParaRPr sz="750" b="0">
              <a:solidFill>
                <a:srgbClr val="7A89A8"/>
              </a:solidFill>
              <a:latin typeface="Arial" panose="020B060402020202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377440" y="4892040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0">
                <a:solidFill>
                  <a:srgbClr val="7A89A8"/>
                </a:solidFill>
                <a:latin typeface="Arial" panose="020B0604020202020204"/>
              </a:rPr>
              <a:t>Stock Code: 002821.SZ / 6821.HK</a:t>
            </a:r>
            <a:endParaRPr sz="700" b="0">
              <a:solidFill>
                <a:srgbClr val="7A89A8"/>
              </a:solidFill>
              <a:latin typeface="Arial" panose="020B06040202020202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t>6</a:t>
            </a:r>
            <a:endParaRPr sz="800" b="0">
              <a:solidFill>
                <a:srgbClr val="7A89A8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1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slide1_shap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3474720" cy="640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7E3D"/>
                </a:solidFill>
                <a:latin typeface="Arial" panose="020B0604020202020204"/>
              </a:rPr>
              <a:t>PART 02</a:t>
            </a:r>
            <a:endParaRPr sz="2000" b="1">
              <a:solidFill>
                <a:srgbClr val="FF7E3D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落地推进</a:t>
            </a:r>
            <a:endParaRPr sz="3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74320" y="4892040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www.asymchem.com.cn</a:t>
            </a:r>
            <a:endParaRPr sz="750" b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377440" y="4892040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00" b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Stock Code: 002821.SZ / 6821.HK</a:t>
            </a:r>
            <a:endParaRPr sz="700" b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t>12</a:t>
            </a:r>
            <a:endParaRPr sz="800" b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0" y="182880"/>
            <a:ext cx="5760720" cy="4572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r"/>
            <a:r>
              <a:rPr sz="2000" b="1">
                <a:solidFill>
                  <a:srgbClr val="0036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上半年整体进展概览</a:t>
            </a:r>
            <a:endParaRPr sz="2000" b="1">
              <a:solidFill>
                <a:srgbClr val="0036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74320" y="777240"/>
            <a:ext cx="8595360" cy="30000"/>
          </a:xfrm>
          <a:prstGeom prst="rect">
            <a:avLst/>
          </a:prstGeom>
          <a:solidFill>
            <a:srgbClr val="FF7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892040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>
                <a:solidFill>
                  <a:srgbClr val="7A89A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www.asymchem.com.cn</a:t>
            </a:r>
            <a:endParaRPr sz="750" b="0">
              <a:solidFill>
                <a:srgbClr val="7A89A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377440" y="4892040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00" b="0">
                <a:solidFill>
                  <a:srgbClr val="7A89A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Stock Code: 002821.SZ / 6821.HK</a:t>
            </a:r>
            <a:endParaRPr sz="700" b="0">
              <a:solidFill>
                <a:srgbClr val="7A89A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t>13</a:t>
            </a:r>
            <a:endParaRPr sz="800" b="0">
              <a:solidFill>
                <a:srgbClr val="7A89A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74320" y="1051560"/>
            <a:ext cx="2103120" cy="1051560"/>
          </a:xfrm>
          <a:prstGeom prst="roundRect">
            <a:avLst>
              <a:gd name="adj" fmla="val 8000"/>
            </a:avLst>
          </a:prstGeom>
          <a:solidFill>
            <a:srgbClr val="E7EEFB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0000" tIns="60000" rIns="60000" bIns="60000" rtlCol="0" anchor="ctr"/>
          <a:lstStyle/>
          <a:p>
            <a:pPr algn="ctr"/>
            <a:r>
              <a:rPr sz="2200" b="1">
                <a:solidFill>
                  <a:srgbClr val="0036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 大方向</a:t>
            </a:r>
            <a:endParaRPr sz="2200" b="1">
              <a:solidFill>
                <a:srgbClr val="0036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生产管理 AI 应用系统梳理</a:t>
            </a:r>
            <a:endParaRPr sz="90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468880" y="1051560"/>
            <a:ext cx="2103120" cy="1051560"/>
          </a:xfrm>
          <a:prstGeom prst="roundRect">
            <a:avLst>
              <a:gd name="adj" fmla="val 8000"/>
            </a:avLst>
          </a:prstGeom>
          <a:solidFill>
            <a:srgbClr val="E7EEFB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0000" tIns="60000" rIns="60000" bIns="60000" rtlCol="0" anchor="ctr"/>
          <a:lstStyle/>
          <a:p>
            <a:pPr algn="ctr"/>
            <a:r>
              <a:rPr sz="2200" b="1">
                <a:solidFill>
                  <a:srgbClr val="0036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家供应商</a:t>
            </a:r>
            <a:endParaRPr sz="2200" b="1">
              <a:solidFill>
                <a:srgbClr val="0036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深度评估 + 会议对接</a:t>
            </a:r>
            <a:endParaRPr sz="90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663440" y="1051560"/>
            <a:ext cx="2103120" cy="1051560"/>
          </a:xfrm>
          <a:prstGeom prst="roundRect">
            <a:avLst>
              <a:gd name="adj" fmla="val 8000"/>
            </a:avLst>
          </a:prstGeom>
          <a:solidFill>
            <a:srgbClr val="E7EEFB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0000" tIns="60000" rIns="60000" bIns="60000" rtlCol="0" anchor="ctr"/>
          <a:lstStyle/>
          <a:p>
            <a:pPr algn="ctr"/>
            <a:r>
              <a:rPr sz="2200" b="1">
                <a:solidFill>
                  <a:srgbClr val="3263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 类落地方案</a:t>
            </a:r>
            <a:endParaRPr sz="2200" b="1">
              <a:solidFill>
                <a:srgbClr val="3263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IT 联合工程化推进</a:t>
            </a:r>
            <a:endParaRPr sz="90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858000" y="1051560"/>
            <a:ext cx="2011680" cy="1051560"/>
          </a:xfrm>
          <a:prstGeom prst="roundRect">
            <a:avLst>
              <a:gd name="adj" fmla="val 8000"/>
            </a:avLst>
          </a:prstGeom>
          <a:solidFill>
            <a:srgbClr val="E7EEFB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0000" tIns="60000" rIns="60000" bIns="60000" rtlCol="0" anchor="ctr"/>
          <a:lstStyle/>
          <a:p>
            <a:pPr algn="ctr"/>
            <a:r>
              <a:rPr sz="2200" b="1">
                <a:solidFill>
                  <a:srgbClr val="FF7E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个重点场景</a:t>
            </a:r>
            <a:endParaRPr sz="2200" b="1">
              <a:solidFill>
                <a:srgbClr val="FF7E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设备预测性维护</a:t>
            </a:r>
            <a:endParaRPr sz="90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74320" y="2286000"/>
            <a:ext cx="2103120" cy="320040"/>
          </a:xfrm>
          <a:prstGeom prst="rect">
            <a:avLst/>
          </a:prstGeom>
          <a:solidFill>
            <a:srgbClr val="003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30000" rIns="50000" bIns="3000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方向系统梳理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74320" y="2606040"/>
            <a:ext cx="210312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2651760"/>
            <a:ext cx="1956815" cy="1783079"/>
          </a:xfrm>
          <a:prstGeom prst="rect">
            <a:avLst/>
          </a:prstGeom>
          <a:noFill/>
        </p:spPr>
        <p:txBody>
          <a:bodyPr wrap="square" lIns="0" tIns="50000" rIns="0" bIns="500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收敛并系统梳理生产管理 6 大 AI 应用方向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编制思路方案 + 逐项落地推进方案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为集团 AI 布局提供横向蓝图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468880" y="2286000"/>
            <a:ext cx="2103120" cy="320040"/>
          </a:xfrm>
          <a:prstGeom prst="rect">
            <a:avLst/>
          </a:prstGeom>
          <a:solidFill>
            <a:srgbClr val="003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30000" rIns="50000" bIns="3000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供应商评估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468880" y="2606040"/>
            <a:ext cx="210312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42032" y="2651760"/>
            <a:ext cx="1956815" cy="659765"/>
          </a:xfrm>
          <a:prstGeom prst="rect">
            <a:avLst/>
          </a:prstGeom>
          <a:noFill/>
        </p:spPr>
        <p:txBody>
          <a:bodyPr wrap="square" lIns="0" tIns="50000" rIns="0" bIns="500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智现未来（半导体 AI 跨域）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埃森哲（Industry X 智能资产管理）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663440" y="2286000"/>
            <a:ext cx="2103120" cy="320040"/>
          </a:xfrm>
          <a:prstGeom prst="rect">
            <a:avLst/>
          </a:prstGeom>
          <a:solidFill>
            <a:srgbClr val="003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30000" rIns="50000" bIns="3000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PdM 推进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663440" y="2606040"/>
            <a:ext cx="210312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36592" y="2651760"/>
            <a:ext cx="1956815" cy="1025525"/>
          </a:xfrm>
          <a:prstGeom prst="rect">
            <a:avLst/>
          </a:prstGeom>
          <a:noFill/>
        </p:spPr>
        <p:txBody>
          <a:bodyPr wrap="square" lIns="0" tIns="50000" rIns="0" bIns="500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结合 DH1 动力站现有基础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完成和利时、信力共擎、埃森哲三方对比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主导埃森哲 PdM 会议后总结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综合</a:t>
            </a: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 + PoC 推进节奏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858000" y="2286000"/>
            <a:ext cx="2011680" cy="320040"/>
          </a:xfrm>
          <a:prstGeom prst="rect">
            <a:avLst/>
          </a:prstGeom>
          <a:solidFill>
            <a:srgbClr val="003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30000" rIns="50000" bIns="3000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跨部门协同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858000" y="2606040"/>
            <a:ext cx="201168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31152" y="2651760"/>
            <a:ext cx="1865376" cy="1783079"/>
          </a:xfrm>
          <a:prstGeom prst="rect">
            <a:avLst/>
          </a:prstGeom>
          <a:noFill/>
        </p:spPr>
        <p:txBody>
          <a:bodyPr wrap="square" lIns="0" tIns="50000" rIns="0" bIns="500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与 IT 联合输出 6 方向工程化实施方案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生产看板系统氨基酸项目功能对接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配合电算化等其他数智化重点工作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0" y="182880"/>
            <a:ext cx="5760720" cy="4572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r"/>
            <a:r>
              <a:rPr sz="2000" b="1">
                <a:solidFill>
                  <a:srgbClr val="0036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生产管理 6 大 AI 应用方向</a:t>
            </a:r>
            <a:endParaRPr sz="2000" b="1">
              <a:solidFill>
                <a:srgbClr val="0036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74320" y="777240"/>
            <a:ext cx="8595360" cy="30000"/>
          </a:xfrm>
          <a:prstGeom prst="rect">
            <a:avLst/>
          </a:prstGeom>
          <a:solidFill>
            <a:srgbClr val="FF7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883785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>
                <a:solidFill>
                  <a:srgbClr val="7A89A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www.asymchem.com.cn</a:t>
            </a:r>
            <a:endParaRPr sz="750" b="0">
              <a:solidFill>
                <a:srgbClr val="7A89A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377440" y="4883785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00" b="0">
                <a:solidFill>
                  <a:srgbClr val="7A89A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Stock Code: 002821.SZ / 6821.HK</a:t>
            </a:r>
            <a:endParaRPr sz="700" b="0">
              <a:solidFill>
                <a:srgbClr val="7A89A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595360" y="4883785"/>
            <a:ext cx="457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t>14</a:t>
            </a:r>
            <a:endParaRPr sz="800" b="0">
              <a:solidFill>
                <a:srgbClr val="7A89A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74320" y="894715"/>
            <a:ext cx="2743200" cy="365760"/>
          </a:xfrm>
          <a:prstGeom prst="rect">
            <a:avLst/>
          </a:prstGeom>
          <a:solidFill>
            <a:srgbClr val="003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30000" rIns="50000" bIns="3000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报告 AI 辅助撰写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74320" y="1260474"/>
            <a:ext cx="274320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306194"/>
            <a:ext cx="2596896" cy="1417319"/>
          </a:xfrm>
          <a:prstGeom prst="rect">
            <a:avLst/>
          </a:prstGeom>
          <a:noFill/>
        </p:spPr>
        <p:txBody>
          <a:bodyPr wrap="square" lIns="0" tIns="50000" rIns="0" bIns="500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3263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Campaign Report / MOR / APR</a:t>
            </a:r>
            <a:endParaRPr sz="900" b="1">
              <a:solidFill>
                <a:srgbClr val="3263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数据源：MES / QMS / LIMS / SAP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底座：LLM + RAG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价值：工时节省 50-70%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200400" y="894715"/>
            <a:ext cx="2743200" cy="365760"/>
          </a:xfrm>
          <a:prstGeom prst="rect">
            <a:avLst/>
          </a:prstGeom>
          <a:solidFill>
            <a:srgbClr val="3263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30000" rIns="50000" bIns="3000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技术转移与放大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200400" y="1260474"/>
            <a:ext cx="274320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73552" y="1306194"/>
            <a:ext cx="2596896" cy="1417319"/>
          </a:xfrm>
          <a:prstGeom prst="rect">
            <a:avLst/>
          </a:prstGeom>
          <a:noFill/>
        </p:spPr>
        <p:txBody>
          <a:bodyPr wrap="square" lIns="0" tIns="50000" rIns="0" bIns="500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3263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R&amp;D → 中试 → 商业化</a:t>
            </a:r>
            <a:endParaRPr sz="900" b="1">
              <a:solidFill>
                <a:srgbClr val="3263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输入：R&amp;D 工艺包 + 设备规格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输出：审查清单 + 风险矩阵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价值：NPI 周期 -30%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126480" y="894715"/>
            <a:ext cx="2743200" cy="365760"/>
          </a:xfrm>
          <a:prstGeom prst="rect">
            <a:avLst/>
          </a:prstGeom>
          <a:solidFill>
            <a:srgbClr val="003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30000" rIns="50000" bIns="3000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设备全生命周期 AI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126480" y="1260474"/>
            <a:ext cx="274320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9632" y="1306194"/>
            <a:ext cx="2596896" cy="1417319"/>
          </a:xfrm>
          <a:prstGeom prst="rect">
            <a:avLst/>
          </a:prstGeom>
          <a:noFill/>
        </p:spPr>
        <p:txBody>
          <a:bodyPr wrap="square" lIns="0" tIns="50000" rIns="0" bIns="500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3263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含 PdM / 备件 / 验证 / 故障</a:t>
            </a:r>
            <a:endParaRPr sz="900" b="1">
              <a:solidFill>
                <a:srgbClr val="3263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5 子模块共享一个底座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关键场景：预测性维护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价值：非计划停机 -40%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74320" y="2906395"/>
            <a:ext cx="2743200" cy="365760"/>
          </a:xfrm>
          <a:prstGeom prst="rect">
            <a:avLst/>
          </a:prstGeom>
          <a:solidFill>
            <a:srgbClr val="3263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30000" rIns="50000" bIns="3000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视觉 AI 操作合规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74320" y="3272155"/>
            <a:ext cx="274320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" y="3317875"/>
            <a:ext cx="2596896" cy="1417319"/>
          </a:xfrm>
          <a:prstGeom prst="rect">
            <a:avLst/>
          </a:prstGeom>
          <a:noFill/>
        </p:spPr>
        <p:txBody>
          <a:bodyPr wrap="square" lIns="0" tIns="50000" rIns="0" bIns="500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3263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CV + SOP 实时监测</a:t>
            </a:r>
            <a:endParaRPr sz="900" b="1">
              <a:solidFill>
                <a:srgbClr val="3263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输入：车间 CCTV 视频流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输出：违规实时告警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价值：巡检替代 30-50%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200400" y="2906395"/>
            <a:ext cx="2743200" cy="365760"/>
          </a:xfrm>
          <a:prstGeom prst="rect">
            <a:avLst/>
          </a:prstGeom>
          <a:solidFill>
            <a:srgbClr val="003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30000" rIns="50000" bIns="3000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 AI 培训内容生成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200400" y="3272155"/>
            <a:ext cx="274320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73552" y="3317875"/>
            <a:ext cx="2596896" cy="1417319"/>
          </a:xfrm>
          <a:prstGeom prst="rect">
            <a:avLst/>
          </a:prstGeom>
          <a:noFill/>
        </p:spPr>
        <p:txBody>
          <a:bodyPr wrap="square" lIns="0" tIns="50000" rIns="0" bIns="500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3263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SOP → 数字人 → 视频</a:t>
            </a:r>
            <a:endParaRPr sz="900" b="1">
              <a:solidFill>
                <a:srgbClr val="3263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输入：SOP 文档 + 素材库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输出：分镜脚本 + 视频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价值：制作周期 2 周 → 1 天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126480" y="2906395"/>
            <a:ext cx="2743200" cy="365760"/>
          </a:xfrm>
          <a:prstGeom prst="rect">
            <a:avLst/>
          </a:prstGeom>
          <a:solidFill>
            <a:srgbClr val="3263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30000" rIns="50000" bIns="3000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⑥ 报告 AI 起草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126480" y="3272155"/>
            <a:ext cx="274320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99632" y="3317875"/>
            <a:ext cx="2596896" cy="1417319"/>
          </a:xfrm>
          <a:prstGeom prst="rect">
            <a:avLst/>
          </a:prstGeom>
          <a:noFill/>
        </p:spPr>
        <p:txBody>
          <a:bodyPr wrap="square" lIns="0" tIns="50000" rIns="0" bIns="500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3263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BDCT 升级 · 预测放行</a:t>
            </a:r>
            <a:endParaRPr sz="900" b="1">
              <a:solidFill>
                <a:srgbClr val="3263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数据源：LIMS + IPC + PAT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底座：多变量预测模型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价值：放行加速 + 报废预警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0" y="182880"/>
            <a:ext cx="5760720" cy="4572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r"/>
            <a:r>
              <a:rPr sz="2000" b="1">
                <a:solidFill>
                  <a:srgbClr val="0036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家潜在合作商深度评估</a:t>
            </a:r>
            <a:endParaRPr sz="2000" b="1">
              <a:solidFill>
                <a:srgbClr val="0036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74320" y="777240"/>
            <a:ext cx="8595360" cy="30000"/>
          </a:xfrm>
          <a:prstGeom prst="rect">
            <a:avLst/>
          </a:prstGeom>
          <a:solidFill>
            <a:srgbClr val="FF7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892040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>
                <a:solidFill>
                  <a:srgbClr val="7A89A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www.asymchem.com.cn</a:t>
            </a:r>
            <a:endParaRPr sz="750" b="0">
              <a:solidFill>
                <a:srgbClr val="7A89A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377440" y="4892040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00" b="0">
                <a:solidFill>
                  <a:srgbClr val="7A89A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Stock Code: 002821.SZ / 6821.HK</a:t>
            </a:r>
            <a:endParaRPr sz="700" b="0">
              <a:solidFill>
                <a:srgbClr val="7A89A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t>15</a:t>
            </a:r>
            <a:endParaRPr sz="800" b="0">
              <a:solidFill>
                <a:srgbClr val="7A89A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74320" y="914400"/>
            <a:ext cx="8430895" cy="698500"/>
          </a:xfrm>
          <a:prstGeom prst="rect">
            <a:avLst/>
          </a:prstGeom>
          <a:noFill/>
        </p:spPr>
        <p:txBody>
          <a:bodyPr wrap="none" lIns="0">
            <a:noAutofit/>
          </a:bodyPr>
          <a:lstStyle/>
          <a:p>
            <a:pPr algn="l"/>
            <a:r>
              <a:rPr sz="110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对智现未来（半导体 AI 跨域）与埃森哲（Industry X 智能资产管理）两家潜在合作商深度评估，输出内部评估报告</a:t>
            </a:r>
            <a:endParaRPr sz="110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65760" y="1551940"/>
            <a:ext cx="4114800" cy="457200"/>
          </a:xfrm>
          <a:prstGeom prst="rect">
            <a:avLst/>
          </a:prstGeom>
          <a:solidFill>
            <a:srgbClr val="003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30000" rIns="50000" bIns="3000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智现未来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65760" y="2009140"/>
            <a:ext cx="4114800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2054860"/>
            <a:ext cx="3968496" cy="274320"/>
          </a:xfrm>
          <a:prstGeom prst="rect">
            <a:avLst/>
          </a:prstGeom>
          <a:noFill/>
        </p:spPr>
        <p:txBody>
          <a:bodyPr wrap="none" lIns="30000" tIns="20000">
            <a:spAutoFit/>
          </a:bodyPr>
          <a:lstStyle/>
          <a:p>
            <a:pPr algn="l"/>
            <a:r>
              <a:rPr sz="1100" i="1">
                <a:solidFill>
                  <a:srgbClr val="3263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半导体 AI 跨域平移</a:t>
            </a:r>
            <a:endParaRPr sz="1100" i="1">
              <a:solidFill>
                <a:srgbClr val="3263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38912" y="2344420"/>
            <a:ext cx="3968496" cy="594360"/>
          </a:xfrm>
          <a:prstGeom prst="rect">
            <a:avLst/>
          </a:prstGeom>
          <a:noFill/>
        </p:spPr>
        <p:txBody>
          <a:bodyPr wrap="square" lIns="30000" tIns="0">
            <a:spAutoFit/>
          </a:bodyPr>
          <a:lstStyle/>
          <a:p>
            <a:pPr>
              <a:spcAft>
                <a:spcPts val="100"/>
              </a:spcAft>
            </a:pPr>
            <a:r>
              <a:rPr sz="900" b="1">
                <a:solidFill>
                  <a:srgbClr val="FF7E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定位</a:t>
            </a:r>
            <a:endParaRPr sz="900" b="1">
              <a:solidFill>
                <a:srgbClr val="FF7E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sz="100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半导体晶圆厂 AI 软件国产化领先者</a:t>
            </a:r>
            <a:endParaRPr sz="100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38912" y="2911348"/>
            <a:ext cx="3968496" cy="594360"/>
          </a:xfrm>
          <a:prstGeom prst="rect">
            <a:avLst/>
          </a:prstGeom>
          <a:noFill/>
        </p:spPr>
        <p:txBody>
          <a:bodyPr wrap="square" lIns="30000" tIns="0">
            <a:spAutoFit/>
          </a:bodyPr>
          <a:lstStyle/>
          <a:p>
            <a:pPr>
              <a:spcAft>
                <a:spcPts val="100"/>
              </a:spcAft>
            </a:pPr>
            <a:r>
              <a:rPr sz="900" b="1">
                <a:solidFill>
                  <a:srgbClr val="FF7E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核心能力</a:t>
            </a:r>
            <a:endParaRPr sz="900" b="1">
              <a:solidFill>
                <a:srgbClr val="FF7E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sz="100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FDC / RMS / APC / 技术转移 / PdM 算法体系</a:t>
            </a:r>
            <a:endParaRPr sz="100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38912" y="3478276"/>
            <a:ext cx="3968496" cy="594360"/>
          </a:xfrm>
          <a:prstGeom prst="rect">
            <a:avLst/>
          </a:prstGeom>
          <a:noFill/>
        </p:spPr>
        <p:txBody>
          <a:bodyPr wrap="square" lIns="30000" tIns="0">
            <a:spAutoFit/>
          </a:bodyPr>
          <a:lstStyle/>
          <a:p>
            <a:pPr>
              <a:spcAft>
                <a:spcPts val="100"/>
              </a:spcAft>
            </a:pPr>
            <a:r>
              <a:rPr sz="900" b="1">
                <a:solidFill>
                  <a:srgbClr val="FF7E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凯莱英适配</a:t>
            </a:r>
            <a:endParaRPr sz="900" b="1">
              <a:solidFill>
                <a:srgbClr val="FF7E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sz="100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算法层深度突出，制药案例空白需 6-12 月跨域适配</a:t>
            </a:r>
            <a:endParaRPr sz="100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38912" y="4045203"/>
            <a:ext cx="3968496" cy="594360"/>
          </a:xfrm>
          <a:prstGeom prst="rect">
            <a:avLst/>
          </a:prstGeom>
          <a:noFill/>
        </p:spPr>
        <p:txBody>
          <a:bodyPr wrap="square" lIns="30000" tIns="0">
            <a:spAutoFit/>
          </a:bodyPr>
          <a:lstStyle/>
          <a:p>
            <a:pPr>
              <a:spcAft>
                <a:spcPts val="100"/>
              </a:spcAft>
            </a:pPr>
            <a:r>
              <a:rPr sz="900" b="1">
                <a:solidFill>
                  <a:srgbClr val="FF7E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合作定位</a:t>
            </a:r>
            <a:endParaRPr sz="900" b="1">
              <a:solidFill>
                <a:srgbClr val="FF7E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sz="100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算法层最深，可用作 PoC 对照方案</a:t>
            </a:r>
            <a:endParaRPr sz="100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663440" y="1551940"/>
            <a:ext cx="4114800" cy="457200"/>
          </a:xfrm>
          <a:prstGeom prst="rect">
            <a:avLst/>
          </a:prstGeom>
          <a:solidFill>
            <a:srgbClr val="3263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30000" rIns="50000" bIns="3000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埃森哲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663440" y="2009140"/>
            <a:ext cx="4114800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6592" y="2054860"/>
            <a:ext cx="3968496" cy="274320"/>
          </a:xfrm>
          <a:prstGeom prst="rect">
            <a:avLst/>
          </a:prstGeom>
          <a:noFill/>
        </p:spPr>
        <p:txBody>
          <a:bodyPr wrap="none" lIns="30000" tIns="20000">
            <a:spAutoFit/>
          </a:bodyPr>
          <a:lstStyle/>
          <a:p>
            <a:pPr algn="l"/>
            <a:r>
              <a:rPr sz="1100" i="1">
                <a:solidFill>
                  <a:srgbClr val="3263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Industry X 智能资产管理</a:t>
            </a:r>
            <a:endParaRPr sz="1100" i="1">
              <a:solidFill>
                <a:srgbClr val="3263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736592" y="2344420"/>
            <a:ext cx="3968496" cy="594360"/>
          </a:xfrm>
          <a:prstGeom prst="rect">
            <a:avLst/>
          </a:prstGeom>
          <a:noFill/>
        </p:spPr>
        <p:txBody>
          <a:bodyPr wrap="square" lIns="30000" tIns="0">
            <a:spAutoFit/>
          </a:bodyPr>
          <a:lstStyle/>
          <a:p>
            <a:pPr>
              <a:spcAft>
                <a:spcPts val="100"/>
              </a:spcAft>
            </a:pPr>
            <a:r>
              <a:rPr sz="900" b="1">
                <a:solidFill>
                  <a:srgbClr val="FF7E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定位</a:t>
            </a:r>
            <a:endParaRPr sz="900" b="1">
              <a:solidFill>
                <a:srgbClr val="FF7E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sz="100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全球咨询与系统集成商 · Industry X 事业部</a:t>
            </a:r>
            <a:endParaRPr sz="100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736592" y="2911348"/>
            <a:ext cx="3968496" cy="594360"/>
          </a:xfrm>
          <a:prstGeom prst="rect">
            <a:avLst/>
          </a:prstGeom>
          <a:noFill/>
        </p:spPr>
        <p:txBody>
          <a:bodyPr wrap="square" lIns="30000" tIns="0">
            <a:spAutoFit/>
          </a:bodyPr>
          <a:lstStyle/>
          <a:p>
            <a:pPr>
              <a:spcAft>
                <a:spcPts val="100"/>
              </a:spcAft>
            </a:pPr>
            <a:r>
              <a:rPr sz="900" b="1">
                <a:solidFill>
                  <a:srgbClr val="FF7E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核心能力</a:t>
            </a:r>
            <a:endParaRPr sz="900" b="1">
              <a:solidFill>
                <a:srgbClr val="FF7E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sz="100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 智能体协作 · 健康分 + 知识图谱 · 端到端集成</a:t>
            </a:r>
            <a:endParaRPr sz="100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736592" y="3478276"/>
            <a:ext cx="3968496" cy="594360"/>
          </a:xfrm>
          <a:prstGeom prst="rect">
            <a:avLst/>
          </a:prstGeom>
          <a:noFill/>
        </p:spPr>
        <p:txBody>
          <a:bodyPr wrap="square" lIns="30000" tIns="0">
            <a:spAutoFit/>
          </a:bodyPr>
          <a:lstStyle/>
          <a:p>
            <a:pPr>
              <a:spcAft>
                <a:spcPts val="100"/>
              </a:spcAft>
            </a:pPr>
            <a:r>
              <a:rPr sz="900" b="1">
                <a:solidFill>
                  <a:srgbClr val="FF7E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凯莱英适配</a:t>
            </a:r>
            <a:endParaRPr sz="900" b="1">
              <a:solidFill>
                <a:srgbClr val="FF7E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sz="100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不卖硬件不持模型，做端到端集成与变革管理</a:t>
            </a:r>
            <a:endParaRPr sz="100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736592" y="4045203"/>
            <a:ext cx="3968496" cy="594360"/>
          </a:xfrm>
          <a:prstGeom prst="rect">
            <a:avLst/>
          </a:prstGeom>
          <a:noFill/>
        </p:spPr>
        <p:txBody>
          <a:bodyPr wrap="square" lIns="30000" tIns="0">
            <a:spAutoFit/>
          </a:bodyPr>
          <a:lstStyle/>
          <a:p>
            <a:pPr>
              <a:spcAft>
                <a:spcPts val="100"/>
              </a:spcAft>
            </a:pPr>
            <a:r>
              <a:rPr sz="900" b="1">
                <a:solidFill>
                  <a:srgbClr val="FF7E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合作定位</a:t>
            </a:r>
            <a:endParaRPr sz="900" b="1">
              <a:solidFill>
                <a:srgbClr val="FF7E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sz="100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端到端能力最完整，PdM 推进节奏清晰</a:t>
            </a:r>
            <a:endParaRPr sz="100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0" y="182880"/>
            <a:ext cx="5760720" cy="4572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r"/>
            <a:r>
              <a:rPr sz="2000" b="1">
                <a:solidFill>
                  <a:srgbClr val="0036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PdM 三方方案对比与启动准备</a:t>
            </a:r>
            <a:endParaRPr sz="2000" b="1">
              <a:solidFill>
                <a:srgbClr val="0036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74320" y="777240"/>
            <a:ext cx="8595360" cy="30000"/>
          </a:xfrm>
          <a:prstGeom prst="rect">
            <a:avLst/>
          </a:prstGeom>
          <a:solidFill>
            <a:srgbClr val="FF7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892040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>
                <a:solidFill>
                  <a:srgbClr val="7A89A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www.asymchem.com.cn</a:t>
            </a:r>
            <a:endParaRPr sz="750" b="0">
              <a:solidFill>
                <a:srgbClr val="7A89A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377440" y="4892040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00" b="0">
                <a:solidFill>
                  <a:srgbClr val="7A89A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Stock Code: 002821.SZ / 6821.HK</a:t>
            </a:r>
            <a:endParaRPr sz="700" b="0">
              <a:solidFill>
                <a:srgbClr val="7A89A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t>16</a:t>
            </a:r>
            <a:endParaRPr sz="800" b="0">
              <a:solidFill>
                <a:srgbClr val="7A89A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4297680" cy="411480"/>
          </a:xfrm>
          <a:prstGeom prst="rect">
            <a:avLst/>
          </a:prstGeom>
          <a:solidFill>
            <a:srgbClr val="003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30000" rIns="50000" bIns="300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PdM 三方方案对比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74320" y="1463039"/>
            <a:ext cx="429768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508760"/>
            <a:ext cx="4151376" cy="3017520"/>
          </a:xfrm>
          <a:prstGeom prst="rect">
            <a:avLst/>
          </a:prstGeom>
          <a:noFill/>
        </p:spPr>
        <p:txBody>
          <a:bodyPr wrap="square" lIns="0" tIns="50000" rIns="0" bIns="500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3263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杭州和利时 · 已对接方案</a:t>
            </a:r>
            <a:endParaRPr sz="1050" b="1">
              <a:solidFill>
                <a:srgbClr val="3263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聚焦 DH1 动力站关键动设备 PdM，覆盖冰机、循环泵、凉水塔、真空泵、离心机等的智能监测与故障诊断</a:t>
            </a:r>
            <a:endParaRPr sz="90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3263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安徽信力共擎 · 已对接方案</a:t>
            </a:r>
            <a:endParaRPr sz="1050" b="1">
              <a:solidFill>
                <a:srgbClr val="3263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关键设备智能监测方案，含硬件安装、软件调试、云平台数据分析及算法迭代</a:t>
            </a:r>
            <a:endParaRPr sz="90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3263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埃森哲 · 会议交流方案</a:t>
            </a:r>
            <a:endParaRPr sz="1050" b="1">
              <a:solidFill>
                <a:srgbClr val="3263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 层架构 + 6 阶段闭环：多源信号 → 健康分 → 业务影响 → 智能体根因分析 → 处置建议 → 人工核查</a:t>
            </a:r>
            <a:endParaRPr sz="90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FF7E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底层：知识图谱与历史数据双向验证机制</a:t>
            </a:r>
            <a:endParaRPr sz="900" b="0">
              <a:solidFill>
                <a:srgbClr val="FF7E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754880" y="1051560"/>
            <a:ext cx="4114800" cy="411480"/>
          </a:xfrm>
          <a:prstGeom prst="rect">
            <a:avLst/>
          </a:prstGeom>
          <a:solidFill>
            <a:srgbClr val="FF7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30000" rIns="50000" bIns="300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启动前需整理 4 类信息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754880" y="1463039"/>
            <a:ext cx="411480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28032" y="1508760"/>
            <a:ext cx="3968496" cy="3017520"/>
          </a:xfrm>
          <a:prstGeom prst="rect">
            <a:avLst/>
          </a:prstGeom>
          <a:noFill/>
        </p:spPr>
        <p:txBody>
          <a:bodyPr wrap="square" lIns="0" tIns="50000" rIns="0" bIns="500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036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设备清单</a:t>
            </a:r>
            <a:endParaRPr sz="1100" b="1">
              <a:solidFill>
                <a:srgbClr val="0036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厂区 + 设备类型 + 数量 + 关键作用 + 当前维护模式</a:t>
            </a:r>
            <a:endParaRPr sz="9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036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主要故障</a:t>
            </a:r>
            <a:endParaRPr sz="1100" b="1">
              <a:solidFill>
                <a:srgbClr val="0036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按损失 / OEE 排序 Top 5 类故障 + 频次 + 损失估算</a:t>
            </a:r>
            <a:endParaRPr sz="9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036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数据基础</a:t>
            </a:r>
            <a:endParaRPr sz="1100" b="1">
              <a:solidFill>
                <a:srgbClr val="0036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传感器清单 + 采集频次 + 历史数据时长 + 异常案例数据完整度</a:t>
            </a:r>
            <a:endParaRPr sz="9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036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先验知识</a:t>
            </a:r>
            <a:endParaRPr sz="1100" b="1">
              <a:solidFill>
                <a:srgbClr val="0036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 RCA 报告 + 偏差报告 + FTA / FMEA + 供应商技术资料</a:t>
            </a:r>
            <a:endParaRPr sz="9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0" y="182880"/>
            <a:ext cx="5760720" cy="4572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r"/>
            <a:r>
              <a:rPr sz="2000" b="1">
                <a:solidFill>
                  <a:srgbClr val="0036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下半年推进节奏与关键成果</a:t>
            </a:r>
            <a:endParaRPr sz="2000" b="1">
              <a:solidFill>
                <a:srgbClr val="0036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74320" y="777240"/>
            <a:ext cx="8595360" cy="30000"/>
          </a:xfrm>
          <a:prstGeom prst="rect">
            <a:avLst/>
          </a:prstGeom>
          <a:solidFill>
            <a:srgbClr val="FF7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892040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>
                <a:solidFill>
                  <a:srgbClr val="7A89A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www.asymchem.com.cn</a:t>
            </a:r>
            <a:endParaRPr sz="750" b="0">
              <a:solidFill>
                <a:srgbClr val="7A89A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377440" y="4892040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00" b="0">
                <a:solidFill>
                  <a:srgbClr val="7A89A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Stock Code: 002821.SZ / 6821.HK</a:t>
            </a:r>
            <a:endParaRPr sz="700" b="0">
              <a:solidFill>
                <a:srgbClr val="7A89A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t>17</a:t>
            </a:r>
            <a:endParaRPr sz="800" b="0">
              <a:solidFill>
                <a:srgbClr val="7A89A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74320" y="914400"/>
            <a:ext cx="8589645" cy="640080"/>
          </a:xfrm>
          <a:prstGeom prst="rect">
            <a:avLst/>
          </a:prstGeom>
          <a:noFill/>
        </p:spPr>
        <p:txBody>
          <a:bodyPr wrap="none" lIns="0" numCol="1">
            <a:noAutofit/>
          </a:bodyPr>
          <a:lstStyle/>
          <a:p>
            <a:pPr algn="l"/>
            <a:r>
              <a:rPr sz="110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以"低风险 + 高显示度"为原则推动落地，同步推动 1-2 个短周期方向 PoC，支撑集团 AI 战略下一步决策。</a:t>
            </a:r>
            <a:endParaRPr sz="110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4320" y="15544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7E3D"/>
                </a:solidFill>
                <a:latin typeface="Arial" panose="020B0604020202020204"/>
              </a:rPr>
              <a:t>第 3 季度</a:t>
            </a:r>
            <a:endParaRPr sz="1000" b="1">
              <a:solidFill>
                <a:srgbClr val="FF7E3D"/>
              </a:solidFill>
              <a:latin typeface="Arial" panose="020B060402020202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74320" y="1828800"/>
            <a:ext cx="2743200" cy="1280160"/>
          </a:xfrm>
          <a:prstGeom prst="rect">
            <a:avLst/>
          </a:prstGeom>
          <a:solidFill>
            <a:srgbClr val="E7EEFB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828800"/>
            <a:ext cx="2743200" cy="50000"/>
          </a:xfrm>
          <a:prstGeom prst="rect">
            <a:avLst/>
          </a:prstGeom>
          <a:solidFill>
            <a:srgbClr val="FF7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1920240"/>
            <a:ext cx="2468880" cy="925195"/>
          </a:xfrm>
          <a:prstGeom prst="rect">
            <a:avLst/>
          </a:prstGeom>
          <a:noFill/>
        </p:spPr>
        <p:txBody>
          <a:bodyPr wrap="square" lIns="0" tIns="50000" rIns="0" bIns="500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036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信息整理与方案对齐</a:t>
            </a:r>
            <a:endParaRPr sz="1200" b="1">
              <a:solidFill>
                <a:srgbClr val="0036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 PdM 4 类信息内部整理</a:t>
            </a:r>
            <a:endParaRPr sz="85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深化三方方案对比</a:t>
            </a:r>
            <a:endParaRPr sz="85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选定 1 个起步设备类型</a:t>
            </a:r>
            <a:endParaRPr sz="85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3044951" y="2331720"/>
            <a:ext cx="137160" cy="274320"/>
          </a:xfrm>
          <a:prstGeom prst="rightArrow">
            <a:avLst/>
          </a:prstGeom>
          <a:solidFill>
            <a:srgbClr val="FF7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15544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7E3D"/>
                </a:solidFill>
                <a:latin typeface="Arial" panose="020B0604020202020204"/>
              </a:rPr>
              <a:t>第 4 季度</a:t>
            </a:r>
            <a:endParaRPr sz="1000" b="1">
              <a:solidFill>
                <a:srgbClr val="FF7E3D"/>
              </a:solidFill>
              <a:latin typeface="Arial" panose="020B060402020202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200400" y="1828800"/>
            <a:ext cx="2743200" cy="1280160"/>
          </a:xfrm>
          <a:prstGeom prst="rect">
            <a:avLst/>
          </a:prstGeom>
          <a:solidFill>
            <a:srgbClr val="E7EEFB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0" y="1828800"/>
            <a:ext cx="2743200" cy="50000"/>
          </a:xfrm>
          <a:prstGeom prst="rect">
            <a:avLst/>
          </a:prstGeom>
          <a:solidFill>
            <a:srgbClr val="FF7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7560" y="1920240"/>
            <a:ext cx="2468880" cy="925195"/>
          </a:xfrm>
          <a:prstGeom prst="rect">
            <a:avLst/>
          </a:prstGeom>
          <a:noFill/>
        </p:spPr>
        <p:txBody>
          <a:bodyPr wrap="square" lIns="0" tIns="50000" rIns="0" bIns="500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036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PoC 启动</a:t>
            </a:r>
            <a:endParaRPr sz="1200" b="1">
              <a:solidFill>
                <a:srgbClr val="0036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选定的 1 类设备开展概念验证</a:t>
            </a:r>
            <a:endParaRPr sz="85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数据采集 + 算法建模 + 知识图谱</a:t>
            </a:r>
            <a:endParaRPr sz="85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同步启动 1 个短周期方向</a:t>
            </a:r>
            <a:endParaRPr sz="85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ight Arrow 16"/>
          <p:cNvSpPr/>
          <p:nvPr/>
        </p:nvSpPr>
        <p:spPr>
          <a:xfrm>
            <a:off x="5971031" y="2331720"/>
            <a:ext cx="137160" cy="274320"/>
          </a:xfrm>
          <a:prstGeom prst="rightArrow">
            <a:avLst/>
          </a:prstGeom>
          <a:solidFill>
            <a:srgbClr val="FF7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15544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7E3D"/>
                </a:solidFill>
                <a:latin typeface="Arial" panose="020B0604020202020204"/>
              </a:rPr>
              <a:t>明年 Q1</a:t>
            </a:r>
            <a:endParaRPr sz="1000" b="1">
              <a:solidFill>
                <a:srgbClr val="FF7E3D"/>
              </a:solidFill>
              <a:latin typeface="Arial" panose="020B0604020202020204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126480" y="1828800"/>
            <a:ext cx="2743200" cy="1280160"/>
          </a:xfrm>
          <a:prstGeom prst="rect">
            <a:avLst/>
          </a:prstGeom>
          <a:solidFill>
            <a:srgbClr val="E7EEFB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1828800"/>
            <a:ext cx="2743200" cy="50000"/>
          </a:xfrm>
          <a:prstGeom prst="rect">
            <a:avLst/>
          </a:prstGeom>
          <a:solidFill>
            <a:srgbClr val="FF7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1920240"/>
            <a:ext cx="2468880" cy="925195"/>
          </a:xfrm>
          <a:prstGeom prst="rect">
            <a:avLst/>
          </a:prstGeom>
          <a:noFill/>
        </p:spPr>
        <p:txBody>
          <a:bodyPr wrap="square" lIns="0" tIns="50000" rIns="0" bIns="500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036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试点评估与推广</a:t>
            </a:r>
            <a:endParaRPr sz="1200" b="1">
              <a:solidFill>
                <a:srgbClr val="0036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PoC 结果评估</a:t>
            </a:r>
            <a:endParaRPr sz="85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决定扩展至其他设备 / 厂区</a:t>
            </a:r>
            <a:endParaRPr sz="85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形成集团 AI 战略实证依据</a:t>
            </a:r>
            <a:endParaRPr sz="85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74320" y="3383280"/>
            <a:ext cx="8595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36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关键成果目标</a:t>
            </a:r>
            <a:endParaRPr sz="1400" b="1">
              <a:solidFill>
                <a:srgbClr val="0036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74320" y="3794760"/>
            <a:ext cx="2743200" cy="274320"/>
          </a:xfrm>
          <a:prstGeom prst="rect">
            <a:avLst/>
          </a:prstGeom>
          <a:solidFill>
            <a:srgbClr val="3263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30000" rIns="50000" bIns="300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短期 · 3-4 季度</a:t>
            </a:r>
            <a:endParaRPr sz="1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274320" y="4069080"/>
            <a:ext cx="27432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" y="4114800"/>
            <a:ext cx="2596896" cy="443865"/>
          </a:xfrm>
          <a:prstGeom prst="rect">
            <a:avLst/>
          </a:prstGeom>
          <a:noFill/>
        </p:spPr>
        <p:txBody>
          <a:bodyPr wrap="square" lIns="0" tIns="50000" rIns="0" bIns="500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完成 PdM 4 类信息整理 + 三方深度对比</a:t>
            </a:r>
            <a:endParaRPr sz="80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1-2 个短周期方向 PoC 启动</a:t>
            </a:r>
            <a:endParaRPr sz="80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200400" y="3794760"/>
            <a:ext cx="2743200" cy="274320"/>
          </a:xfrm>
          <a:prstGeom prst="rect">
            <a:avLst/>
          </a:prstGeom>
          <a:solidFill>
            <a:srgbClr val="003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30000" rIns="50000" bIns="300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中期 · 明年</a:t>
            </a:r>
            <a:endParaRPr sz="1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3200400" y="4069080"/>
            <a:ext cx="27432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73552" y="4114800"/>
            <a:ext cx="2596896" cy="594360"/>
          </a:xfrm>
          <a:prstGeom prst="rect">
            <a:avLst/>
          </a:prstGeom>
          <a:noFill/>
        </p:spPr>
        <p:txBody>
          <a:bodyPr wrap="square" lIns="0" tIns="50000" rIns="0" bIns="500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PdM 起步设备 PoC 完成 + 效果评估</a:t>
            </a:r>
            <a:endParaRPr sz="80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至少 1 个 AI 方向进入 Pilot 阶段</a:t>
            </a:r>
            <a:endParaRPr sz="80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供应商合作策略形成明确共识</a:t>
            </a:r>
            <a:endParaRPr sz="80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126480" y="3794760"/>
            <a:ext cx="2743200" cy="274320"/>
          </a:xfrm>
          <a:prstGeom prst="rect">
            <a:avLst/>
          </a:prstGeom>
          <a:solidFill>
            <a:srgbClr val="FF7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30000" rIns="50000" bIns="300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长期方向</a:t>
            </a:r>
            <a:endParaRPr sz="1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126480" y="4069080"/>
            <a:ext cx="27432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99632" y="4114800"/>
            <a:ext cx="2596896" cy="443865"/>
          </a:xfrm>
          <a:prstGeom prst="rect">
            <a:avLst/>
          </a:prstGeom>
          <a:noFill/>
        </p:spPr>
        <p:txBody>
          <a:bodyPr wrap="square" lIns="0" tIns="50000" rIns="0" bIns="500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6 大 AI 方向按业务优先级分批落地</a:t>
            </a:r>
            <a:endParaRPr sz="80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沉淀凯莱英自主的 AI 应用能力</a:t>
            </a:r>
            <a:endParaRPr sz="80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0" y="182880"/>
            <a:ext cx="5760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00366A"/>
                </a:solidFill>
                <a:latin typeface="Microsoft YaHei"/>
              </a:defRPr>
            </a:pPr>
            <a:r>
              <a:t>B902 产能建设 · 双轨并行总览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777240"/>
            <a:ext cx="8595360" cy="27432"/>
          </a:xfrm>
          <a:prstGeom prst="rect">
            <a:avLst/>
          </a:prstGeom>
          <a:solidFill>
            <a:srgbClr val="FF7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0"/>
            <a:ext cx="85953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950" b="0">
                <a:solidFill>
                  <a:srgbClr val="2C3E50"/>
                </a:solidFill>
                <a:latin typeface="Microsoft YaHei"/>
              </a:defRPr>
            </a:pPr>
            <a:r>
              <a:t>既有厂房改造（近期能力）+ 东侧扩建（中长期产能）· 我作为国内 PM 支持统筹信息闭环与决策材料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25880"/>
            <a:ext cx="2103120" cy="1051560"/>
          </a:xfrm>
          <a:prstGeom prst="roundRect">
            <a:avLst/>
          </a:prstGeom>
          <a:solidFill>
            <a:srgbClr val="E7E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417320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400"/>
              </a:spcAft>
              <a:defRPr sz="2200" b="1">
                <a:solidFill>
                  <a:srgbClr val="00366A"/>
                </a:solidFill>
                <a:latin typeface="Microsoft YaHei"/>
              </a:defRPr>
            </a:pPr>
            <a:r>
              <a:t>双轨 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96596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400"/>
              </a:spcAft>
              <a:defRPr sz="900" b="0">
                <a:solidFill>
                  <a:srgbClr val="2C3E50"/>
                </a:solidFill>
                <a:latin typeface="Microsoft YaHei"/>
              </a:defRPr>
            </a:pPr>
            <a:r>
              <a:t>扩建 + 改造 可行性已完成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68880" y="1325880"/>
            <a:ext cx="2103120" cy="1051560"/>
          </a:xfrm>
          <a:prstGeom prst="roundRect">
            <a:avLst/>
          </a:prstGeom>
          <a:solidFill>
            <a:srgbClr val="E7E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0" y="1417320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400"/>
              </a:spcAft>
              <a:defRPr sz="2200" b="1">
                <a:solidFill>
                  <a:srgbClr val="00366A"/>
                </a:solidFill>
                <a:latin typeface="Microsoft YaHei"/>
              </a:defRPr>
            </a:pPr>
            <a:r>
              <a:t>投资测算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196596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400"/>
              </a:spcAft>
              <a:defRPr sz="900" b="0">
                <a:solidFill>
                  <a:srgbClr val="2C3E50"/>
                </a:solidFill>
                <a:latin typeface="Microsoft YaHei"/>
              </a:defRPr>
            </a:pPr>
            <a:r>
              <a:t>OOM 框架已明确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1325880"/>
            <a:ext cx="2103120" cy="1051560"/>
          </a:xfrm>
          <a:prstGeom prst="roundRect">
            <a:avLst/>
          </a:prstGeom>
          <a:solidFill>
            <a:srgbClr val="E7E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417320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400"/>
              </a:spcAft>
              <a:defRPr sz="2200" b="1">
                <a:solidFill>
                  <a:srgbClr val="00366A"/>
                </a:solidFill>
                <a:latin typeface="Microsoft YaHei"/>
              </a:defRPr>
            </a:pPr>
            <a:r>
              <a:t>多版材料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196596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400"/>
              </a:spcAft>
              <a:defRPr sz="900" b="0">
                <a:solidFill>
                  <a:srgbClr val="2C3E50"/>
                </a:solidFill>
                <a:latin typeface="Microsoft YaHei"/>
              </a:defRPr>
            </a:pPr>
            <a:r>
              <a:t>组合汇报支撑决策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1325880"/>
            <a:ext cx="2103120" cy="1051560"/>
          </a:xfrm>
          <a:prstGeom prst="roundRect">
            <a:avLst/>
          </a:prstGeom>
          <a:solidFill>
            <a:srgbClr val="E7E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1417320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400"/>
              </a:spcAft>
              <a:defRPr sz="2200" b="1">
                <a:solidFill>
                  <a:srgbClr val="00366A"/>
                </a:solidFill>
                <a:latin typeface="Microsoft YaHei"/>
              </a:defRPr>
            </a:pPr>
            <a:r>
              <a:t>接口统筹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196596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400"/>
              </a:spcAft>
              <a:defRPr sz="900" b="0">
                <a:solidFill>
                  <a:srgbClr val="2C3E50"/>
                </a:solidFill>
                <a:latin typeface="Microsoft YaHei"/>
              </a:defRPr>
            </a:pPr>
            <a:r>
              <a:t>改造/扩建/高活/C1 联动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2468880"/>
            <a:ext cx="29260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4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542032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400"/>
              </a:spcAft>
              <a:defRPr sz="950" b="1">
                <a:solidFill>
                  <a:srgbClr val="00366A"/>
                </a:solidFill>
                <a:latin typeface="Microsoft YaHei"/>
              </a:defRPr>
            </a:pPr>
            <a:r>
              <a:t>Sandwich 园区 · B902 产能建设示意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2880360"/>
            <a:ext cx="1417320" cy="960120"/>
          </a:xfrm>
          <a:prstGeom prst="rect">
            <a:avLst/>
          </a:prstGeom>
          <a:solidFill>
            <a:srgbClr val="E7EEFB"/>
          </a:solidFill>
          <a:ln>
            <a:solidFill>
              <a:srgbClr val="9AA8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035808"/>
            <a:ext cx="1143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0F2B46"/>
                </a:solidFill>
                <a:latin typeface="Microsoft YaHei"/>
              </a:defRPr>
            </a:pPr>
            <a:r>
              <a:t>既有 B902</a:t>
            </a:r>
            <a:br/>
            <a:r>
              <a:t>色谱/冻干/密闭升级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20240" y="2880360"/>
            <a:ext cx="1051560" cy="960120"/>
          </a:xfrm>
          <a:prstGeom prst="rect">
            <a:avLst/>
          </a:prstGeom>
          <a:solidFill>
            <a:srgbClr val="D9EAE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83080" y="3090672"/>
            <a:ext cx="868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009688"/>
                </a:solidFill>
                <a:latin typeface="Microsoft YaHei"/>
              </a:defRPr>
            </a:pPr>
            <a:r>
              <a:t>东侧扩建</a:t>
            </a:r>
            <a:br/>
            <a:r>
              <a:t>反应/加氢/过滤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77240" y="3913632"/>
            <a:ext cx="1920240" cy="201168"/>
          </a:xfrm>
          <a:prstGeom prst="rightArrow">
            <a:avLst/>
          </a:prstGeom>
          <a:solidFill>
            <a:srgbClr val="E8EEF4"/>
          </a:solidFill>
          <a:ln>
            <a:solidFill>
              <a:srgbClr val="D4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4187952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400"/>
              </a:spcAft>
              <a:defRPr sz="750" b="0">
                <a:solidFill>
                  <a:srgbClr val="2C3E50"/>
                </a:solidFill>
                <a:latin typeface="Microsoft YaHei"/>
              </a:defRPr>
            </a:pPr>
            <a:r>
              <a:t>近期改造兑现 2027 能力  →  扩建 2030 规模化产能</a:t>
            </a:r>
          </a:p>
        </p:txBody>
      </p:sp>
      <p:pic>
        <p:nvPicPr>
          <p:cNvPr id="25" name="Picture 24" descr="portfolio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2468880"/>
            <a:ext cx="2834640" cy="2103120"/>
          </a:xfrm>
          <a:prstGeom prst="rect">
            <a:avLst/>
          </a:prstGeom>
        </p:spPr>
      </p:pic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6355080" y="2468880"/>
          <a:ext cx="25146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200"/>
                <a:gridCol w="838200"/>
                <a:gridCol w="838200"/>
              </a:tblGrid>
              <a:tr h="3505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0036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HPLC/冻干改造</a:t>
                      </a:r>
                    </a:p>
                  </a:txBody>
                  <a:tcPr>
                    <a:solidFill>
                      <a:srgbClr val="0036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902 东侧扩建</a:t>
                      </a:r>
                    </a:p>
                  </a:txBody>
                  <a:tcPr>
                    <a:solidFill>
                      <a:srgbClr val="00366A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定位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F2B46"/>
                          </a:solidFill>
                          <a:latin typeface="Microsoft YaHei"/>
                        </a:defRPr>
                      </a:pPr>
                      <a:r>
                        <a:t>近期投产能力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F2B46"/>
                          </a:solidFill>
                          <a:latin typeface="Microsoft YaHei"/>
                        </a:defRPr>
                      </a:pPr>
                      <a:r>
                        <a:t>中长期规模化产能</a:t>
                      </a:r>
                    </a:p>
                  </a:txBody>
                  <a:tcPr/>
                </a:tc>
              </a:tr>
              <a:tr h="35052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投资 OOM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F2B46"/>
                          </a:solidFill>
                          <a:latin typeface="Microsoft YaHei"/>
                        </a:defRPr>
                      </a:pPr>
                      <a:r>
                        <a:t>£5.67M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F2B46"/>
                          </a:solidFill>
                          <a:latin typeface="Microsoft YaHei"/>
                        </a:defRPr>
                      </a:pPr>
                      <a:r>
                        <a:t>£78.11M</a:t>
                      </a:r>
                    </a:p>
                  </a:txBody>
                  <a:tcPr/>
                </a:tc>
              </a:tr>
              <a:tr h="35052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关键节点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F2B46"/>
                          </a:solidFill>
                          <a:latin typeface="Microsoft YaHei"/>
                        </a:defRPr>
                      </a:pPr>
                      <a:r>
                        <a:t>2027 Q3–Q4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F2B46"/>
                          </a:solidFill>
                          <a:latin typeface="Microsoft YaHei"/>
                        </a:defRPr>
                      </a:pPr>
                      <a:r>
                        <a:t>2030-05 竣工</a:t>
                      </a:r>
                    </a:p>
                  </a:txBody>
                  <a:tcPr/>
                </a:tc>
              </a:tr>
              <a:tr h="35052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上半年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F2B46"/>
                          </a:solidFill>
                          <a:latin typeface="Microsoft YaHei"/>
                        </a:defRPr>
                      </a:pPr>
                      <a:r>
                        <a:t>FS + 投资框架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F2B46"/>
                          </a:solidFill>
                          <a:latin typeface="Microsoft YaHei"/>
                        </a:defRPr>
                      </a:pPr>
                      <a:r>
                        <a:t>RIBA 1 完成（5月）</a:t>
                      </a:r>
                    </a:p>
                  </a:txBody>
                  <a:tcPr/>
                </a:tc>
              </a:tr>
              <a:tr h="35052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下半年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F2B46"/>
                          </a:solidFill>
                          <a:latin typeface="Microsoft YaHei"/>
                        </a:defRPr>
                      </a:pPr>
                      <a:r>
                        <a:t>FEED / 长周期采购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F2B46"/>
                          </a:solidFill>
                          <a:latin typeface="Microsoft YaHei"/>
                        </a:defRPr>
                      </a:pPr>
                      <a:r>
                        <a:t>RIBA 2 概念设计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274320" y="4892040"/>
            <a:ext cx="2103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700" b="0">
                <a:solidFill>
                  <a:srgbClr val="2C3E50"/>
                </a:solidFill>
                <a:latin typeface="Microsoft YaHei"/>
              </a:defRPr>
            </a:pPr>
            <a:r>
              <a:t>www.asymchem.com.cn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77440" y="4892040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700" b="0">
                <a:solidFill>
                  <a:srgbClr val="2C3E50"/>
                </a:solidFill>
                <a:latin typeface="Microsoft YaHei"/>
              </a:defRPr>
            </a:pPr>
            <a:r>
              <a:t>Stock Code: 002821.SZ / 6821.HK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400"/>
              </a:spcAft>
              <a:defRPr sz="700" b="0">
                <a:solidFill>
                  <a:srgbClr val="2C3E50"/>
                </a:solidFill>
                <a:latin typeface="Microsoft YaHe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0" y="182880"/>
            <a:ext cx="5760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00366A"/>
                </a:solidFill>
                <a:latin typeface="Microsoft YaHei"/>
              </a:defRPr>
            </a:pPr>
            <a:r>
              <a:t>制备色谱 &amp; 冻干机改造 · 上半年推进主线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777240"/>
            <a:ext cx="8595360" cy="27432"/>
          </a:xfrm>
          <a:prstGeom prst="rect">
            <a:avLst/>
          </a:prstGeom>
          <a:solidFill>
            <a:srgbClr val="FF7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0"/>
            <a:ext cx="85953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950" b="0">
                <a:solidFill>
                  <a:srgbClr val="2C3E50"/>
                </a:solidFill>
                <a:latin typeface="Microsoft YaHei"/>
              </a:defRPr>
            </a:pPr>
            <a:r>
              <a:t>技术可行性研究已完成；投资框架明确；冻干机长周期驱动分期实施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25880"/>
            <a:ext cx="2103120" cy="1051560"/>
          </a:xfrm>
          <a:prstGeom prst="roundRect">
            <a:avLst/>
          </a:prstGeom>
          <a:solidFill>
            <a:srgbClr val="E7E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417320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400"/>
              </a:spcAft>
              <a:defRPr sz="2200" b="1">
                <a:solidFill>
                  <a:srgbClr val="00366A"/>
                </a:solidFill>
                <a:latin typeface="Microsoft YaHei"/>
              </a:defRPr>
            </a:pPr>
            <a:r>
              <a:t>FS 完成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96596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400"/>
              </a:spcAft>
              <a:defRPr sz="900" b="0">
                <a:solidFill>
                  <a:srgbClr val="2C3E50"/>
                </a:solidFill>
                <a:latin typeface="Microsoft YaHei"/>
              </a:defRPr>
            </a:pPr>
            <a:r>
              <a:t>可行性研究 P01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68880" y="1325880"/>
            <a:ext cx="2103120" cy="1051560"/>
          </a:xfrm>
          <a:prstGeom prst="roundRect">
            <a:avLst/>
          </a:prstGeom>
          <a:solidFill>
            <a:srgbClr val="E7E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0" y="1417320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400"/>
              </a:spcAft>
              <a:defRPr sz="2200" b="1">
                <a:solidFill>
                  <a:srgbClr val="00366A"/>
                </a:solidFill>
                <a:latin typeface="Microsoft YaHei"/>
              </a:defRPr>
            </a:pPr>
            <a:r>
              <a:t>£5.67M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196596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400"/>
              </a:spcAft>
              <a:defRPr sz="900" b="0">
                <a:solidFill>
                  <a:srgbClr val="2C3E50"/>
                </a:solidFill>
                <a:latin typeface="Microsoft YaHei"/>
              </a:defRPr>
            </a:pPr>
            <a:r>
              <a:t>OOM（可行性量级）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1325880"/>
            <a:ext cx="2103120" cy="1051560"/>
          </a:xfrm>
          <a:prstGeom prst="roundRect">
            <a:avLst/>
          </a:prstGeom>
          <a:solidFill>
            <a:srgbClr val="E7E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417320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400"/>
              </a:spcAft>
              <a:defRPr sz="2200" b="1">
                <a:solidFill>
                  <a:srgbClr val="00366A"/>
                </a:solidFill>
                <a:latin typeface="Microsoft YaHei"/>
              </a:defRPr>
            </a:pPr>
            <a:r>
              <a:t>2027-09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196596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400"/>
              </a:spcAft>
              <a:defRPr sz="900" b="0">
                <a:solidFill>
                  <a:srgbClr val="2C3E50"/>
                </a:solidFill>
                <a:latin typeface="Microsoft YaHei"/>
              </a:defRPr>
            </a:pPr>
            <a:r>
              <a:t>HPLC 目标投运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1325880"/>
            <a:ext cx="2103120" cy="1051560"/>
          </a:xfrm>
          <a:prstGeom prst="roundRect">
            <a:avLst/>
          </a:prstGeom>
          <a:solidFill>
            <a:srgbClr val="E7E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1417320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400"/>
              </a:spcAft>
              <a:defRPr sz="2200" b="1">
                <a:solidFill>
                  <a:srgbClr val="00366A"/>
                </a:solidFill>
                <a:latin typeface="Microsoft YaHei"/>
              </a:defRPr>
            </a:pPr>
            <a:r>
              <a:t>2027-12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196596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400"/>
              </a:spcAft>
              <a:defRPr sz="900" b="0">
                <a:solidFill>
                  <a:srgbClr val="2C3E50"/>
                </a:solidFill>
                <a:latin typeface="Microsoft YaHei"/>
              </a:defRPr>
            </a:pPr>
            <a:r>
              <a:t>冻干目标投运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468880"/>
            <a:ext cx="2103120" cy="320040"/>
          </a:xfrm>
          <a:prstGeom prst="rect">
            <a:avLst/>
          </a:prstGeom>
          <a:solidFill>
            <a:srgbClr val="003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2487168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1040" b="1">
                <a:solidFill>
                  <a:srgbClr val="FFFFFF"/>
                </a:solidFill>
                <a:latin typeface="Microsoft YaHei"/>
              </a:defRPr>
            </a:pPr>
            <a:r>
              <a:t>① 可行性闭环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788920"/>
            <a:ext cx="2103120" cy="1965960"/>
          </a:xfrm>
          <a:prstGeom prst="rect">
            <a:avLst/>
          </a:prstGeom>
          <a:solidFill>
            <a:srgbClr val="FFFFFF"/>
          </a:solidFill>
          <a:ln>
            <a:solidFill>
              <a:srgbClr val="D4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" y="2834640"/>
            <a:ext cx="1956816" cy="1874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850">
                <a:solidFill>
                  <a:srgbClr val="0F2B46"/>
                </a:solidFill>
                <a:latin typeface="Microsoft YaHei"/>
              </a:defRPr>
            </a:pPr>
            <a:r>
              <a:t>• 全程跟进英国侧 FS 讲解及多轮专题会</a:t>
            </a:r>
          </a:p>
          <a:p>
            <a:pPr>
              <a:spcAft>
                <a:spcPts val="500"/>
              </a:spcAft>
              <a:defRPr sz="850">
                <a:solidFill>
                  <a:srgbClr val="0F2B46"/>
                </a:solidFill>
                <a:latin typeface="Microsoft YaHei"/>
              </a:defRPr>
            </a:pPr>
            <a:r>
              <a:t>• 方案布局与投资口径中英方一致理解</a:t>
            </a:r>
          </a:p>
          <a:p>
            <a:pPr>
              <a:spcAft>
                <a:spcPts val="500"/>
              </a:spcAft>
              <a:defRPr sz="850">
                <a:solidFill>
                  <a:srgbClr val="0F2B46"/>
                </a:solidFill>
                <a:latin typeface="Microsoft YaHei"/>
              </a:defRPr>
            </a:pPr>
            <a:r>
              <a:t>• 可行性结论及投资框架已明确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68880" y="2468880"/>
            <a:ext cx="2103120" cy="320040"/>
          </a:xfrm>
          <a:prstGeom prst="rect">
            <a:avLst/>
          </a:prstGeom>
          <a:solidFill>
            <a:srgbClr val="003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2487168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1040" b="1">
                <a:solidFill>
                  <a:srgbClr val="FFFFFF"/>
                </a:solidFill>
                <a:latin typeface="Microsoft YaHei"/>
              </a:defRPr>
            </a:pPr>
            <a:r>
              <a:t>② 投资与汇报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68880" y="2788920"/>
            <a:ext cx="2103120" cy="1965960"/>
          </a:xfrm>
          <a:prstGeom prst="rect">
            <a:avLst/>
          </a:prstGeom>
          <a:solidFill>
            <a:srgbClr val="FFFFFF"/>
          </a:solidFill>
          <a:ln>
            <a:solidFill>
              <a:srgbClr val="D4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42032" y="2834640"/>
            <a:ext cx="1956816" cy="1874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850">
                <a:solidFill>
                  <a:srgbClr val="0F2B46"/>
                </a:solidFill>
                <a:latin typeface="Microsoft YaHei"/>
              </a:defRPr>
            </a:pPr>
            <a:r>
              <a:t>• 汇总投资与进度，编制多版组合汇报材料</a:t>
            </a:r>
          </a:p>
          <a:p>
            <a:pPr>
              <a:spcAft>
                <a:spcPts val="500"/>
              </a:spcAft>
              <a:defRPr sz="850">
                <a:solidFill>
                  <a:srgbClr val="0F2B46"/>
                </a:solidFill>
                <a:latin typeface="Microsoft YaHei"/>
              </a:defRPr>
            </a:pPr>
            <a:r>
              <a:t>• 支撑管理层决策与下阶段沟通</a:t>
            </a:r>
          </a:p>
          <a:p>
            <a:pPr>
              <a:spcAft>
                <a:spcPts val="500"/>
              </a:spcAft>
              <a:defRPr sz="850">
                <a:solidFill>
                  <a:srgbClr val="0F2B46"/>
                </a:solidFill>
                <a:latin typeface="Microsoft YaHei"/>
              </a:defRPr>
            </a:pPr>
            <a:r>
              <a:t>• OOM 基础 £3.78M + 风险预备费块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63440" y="2468880"/>
            <a:ext cx="2103120" cy="320040"/>
          </a:xfrm>
          <a:prstGeom prst="rect">
            <a:avLst/>
          </a:prstGeom>
          <a:solidFill>
            <a:srgbClr val="003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09160" y="2487168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1040" b="1">
                <a:solidFill>
                  <a:srgbClr val="FFFFFF"/>
                </a:solidFill>
                <a:latin typeface="Microsoft YaHei"/>
              </a:defRPr>
            </a:pPr>
            <a:r>
              <a:t>③ 接口统筹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63440" y="2788920"/>
            <a:ext cx="2103120" cy="1965960"/>
          </a:xfrm>
          <a:prstGeom prst="rect">
            <a:avLst/>
          </a:prstGeom>
          <a:solidFill>
            <a:srgbClr val="FFFFFF"/>
          </a:solidFill>
          <a:ln>
            <a:solidFill>
              <a:srgbClr val="D4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36592" y="2834640"/>
            <a:ext cx="1956816" cy="1874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850">
                <a:solidFill>
                  <a:srgbClr val="0F2B46"/>
                </a:solidFill>
                <a:latin typeface="Microsoft YaHei"/>
              </a:defRPr>
            </a:pPr>
            <a:r>
              <a:t>• 统筹色谱冻干与 C1 五级密闭升级</a:t>
            </a:r>
          </a:p>
          <a:p>
            <a:pPr>
              <a:spcAft>
                <a:spcPts val="500"/>
              </a:spcAft>
              <a:defRPr sz="850">
                <a:solidFill>
                  <a:srgbClr val="0F2B46"/>
                </a:solidFill>
                <a:latin typeface="Microsoft YaHei"/>
              </a:defRPr>
            </a:pPr>
            <a:r>
              <a:t>• 衔接高活实验室等配套事项</a:t>
            </a:r>
          </a:p>
          <a:p>
            <a:pPr>
              <a:spcAft>
                <a:spcPts val="500"/>
              </a:spcAft>
              <a:defRPr sz="850">
                <a:solidFill>
                  <a:srgbClr val="0F2B46"/>
                </a:solidFill>
                <a:latin typeface="Microsoft YaHei"/>
              </a:defRPr>
            </a:pPr>
            <a:r>
              <a:t>• 避免各子项割裂推进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2468880"/>
            <a:ext cx="2103120" cy="320040"/>
          </a:xfrm>
          <a:prstGeom prst="rect">
            <a:avLst/>
          </a:prstGeom>
          <a:solidFill>
            <a:srgbClr val="003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03720" y="2487168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1040" b="1">
                <a:solidFill>
                  <a:srgbClr val="FFFFFF"/>
                </a:solidFill>
                <a:latin typeface="Microsoft YaHei"/>
              </a:defRPr>
            </a:pPr>
            <a:r>
              <a:t>④ 下半年重点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0" y="2788920"/>
            <a:ext cx="2103120" cy="1965960"/>
          </a:xfrm>
          <a:prstGeom prst="rect">
            <a:avLst/>
          </a:prstGeom>
          <a:solidFill>
            <a:srgbClr val="FFFFFF"/>
          </a:solidFill>
          <a:ln>
            <a:solidFill>
              <a:srgbClr val="D4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31152" y="2834640"/>
            <a:ext cx="1956816" cy="1874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850">
                <a:solidFill>
                  <a:srgbClr val="0F2B46"/>
                </a:solidFill>
                <a:latin typeface="Microsoft YaHei"/>
              </a:defRPr>
            </a:pPr>
            <a:r>
              <a:t>• 推动 FEED 启动与详设准备</a:t>
            </a:r>
          </a:p>
          <a:p>
            <a:pPr>
              <a:spcAft>
                <a:spcPts val="500"/>
              </a:spcAft>
              <a:defRPr sz="850">
                <a:solidFill>
                  <a:srgbClr val="0F2B46"/>
                </a:solidFill>
                <a:latin typeface="Microsoft YaHei"/>
              </a:defRPr>
            </a:pPr>
            <a:r>
              <a:t>• 长周期设备（冻干）采购决策</a:t>
            </a:r>
          </a:p>
          <a:p>
            <a:pPr>
              <a:spcAft>
                <a:spcPts val="500"/>
              </a:spcAft>
              <a:defRPr sz="850">
                <a:solidFill>
                  <a:srgbClr val="0F2B46"/>
                </a:solidFill>
                <a:latin typeface="Microsoft YaHei"/>
              </a:defRPr>
            </a:pPr>
            <a:r>
              <a:t>• 中外需求最终确认与常规沟通机制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4892040"/>
            <a:ext cx="2103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700" b="0">
                <a:solidFill>
                  <a:srgbClr val="2C3E50"/>
                </a:solidFill>
                <a:latin typeface="Microsoft YaHei"/>
              </a:defRPr>
            </a:pPr>
            <a:r>
              <a:t>www.asymchem.com.cn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77440" y="4892040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700" b="0">
                <a:solidFill>
                  <a:srgbClr val="2C3E50"/>
                </a:solidFill>
                <a:latin typeface="Microsoft YaHei"/>
              </a:defRPr>
            </a:pPr>
            <a:r>
              <a:t>Stock Code: 002821.SZ / 6821.HK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400"/>
              </a:spcAft>
              <a:defRPr sz="700" b="0">
                <a:solidFill>
                  <a:srgbClr val="2C3E50"/>
                </a:solidFill>
                <a:latin typeface="Microsoft YaHe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0" y="182880"/>
            <a:ext cx="5760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00366A"/>
                </a:solidFill>
                <a:latin typeface="Microsoft YaHei"/>
              </a:defRPr>
            </a:pPr>
            <a:r>
              <a:t>制备色谱 &amp; 冻干机改造 · 投资结构与周期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777240"/>
            <a:ext cx="8595360" cy="27432"/>
          </a:xfrm>
          <a:prstGeom prst="rect">
            <a:avLst/>
          </a:prstGeom>
          <a:solidFill>
            <a:srgbClr val="FF7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0"/>
            <a:ext cx="85953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950" b="0">
                <a:solidFill>
                  <a:srgbClr val="2C3E50"/>
                </a:solidFill>
                <a:latin typeface="Microsoft YaHei"/>
              </a:defRPr>
            </a:pPr>
            <a:r>
              <a:t>范围：DAC300/CP300 制备色谱 + 冻干机（隔离器、除湿、PSG）及厂房改造 · RB Plant 9802</a:t>
            </a:r>
          </a:p>
        </p:txBody>
      </p:sp>
      <p:pic>
        <p:nvPicPr>
          <p:cNvPr id="5" name="Picture 4" descr="hplc_cap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25880"/>
            <a:ext cx="4160520" cy="3246120"/>
          </a:xfrm>
          <a:prstGeom prst="rect">
            <a:avLst/>
          </a:prstGeom>
        </p:spPr>
      </p:pic>
      <p:pic>
        <p:nvPicPr>
          <p:cNvPr id="6" name="Picture 5" descr="hplc_gant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325880"/>
            <a:ext cx="4297680" cy="3246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74320" y="4617720"/>
            <a:ext cx="2057400" cy="502920"/>
          </a:xfrm>
          <a:prstGeom prst="roundRect">
            <a:avLst/>
          </a:prstGeom>
          <a:solidFill>
            <a:srgbClr val="E7EEFB"/>
          </a:solidFill>
          <a:ln>
            <a:solidFill>
              <a:srgbClr val="5B6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4645152"/>
            <a:ext cx="187451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00366A"/>
                </a:solidFill>
                <a:latin typeface="Microsoft YaHei"/>
              </a:rPr>
              <a:t>Q3 2026  </a:t>
            </a:r>
            <a:r>
              <a:rPr sz="750" b="0">
                <a:solidFill>
                  <a:srgbClr val="0F2B46"/>
                </a:solidFill>
                <a:latin typeface="Microsoft YaHei"/>
              </a:rPr>
              <a:t>FEED 启动
冻干规格/资金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68880" y="4617720"/>
            <a:ext cx="2057400" cy="502920"/>
          </a:xfrm>
          <a:prstGeom prst="roundRect">
            <a:avLst/>
          </a:prstGeom>
          <a:solidFill>
            <a:srgbClr val="E7EEFB"/>
          </a:solidFill>
          <a:ln>
            <a:solidFill>
              <a:srgbClr val="5B6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0" y="4645152"/>
            <a:ext cx="187451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00366A"/>
                </a:solidFill>
                <a:latin typeface="Microsoft YaHei"/>
              </a:rPr>
              <a:t>Q4 2026  </a:t>
            </a:r>
            <a:r>
              <a:rPr sz="750" b="0">
                <a:solidFill>
                  <a:srgbClr val="0F2B46"/>
                </a:solidFill>
                <a:latin typeface="Microsoft YaHei"/>
              </a:rPr>
              <a:t>详设准备
HPLC 规格/资金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4617720"/>
            <a:ext cx="2057400" cy="502920"/>
          </a:xfrm>
          <a:prstGeom prst="roundRect">
            <a:avLst/>
          </a:prstGeom>
          <a:solidFill>
            <a:srgbClr val="E7EEFB"/>
          </a:solidFill>
          <a:ln>
            <a:solidFill>
              <a:srgbClr val="5B6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4645152"/>
            <a:ext cx="187451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00366A"/>
                </a:solidFill>
                <a:latin typeface="Microsoft YaHei"/>
              </a:rPr>
              <a:t>2027 H1  </a:t>
            </a:r>
            <a:r>
              <a:rPr sz="750" b="0">
                <a:solidFill>
                  <a:srgbClr val="0F2B46"/>
                </a:solidFill>
                <a:latin typeface="Microsoft YaHei"/>
              </a:rPr>
              <a:t>设备 FAT
厂房改造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4617720"/>
            <a:ext cx="2057400" cy="502920"/>
          </a:xfrm>
          <a:prstGeom prst="roundRect">
            <a:avLst/>
          </a:prstGeom>
          <a:solidFill>
            <a:srgbClr val="E7EEFB"/>
          </a:solidFill>
          <a:ln>
            <a:solidFill>
              <a:srgbClr val="5B6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0" y="4645152"/>
            <a:ext cx="187451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00366A"/>
                </a:solidFill>
                <a:latin typeface="Microsoft YaHei"/>
              </a:rPr>
              <a:t>2027 H2  </a:t>
            </a:r>
            <a:r>
              <a:rPr sz="750" b="0">
                <a:solidFill>
                  <a:srgbClr val="0F2B46"/>
                </a:solidFill>
                <a:latin typeface="Microsoft YaHei"/>
              </a:rPr>
              <a:t>HPLC 投运
冻干验证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4892040"/>
            <a:ext cx="2103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700" b="0">
                <a:solidFill>
                  <a:srgbClr val="2C3E50"/>
                </a:solidFill>
                <a:latin typeface="Microsoft YaHei"/>
              </a:defRPr>
            </a:pPr>
            <a:r>
              <a:t>www.asymchem.com.cn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4892040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700" b="0">
                <a:solidFill>
                  <a:srgbClr val="2C3E50"/>
                </a:solidFill>
                <a:latin typeface="Microsoft YaHei"/>
              </a:defRPr>
            </a:pPr>
            <a:r>
              <a:t>Stock Code: 002821.SZ / 6821.HK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400"/>
              </a:spcAft>
              <a:defRPr sz="700" b="0">
                <a:solidFill>
                  <a:srgbClr val="2C3E50"/>
                </a:solidFill>
                <a:latin typeface="Microsoft YaHe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0" y="182880"/>
            <a:ext cx="5760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00366A"/>
                </a:solidFill>
                <a:latin typeface="Microsoft YaHei"/>
              </a:defRPr>
            </a:pPr>
            <a:r>
              <a:t>902 东侧扩建 · 上半年推进主线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777240"/>
            <a:ext cx="8595360" cy="27432"/>
          </a:xfrm>
          <a:prstGeom prst="rect">
            <a:avLst/>
          </a:prstGeom>
          <a:solidFill>
            <a:srgbClr val="FF7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0"/>
            <a:ext cx="85953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950" b="0">
                <a:solidFill>
                  <a:srgbClr val="2C3E50"/>
                </a:solidFill>
                <a:latin typeface="Microsoft YaHei"/>
              </a:defRPr>
            </a:pPr>
            <a:r>
              <a:t>Scitech 可行性研究（RIBA 1）2026年5月完成；推荐 Option 1 方案；下半年进入概念设计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25880"/>
            <a:ext cx="2103120" cy="1051560"/>
          </a:xfrm>
          <a:prstGeom prst="roundRect">
            <a:avLst/>
          </a:prstGeom>
          <a:solidFill>
            <a:srgbClr val="E7E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417320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400"/>
              </a:spcAft>
              <a:defRPr sz="2200" b="1">
                <a:solidFill>
                  <a:srgbClr val="00366A"/>
                </a:solidFill>
                <a:latin typeface="Microsoft YaHei"/>
              </a:defRPr>
            </a:pPr>
            <a:r>
              <a:t>RIBA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96596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400"/>
              </a:spcAft>
              <a:defRPr sz="900" b="0">
                <a:solidFill>
                  <a:srgbClr val="2C3E50"/>
                </a:solidFill>
                <a:latin typeface="Microsoft YaHei"/>
              </a:defRPr>
            </a:pPr>
            <a:r>
              <a:t>2026-05 FS 完成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68880" y="1325880"/>
            <a:ext cx="2103120" cy="1051560"/>
          </a:xfrm>
          <a:prstGeom prst="roundRect">
            <a:avLst/>
          </a:prstGeom>
          <a:solidFill>
            <a:srgbClr val="E7E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0" y="1417320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400"/>
              </a:spcAft>
              <a:defRPr sz="2200" b="1">
                <a:solidFill>
                  <a:srgbClr val="00366A"/>
                </a:solidFill>
                <a:latin typeface="Microsoft YaHei"/>
              </a:defRPr>
            </a:pPr>
            <a:r>
              <a:t>£78.11M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196596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400"/>
              </a:spcAft>
              <a:defRPr sz="900" b="0">
                <a:solidFill>
                  <a:srgbClr val="2C3E50"/>
                </a:solidFill>
                <a:latin typeface="Microsoft YaHei"/>
              </a:defRPr>
            </a:pPr>
            <a:r>
              <a:t>项目总投资 OOM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1325880"/>
            <a:ext cx="2103120" cy="1051560"/>
          </a:xfrm>
          <a:prstGeom prst="roundRect">
            <a:avLst/>
          </a:prstGeom>
          <a:solidFill>
            <a:srgbClr val="E7E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417320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400"/>
              </a:spcAft>
              <a:defRPr sz="2200" b="1">
                <a:solidFill>
                  <a:srgbClr val="00366A"/>
                </a:solidFill>
                <a:latin typeface="Microsoft YaHei"/>
              </a:defRPr>
            </a:pPr>
            <a:r>
              <a:t>3,099 m²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196596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400"/>
              </a:spcAft>
              <a:defRPr sz="900" b="0">
                <a:solidFill>
                  <a:srgbClr val="2C3E50"/>
                </a:solidFill>
                <a:latin typeface="Microsoft YaHei"/>
              </a:defRPr>
            </a:pPr>
            <a:r>
              <a:t>总建筑面积 GIFA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1325880"/>
            <a:ext cx="2103120" cy="1051560"/>
          </a:xfrm>
          <a:prstGeom prst="roundRect">
            <a:avLst/>
          </a:prstGeom>
          <a:solidFill>
            <a:srgbClr val="E7E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1417320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400"/>
              </a:spcAft>
              <a:defRPr sz="2200" b="1">
                <a:solidFill>
                  <a:srgbClr val="00366A"/>
                </a:solidFill>
                <a:latin typeface="Microsoft YaHei"/>
              </a:defRPr>
            </a:pPr>
            <a:r>
              <a:t>2030-05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196596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400"/>
              </a:spcAft>
              <a:defRPr sz="900" b="0">
                <a:solidFill>
                  <a:srgbClr val="2C3E50"/>
                </a:solidFill>
                <a:latin typeface="Microsoft YaHei"/>
              </a:defRPr>
            </a:pPr>
            <a:r>
              <a:t>总控竣工目标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468880"/>
            <a:ext cx="2103120" cy="320040"/>
          </a:xfrm>
          <a:prstGeom prst="rect">
            <a:avLst/>
          </a:prstGeom>
          <a:solidFill>
            <a:srgbClr val="003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2487168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1040" b="1">
                <a:solidFill>
                  <a:srgbClr val="FFFFFF"/>
                </a:solidFill>
                <a:latin typeface="Microsoft YaHei"/>
              </a:defRPr>
            </a:pPr>
            <a:r>
              <a:t>① FS 消化闭环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788920"/>
            <a:ext cx="2103120" cy="1965960"/>
          </a:xfrm>
          <a:prstGeom prst="rect">
            <a:avLst/>
          </a:prstGeom>
          <a:solidFill>
            <a:srgbClr val="FFFFFF"/>
          </a:solidFill>
          <a:ln>
            <a:solidFill>
              <a:srgbClr val="D4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" y="2834640"/>
            <a:ext cx="1956816" cy="1874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850">
                <a:solidFill>
                  <a:srgbClr val="0F2B46"/>
                </a:solidFill>
                <a:latin typeface="Microsoft YaHei"/>
              </a:defRPr>
            </a:pPr>
            <a:r>
              <a:t>• 全程参与 FS 讲解会，整理中文详细纪要</a:t>
            </a:r>
          </a:p>
          <a:p>
            <a:pPr>
              <a:spcAft>
                <a:spcPts val="500"/>
              </a:spcAft>
              <a:defRPr sz="850">
                <a:solidFill>
                  <a:srgbClr val="0F2B46"/>
                </a:solidFill>
                <a:latin typeface="Microsoft YaHei"/>
              </a:defRPr>
            </a:pPr>
            <a:r>
              <a:t>• 推动国内团队理解推荐方案及前提假设</a:t>
            </a:r>
          </a:p>
          <a:p>
            <a:pPr>
              <a:spcAft>
                <a:spcPts val="500"/>
              </a:spcAft>
              <a:defRPr sz="850">
                <a:solidFill>
                  <a:srgbClr val="0F2B46"/>
                </a:solidFill>
                <a:latin typeface="Microsoft YaHei"/>
              </a:defRPr>
            </a:pPr>
            <a:r>
              <a:t>• BREEAM 预评估 Very Good 基线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68880" y="2468880"/>
            <a:ext cx="2103120" cy="320040"/>
          </a:xfrm>
          <a:prstGeom prst="rect">
            <a:avLst/>
          </a:prstGeom>
          <a:solidFill>
            <a:srgbClr val="003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2487168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1040" b="1">
                <a:solidFill>
                  <a:srgbClr val="FFFFFF"/>
                </a:solidFill>
                <a:latin typeface="Microsoft YaHei"/>
              </a:defRPr>
            </a:pPr>
            <a:r>
              <a:t>② 投资与决策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68880" y="2788920"/>
            <a:ext cx="2103120" cy="1965960"/>
          </a:xfrm>
          <a:prstGeom prst="rect">
            <a:avLst/>
          </a:prstGeom>
          <a:solidFill>
            <a:srgbClr val="FFFFFF"/>
          </a:solidFill>
          <a:ln>
            <a:solidFill>
              <a:srgbClr val="D4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42032" y="2834640"/>
            <a:ext cx="1956816" cy="1874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850">
                <a:solidFill>
                  <a:srgbClr val="0F2B46"/>
                </a:solidFill>
                <a:latin typeface="Microsoft YaHei"/>
              </a:defRPr>
            </a:pPr>
            <a:r>
              <a:t>• 完成投资量级、风险与总控计划解读</a:t>
            </a:r>
          </a:p>
          <a:p>
            <a:pPr>
              <a:spcAft>
                <a:spcPts val="500"/>
              </a:spcAft>
              <a:defRPr sz="850">
                <a:solidFill>
                  <a:srgbClr val="0F2B46"/>
                </a:solidFill>
                <a:latin typeface="Microsoft YaHei"/>
              </a:defRPr>
            </a:pPr>
            <a:r>
              <a:t>• 编制管理层汇报材料支撑决策</a:t>
            </a:r>
          </a:p>
          <a:p>
            <a:pPr>
              <a:spcAft>
                <a:spcPts val="500"/>
              </a:spcAft>
              <a:defRPr sz="850">
                <a:solidFill>
                  <a:srgbClr val="0F2B46"/>
                </a:solidFill>
                <a:latin typeface="Microsoft YaHei"/>
              </a:defRPr>
            </a:pPr>
            <a:r>
              <a:t>• 10 釜 + 2500L 加氢釜 + 3 套过滤干燥机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63440" y="2468880"/>
            <a:ext cx="2103120" cy="320040"/>
          </a:xfrm>
          <a:prstGeom prst="rect">
            <a:avLst/>
          </a:prstGeom>
          <a:solidFill>
            <a:srgbClr val="003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09160" y="2487168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1040" b="1">
                <a:solidFill>
                  <a:srgbClr val="FFFFFF"/>
                </a:solidFill>
                <a:latin typeface="Microsoft YaHei"/>
              </a:defRPr>
            </a:pPr>
            <a:r>
              <a:t>③ 关键事项跟进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63440" y="2788920"/>
            <a:ext cx="2103120" cy="1965960"/>
          </a:xfrm>
          <a:prstGeom prst="rect">
            <a:avLst/>
          </a:prstGeom>
          <a:solidFill>
            <a:srgbClr val="FFFFFF"/>
          </a:solidFill>
          <a:ln>
            <a:solidFill>
              <a:srgbClr val="D4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36592" y="2834640"/>
            <a:ext cx="1956816" cy="1874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850">
                <a:solidFill>
                  <a:srgbClr val="0F2B46"/>
                </a:solidFill>
                <a:latin typeface="Microsoft YaHei"/>
              </a:defRPr>
            </a:pPr>
            <a:r>
              <a:t>• 加氢厂房处置、首层净高等中外确认项</a:t>
            </a:r>
          </a:p>
          <a:p>
            <a:pPr>
              <a:spcAft>
                <a:spcPts val="500"/>
              </a:spcAft>
              <a:defRPr sz="850">
                <a:solidFill>
                  <a:srgbClr val="0F2B46"/>
                </a:solidFill>
                <a:latin typeface="Microsoft YaHei"/>
              </a:defRPr>
            </a:pPr>
            <a:r>
              <a:t>• 长周期设备采购分工待明确</a:t>
            </a:r>
          </a:p>
          <a:p>
            <a:pPr>
              <a:spcAft>
                <a:spcPts val="500"/>
              </a:spcAft>
              <a:defRPr sz="850">
                <a:solidFill>
                  <a:srgbClr val="0F2B46"/>
                </a:solidFill>
                <a:latin typeface="Microsoft YaHei"/>
              </a:defRPr>
            </a:pPr>
            <a:r>
              <a:t>• 促进信息对称、问题及时闭环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2468880"/>
            <a:ext cx="2103120" cy="320040"/>
          </a:xfrm>
          <a:prstGeom prst="rect">
            <a:avLst/>
          </a:prstGeom>
          <a:solidFill>
            <a:srgbClr val="003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03720" y="2487168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1040" b="1">
                <a:solidFill>
                  <a:srgbClr val="FFFFFF"/>
                </a:solidFill>
                <a:latin typeface="Microsoft YaHei"/>
              </a:defRPr>
            </a:pPr>
            <a:r>
              <a:t>④ 下半年重点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0" y="2788920"/>
            <a:ext cx="2103120" cy="1965960"/>
          </a:xfrm>
          <a:prstGeom prst="rect">
            <a:avLst/>
          </a:prstGeom>
          <a:solidFill>
            <a:srgbClr val="FFFFFF"/>
          </a:solidFill>
          <a:ln>
            <a:solidFill>
              <a:srgbClr val="D4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31152" y="2834640"/>
            <a:ext cx="1956816" cy="1874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850">
                <a:solidFill>
                  <a:srgbClr val="0F2B46"/>
                </a:solidFill>
                <a:latin typeface="Microsoft YaHei"/>
              </a:defRPr>
            </a:pPr>
            <a:r>
              <a:t>• RIBA 2 概念设计启动（7月计划）</a:t>
            </a:r>
          </a:p>
          <a:p>
            <a:pPr>
              <a:spcAft>
                <a:spcPts val="500"/>
              </a:spcAft>
              <a:defRPr sz="850">
                <a:solidFill>
                  <a:srgbClr val="0F2B46"/>
                </a:solidFill>
                <a:latin typeface="Microsoft YaHei"/>
              </a:defRPr>
            </a:pPr>
            <a:r>
              <a:t>• 关键方案国内确认</a:t>
            </a:r>
          </a:p>
          <a:p>
            <a:pPr>
              <a:spcAft>
                <a:spcPts val="500"/>
              </a:spcAft>
              <a:defRPr sz="850">
                <a:solidFill>
                  <a:srgbClr val="0F2B46"/>
                </a:solidFill>
                <a:latin typeface="Microsoft YaHei"/>
              </a:defRPr>
            </a:pPr>
            <a:r>
              <a:t>• 设计工作坊与 Stage 2 报价对接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4892040"/>
            <a:ext cx="2103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700" b="0">
                <a:solidFill>
                  <a:srgbClr val="2C3E50"/>
                </a:solidFill>
                <a:latin typeface="Microsoft YaHei"/>
              </a:defRPr>
            </a:pPr>
            <a:r>
              <a:t>www.asymchem.com.cn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77440" y="4892040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700" b="0">
                <a:solidFill>
                  <a:srgbClr val="2C3E50"/>
                </a:solidFill>
                <a:latin typeface="Microsoft YaHei"/>
              </a:defRPr>
            </a:pPr>
            <a:r>
              <a:t>Stock Code: 002821.SZ / 6821.HK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400"/>
              </a:spcAft>
              <a:defRPr sz="700" b="0">
                <a:solidFill>
                  <a:srgbClr val="2C3E50"/>
                </a:solidFill>
                <a:latin typeface="Microsoft YaHe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0" y="182880"/>
            <a:ext cx="5760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00366A"/>
                </a:solidFill>
                <a:latin typeface="Microsoft YaHei"/>
              </a:defRPr>
            </a:pPr>
            <a:r>
              <a:t>902 东侧扩建 · 投资结构与总控节奏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777240"/>
            <a:ext cx="8595360" cy="27432"/>
          </a:xfrm>
          <a:prstGeom prst="rect">
            <a:avLst/>
          </a:prstGeom>
          <a:solidFill>
            <a:srgbClr val="FF7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0"/>
            <a:ext cx="85953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950" b="0">
                <a:solidFill>
                  <a:srgbClr val="2C3E50"/>
                </a:solidFill>
                <a:latin typeface="Microsoft YaHei"/>
              </a:defRPr>
            </a:pPr>
            <a:r>
              <a:t>东侧约 600 m² 占地 · 四层+设备夹层 · 与 902 低层楼面贯通 · 总控 1,005 天</a:t>
            </a:r>
          </a:p>
        </p:txBody>
      </p:sp>
      <p:pic>
        <p:nvPicPr>
          <p:cNvPr id="5" name="Picture 4" descr="ext_cap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25880"/>
            <a:ext cx="4160520" cy="3246120"/>
          </a:xfrm>
          <a:prstGeom prst="rect">
            <a:avLst/>
          </a:prstGeom>
        </p:spPr>
      </p:pic>
      <p:pic>
        <p:nvPicPr>
          <p:cNvPr id="6" name="Picture 5" descr="ext_gant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325880"/>
            <a:ext cx="4297680" cy="3246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74320" y="4617720"/>
            <a:ext cx="2057400" cy="502920"/>
          </a:xfrm>
          <a:prstGeom prst="roundRect">
            <a:avLst/>
          </a:prstGeom>
          <a:solidFill>
            <a:srgbClr val="E7EEFB"/>
          </a:solidFill>
          <a:ln>
            <a:solidFill>
              <a:srgbClr val="1A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4645152"/>
            <a:ext cx="187451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00366A"/>
                </a:solidFill>
                <a:latin typeface="Microsoft YaHei"/>
              </a:rPr>
              <a:t>H2 2026  </a:t>
            </a:r>
            <a:r>
              <a:rPr sz="750" b="0">
                <a:solidFill>
                  <a:srgbClr val="0F2B46"/>
                </a:solidFill>
                <a:latin typeface="Microsoft YaHei"/>
              </a:rPr>
              <a:t>RIBA 2 概念设计
Stage 2 报价确认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68880" y="4617720"/>
            <a:ext cx="2057400" cy="502920"/>
          </a:xfrm>
          <a:prstGeom prst="roundRect">
            <a:avLst/>
          </a:prstGeom>
          <a:solidFill>
            <a:srgbClr val="E7EEFB"/>
          </a:solidFill>
          <a:ln>
            <a:solidFill>
              <a:srgbClr val="1A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0" y="4645152"/>
            <a:ext cx="187451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00366A"/>
                </a:solidFill>
                <a:latin typeface="Microsoft YaHei"/>
              </a:rPr>
              <a:t>2027  </a:t>
            </a:r>
            <a:r>
              <a:rPr sz="750" b="0">
                <a:solidFill>
                  <a:srgbClr val="0F2B46"/>
                </a:solidFill>
                <a:latin typeface="Microsoft YaHei"/>
              </a:rPr>
              <a:t>方案设计 +
规划审批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4617720"/>
            <a:ext cx="2057400" cy="502920"/>
          </a:xfrm>
          <a:prstGeom prst="roundRect">
            <a:avLst/>
          </a:prstGeom>
          <a:solidFill>
            <a:srgbClr val="E7EEFB"/>
          </a:solidFill>
          <a:ln>
            <a:solidFill>
              <a:srgbClr val="1A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4645152"/>
            <a:ext cx="187451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00366A"/>
                </a:solidFill>
                <a:latin typeface="Microsoft YaHei"/>
              </a:rPr>
              <a:t>2028  </a:t>
            </a:r>
            <a:r>
              <a:rPr sz="750" b="0">
                <a:solidFill>
                  <a:srgbClr val="0F2B46"/>
                </a:solidFill>
                <a:latin typeface="Microsoft YaHei"/>
              </a:rPr>
              <a:t>详设 +
长周期设备采购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4617720"/>
            <a:ext cx="2057400" cy="502920"/>
          </a:xfrm>
          <a:prstGeom prst="roundRect">
            <a:avLst/>
          </a:prstGeom>
          <a:solidFill>
            <a:srgbClr val="E7EEFB"/>
          </a:solidFill>
          <a:ln>
            <a:solidFill>
              <a:srgbClr val="1A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0" y="4645152"/>
            <a:ext cx="187451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00366A"/>
                </a:solidFill>
                <a:latin typeface="Microsoft YaHei"/>
              </a:rPr>
              <a:t>2028–30  </a:t>
            </a:r>
            <a:r>
              <a:rPr sz="750" b="0">
                <a:solidFill>
                  <a:srgbClr val="0F2B46"/>
                </a:solidFill>
                <a:latin typeface="Microsoft YaHei"/>
              </a:rPr>
              <a:t>施工 · 调试 · 竣工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4892040"/>
            <a:ext cx="2103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700" b="0">
                <a:solidFill>
                  <a:srgbClr val="2C3E50"/>
                </a:solidFill>
                <a:latin typeface="Microsoft YaHei"/>
              </a:defRPr>
            </a:pPr>
            <a:r>
              <a:t>www.asymchem.com.cn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4892040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700" b="0">
                <a:solidFill>
                  <a:srgbClr val="2C3E50"/>
                </a:solidFill>
                <a:latin typeface="Microsoft YaHei"/>
              </a:defRPr>
            </a:pPr>
            <a:r>
              <a:t>Stock Code: 002821.SZ / 6821.HK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400"/>
              </a:spcAft>
              <a:defRPr sz="700" b="0">
                <a:solidFill>
                  <a:srgbClr val="2C3E50"/>
                </a:solidFill>
                <a:latin typeface="Microsoft YaHe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4402</Words>
  <Application>WPS Presentation</Application>
  <PresentationFormat>On-screen Show (4:3)</PresentationFormat>
  <Paragraphs>442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宋体</vt:lpstr>
      <vt:lpstr>Wingdings</vt:lpstr>
      <vt:lpstr>Arial</vt:lpstr>
      <vt:lpstr>微软雅黑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李涛</cp:lastModifiedBy>
  <cp:revision>6</cp:revision>
  <dcterms:created xsi:type="dcterms:W3CDTF">2013-01-27T09:14:00Z</dcterms:created>
  <dcterms:modified xsi:type="dcterms:W3CDTF">2026-07-07T05:09:52Z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E2584967AE154B589DE853ACB8FD3ACF_12</vt:lpwstr>
  </property>
</Properties>
</file>