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 id="283" r:id="rId28"/>
    <p:sldId id="285" r:id="rId29"/>
    <p:sldId id="287" r:id="rId30"/>
    <p:sldId id="288" r:id="rId31"/>
    <p:sldId id="289"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72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0"/>
    <c:plotArea>
      <c:layout/>
      <c:barChart>
        <c:barDir val="bar"/>
        <c:grouping val="stacked"/>
        <c:varyColors val="1"/>
        <c:ser>
          <c:idx val="0"/>
          <c:order val="0"/>
          <c:tx>
            <c:strRef>
              <c:f>Sheet1!$B$1</c:f>
              <c:strCache>
                <c:ptCount val="1"/>
                <c:pt idx="0">
                  <c:v>Direct costs</c:v>
                </c:pt>
              </c:strCache>
            </c:strRef>
          </c:tx>
          <c:spPr>
            <a:solidFill>
              <a:srgbClr val="0F2B46"/>
            </a:solidFill>
          </c:spPr>
          <c:invertIfNegative val="1"/>
          <c:cat>
            <c:strRef>
              <c:f>Sheet1!$A$2:$A$2</c:f>
              <c:strCache>
                <c:ptCount val="1"/>
                <c:pt idx="0">
                  <c:v>Total investment</c:v>
                </c:pt>
              </c:strCache>
            </c:strRef>
          </c:cat>
          <c:val>
            <c:numRef>
              <c:f>Sheet1!$B$2:$B$2</c:f>
              <c:numCache>
                <c:formatCode>General</c:formatCode>
                <c:ptCount val="1"/>
                <c:pt idx="0">
                  <c:v>3026800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99E-4D6A-962B-86765F0B046B}"/>
            </c:ext>
          </c:extLst>
        </c:ser>
        <c:ser>
          <c:idx val="1"/>
          <c:order val="1"/>
          <c:tx>
            <c:strRef>
              <c:f>Sheet1!$C$1</c:f>
              <c:strCache>
                <c:ptCount val="1"/>
                <c:pt idx="0">
                  <c:v>Indirect costs</c:v>
                </c:pt>
              </c:strCache>
            </c:strRef>
          </c:tx>
          <c:spPr>
            <a:solidFill>
              <a:srgbClr val="1A4A6E"/>
            </a:solidFill>
          </c:spPr>
          <c:invertIfNegative val="1"/>
          <c:cat>
            <c:strRef>
              <c:f>Sheet1!$A$2:$A$2</c:f>
              <c:strCache>
                <c:ptCount val="1"/>
                <c:pt idx="0">
                  <c:v>Total investment</c:v>
                </c:pt>
              </c:strCache>
            </c:strRef>
          </c:cat>
          <c:val>
            <c:numRef>
              <c:f>Sheet1!$C$2:$C$2</c:f>
              <c:numCache>
                <c:formatCode>General</c:formatCode>
                <c:ptCount val="1"/>
                <c:pt idx="0">
                  <c:v>1072500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99E-4D6A-962B-86765F0B046B}"/>
            </c:ext>
          </c:extLst>
        </c:ser>
        <c:ser>
          <c:idx val="2"/>
          <c:order val="2"/>
          <c:tx>
            <c:strRef>
              <c:f>Sheet1!$D$1</c:f>
              <c:strCache>
                <c:ptCount val="1"/>
                <c:pt idx="0">
                  <c:v>General risk and contingency</c:v>
                </c:pt>
              </c:strCache>
            </c:strRef>
          </c:tx>
          <c:spPr>
            <a:solidFill>
              <a:srgbClr val="009688"/>
            </a:solidFill>
          </c:spPr>
          <c:invertIfNegative val="1"/>
          <c:cat>
            <c:strRef>
              <c:f>Sheet1!$A$2:$A$2</c:f>
              <c:strCache>
                <c:ptCount val="1"/>
                <c:pt idx="0">
                  <c:v>Total investment</c:v>
                </c:pt>
              </c:strCache>
            </c:strRef>
          </c:cat>
          <c:val>
            <c:numRef>
              <c:f>Sheet1!$D$2:$D$2</c:f>
              <c:numCache>
                <c:formatCode>General</c:formatCode>
                <c:ptCount val="1"/>
                <c:pt idx="0">
                  <c:v>1229800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99E-4D6A-962B-86765F0B046B}"/>
            </c:ext>
          </c:extLst>
        </c:ser>
        <c:dLbls>
          <c:showLegendKey val="0"/>
          <c:showVal val="0"/>
          <c:showCatName val="0"/>
          <c:showSerName val="0"/>
          <c:showPercent val="0"/>
          <c:showBubbleSize val="0"/>
        </c:dLbls>
        <c:gapWidth val="150"/>
        <c:overlap val="10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b"/>
      <c:overlay val="0"/>
    </c:legend>
    <c:plotVisOnly val="1"/>
    <c:dispBlanksAs val="gap"/>
    <c:showDLblsOverMax val="1"/>
  </c:chart>
  <c:txPr>
    <a:bodyPr/>
    <a:lstStyle/>
    <a:p>
      <a:pPr>
        <a:defRPr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c:style val="2"/>
  <c:chart>
    <c:title>
      <c:overlay val="0"/>
    </c:title>
    <c:autoTitleDeleted val="0"/>
    <c:plotArea>
      <c:layout/>
      <c:doughnutChart>
        <c:varyColors val="1"/>
        <c:ser>
          <c:idx val="0"/>
          <c:order val="0"/>
          <c:tx>
            <c:strRef>
              <c:f>Sheet1!$B$1</c:f>
              <c:strCache>
                <c:ptCount val="1"/>
                <c:pt idx="0">
                  <c:v>£</c:v>
                </c:pt>
              </c:strCache>
            </c:strRef>
          </c:tx>
          <c:dPt>
            <c:idx val="0"/>
            <c:bubble3D val="0"/>
            <c:spPr>
              <a:solidFill>
                <a:srgbClr val="0F2B46"/>
              </a:solidFill>
            </c:spPr>
            <c:extLst>
              <c:ext xmlns:c16="http://schemas.microsoft.com/office/drawing/2014/chart" uri="{C3380CC4-5D6E-409C-BE32-E72D297353CC}">
                <c16:uniqueId val="{00000001-9F1C-400C-B869-43BEE2F13F66}"/>
              </c:ext>
            </c:extLst>
          </c:dPt>
          <c:dPt>
            <c:idx val="1"/>
            <c:bubble3D val="0"/>
            <c:spPr>
              <a:solidFill>
                <a:srgbClr val="1A4A6E"/>
              </a:solidFill>
            </c:spPr>
            <c:extLst>
              <c:ext xmlns:c16="http://schemas.microsoft.com/office/drawing/2014/chart" uri="{C3380CC4-5D6E-409C-BE32-E72D297353CC}">
                <c16:uniqueId val="{00000003-9F1C-400C-B869-43BEE2F13F66}"/>
              </c:ext>
            </c:extLst>
          </c:dPt>
          <c:dPt>
            <c:idx val="2"/>
            <c:bubble3D val="0"/>
            <c:spPr>
              <a:solidFill>
                <a:srgbClr val="009688"/>
              </a:solidFill>
            </c:spPr>
            <c:extLst>
              <c:ext xmlns:c16="http://schemas.microsoft.com/office/drawing/2014/chart" uri="{C3380CC4-5D6E-409C-BE32-E72D297353CC}">
                <c16:uniqueId val="{00000005-9F1C-400C-B869-43BEE2F13F66}"/>
              </c:ext>
            </c:extLst>
          </c:dPt>
          <c:dPt>
            <c:idx val="3"/>
            <c:bubble3D val="0"/>
            <c:spPr>
              <a:solidFill>
                <a:srgbClr val="C9A227"/>
              </a:solidFill>
            </c:spPr>
            <c:extLst>
              <c:ext xmlns:c16="http://schemas.microsoft.com/office/drawing/2014/chart" uri="{C3380CC4-5D6E-409C-BE32-E72D297353CC}">
                <c16:uniqueId val="{00000007-9F1C-400C-B869-43BEE2F13F66}"/>
              </c:ext>
            </c:extLst>
          </c:dPt>
          <c:dPt>
            <c:idx val="4"/>
            <c:bubble3D val="0"/>
            <c:spPr>
              <a:solidFill>
                <a:srgbClr val="5B6EAE"/>
              </a:solidFill>
            </c:spPr>
            <c:extLst>
              <c:ext xmlns:c16="http://schemas.microsoft.com/office/drawing/2014/chart" uri="{C3380CC4-5D6E-409C-BE32-E72D297353CC}">
                <c16:uniqueId val="{00000009-9F1C-400C-B869-43BEE2F13F66}"/>
              </c:ext>
            </c:extLst>
          </c:dPt>
          <c:dPt>
            <c:idx val="5"/>
            <c:bubble3D val="0"/>
            <c:spPr>
              <a:solidFill>
                <a:srgbClr val="2E6DA4"/>
              </a:solidFill>
            </c:spPr>
            <c:extLst>
              <c:ext xmlns:c16="http://schemas.microsoft.com/office/drawing/2014/chart" uri="{C3380CC4-5D6E-409C-BE32-E72D297353CC}">
                <c16:uniqueId val="{0000000B-9F1C-400C-B869-43BEE2F13F66}"/>
              </c:ext>
            </c:extLst>
          </c:dPt>
          <c:dPt>
            <c:idx val="6"/>
            <c:bubble3D val="0"/>
            <c:spPr>
              <a:solidFill>
                <a:srgbClr val="8A9BAE"/>
              </a:solidFill>
            </c:spPr>
            <c:extLst>
              <c:ext xmlns:c16="http://schemas.microsoft.com/office/drawing/2014/chart" uri="{C3380CC4-5D6E-409C-BE32-E72D297353CC}">
                <c16:uniqueId val="{0000000D-9F1C-400C-B869-43BEE2F13F66}"/>
              </c:ext>
            </c:extLst>
          </c:dPt>
          <c:dPt>
            <c:idx val="7"/>
            <c:bubble3D val="0"/>
            <c:spPr>
              <a:solidFill>
                <a:srgbClr val="0F2B46"/>
              </a:solidFill>
            </c:spPr>
            <c:extLst>
              <c:ext xmlns:c16="http://schemas.microsoft.com/office/drawing/2014/chart" uri="{C3380CC4-5D6E-409C-BE32-E72D297353CC}">
                <c16:uniqueId val="{0000000F-9F1C-400C-B869-43BEE2F13F66}"/>
              </c:ext>
            </c:extLst>
          </c:dPt>
          <c:cat>
            <c:strRef>
              <c:f>Sheet1!$A$2:$A$9</c:f>
              <c:strCache>
                <c:ptCount val="8"/>
                <c:pt idx="0">
                  <c:v>Lyophiliser</c:v>
                </c:pt>
                <c:pt idx="1">
                  <c:v>HPLC skid</c:v>
                </c:pt>
                <c:pt idx="2">
                  <c:v>Tanks and vessels</c:v>
                </c:pt>
                <c:pt idx="3">
                  <c:v>Pumps</c:v>
                </c:pt>
                <c:pt idx="4">
                  <c:v>Civil and structure</c:v>
                </c:pt>
                <c:pt idx="5">
                  <c:v>Mechanical and piping</c:v>
                </c:pt>
                <c:pt idx="6">
                  <c:v>Electrical and instruments</c:v>
                </c:pt>
                <c:pt idx="7">
                  <c:v>HVAC</c:v>
                </c:pt>
              </c:strCache>
            </c:strRef>
          </c:cat>
          <c:val>
            <c:numRef>
              <c:f>Sheet1!$B$2:$B$9</c:f>
              <c:numCache>
                <c:formatCode>General</c:formatCode>
                <c:ptCount val="8"/>
                <c:pt idx="0">
                  <c:v>967000</c:v>
                </c:pt>
                <c:pt idx="1">
                  <c:v>358000</c:v>
                </c:pt>
                <c:pt idx="2">
                  <c:v>200000</c:v>
                </c:pt>
                <c:pt idx="3">
                  <c:v>50000</c:v>
                </c:pt>
                <c:pt idx="4">
                  <c:v>326000</c:v>
                </c:pt>
                <c:pt idx="5">
                  <c:v>264000</c:v>
                </c:pt>
                <c:pt idx="6">
                  <c:v>128000</c:v>
                </c:pt>
                <c:pt idx="7">
                  <c:v>35300</c:v>
                </c:pt>
              </c:numCache>
            </c:numRef>
          </c:val>
          <c:extLst>
            <c:ext xmlns:c16="http://schemas.microsoft.com/office/drawing/2014/chart" uri="{C3380CC4-5D6E-409C-BE32-E72D297353CC}">
              <c16:uniqueId val="{00000010-9F1C-400C-B869-43BEE2F13F66}"/>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0"/>
    <c:plotArea>
      <c:layout/>
      <c:barChart>
        <c:barDir val="bar"/>
        <c:grouping val="stacked"/>
        <c:varyColors val="1"/>
        <c:ser>
          <c:idx val="0"/>
          <c:order val="0"/>
          <c:tx>
            <c:strRef>
              <c:f>Sheet1!$B$1</c:f>
              <c:strCache>
                <c:ptCount val="1"/>
                <c:pt idx="0">
                  <c:v>Main equipment subtotal</c:v>
                </c:pt>
              </c:strCache>
            </c:strRef>
          </c:tx>
          <c:spPr>
            <a:solidFill>
              <a:srgbClr val="0F2B46"/>
            </a:solidFill>
          </c:spPr>
          <c:invertIfNegative val="1"/>
          <c:cat>
            <c:strRef>
              <c:f>Sheet1!$A$2:$A$2</c:f>
              <c:strCache>
                <c:ptCount val="1"/>
                <c:pt idx="0">
                  <c:v>Total investment</c:v>
                </c:pt>
              </c:strCache>
            </c:strRef>
          </c:cat>
          <c:val>
            <c:numRef>
              <c:f>Sheet1!$B$2:$B$2</c:f>
              <c:numCache>
                <c:formatCode>General</c:formatCode>
                <c:ptCount val="1"/>
                <c:pt idx="0">
                  <c:v>1905000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C26-4EA5-AB31-E37A615ABB64}"/>
            </c:ext>
          </c:extLst>
        </c:ser>
        <c:ser>
          <c:idx val="1"/>
          <c:order val="1"/>
          <c:tx>
            <c:strRef>
              <c:f>Sheet1!$C$1</c:f>
              <c:strCache>
                <c:ptCount val="1"/>
                <c:pt idx="0">
                  <c:v>Project contingency</c:v>
                </c:pt>
              </c:strCache>
            </c:strRef>
          </c:tx>
          <c:spPr>
            <a:solidFill>
              <a:srgbClr val="1A4A6E"/>
            </a:solidFill>
          </c:spPr>
          <c:invertIfNegative val="1"/>
          <c:cat>
            <c:strRef>
              <c:f>Sheet1!$A$2:$A$2</c:f>
              <c:strCache>
                <c:ptCount val="1"/>
                <c:pt idx="0">
                  <c:v>Total investment</c:v>
                </c:pt>
              </c:strCache>
            </c:strRef>
          </c:cat>
          <c:val>
            <c:numRef>
              <c:f>Sheet1!$C$2:$C$2</c:f>
              <c:numCache>
                <c:formatCode>General</c:formatCode>
                <c:ptCount val="1"/>
                <c:pt idx="0">
                  <c:v>571500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C26-4EA5-AB31-E37A615ABB64}"/>
            </c:ext>
          </c:extLst>
        </c:ser>
        <c:dLbls>
          <c:showLegendKey val="0"/>
          <c:showVal val="0"/>
          <c:showCatName val="0"/>
          <c:showSerName val="0"/>
          <c:showPercent val="0"/>
          <c:showBubbleSize val="0"/>
        </c:dLbls>
        <c:gapWidth val="150"/>
        <c:overlap val="10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b"/>
      <c:layout/>
      <c:overlay val="0"/>
    </c:legend>
    <c:plotVisOnly val="1"/>
    <c:dispBlanksAs val="gap"/>
    <c:showDLblsOverMax val="1"/>
  </c:chart>
  <c:txPr>
    <a:bodyPr/>
    <a:lstStyle/>
    <a:p>
      <a:pPr>
        <a:defRPr sz="1800"/>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c:style val="2"/>
  <c:chart>
    <c:title>
      <c:layout/>
      <c:overlay val="0"/>
    </c:title>
    <c:autoTitleDeleted val="0"/>
    <c:plotArea>
      <c:layout/>
      <c:doughnutChart>
        <c:varyColors val="1"/>
        <c:ser>
          <c:idx val="0"/>
          <c:order val="0"/>
          <c:tx>
            <c:strRef>
              <c:f>Sheet1!$B$1</c:f>
              <c:strCache>
                <c:ptCount val="1"/>
                <c:pt idx="0">
                  <c:v>£</c:v>
                </c:pt>
              </c:strCache>
            </c:strRef>
          </c:tx>
          <c:dPt>
            <c:idx val="0"/>
            <c:bubble3D val="0"/>
            <c:spPr>
              <a:solidFill>
                <a:srgbClr val="0F2B46"/>
              </a:solidFill>
            </c:spPr>
            <c:extLst>
              <c:ext xmlns:c16="http://schemas.microsoft.com/office/drawing/2014/chart" uri="{C3380CC4-5D6E-409C-BE32-E72D297353CC}">
                <c16:uniqueId val="{00000001-3FF2-4896-AB49-438CCC4AEC20}"/>
              </c:ext>
            </c:extLst>
          </c:dPt>
          <c:dPt>
            <c:idx val="1"/>
            <c:bubble3D val="0"/>
            <c:spPr>
              <a:solidFill>
                <a:srgbClr val="1A4A6E"/>
              </a:solidFill>
            </c:spPr>
            <c:extLst>
              <c:ext xmlns:c16="http://schemas.microsoft.com/office/drawing/2014/chart" uri="{C3380CC4-5D6E-409C-BE32-E72D297353CC}">
                <c16:uniqueId val="{00000003-3FF2-4896-AB49-438CCC4AEC20}"/>
              </c:ext>
            </c:extLst>
          </c:dPt>
          <c:dPt>
            <c:idx val="2"/>
            <c:bubble3D val="0"/>
            <c:spPr>
              <a:solidFill>
                <a:srgbClr val="009688"/>
              </a:solidFill>
            </c:spPr>
            <c:extLst>
              <c:ext xmlns:c16="http://schemas.microsoft.com/office/drawing/2014/chart" uri="{C3380CC4-5D6E-409C-BE32-E72D297353CC}">
                <c16:uniqueId val="{00000005-3FF2-4896-AB49-438CCC4AEC20}"/>
              </c:ext>
            </c:extLst>
          </c:dPt>
          <c:cat>
            <c:strRef>
              <c:f>Sheet1!$A$2:$A$4</c:f>
              <c:strCache>
                <c:ptCount val="3"/>
                <c:pt idx="0">
                  <c:v>1. Fixed isolators</c:v>
                </c:pt>
                <c:pt idx="1">
                  <c:v>2. HVAC and airlocks</c:v>
                </c:pt>
                <c:pt idx="2">
                  <c:v>3. Flexible containment</c:v>
                </c:pt>
              </c:strCache>
            </c:strRef>
          </c:cat>
          <c:val>
            <c:numRef>
              <c:f>Sheet1!$B$2:$B$4</c:f>
              <c:numCache>
                <c:formatCode>General</c:formatCode>
                <c:ptCount val="3"/>
                <c:pt idx="0">
                  <c:v>1000000</c:v>
                </c:pt>
                <c:pt idx="1">
                  <c:v>575000</c:v>
                </c:pt>
                <c:pt idx="2">
                  <c:v>330000</c:v>
                </c:pt>
              </c:numCache>
            </c:numRef>
          </c:val>
          <c:extLst>
            <c:ext xmlns:c16="http://schemas.microsoft.com/office/drawing/2014/chart" uri="{C3380CC4-5D6E-409C-BE32-E72D297353CC}">
              <c16:uniqueId val="{00000006-3FF2-4896-AB49-438CCC4AEC20}"/>
            </c:ext>
          </c:extLst>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txPr>
    <a:bodyPr/>
    <a:lstStyle/>
    <a:p>
      <a:pPr>
        <a:defRPr sz="1800"/>
      </a:pPr>
      <a:endParaRPr lang="zh-CN"/>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1 / 31</a:t>
            </a:r>
          </a:p>
        </p:txBody>
      </p:sp>
      <p:sp>
        <p:nvSpPr>
          <p:cNvPr id="10" name="Rectangle 9"/>
          <p:cNvSpPr/>
          <p:nvPr/>
        </p:nvSpPr>
        <p:spPr>
          <a:xfrm>
            <a:off x="0" y="64008"/>
            <a:ext cx="201168" cy="6501384"/>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 y="1051560"/>
            <a:ext cx="2331720" cy="347472"/>
          </a:xfrm>
          <a:prstGeom prst="roundRect">
            <a:avLst>
              <a:gd name="adj" fmla="val 18000"/>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200" b="1">
                <a:solidFill>
                  <a:srgbClr val="FFFFFF"/>
                </a:solidFill>
                <a:latin typeface="Calibri"/>
                <a:ea typeface="微软雅黑"/>
                <a:cs typeface="Calibri"/>
              </a:rPr>
              <a:t>Internal briefing</a:t>
            </a:r>
          </a:p>
        </p:txBody>
      </p:sp>
      <p:sp>
        <p:nvSpPr>
          <p:cNvPr id="12" name="TextBox 11"/>
          <p:cNvSpPr txBox="1"/>
          <p:nvPr/>
        </p:nvSpPr>
        <p:spPr>
          <a:xfrm>
            <a:off x="502920" y="1554480"/>
            <a:ext cx="11155680" cy="640080"/>
          </a:xfrm>
          <a:prstGeom prst="rect">
            <a:avLst/>
          </a:prstGeom>
          <a:noFill/>
        </p:spPr>
        <p:txBody>
          <a:bodyPr wrap="square" anchor="t">
            <a:spAutoFit/>
          </a:bodyPr>
          <a:lstStyle/>
          <a:p>
            <a:pPr algn="l"/>
            <a:r>
              <a:rPr sz="3400" b="1" dirty="0" err="1">
                <a:solidFill>
                  <a:srgbClr val="0F2B46"/>
                </a:solidFill>
                <a:latin typeface="Calibri"/>
                <a:ea typeface="微软雅黑"/>
                <a:cs typeface="Calibri"/>
              </a:rPr>
              <a:t>Asymchem UK · Sandwich Pilot Plant</a:t>
            </a:r>
            <a:r>
              <a:rPr sz="3400" b="1" dirty="0">
                <a:solidFill>
                  <a:srgbClr val="0F2B46"/>
                </a:solidFill>
                <a:latin typeface="微软雅黑"/>
                <a:ea typeface="微软雅黑"/>
                <a:cs typeface="微软雅黑"/>
              </a:rPr>
              <a:t/>
            </a:r>
            <a:r>
              <a:rPr sz="3400" b="1" dirty="0" smtClean="0">
                <a:solidFill>
                  <a:srgbClr val="0F2B46"/>
                </a:solidFill>
                <a:latin typeface="微软雅黑"/>
                <a:ea typeface="微软雅黑"/>
                <a:cs typeface="微软雅黑"/>
              </a:rPr>
              <a:t/>
            </a:r>
            <a:r>
              <a:rPr lang="en-US" altLang="zh-CN" sz="3400" b="1" dirty="0" smtClean="0">
                <a:solidFill>
                  <a:srgbClr val="0F2B46"/>
                </a:solidFill>
                <a:latin typeface="微软雅黑"/>
                <a:ea typeface="微软雅黑"/>
                <a:cs typeface="微软雅黑"/>
              </a:rPr>
              <a:t/>
            </a:r>
            <a:endParaRPr sz="3400" b="1" dirty="0">
              <a:solidFill>
                <a:srgbClr val="0F2B46"/>
              </a:solidFill>
              <a:latin typeface="微软雅黑"/>
              <a:ea typeface="微软雅黑"/>
              <a:cs typeface="微软雅黑"/>
            </a:endParaRPr>
          </a:p>
        </p:txBody>
      </p:sp>
      <p:sp>
        <p:nvSpPr>
          <p:cNvPr id="13" name="TextBox 12"/>
          <p:cNvSpPr txBox="1"/>
          <p:nvPr/>
        </p:nvSpPr>
        <p:spPr>
          <a:xfrm>
            <a:off x="502920" y="2194560"/>
            <a:ext cx="11155680" cy="365760"/>
          </a:xfrm>
          <a:prstGeom prst="rect">
            <a:avLst/>
          </a:prstGeom>
          <a:noFill/>
        </p:spPr>
        <p:txBody>
          <a:bodyPr wrap="square" anchor="t">
            <a:spAutoFit/>
          </a:bodyPr>
          <a:lstStyle/>
          <a:p>
            <a:pPr algn="l"/>
            <a:r>
              <a:rPr sz="2000" b="0">
                <a:solidFill>
                  <a:srgbClr val="5A6A7A"/>
                </a:solidFill>
                <a:latin typeface="Calibri"/>
                <a:ea typeface="微软雅黑"/>
                <a:cs typeface="Calibri"/>
              </a:rPr>
              <a:t>Capital projects briefing</a:t>
            </a:r>
          </a:p>
        </p:txBody>
      </p:sp>
      <p:sp>
        <p:nvSpPr>
          <p:cNvPr id="14" name="Rectangle 13"/>
          <p:cNvSpPr/>
          <p:nvPr/>
        </p:nvSpPr>
        <p:spPr>
          <a:xfrm>
            <a:off x="502920" y="2670048"/>
            <a:ext cx="14630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2920" y="2880360"/>
            <a:ext cx="3608832"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2880360"/>
            <a:ext cx="3608832" cy="91440"/>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3154680"/>
            <a:ext cx="3243072" cy="640080"/>
          </a:xfrm>
          <a:prstGeom prst="rect">
            <a:avLst/>
          </a:prstGeom>
          <a:noFill/>
        </p:spPr>
        <p:txBody>
          <a:bodyPr wrap="square" anchor="t">
            <a:spAutoFit/>
          </a:bodyPr>
          <a:lstStyle/>
          <a:p>
            <a:pPr algn="l"/>
            <a:r>
              <a:rPr sz="1700" b="1">
                <a:solidFill>
                  <a:srgbClr val="0F2B46"/>
                </a:solidFill>
                <a:latin typeface="Calibri"/>
                <a:ea typeface="微软雅黑"/>
                <a:cs typeface="Calibri"/>
              </a:rPr>
              <a:t>1. Ground floor and C1 upgrade</a:t>
            </a:r>
          </a:p>
        </p:txBody>
      </p:sp>
      <p:sp>
        <p:nvSpPr>
          <p:cNvPr id="18" name="TextBox 17"/>
          <p:cNvSpPr txBox="1"/>
          <p:nvPr/>
        </p:nvSpPr>
        <p:spPr>
          <a:xfrm>
            <a:off x="685800" y="3840480"/>
            <a:ext cx="3243072" cy="640080"/>
          </a:xfrm>
          <a:prstGeom prst="rect">
            <a:avLst/>
          </a:prstGeom>
          <a:noFill/>
        </p:spPr>
        <p:txBody>
          <a:bodyPr wrap="square" anchor="t">
            <a:spAutoFit/>
          </a:bodyPr>
          <a:lstStyle/>
          <a:p>
            <a:pPr algn="l"/>
            <a:r>
              <a:rPr sz="3000" b="1">
                <a:solidFill>
                  <a:srgbClr val="5B6EAE"/>
                </a:solidFill>
                <a:latin typeface="Calibri"/>
                <a:ea typeface="微软雅黑"/>
                <a:cs typeface="Calibri"/>
              </a:rPr>
              <a:t>£7.81M</a:t>
            </a:r>
          </a:p>
        </p:txBody>
      </p:sp>
      <p:sp>
        <p:nvSpPr>
          <p:cNvPr id="19" name="TextBox 18"/>
          <p:cNvSpPr txBox="1"/>
          <p:nvPr/>
        </p:nvSpPr>
        <p:spPr>
          <a:xfrm>
            <a:off x="685800" y="4617720"/>
            <a:ext cx="3243072" cy="914400"/>
          </a:xfrm>
          <a:prstGeom prst="rect">
            <a:avLst/>
          </a:prstGeom>
          <a:noFill/>
        </p:spPr>
        <p:txBody>
          <a:bodyPr wrap="square" anchor="t">
            <a:spAutoFit/>
          </a:bodyPr>
          <a:lstStyle/>
          <a:p>
            <a:pPr algn="l"/>
            <a:r>
              <a:rPr sz="1300" b="0">
                <a:solidFill>
                  <a:srgbClr val="5A6A7A"/>
                </a:solidFill>
                <a:latin typeface="Calibri"/>
                <a:ea typeface="微软雅黑"/>
                <a:cs typeface="Calibri"/>
              </a:rPr>
              <a:t>HPLC + lyophiliser £5.33M
C1 Oct 2027 / HPLC Dec 2027 / lyophiliser Jun 2028</a:t>
            </a:r>
          </a:p>
        </p:txBody>
      </p:sp>
      <p:sp>
        <p:nvSpPr>
          <p:cNvPr id="20" name="Rounded Rectangle 19"/>
          <p:cNvSpPr/>
          <p:nvPr/>
        </p:nvSpPr>
        <p:spPr>
          <a:xfrm>
            <a:off x="4276344" y="2880360"/>
            <a:ext cx="3608832"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76344" y="2880360"/>
            <a:ext cx="3608832" cy="91440"/>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59224" y="3154680"/>
            <a:ext cx="3243072" cy="640080"/>
          </a:xfrm>
          <a:prstGeom prst="rect">
            <a:avLst/>
          </a:prstGeom>
          <a:noFill/>
        </p:spPr>
        <p:txBody>
          <a:bodyPr wrap="square" anchor="t">
            <a:spAutoFit/>
          </a:bodyPr>
          <a:lstStyle/>
          <a:p>
            <a:pPr algn="l"/>
            <a:r>
              <a:rPr sz="1700" b="1">
                <a:solidFill>
                  <a:srgbClr val="0F2B46"/>
                </a:solidFill>
                <a:latin typeface="Calibri"/>
                <a:ea typeface="微软雅黑"/>
                <a:cs typeface="Calibri"/>
              </a:rPr>
              <a:t>2. OEB5 high-potency laboratory</a:t>
            </a:r>
          </a:p>
        </p:txBody>
      </p:sp>
      <p:sp>
        <p:nvSpPr>
          <p:cNvPr id="23" name="TextBox 22"/>
          <p:cNvSpPr txBox="1"/>
          <p:nvPr/>
        </p:nvSpPr>
        <p:spPr>
          <a:xfrm>
            <a:off x="4459224" y="3840480"/>
            <a:ext cx="3243072" cy="640080"/>
          </a:xfrm>
          <a:prstGeom prst="rect">
            <a:avLst/>
          </a:prstGeom>
          <a:noFill/>
        </p:spPr>
        <p:txBody>
          <a:bodyPr wrap="square" anchor="t">
            <a:spAutoFit/>
          </a:bodyPr>
          <a:lstStyle/>
          <a:p>
            <a:pPr algn="l"/>
            <a:r>
              <a:rPr sz="3000" b="1">
                <a:solidFill>
                  <a:srgbClr val="1F7A6F"/>
                </a:solidFill>
                <a:latin typeface="Calibri"/>
                <a:ea typeface="微软雅黑"/>
                <a:cs typeface="Calibri"/>
              </a:rPr>
              <a:t>£3.55M</a:t>
            </a:r>
          </a:p>
        </p:txBody>
      </p:sp>
      <p:sp>
        <p:nvSpPr>
          <p:cNvPr id="24" name="TextBox 23"/>
          <p:cNvSpPr txBox="1"/>
          <p:nvPr/>
        </p:nvSpPr>
        <p:spPr>
          <a:xfrm>
            <a:off x="4459224" y="4617720"/>
            <a:ext cx="3243072" cy="914400"/>
          </a:xfrm>
          <a:prstGeom prst="rect">
            <a:avLst/>
          </a:prstGeom>
          <a:noFill/>
        </p:spPr>
        <p:txBody>
          <a:bodyPr wrap="square" anchor="t">
            <a:spAutoFit/>
          </a:bodyPr>
          <a:lstStyle/>
          <a:p>
            <a:pPr algn="l"/>
            <a:r>
              <a:rPr sz="1300" b="0">
                <a:solidFill>
                  <a:srgbClr val="5A6A7A"/>
                </a:solidFill>
                <a:latin typeface="Calibri"/>
                <a:ea typeface="微软雅黑"/>
                <a:cs typeface="Calibri"/>
              </a:rPr>
              <a:t>Phase 1 basis (excludes Phase 2 equipment)
Target delivery November 2027</a:t>
            </a:r>
          </a:p>
        </p:txBody>
      </p:sp>
      <p:sp>
        <p:nvSpPr>
          <p:cNvPr id="25" name="Rounded Rectangle 24"/>
          <p:cNvSpPr/>
          <p:nvPr/>
        </p:nvSpPr>
        <p:spPr>
          <a:xfrm>
            <a:off x="8049768" y="2880360"/>
            <a:ext cx="3608832"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049768" y="2880360"/>
            <a:ext cx="3608832" cy="91440"/>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32648" y="3154680"/>
            <a:ext cx="3243072" cy="640080"/>
          </a:xfrm>
          <a:prstGeom prst="rect">
            <a:avLst/>
          </a:prstGeom>
          <a:noFill/>
        </p:spPr>
        <p:txBody>
          <a:bodyPr wrap="square" anchor="t">
            <a:spAutoFit/>
          </a:bodyPr>
          <a:lstStyle/>
          <a:p>
            <a:pPr algn="l"/>
            <a:r>
              <a:rPr sz="1700" b="1">
                <a:solidFill>
                  <a:srgbClr val="0F2B46"/>
                </a:solidFill>
                <a:latin typeface="Calibri"/>
                <a:ea typeface="微软雅黑"/>
                <a:cs typeface="Calibri"/>
              </a:rPr>
              <a:t>3. B902 east extension</a:t>
            </a:r>
          </a:p>
        </p:txBody>
      </p:sp>
      <p:sp>
        <p:nvSpPr>
          <p:cNvPr id="28" name="TextBox 27"/>
          <p:cNvSpPr txBox="1"/>
          <p:nvPr/>
        </p:nvSpPr>
        <p:spPr>
          <a:xfrm>
            <a:off x="8232648" y="3840480"/>
            <a:ext cx="3243072" cy="640080"/>
          </a:xfrm>
          <a:prstGeom prst="rect">
            <a:avLst/>
          </a:prstGeom>
          <a:noFill/>
        </p:spPr>
        <p:txBody>
          <a:bodyPr wrap="square" anchor="t">
            <a:spAutoFit/>
          </a:bodyPr>
          <a:lstStyle/>
          <a:p>
            <a:pPr algn="l"/>
            <a:r>
              <a:rPr sz="3000" b="1">
                <a:solidFill>
                  <a:srgbClr val="1A4A6E"/>
                </a:solidFill>
                <a:latin typeface="Calibri"/>
                <a:ea typeface="微软雅黑"/>
                <a:cs typeface="Calibri"/>
              </a:rPr>
              <a:t>£78.1M</a:t>
            </a:r>
          </a:p>
        </p:txBody>
      </p:sp>
      <p:sp>
        <p:nvSpPr>
          <p:cNvPr id="29" name="TextBox 28"/>
          <p:cNvSpPr txBox="1"/>
          <p:nvPr/>
        </p:nvSpPr>
        <p:spPr>
          <a:xfrm>
            <a:off x="8232648" y="4617720"/>
            <a:ext cx="3243072" cy="914400"/>
          </a:xfrm>
          <a:prstGeom prst="rect">
            <a:avLst/>
          </a:prstGeom>
          <a:noFill/>
        </p:spPr>
        <p:txBody>
          <a:bodyPr wrap="square" anchor="t">
            <a:spAutoFit/>
          </a:bodyPr>
          <a:lstStyle/>
          <a:p>
            <a:pPr algn="l"/>
            <a:r>
              <a:rPr sz="1300" b="0">
                <a:solidFill>
                  <a:srgbClr val="5A6A7A"/>
                </a:solidFill>
                <a:latin typeface="Calibri"/>
                <a:ea typeface="微软雅黑"/>
                <a:cs typeface="Calibri"/>
              </a:rPr>
              <a:t>Feasibility OOM
Completion May 2030</a:t>
            </a:r>
          </a:p>
        </p:txBody>
      </p:sp>
      <p:sp>
        <p:nvSpPr>
          <p:cNvPr id="30" name="TextBox 29"/>
          <p:cNvSpPr txBox="1"/>
          <p:nvPr/>
        </p:nvSpPr>
        <p:spPr>
          <a:xfrm>
            <a:off x="502920" y="5852160"/>
            <a:ext cx="11155680" cy="320040"/>
          </a:xfrm>
          <a:prstGeom prst="rect">
            <a:avLst/>
          </a:prstGeom>
          <a:noFill/>
        </p:spPr>
        <p:txBody>
          <a:bodyPr wrap="square" anchor="t">
            <a:spAutoFit/>
          </a:bodyPr>
          <a:lstStyle/>
          <a:p>
            <a:pPr algn="l"/>
            <a:r>
              <a:rPr lang="zh-CN" altLang="en-US" sz="1400" dirty="0">
                <a:solidFill>
                  <a:srgbClr val="5A6A7A"/>
                </a:solidFill>
                <a:latin typeface="Calibri"/>
                <a:ea typeface="微软雅黑"/>
                <a:cs typeface="Calibri"/>
              </a:rPr>
              <a:t>Briefing date: 12 October 2026</a:t>
            </a:r>
            <a:r>
              <a:rPr lang="zh-CN" altLang="en-US" sz="1400" dirty="0" smtClean="0">
                <a:solidFill>
                  <a:srgbClr val="5A6A7A"/>
                </a:solidFill>
                <a:latin typeface="微软雅黑"/>
                <a:ea typeface="微软雅黑"/>
                <a:cs typeface="微软雅黑"/>
              </a:rPr>
              <a:t/>
            </a:r>
            <a:r>
              <a:rPr sz="1400" b="0" dirty="0" smtClean="0">
                <a:solidFill>
                  <a:srgbClr val="5A6A7A"/>
                </a:solidFill>
                <a:latin typeface="微软雅黑"/>
                <a:ea typeface="微软雅黑"/>
                <a:cs typeface="微软雅黑"/>
              </a:rPr>
              <a:t/>
            </a:r>
            <a:r>
              <a:rPr sz="1400" b="0" dirty="0">
                <a:solidFill>
                  <a:srgbClr val="5A6A7A"/>
                </a:solidFill>
                <a:latin typeface="微软雅黑"/>
                <a:ea typeface="微软雅黑"/>
                <a:cs typeface="微软雅黑"/>
              </a:rP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2 / 31</a:t>
            </a:r>
          </a:p>
        </p:txBody>
      </p:sp>
      <p:sp>
        <p:nvSpPr>
          <p:cNvPr id="10" name="Rectangle 9"/>
          <p:cNvSpPr/>
          <p:nvPr/>
        </p:nvSpPr>
        <p:spPr>
          <a:xfrm>
            <a:off x="384048" y="164592"/>
            <a:ext cx="82296" cy="713232"/>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Portfolio overview</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Three parts · feasibility / concept / internal estimate</a:t>
            </a:r>
          </a:p>
        </p:txBody>
      </p:sp>
      <p:graphicFrame>
        <p:nvGraphicFramePr>
          <p:cNvPr id="13" name="Table 12"/>
          <p:cNvGraphicFramePr>
            <a:graphicFrameLocks noGrp="1"/>
          </p:cNvGraphicFramePr>
          <p:nvPr>
            <p:extLst>
              <p:ext uri="{D42A27DB-BD31-4B8C-83A1-F6EECF244321}">
                <p14:modId xmlns:p14="http://schemas.microsoft.com/office/powerpoint/2010/main" val="3121796753"/>
              </p:ext>
            </p:extLst>
          </p:nvPr>
        </p:nvGraphicFramePr>
        <p:xfrm>
          <a:off x="384048" y="1051560"/>
          <a:ext cx="11368735" cy="30632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407615">
                  <a:extLst>
                    <a:ext uri="{9D8B030D-6E8A-4147-A177-3AD203B41FA5}">
                      <a16:colId xmlns:a16="http://schemas.microsoft.com/office/drawing/2014/main" val="20003"/>
                    </a:ext>
                  </a:extLst>
                </a:gridCol>
              </a:tblGrid>
              <a:tr h="612648">
                <a:tc>
                  <a:txBody>
                    <a:bodyPr/>
                    <a:lstStyle/>
                    <a:p>
                      <a:pPr algn="l"/>
                      <a:r>
                        <a:rPr sz="1400" b="1">
                          <a:solidFill>
                            <a:srgbClr val="FFFFFF"/>
                          </a:solidFill>
                          <a:latin typeface="Calibri"/>
                          <a:ea typeface="微软雅黑"/>
                          <a:cs typeface="Calibri"/>
                        </a:rPr>
                        <a:t>Workstream</a:t>
                      </a:r>
                    </a:p>
                  </a:txBody>
                  <a:tcPr anchor="ctr">
                    <a:solidFill>
                      <a:srgbClr val="0F2B46"/>
                    </a:solidFill>
                  </a:tcPr>
                </a:tc>
                <a:tc>
                  <a:txBody>
                    <a:bodyPr/>
                    <a:lstStyle/>
                    <a:p>
                      <a:pPr algn="l"/>
                      <a:r>
                        <a:rPr sz="1400" b="1">
                          <a:solidFill>
                            <a:srgbClr val="FFFFFF"/>
                          </a:solidFill>
                          <a:latin typeface="Calibri"/>
                          <a:ea typeface="微软雅黑"/>
                          <a:cs typeface="Calibri"/>
                        </a:rPr>
                        <a:t>Scope</a:t>
                      </a:r>
                    </a:p>
                  </a:txBody>
                  <a:tcPr anchor="ctr">
                    <a:solidFill>
                      <a:srgbClr val="0F2B46"/>
                    </a:solidFill>
                  </a:tcPr>
                </a:tc>
                <a:tc>
                  <a:txBody>
                    <a:bodyPr/>
                    <a:lstStyle/>
                    <a:p>
                      <a:pPr algn="ctr"/>
                      <a:r>
                        <a:rPr sz="1400" b="1">
                          <a:solidFill>
                            <a:srgbClr val="FFFFFF"/>
                          </a:solidFill>
                          <a:latin typeface="Calibri"/>
                          <a:ea typeface="微软雅黑"/>
                          <a:cs typeface="Calibri"/>
                        </a:rPr>
                        <a:t>Investment (order of magnitude)</a:t>
                      </a:r>
                    </a:p>
                  </a:txBody>
                  <a:tcPr anchor="ctr">
                    <a:solidFill>
                      <a:srgbClr val="0F2B46"/>
                    </a:solidFill>
                  </a:tcPr>
                </a:tc>
                <a:tc>
                  <a:txBody>
                    <a:bodyPr/>
                    <a:lstStyle/>
                    <a:p>
                      <a:pPr algn="l"/>
                      <a:r>
                        <a:rPr sz="1400" b="1">
                          <a:solidFill>
                            <a:srgbClr val="FFFFFF"/>
                          </a:solidFill>
                          <a:latin typeface="Calibri"/>
                          <a:ea typeface="微软雅黑"/>
                          <a:cs typeface="Calibri"/>
                        </a:rPr>
                        <a:t>Key date</a:t>
                      </a:r>
                    </a:p>
                  </a:txBody>
                  <a:tcPr anchor="ctr">
                    <a:solidFill>
                      <a:srgbClr val="0F2B46"/>
                    </a:solidFill>
                  </a:tcPr>
                </a:tc>
                <a:extLst>
                  <a:ext uri="{0D108BD9-81ED-4DB2-BD59-A6C34878D82A}">
                    <a16:rowId xmlns:a16="http://schemas.microsoft.com/office/drawing/2014/main" val="10000"/>
                  </a:ext>
                </a:extLst>
              </a:tr>
              <a:tr h="612648">
                <a:tc>
                  <a:txBody>
                    <a:bodyPr/>
                    <a:lstStyle/>
                    <a:p>
                      <a:pPr algn="l"/>
                      <a:r>
                        <a:rPr sz="1400" b="0">
                          <a:solidFill>
                            <a:srgbClr val="2C3E50"/>
                          </a:solidFill>
                          <a:latin typeface="Calibri"/>
                          <a:ea typeface="微软雅黑"/>
                          <a:cs typeface="Calibri"/>
                        </a:rPr>
                        <a:t>1. HPLC + lyophiliser</a:t>
                      </a:r>
                    </a:p>
                  </a:txBody>
                  <a:tcPr anchor="ctr">
                    <a:solidFill>
                      <a:srgbClr val="FFFFFF"/>
                    </a:solidFill>
                  </a:tcPr>
                </a:tc>
                <a:tc>
                  <a:txBody>
                    <a:bodyPr/>
                    <a:lstStyle/>
                    <a:p>
                      <a:pPr algn="l"/>
                      <a:r>
                        <a:rPr sz="1400" b="0">
                          <a:solidFill>
                            <a:srgbClr val="2C3E50"/>
                          </a:solidFill>
                          <a:latin typeface="Calibri"/>
                          <a:ea typeface="微软雅黑"/>
                          <a:cs typeface="Calibri"/>
                        </a:rPr>
                        <a:t>Retrofit within the existing PDF footprint (ground floor)</a:t>
                      </a:r>
                    </a:p>
                  </a:txBody>
                  <a:tcPr anchor="ctr">
                    <a:solidFill>
                      <a:srgbClr val="FFFFFF"/>
                    </a:solidFill>
                  </a:tcPr>
                </a:tc>
                <a:tc>
                  <a:txBody>
                    <a:bodyPr/>
                    <a:lstStyle/>
                    <a:p>
                      <a:pPr algn="ctr"/>
                      <a:r>
                        <a:rPr sz="1400" b="0">
                          <a:solidFill>
                            <a:srgbClr val="2C3E50"/>
                          </a:solidFill>
                          <a:latin typeface="Calibri"/>
                          <a:ea typeface="微软雅黑"/>
                          <a:cs typeface="Calibri"/>
                        </a:rPr>
                        <a:t>£5.33M</a:t>
                      </a:r>
                    </a:p>
                  </a:txBody>
                  <a:tcPr anchor="ctr">
                    <a:solidFill>
                      <a:srgbClr val="FFFFFF"/>
                    </a:solidFill>
                  </a:tcPr>
                </a:tc>
                <a:tc>
                  <a:txBody>
                    <a:bodyPr/>
                    <a:lstStyle/>
                    <a:p>
                      <a:pPr algn="l"/>
                      <a:r>
                        <a:rPr sz="1400" b="0">
                          <a:solidFill>
                            <a:srgbClr val="2C3E50"/>
                          </a:solidFill>
                          <a:latin typeface="Calibri"/>
                          <a:ea typeface="微软雅黑"/>
                          <a:cs typeface="Calibri"/>
                        </a:rPr>
                        <a:t>HPLC Dec 2027 / lyophiliser Jun 2028</a:t>
                      </a:r>
                    </a:p>
                  </a:txBody>
                  <a:tcPr anchor="ctr">
                    <a:solidFill>
                      <a:srgbClr val="FFFFFF"/>
                    </a:solidFill>
                  </a:tcPr>
                </a:tc>
                <a:extLst>
                  <a:ext uri="{0D108BD9-81ED-4DB2-BD59-A6C34878D82A}">
                    <a16:rowId xmlns:a16="http://schemas.microsoft.com/office/drawing/2014/main" val="10001"/>
                  </a:ext>
                </a:extLst>
              </a:tr>
              <a:tr h="612648">
                <a:tc>
                  <a:txBody>
                    <a:bodyPr/>
                    <a:lstStyle/>
                    <a:p>
                      <a:pPr algn="l"/>
                      <a:r>
                        <a:rPr lang="en-US" sz="1400" b="0" dirty="0" smtClean="0">
                          <a:solidFill>
                            <a:srgbClr val="2C3E50"/>
                          </a:solidFill>
                          <a:latin typeface="Calibri"/>
                          <a:ea typeface="微软雅黑"/>
                          <a:cs typeface="Calibri"/>
                        </a:rPr>
                        <a:t>C1 module OEB5 upgrade</a:t>
                      </a:r>
                      <a:r>
                        <a:rPr sz="1400" b="0" dirty="0" smtClean="0">
                          <a:solidFill>
                            <a:srgbClr val="2C3E50"/>
                          </a:solidFill>
                          <a:latin typeface="微软雅黑"/>
                          <a:ea typeface="微软雅黑"/>
                          <a:cs typeface="微软雅黑"/>
                        </a:rPr>
                        <a:t/>
                      </a:r>
                      <a:r>
                        <a:rPr sz="1400" b="0" dirty="0" err="1">
                          <a:solidFill>
                            <a:srgbClr val="2C3E50"/>
                          </a:solidFill>
                          <a:latin typeface="微软雅黑"/>
                          <a:ea typeface="微软雅黑"/>
                          <a:cs typeface="微软雅黑"/>
                        </a:rPr>
                        <a:t/>
                      </a:r>
                      <a:r>
                        <a:rPr sz="1400" b="0" dirty="0">
                          <a:solidFill>
                            <a:srgbClr val="2C3E50"/>
                          </a:solidFill>
                          <a:latin typeface="微软雅黑"/>
                          <a:ea typeface="微软雅黑"/>
                          <a:cs typeface="微软雅黑"/>
                        </a:rPr>
                        <a:t/>
                      </a:r>
                      <a:r>
                        <a:rPr sz="1400" b="0" dirty="0" err="1">
                          <a:solidFill>
                            <a:srgbClr val="2C3E50"/>
                          </a:solidFill>
                          <a:latin typeface="微软雅黑"/>
                          <a:ea typeface="微软雅黑"/>
                          <a:cs typeface="微软雅黑"/>
                        </a:rPr>
                        <a:t/>
                      </a:r>
                      <a:endParaRPr sz="1400" b="0" dirty="0">
                        <a:solidFill>
                          <a:srgbClr val="2C3E50"/>
                        </a:solidFill>
                        <a:latin typeface="微软雅黑"/>
                        <a:ea typeface="微软雅黑"/>
                        <a:cs typeface="微软雅黑"/>
                      </a:endParaRPr>
                    </a:p>
                  </a:txBody>
                  <a:tcPr anchor="ctr">
                    <a:solidFill>
                      <a:srgbClr val="F6F8FA"/>
                    </a:solidFill>
                  </a:tcPr>
                </a:tc>
                <a:tc>
                  <a:txBody>
                    <a:bodyPr/>
                    <a:lstStyle/>
                    <a:p>
                      <a:pPr algn="l"/>
                      <a:r>
                        <a:rPr sz="1400" b="0" dirty="0" err="1">
                          <a:solidFill>
                            <a:srgbClr val="2C3E50"/>
                          </a:solidFill>
                          <a:latin typeface="Calibri"/>
                          <a:ea typeface="微软雅黑"/>
                          <a:cs typeface="Calibri"/>
                        </a:rPr>
                        <a:t>Routine OEB5 operation of the existing C1 module</a:t>
                      </a:r>
                      <a:r>
                        <a:rPr sz="1400" b="0" dirty="0">
                          <a:solidFill>
                            <a:srgbClr val="2C3E50"/>
                          </a:solidFill>
                          <a:latin typeface="微软雅黑"/>
                          <a:ea typeface="微软雅黑"/>
                          <a:cs typeface="微软雅黑"/>
                        </a:rPr>
                        <a:t/>
                      </a:r>
                      <a:r>
                        <a:rPr sz="1400" b="0" dirty="0" err="1">
                          <a:solidFill>
                            <a:srgbClr val="2C3E50"/>
                          </a:solidFill>
                          <a:latin typeface="微软雅黑"/>
                          <a:ea typeface="微软雅黑"/>
                          <a:cs typeface="微软雅黑"/>
                        </a:rPr>
                        <a:t/>
                      </a:r>
                      <a:r>
                        <a:rPr sz="1400" b="0" dirty="0">
                          <a:solidFill>
                            <a:srgbClr val="2C3E50"/>
                          </a:solidFill>
                          <a:latin typeface="微软雅黑"/>
                          <a:ea typeface="微软雅黑"/>
                          <a:cs typeface="微软雅黑"/>
                        </a:rPr>
                        <a:t/>
                      </a:r>
                      <a:r>
                        <a:rPr sz="1400" b="0" dirty="0" err="1">
                          <a:solidFill>
                            <a:srgbClr val="2C3E50"/>
                          </a:solidFill>
                          <a:latin typeface="微软雅黑"/>
                          <a:ea typeface="微软雅黑"/>
                          <a:cs typeface="微软雅黑"/>
                        </a:rPr>
                        <a:t/>
                      </a:r>
                      <a:endParaRPr sz="1400" b="0" dirty="0">
                        <a:solidFill>
                          <a:srgbClr val="2C3E50"/>
                        </a:solidFill>
                        <a:latin typeface="微软雅黑"/>
                        <a:ea typeface="微软雅黑"/>
                        <a:cs typeface="微软雅黑"/>
                      </a:endParaRPr>
                    </a:p>
                  </a:txBody>
                  <a:tcPr anchor="ctr">
                    <a:solidFill>
                      <a:srgbClr val="F6F8FA"/>
                    </a:solidFill>
                  </a:tcPr>
                </a:tc>
                <a:tc>
                  <a:txBody>
                    <a:bodyPr/>
                    <a:lstStyle/>
                    <a:p>
                      <a:pPr algn="ctr"/>
                      <a:r>
                        <a:rPr sz="1400" b="0">
                          <a:solidFill>
                            <a:srgbClr val="2C3E50"/>
                          </a:solidFill>
                          <a:latin typeface="Calibri"/>
                          <a:ea typeface="微软雅黑"/>
                          <a:cs typeface="Calibri"/>
                        </a:rPr>
                        <a:t>£2.48M</a:t>
                      </a:r>
                    </a:p>
                  </a:txBody>
                  <a:tcPr anchor="ctr">
                    <a:solidFill>
                      <a:srgbClr val="F6F8FA"/>
                    </a:solidFill>
                  </a:tcPr>
                </a:tc>
                <a:tc>
                  <a:txBody>
                    <a:bodyPr/>
                    <a:lstStyle/>
                    <a:p>
                      <a:pPr algn="l"/>
                      <a:r>
                        <a:rPr sz="1400" b="0">
                          <a:solidFill>
                            <a:srgbClr val="2C3E50"/>
                          </a:solidFill>
                          <a:latin typeface="Calibri"/>
                          <a:ea typeface="微软雅黑"/>
                          <a:cs typeface="Calibri"/>
                        </a:rPr>
                        <a:t>Installation and qualification, October 2027</a:t>
                      </a:r>
                    </a:p>
                  </a:txBody>
                  <a:tcPr anchor="ctr">
                    <a:solidFill>
                      <a:srgbClr val="F6F8FA"/>
                    </a:solidFill>
                  </a:tcPr>
                </a:tc>
                <a:extLst>
                  <a:ext uri="{0D108BD9-81ED-4DB2-BD59-A6C34878D82A}">
                    <a16:rowId xmlns:a16="http://schemas.microsoft.com/office/drawing/2014/main" val="10002"/>
                  </a:ext>
                </a:extLst>
              </a:tr>
              <a:tr h="612648">
                <a:tc>
                  <a:txBody>
                    <a:bodyPr/>
                    <a:lstStyle/>
                    <a:p>
                      <a:pPr algn="l"/>
                      <a:r>
                        <a:rPr sz="1400" b="0">
                          <a:solidFill>
                            <a:srgbClr val="2C3E50"/>
                          </a:solidFill>
                          <a:latin typeface="Calibri"/>
                          <a:ea typeface="微软雅黑"/>
                          <a:cs typeface="Calibri"/>
                        </a:rPr>
                        <a:t>2. OEB5 high-potency laboratory</a:t>
                      </a:r>
                    </a:p>
                  </a:txBody>
                  <a:tcPr anchor="ctr">
                    <a:solidFill>
                      <a:srgbClr val="FFFFFF"/>
                    </a:solidFill>
                  </a:tcPr>
                </a:tc>
                <a:tc>
                  <a:txBody>
                    <a:bodyPr/>
                    <a:lstStyle/>
                    <a:p>
                      <a:pPr algn="l"/>
                      <a:r>
                        <a:rPr sz="1400" b="0">
                          <a:solidFill>
                            <a:srgbClr val="2C3E50"/>
                          </a:solidFill>
                          <a:latin typeface="Calibri"/>
                          <a:ea typeface="微软雅黑"/>
                          <a:cs typeface="Calibri"/>
                        </a:rPr>
                        <a:t>Alteration of the existing G-128 suite; GIFA 215 m²; 4 + 1 isolators</a:t>
                      </a:r>
                    </a:p>
                  </a:txBody>
                  <a:tcPr anchor="ctr">
                    <a:solidFill>
                      <a:srgbClr val="FFFFFF"/>
                    </a:solidFill>
                  </a:tcPr>
                </a:tc>
                <a:tc>
                  <a:txBody>
                    <a:bodyPr/>
                    <a:lstStyle/>
                    <a:p>
                      <a:pPr algn="ctr"/>
                      <a:r>
                        <a:rPr sz="1400" b="0">
                          <a:solidFill>
                            <a:srgbClr val="2C3E50"/>
                          </a:solidFill>
                          <a:latin typeface="Calibri"/>
                          <a:ea typeface="微软雅黑"/>
                          <a:cs typeface="Calibri"/>
                        </a:rPr>
                        <a:t>£3.55M (Phase 1)</a:t>
                      </a:r>
                    </a:p>
                  </a:txBody>
                  <a:tcPr anchor="ctr">
                    <a:solidFill>
                      <a:srgbClr val="FFFFFF"/>
                    </a:solidFill>
                  </a:tcPr>
                </a:tc>
                <a:tc>
                  <a:txBody>
                    <a:bodyPr/>
                    <a:lstStyle/>
                    <a:p>
                      <a:pPr algn="l"/>
                      <a:r>
                        <a:rPr sz="1400" b="0">
                          <a:solidFill>
                            <a:srgbClr val="2C3E50"/>
                          </a:solidFill>
                          <a:latin typeface="Calibri"/>
                          <a:ea typeface="微软雅黑"/>
                          <a:cs typeface="Calibri"/>
                        </a:rPr>
                        <a:t>Target delivery November 2027</a:t>
                      </a:r>
                    </a:p>
                  </a:txBody>
                  <a:tcPr anchor="ctr">
                    <a:solidFill>
                      <a:srgbClr val="FFFFFF"/>
                    </a:solidFill>
                  </a:tcPr>
                </a:tc>
                <a:extLst>
                  <a:ext uri="{0D108BD9-81ED-4DB2-BD59-A6C34878D82A}">
                    <a16:rowId xmlns:a16="http://schemas.microsoft.com/office/drawing/2014/main" val="10003"/>
                  </a:ext>
                </a:extLst>
              </a:tr>
              <a:tr h="612648">
                <a:tc>
                  <a:txBody>
                    <a:bodyPr/>
                    <a:lstStyle/>
                    <a:p>
                      <a:pPr algn="l"/>
                      <a:r>
                        <a:rPr sz="1400" b="0">
                          <a:solidFill>
                            <a:srgbClr val="2C3E50"/>
                          </a:solidFill>
                          <a:latin typeface="Calibri"/>
                          <a:ea typeface="微软雅黑"/>
                          <a:cs typeface="Calibri"/>
                        </a:rPr>
                        <a:t>3. B902 east extension</a:t>
                      </a:r>
                    </a:p>
                  </a:txBody>
                  <a:tcPr anchor="ctr">
                    <a:solidFill>
                      <a:srgbClr val="F6F8FA"/>
                    </a:solidFill>
                  </a:tcPr>
                </a:tc>
                <a:tc>
                  <a:txBody>
                    <a:bodyPr/>
                    <a:lstStyle/>
                    <a:p>
                      <a:pPr algn="l"/>
                      <a:r>
                        <a:rPr sz="1300" b="0" dirty="0" err="1">
                          <a:solidFill>
                            <a:srgbClr val="2C3E50"/>
                          </a:solidFill>
                          <a:latin typeface="Calibri"/>
                          <a:ea typeface="微软雅黑"/>
                          <a:cs typeface="Calibri"/>
                        </a:rPr>
                        <a:t>New four-storey building with a plant mezzanine: reaction, hydrogenation, filtration and drying</a:t>
                      </a:r>
                      <a:r>
                        <a:rPr sz="1400" b="0" dirty="0">
                          <a:solidFill>
                            <a:srgbClr val="2C3E50"/>
                          </a:solidFill>
                          <a:latin typeface="微软雅黑"/>
                          <a:ea typeface="微软雅黑"/>
                          <a:cs typeface="微软雅黑"/>
                        </a:rPr>
                        <a:t/>
                      </a:r>
                      <a:r>
                        <a:rPr sz="1400" b="0" dirty="0" err="1">
                          <a:solidFill>
                            <a:srgbClr val="2C3E50"/>
                          </a:solidFill>
                          <a:latin typeface="微软雅黑"/>
                          <a:ea typeface="微软雅黑"/>
                          <a:cs typeface="微软雅黑"/>
                        </a:rPr>
                        <a:t/>
                      </a:r>
                      <a:r>
                        <a:rPr sz="1400" b="0" dirty="0">
                          <a:solidFill>
                            <a:srgbClr val="2C3E50"/>
                          </a:solidFill>
                          <a:latin typeface="微软雅黑"/>
                          <a:ea typeface="微软雅黑"/>
                          <a:cs typeface="微软雅黑"/>
                        </a:rPr>
                        <a:t/>
                      </a:r>
                      <a:r>
                        <a:rPr sz="1400" b="0" dirty="0" err="1">
                          <a:solidFill>
                            <a:srgbClr val="2C3E50"/>
                          </a:solidFill>
                          <a:latin typeface="微软雅黑"/>
                          <a:ea typeface="微软雅黑"/>
                          <a:cs typeface="微软雅黑"/>
                        </a:rPr>
                        <a:t/>
                      </a:r>
                      <a:endParaRPr sz="1400" b="0" dirty="0">
                        <a:solidFill>
                          <a:srgbClr val="2C3E50"/>
                        </a:solidFill>
                        <a:latin typeface="微软雅黑"/>
                        <a:ea typeface="微软雅黑"/>
                        <a:cs typeface="微软雅黑"/>
                      </a:endParaRPr>
                    </a:p>
                  </a:txBody>
                  <a:tcPr anchor="ctr">
                    <a:solidFill>
                      <a:srgbClr val="F6F8FA"/>
                    </a:solidFill>
                  </a:tcPr>
                </a:tc>
                <a:tc>
                  <a:txBody>
                    <a:bodyPr/>
                    <a:lstStyle/>
                    <a:p>
                      <a:pPr algn="ctr"/>
                      <a:r>
                        <a:rPr sz="1400" b="0">
                          <a:solidFill>
                            <a:srgbClr val="2C3E50"/>
                          </a:solidFill>
                          <a:latin typeface="Calibri"/>
                          <a:ea typeface="微软雅黑"/>
                          <a:cs typeface="Calibri"/>
                        </a:rPr>
                        <a:t>£78.1M</a:t>
                      </a:r>
                    </a:p>
                  </a:txBody>
                  <a:tcPr anchor="ctr">
                    <a:solidFill>
                      <a:srgbClr val="F6F8FA"/>
                    </a:solidFill>
                  </a:tcPr>
                </a:tc>
                <a:tc>
                  <a:txBody>
                    <a:bodyPr/>
                    <a:lstStyle/>
                    <a:p>
                      <a:pPr algn="l"/>
                      <a:r>
                        <a:rPr sz="1400" b="0" dirty="0">
                          <a:solidFill>
                            <a:srgbClr val="2C3E50"/>
                          </a:solidFill>
                          <a:latin typeface="Calibri"/>
                          <a:ea typeface="微软雅黑"/>
                          <a:cs typeface="Calibri"/>
                        </a:rPr>
                        <a:t>Completion May 2030</a:t>
                      </a:r>
                      <a:r>
                        <a:rPr sz="1400" b="0" dirty="0" err="1">
                          <a:solidFill>
                            <a:srgbClr val="2C3E50"/>
                          </a:solidFill>
                          <a:latin typeface="微软雅黑"/>
                          <a:ea typeface="微软雅黑"/>
                          <a:cs typeface="微软雅黑"/>
                        </a:rPr>
                        <a:t/>
                      </a:r>
                      <a:endParaRPr sz="1400" b="0" dirty="0">
                        <a:solidFill>
                          <a:srgbClr val="2C3E50"/>
                        </a:solidFill>
                        <a:latin typeface="微软雅黑"/>
                        <a:ea typeface="微软雅黑"/>
                        <a:cs typeface="微软雅黑"/>
                      </a:endParaRPr>
                    </a:p>
                  </a:txBody>
                  <a:tcPr anchor="ctr">
                    <a:solidFill>
                      <a:srgbClr val="F6F8FA"/>
                    </a:solidFill>
                  </a:tcPr>
                </a:tc>
                <a:extLst>
                  <a:ext uri="{0D108BD9-81ED-4DB2-BD59-A6C34878D82A}">
                    <a16:rowId xmlns:a16="http://schemas.microsoft.com/office/drawing/2014/main" val="10004"/>
                  </a:ext>
                </a:extLst>
              </a:tr>
            </a:tbl>
          </a:graphicData>
        </a:graphic>
      </p:graphicFrame>
      <p:sp>
        <p:nvSpPr>
          <p:cNvPr id="14" name="Rounded Rectangle 13"/>
          <p:cNvSpPr/>
          <p:nvPr/>
        </p:nvSpPr>
        <p:spPr>
          <a:xfrm>
            <a:off x="384048" y="4251960"/>
            <a:ext cx="11423599" cy="868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4048" y="4251960"/>
            <a:ext cx="82296" cy="868680"/>
          </a:xfrm>
          <a:prstGeom prst="rect">
            <a:avLst/>
          </a:prstGeom>
          <a:solidFill>
            <a:srgbClr val="B4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5216" y="4325112"/>
            <a:ext cx="11112703" cy="758952"/>
          </a:xfrm>
          <a:prstGeom prst="rect">
            <a:avLst/>
          </a:prstGeom>
          <a:noFill/>
        </p:spPr>
        <p:txBody>
          <a:bodyPr wrap="square" anchor="t">
            <a:spAutoFit/>
          </a:bodyPr>
          <a:lstStyle/>
          <a:p>
            <a:pPr algn="l"/>
            <a:r>
              <a:rPr sz="1300" b="0">
                <a:solidFill>
                  <a:srgbClr val="2C3E50"/>
                </a:solidFill>
                <a:latin typeface="Calibri"/>
                <a:ea typeface="微软雅黑"/>
                <a:cs typeface="Calibri"/>
              </a:rPr>
              <a:t>Linked delivery: the in-building retrofit (preparative HPLC and lyophiliser) and the C1 upgrade have to finish together before preparative HPLC can run at OEB5. The preparative HPLC unit sets the overall delivery timeline.</a:t>
            </a:r>
          </a:p>
        </p:txBody>
      </p:sp>
      <p:sp>
        <p:nvSpPr>
          <p:cNvPr id="17" name="Rounded Rectangle 16"/>
          <p:cNvSpPr/>
          <p:nvPr/>
        </p:nvSpPr>
        <p:spPr>
          <a:xfrm>
            <a:off x="384048" y="5212080"/>
            <a:ext cx="11423599" cy="6400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84048" y="5212080"/>
            <a:ext cx="82296" cy="64008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5216" y="5285232"/>
            <a:ext cx="11112703" cy="530352"/>
          </a:xfrm>
          <a:prstGeom prst="rect">
            <a:avLst/>
          </a:prstGeom>
          <a:noFill/>
        </p:spPr>
        <p:txBody>
          <a:bodyPr wrap="square" anchor="t">
            <a:spAutoFit/>
          </a:bodyPr>
          <a:lstStyle/>
          <a:p>
            <a:pPr algn="l"/>
            <a:r>
              <a:rPr sz="1200" b="0">
                <a:solidFill>
                  <a:srgbClr val="2C3E50"/>
                </a:solidFill>
                <a:latin typeface="Calibri"/>
                <a:ea typeface="微软雅黑"/>
                <a:cs typeface="Calibri"/>
              </a:rPr>
              <a:t>Demand basis: European BD has compiled the high-potency demand and opportunities directed at Sandwich (2027–2030). Named accounts are AZ, Genmab, BioNTech and NCC. Roche, Innovent and MediLink have also enquired about overseas high-potency capacity.</a:t>
            </a:r>
          </a:p>
        </p:txBody>
      </p:sp>
      <p:sp>
        <p:nvSpPr>
          <p:cNvPr id="20" name="Rounded Rectangle 19"/>
          <p:cNvSpPr/>
          <p:nvPr/>
        </p:nvSpPr>
        <p:spPr>
          <a:xfrm>
            <a:off x="384048" y="5925312"/>
            <a:ext cx="11423599" cy="502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84048" y="5925312"/>
            <a:ext cx="82296" cy="502920"/>
          </a:xfrm>
          <a:prstGeom prst="rect">
            <a:avLst/>
          </a:prstGeom>
          <a:solidFill>
            <a:srgbClr val="5A6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216" y="5998464"/>
            <a:ext cx="11112703" cy="492443"/>
          </a:xfrm>
          <a:prstGeom prst="rect">
            <a:avLst/>
          </a:prstGeom>
          <a:noFill/>
        </p:spPr>
        <p:txBody>
          <a:bodyPr wrap="square" anchor="t">
            <a:spAutoFit/>
          </a:bodyPr>
          <a:lstStyle/>
          <a:p>
            <a:pPr algn="l"/>
            <a:r>
              <a:rPr sz="1100" b="0" dirty="0" err="1">
                <a:solidFill>
                  <a:srgbClr val="2C3E50"/>
                </a:solidFill>
                <a:latin typeface="Calibri"/>
                <a:ea typeface="微软雅黑"/>
                <a:cs typeface="Calibri"/>
              </a:rPr>
              <a:t>Parts 1 and 2 together (retrofit £5.33M + C1 £2.48M + high-potency laboratory Phase 1 £3.55M, excluding Phase 2 equipment) are about £11.36M, excluding the B902 east extension. Each line rests on a different estimate basis: the extension and the retrofit are feasibility level, C1 is an internal estimate, and the high-potency laboratory is a concept cost plan.</a:t>
            </a:r>
            <a:r>
              <a:rPr sz="1300" b="0" dirty="0">
                <a:solidFill>
                  <a:srgbClr val="2C3E50"/>
                </a:solidFill>
                <a:latin typeface="微软雅黑"/>
                <a:ea typeface="微软雅黑"/>
                <a:cs typeface="微软雅黑"/>
              </a:rPr>
              <a:t/>
            </a:r>
            <a:r>
              <a:rPr sz="1300" b="0" dirty="0" err="1">
                <a:solidFill>
                  <a:srgbClr val="2C3E50"/>
                </a:solidFill>
                <a:latin typeface="微软雅黑"/>
                <a:ea typeface="微软雅黑"/>
                <a:cs typeface="微软雅黑"/>
              </a:rPr>
              <a:t/>
            </a:r>
            <a:r>
              <a:rPr sz="1300" b="0" dirty="0">
                <a:solidFill>
                  <a:srgbClr val="2C3E50"/>
                </a:solidFill>
                <a:latin typeface="微软雅黑"/>
                <a:ea typeface="微软雅黑"/>
                <a:cs typeface="微软雅黑"/>
              </a:rPr>
              <a:t/>
            </a:r>
            <a:r>
              <a:rPr sz="1300" b="0" dirty="0" err="1">
                <a:solidFill>
                  <a:srgbClr val="2C3E50"/>
                </a:solidFill>
                <a:latin typeface="微软雅黑"/>
                <a:ea typeface="微软雅黑"/>
                <a:cs typeface="微软雅黑"/>
              </a:rPr>
              <a:t/>
            </a:r>
            <a:r>
              <a:rPr sz="1300" b="0" dirty="0" err="1" smtClean="0">
                <a:solidFill>
                  <a:srgbClr val="2C3E50"/>
                </a:solidFill>
                <a:latin typeface="微软雅黑"/>
                <a:ea typeface="微软雅黑"/>
                <a:cs typeface="微软雅黑"/>
              </a:rPr>
              <a:t/>
            </a:r>
            <a:r>
              <a:rPr lang="zh-CN" altLang="en-US" sz="1300" b="0" dirty="0" smtClean="0">
                <a:solidFill>
                  <a:srgbClr val="2C3E50"/>
                </a:solidFill>
                <a:latin typeface="微软雅黑"/>
                <a:ea typeface="微软雅黑"/>
                <a:cs typeface="微软雅黑"/>
              </a:rPr>
              <a:t/>
            </a:r>
            <a:r>
              <a:rPr sz="1300" b="0" dirty="0" smtClean="0">
                <a:solidFill>
                  <a:srgbClr val="2C3E50"/>
                </a:solidFill>
                <a:latin typeface="微软雅黑"/>
                <a:ea typeface="微软雅黑"/>
                <a:cs typeface="微软雅黑"/>
              </a:rPr>
              <a:t/>
            </a:r>
            <a:r>
              <a:rPr sz="1300" b="0" dirty="0">
                <a:solidFill>
                  <a:srgbClr val="2C3E50"/>
                </a:solidFill>
                <a:latin typeface="微软雅黑"/>
                <a:ea typeface="微软雅黑"/>
                <a:cs typeface="微软雅黑"/>
              </a:rPr>
              <a:t/>
            </a:r>
            <a:r>
              <a:rPr sz="1300" b="0" dirty="0" err="1">
                <a:solidFill>
                  <a:srgbClr val="2C3E50"/>
                </a:solidFill>
                <a:latin typeface="微软雅黑"/>
                <a:ea typeface="微软雅黑"/>
                <a:cs typeface="微软雅黑"/>
              </a:rPr>
              <a:t/>
            </a:r>
            <a:r>
              <a:rPr sz="1300" b="0" dirty="0">
                <a:solidFill>
                  <a:srgbClr val="2C3E50"/>
                </a:solidFill>
                <a:latin typeface="微软雅黑"/>
                <a:ea typeface="微软雅黑"/>
                <a:cs typeface="微软雅黑"/>
              </a:rPr>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3 / 31</a:t>
            </a:r>
          </a:p>
        </p:txBody>
      </p:sp>
      <p:sp>
        <p:nvSpPr>
          <p:cNvPr id="10" name="Rectangle 9"/>
          <p:cNvSpPr/>
          <p:nvPr/>
        </p:nvSpPr>
        <p:spPr>
          <a:xfrm>
            <a:off x="384048" y="164592"/>
            <a:ext cx="82296" cy="457200"/>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92443"/>
          </a:xfrm>
          <a:prstGeom prst="rect">
            <a:avLst/>
          </a:prstGeom>
          <a:noFill/>
        </p:spPr>
        <p:txBody>
          <a:bodyPr wrap="square" anchor="t">
            <a:spAutoFit/>
          </a:bodyPr>
          <a:lstStyle/>
          <a:p>
            <a:pPr algn="l"/>
            <a:r>
              <a:rPr sz="1900" b="1" dirty="0" err="1" smtClean="0">
                <a:solidFill>
                  <a:srgbClr val="0F2B46"/>
                </a:solidFill>
                <a:latin typeface="Calibri"/>
                <a:ea typeface="微软雅黑"/>
                <a:cs typeface="Calibri"/>
              </a:rPr>
              <a:t>High-potency, purification and lyophilisation demand · accounts and projects</a:t>
            </a:r>
            <a:r>
              <a:rPr lang="en-US" sz="2600" b="1" dirty="0" smtClean="0">
                <a:solidFill>
                  <a:srgbClr val="0F2B46"/>
                </a:solidFill>
                <a:latin typeface="微软雅黑"/>
                <a:ea typeface="微软雅黑"/>
                <a:cs typeface="微软雅黑"/>
              </a:rPr>
              <a:t/>
            </a:r>
            <a:r>
              <a:rPr lang="zh-CN" altLang="en-US" sz="2600" b="1" dirty="0" smtClean="0">
                <a:solidFill>
                  <a:srgbClr val="0F2B46"/>
                </a:solidFill>
                <a:latin typeface="微软雅黑"/>
                <a:ea typeface="微软雅黑"/>
                <a:cs typeface="微软雅黑"/>
              </a:rPr>
              <a:t/>
            </a:r>
            <a:r>
              <a:rPr lang="en-US" altLang="zh-CN" sz="2600" b="1" dirty="0" smtClean="0">
                <a:solidFill>
                  <a:srgbClr val="0F2B46"/>
                </a:solidFill>
                <a:latin typeface="微软雅黑"/>
                <a:ea typeface="微软雅黑"/>
                <a:cs typeface="微软雅黑"/>
              </a:rPr>
              <a:t/>
            </a:r>
            <a:r>
              <a:rPr lang="zh-CN" altLang="en-US" sz="2600" b="1" dirty="0">
                <a:solidFill>
                  <a:srgbClr val="0F2B46"/>
                </a:solidFill>
                <a:latin typeface="微软雅黑"/>
                <a:ea typeface="微软雅黑"/>
                <a:cs typeface="微软雅黑"/>
              </a:rPr>
              <a:t/>
            </a:r>
            <a:r>
              <a:rPr sz="2600" b="1" dirty="0" err="1" smtClean="0">
                <a:solidFill>
                  <a:srgbClr val="0F2B46"/>
                </a:solidFill>
                <a:latin typeface="微软雅黑"/>
                <a:ea typeface="微软雅黑"/>
                <a:cs typeface="微软雅黑"/>
              </a:rPr>
              <a:t/>
            </a:r>
            <a:r>
              <a:rPr sz="2600" b="1" dirty="0" smtClean="0">
                <a:solidFill>
                  <a:srgbClr val="0F2B46"/>
                </a:solidFill>
                <a:latin typeface="微软雅黑"/>
                <a:ea typeface="微软雅黑"/>
                <a:cs typeface="微软雅黑"/>
              </a:rPr>
              <a:t/>
            </a:r>
            <a:r>
              <a:rPr sz="2600" b="1" dirty="0">
                <a:solidFill>
                  <a:srgbClr val="0F2B46"/>
                </a:solidFill>
                <a:latin typeface="微软雅黑"/>
                <a:ea typeface="微软雅黑"/>
                <a:cs typeface="微软雅黑"/>
              </a:rPr>
              <a:t/>
            </a:r>
            <a:r>
              <a:rPr sz="2600" b="1" dirty="0" err="1">
                <a:solidFill>
                  <a:srgbClr val="0F2B46"/>
                </a:solidFill>
                <a:latin typeface="微软雅黑"/>
                <a:ea typeface="微软雅黑"/>
                <a:cs typeface="微软雅黑"/>
              </a:rPr>
              <a:t/>
            </a:r>
            <a:endParaRPr sz="2600" b="1" dirty="0">
              <a:solidFill>
                <a:srgbClr val="0F2B46"/>
              </a:solidFill>
              <a:latin typeface="微软雅黑"/>
              <a:ea typeface="微软雅黑"/>
              <a:cs typeface="微软雅黑"/>
            </a:endParaRPr>
          </a:p>
        </p:txBody>
      </p:sp>
      <p:graphicFrame>
        <p:nvGraphicFramePr>
          <p:cNvPr id="12" name="Table 11"/>
          <p:cNvGraphicFramePr>
            <a:graphicFrameLocks noGrp="1"/>
          </p:cNvGraphicFramePr>
          <p:nvPr>
            <p:extLst>
              <p:ext uri="{D42A27DB-BD31-4B8C-83A1-F6EECF244321}">
                <p14:modId xmlns:p14="http://schemas.microsoft.com/office/powerpoint/2010/main" val="3397922401"/>
              </p:ext>
            </p:extLst>
          </p:nvPr>
        </p:nvGraphicFramePr>
        <p:xfrm>
          <a:off x="384048" y="769620"/>
          <a:ext cx="11368735" cy="5759196"/>
        </p:xfrm>
        <a:graphic>
          <a:graphicData uri="http://schemas.openxmlformats.org/drawingml/2006/table">
            <a:tbl>
              <a:tblPr firstRow="1" bandRow="1">
                <a:tableStyleId>{5C22544A-7EE6-4342-B048-85BDC9FD1C3A}</a:tableStyleId>
              </a:tblPr>
              <a:tblGrid>
                <a:gridCol w="1285726">
                  <a:extLst>
                    <a:ext uri="{9D8B030D-6E8A-4147-A177-3AD203B41FA5}">
                      <a16:colId xmlns:a16="http://schemas.microsoft.com/office/drawing/2014/main" val="20000"/>
                    </a:ext>
                  </a:extLst>
                </a:gridCol>
                <a:gridCol w="2584174">
                  <a:extLst>
                    <a:ext uri="{9D8B030D-6E8A-4147-A177-3AD203B41FA5}">
                      <a16:colId xmlns:a16="http://schemas.microsoft.com/office/drawing/2014/main" val="20001"/>
                    </a:ext>
                  </a:extLst>
                </a:gridCol>
                <a:gridCol w="1262269">
                  <a:extLst>
                    <a:ext uri="{9D8B030D-6E8A-4147-A177-3AD203B41FA5}">
                      <a16:colId xmlns:a16="http://schemas.microsoft.com/office/drawing/2014/main" val="20002"/>
                    </a:ext>
                  </a:extLst>
                </a:gridCol>
                <a:gridCol w="1113183">
                  <a:extLst>
                    <a:ext uri="{9D8B030D-6E8A-4147-A177-3AD203B41FA5}">
                      <a16:colId xmlns:a16="http://schemas.microsoft.com/office/drawing/2014/main" val="20003"/>
                    </a:ext>
                  </a:extLst>
                </a:gridCol>
                <a:gridCol w="964096">
                  <a:extLst>
                    <a:ext uri="{9D8B030D-6E8A-4147-A177-3AD203B41FA5}">
                      <a16:colId xmlns:a16="http://schemas.microsoft.com/office/drawing/2014/main" val="20004"/>
                    </a:ext>
                  </a:extLst>
                </a:gridCol>
                <a:gridCol w="4159287">
                  <a:extLst>
                    <a:ext uri="{9D8B030D-6E8A-4147-A177-3AD203B41FA5}">
                      <a16:colId xmlns:a16="http://schemas.microsoft.com/office/drawing/2014/main" val="20005"/>
                    </a:ext>
                  </a:extLst>
                </a:gridCol>
              </a:tblGrid>
              <a:tr h="544068">
                <a:tc>
                  <a:txBody>
                    <a:bodyPr/>
                    <a:lstStyle/>
                    <a:p>
                      <a:pPr algn="l"/>
                      <a:r>
                        <a:rPr sz="900" b="1">
                          <a:solidFill>
                            <a:srgbClr val="FFFFFF"/>
                          </a:solidFill>
                          <a:latin typeface="Calibri"/>
                          <a:ea typeface="微软雅黑"/>
                          <a:cs typeface="Calibri"/>
                        </a:rPr>
                        <a:t>Account</a:t>
                      </a:r>
                    </a:p>
                  </a:txBody>
                  <a:tcPr anchor="ctr">
                    <a:solidFill>
                      <a:srgbClr val="0F2B46"/>
                    </a:solidFill>
                  </a:tcPr>
                </a:tc>
                <a:tc>
                  <a:txBody>
                    <a:bodyPr/>
                    <a:lstStyle/>
                    <a:p>
                      <a:pPr algn="l"/>
                      <a:r>
                        <a:rPr sz="900" b="1">
                          <a:solidFill>
                            <a:srgbClr val="FFFFFF"/>
                          </a:solidFill>
                          <a:latin typeface="Calibri"/>
                          <a:ea typeface="微软雅黑"/>
                          <a:cs typeface="Calibri"/>
                        </a:rPr>
                        <a:t>Project</a:t>
                      </a:r>
                    </a:p>
                  </a:txBody>
                  <a:tcPr anchor="ctr">
                    <a:solidFill>
                      <a:srgbClr val="0F2B46"/>
                    </a:solidFill>
                  </a:tcPr>
                </a:tc>
                <a:tc>
                  <a:txBody>
                    <a:bodyPr/>
                    <a:lstStyle/>
                    <a:p>
                      <a:pPr algn="ctr"/>
                      <a:r>
                        <a:rPr sz="900" b="1">
                          <a:solidFill>
                            <a:srgbClr val="FFFFFF"/>
                          </a:solidFill>
                          <a:latin typeface="Calibri"/>
                          <a:ea typeface="微软雅黑"/>
                          <a:cs typeface="Calibri"/>
                        </a:rPr>
                        <a:t>Status</a:t>
                      </a:r>
                    </a:p>
                  </a:txBody>
                  <a:tcPr anchor="ctr">
                    <a:solidFill>
                      <a:srgbClr val="0F2B46"/>
                    </a:solidFill>
                  </a:tcPr>
                </a:tc>
                <a:tc>
                  <a:txBody>
                    <a:bodyPr/>
                    <a:lstStyle/>
                    <a:p>
                      <a:pPr algn="ctr"/>
                      <a:r>
                        <a:rPr sz="900" b="1" dirty="0">
                          <a:solidFill>
                            <a:srgbClr val="FFFFFF"/>
                          </a:solidFill>
                          <a:latin typeface="Calibri"/>
                          <a:ea typeface="微软雅黑"/>
                          <a:cs typeface="Calibri"/>
                        </a:rPr>
                        <a:t>2027–2030 volume</a:t>
                      </a:r>
                    </a:p>
                  </a:txBody>
                  <a:tcPr anchor="ctr">
                    <a:solidFill>
                      <a:srgbClr val="0F2B46"/>
                    </a:solidFill>
                  </a:tcPr>
                </a:tc>
                <a:tc>
                  <a:txBody>
                    <a:bodyPr/>
                    <a:lstStyle/>
                    <a:p>
                      <a:pPr algn="ctr"/>
                      <a:r>
                        <a:rPr sz="900" b="1">
                          <a:solidFill>
                            <a:srgbClr val="FFFFFF"/>
                          </a:solidFill>
                          <a:latin typeface="Calibri"/>
                          <a:ea typeface="微软雅黑"/>
                          <a:cs typeface="Calibri"/>
                        </a:rPr>
                        <a:t>BD value basis</a:t>
                      </a:r>
                    </a:p>
                  </a:txBody>
                  <a:tcPr anchor="ctr">
                    <a:solidFill>
                      <a:srgbClr val="0F2B46"/>
                    </a:solidFill>
                  </a:tcPr>
                </a:tc>
                <a:tc>
                  <a:txBody>
                    <a:bodyPr/>
                    <a:lstStyle/>
                    <a:p>
                      <a:pPr algn="l"/>
                      <a:r>
                        <a:rPr sz="900" b="1" dirty="0" err="1">
                          <a:solidFill>
                            <a:srgbClr val="FFFFFF"/>
                          </a:solidFill>
                          <a:latin typeface="Calibri"/>
                          <a:ea typeface="微软雅黑"/>
                          <a:cs typeface="Calibri"/>
                        </a:rPr>
                        <a:t>Notes</a:t>
                      </a:r>
                      <a:endParaRPr sz="1200" b="1" dirty="0">
                        <a:solidFill>
                          <a:srgbClr val="FFFFFF"/>
                        </a:solidFill>
                        <a:latin typeface="微软雅黑"/>
                        <a:ea typeface="微软雅黑"/>
                        <a:cs typeface="微软雅黑"/>
                      </a:endParaRPr>
                    </a:p>
                  </a:txBody>
                  <a:tcPr anchor="ctr">
                    <a:solidFill>
                      <a:srgbClr val="0F2B46"/>
                    </a:solidFill>
                  </a:tcPr>
                </a:tc>
                <a:extLst>
                  <a:ext uri="{0D108BD9-81ED-4DB2-BD59-A6C34878D82A}">
                    <a16:rowId xmlns:a16="http://schemas.microsoft.com/office/drawing/2014/main" val="10000"/>
                  </a:ext>
                </a:extLst>
              </a:tr>
              <a:tr h="544068">
                <a:tc>
                  <a:txBody>
                    <a:bodyPr/>
                    <a:lstStyle/>
                    <a:p>
                      <a:pPr algn="l"/>
                      <a:r>
                        <a:rPr sz="900" b="0">
                          <a:solidFill>
                            <a:srgbClr val="2C3E50"/>
                          </a:solidFill>
                          <a:latin typeface="Calibri"/>
                          <a:ea typeface="微软雅黑"/>
                          <a:cs typeface="Calibri"/>
                        </a:rPr>
                        <a:t>AZ</a:t>
                      </a:r>
                    </a:p>
                  </a:txBody>
                  <a:tcPr anchor="ctr">
                    <a:solidFill>
                      <a:srgbClr val="FFFFFF"/>
                    </a:solidFill>
                  </a:tcPr>
                </a:tc>
                <a:tc>
                  <a:txBody>
                    <a:bodyPr/>
                    <a:lstStyle/>
                    <a:p>
                      <a:pPr algn="l"/>
                      <a:r>
                        <a:rPr sz="900" b="0">
                          <a:solidFill>
                            <a:srgbClr val="2C3E50"/>
                          </a:solidFill>
                          <a:latin typeface="Calibri"/>
                          <a:ea typeface="微软雅黑"/>
                          <a:cs typeface="Calibri"/>
                        </a:rPr>
                        <a:t>Exatecan（ASYM-128214）</a:t>
                      </a:r>
                    </a:p>
                  </a:txBody>
                  <a:tcPr anchor="ctr">
                    <a:solidFill>
                      <a:srgbClr val="FFFFFF"/>
                    </a:solidFill>
                  </a:tcPr>
                </a:tc>
                <a:tc>
                  <a:txBody>
                    <a:bodyPr/>
                    <a:lstStyle/>
                    <a:p>
                      <a:pPr marL="0" algn="ctr" defTabSz="457200" rtl="0" eaLnBrk="1" latinLnBrk="0" hangingPunct="1"/>
                      <a:r>
                        <a:rPr sz="900" b="1" kern="1200" dirty="0" err="1">
                          <a:solidFill>
                            <a:srgbClr val="1A4A6E"/>
                          </a:solidFill>
                          <a:latin typeface="Calibri"/>
                          <a:ea typeface="微软雅黑"/>
                          <a:cs typeface="Calibri"/>
                        </a:rPr>
                        <a:t>Lost</a:t>
                      </a:r>
                      <a:endParaRPr sz="1100" b="1" kern="1200" dirty="0">
                        <a:solidFill>
                          <a:srgbClr val="1A4A6E"/>
                        </a:solidFill>
                        <a:latin typeface="微软雅黑"/>
                        <a:ea typeface="微软雅黑"/>
                        <a:cs typeface="微软雅黑"/>
                      </a:endParaRPr>
                    </a:p>
                  </a:txBody>
                  <a:tcPr anchor="ctr">
                    <a:solidFill>
                      <a:srgbClr val="FFFFFF"/>
                    </a:solidFill>
                  </a:tcPr>
                </a:tc>
                <a:tc>
                  <a:txBody>
                    <a:bodyPr/>
                    <a:lstStyle/>
                    <a:p>
                      <a:pPr algn="ctr"/>
                      <a:r>
                        <a:rPr sz="900" b="0">
                          <a:solidFill>
                            <a:srgbClr val="2C3E50"/>
                          </a:solidFill>
                          <a:latin typeface="Calibri"/>
                          <a:ea typeface="微软雅黑"/>
                          <a:cs typeface="Calibri"/>
                        </a:rPr>
                        <a:t>43.2 kg</a:t>
                      </a:r>
                    </a:p>
                  </a:txBody>
                  <a:tcPr anchor="ctr">
                    <a:solidFill>
                      <a:srgbClr val="FFFFFF"/>
                    </a:solidFill>
                  </a:tcPr>
                </a:tc>
                <a:tc>
                  <a:txBody>
                    <a:bodyPr/>
                    <a:lstStyle/>
                    <a:p>
                      <a:pPr algn="ctr"/>
                      <a:r>
                        <a:rPr sz="900" b="0">
                          <a:solidFill>
                            <a:srgbClr val="2C3E50"/>
                          </a:solidFill>
                          <a:latin typeface="Calibri"/>
                          <a:ea typeface="微软雅黑"/>
                          <a:cs typeface="Calibri"/>
                        </a:rPr>
                        <a:t>$5–6M</a:t>
                      </a:r>
                    </a:p>
                  </a:txBody>
                  <a:tcPr anchor="ctr">
                    <a:solidFill>
                      <a:srgbClr val="FFFFFF"/>
                    </a:solidFill>
                  </a:tcPr>
                </a:tc>
                <a:tc>
                  <a:txBody>
                    <a:bodyPr/>
                    <a:lstStyle/>
                    <a:p>
                      <a:pPr algn="l"/>
                      <a:r>
                        <a:rPr sz="800" b="0" dirty="0">
                          <a:solidFill>
                            <a:srgbClr val="2C3E50"/>
                          </a:solidFill>
                          <a:latin typeface="Calibri"/>
                          <a:ea typeface="微软雅黑"/>
                          <a:cs typeface="Calibri"/>
                        </a:rPr>
                        <a:t>Enquiry of September 2025. GMP payload-linker awarded to the European supplier Procos (Italy). Non-GMP manufacture remains at Pharmaron Ningbo.</a:t>
                      </a:r>
                      <a:r>
                        <a:rPr sz="1100" b="0" dirty="0" err="1">
                          <a:solidFill>
                            <a:srgbClr val="2C3E50"/>
                          </a:solidFill>
                          <a:latin typeface="微软雅黑"/>
                          <a:ea typeface="微软雅黑"/>
                          <a:cs typeface="微软雅黑"/>
                        </a:rPr>
                        <a:t/>
                      </a:r>
                      <a:r>
                        <a:rPr sz="1100" b="0" dirty="0">
                          <a:solidFill>
                            <a:srgbClr val="2C3E50"/>
                          </a:solidFill>
                          <a:latin typeface="微软雅黑"/>
                          <a:ea typeface="微软雅黑"/>
                          <a:cs typeface="微软雅黑"/>
                        </a:rPr>
                        <a:t/>
                      </a:r>
                      <a:r>
                        <a:rPr sz="1100" b="0" dirty="0" err="1">
                          <a:solidFill>
                            <a:srgbClr val="2C3E50"/>
                          </a:solidFill>
                          <a:latin typeface="微软雅黑"/>
                          <a:ea typeface="微软雅黑"/>
                          <a:cs typeface="微软雅黑"/>
                        </a:rPr>
                        <a:t/>
                      </a:r>
                      <a:r>
                        <a:rPr sz="1100" b="0" dirty="0">
                          <a:solidFill>
                            <a:srgbClr val="2C3E50"/>
                          </a:solidFill>
                          <a:latin typeface="微软雅黑"/>
                          <a:ea typeface="微软雅黑"/>
                          <a:cs typeface="微软雅黑"/>
                        </a:rPr>
                        <a:t/>
                      </a:r>
                      <a:r>
                        <a:rPr lang="zh-CN" altLang="en-US" sz="1100" b="0" dirty="0" smtClean="0">
                          <a:solidFill>
                            <a:srgbClr val="2C3E50"/>
                          </a:solidFill>
                          <a:latin typeface="微软雅黑"/>
                          <a:ea typeface="微软雅黑"/>
                          <a:cs typeface="微软雅黑"/>
                        </a:rPr>
                        <a:t/>
                      </a:r>
                      <a:r>
                        <a:rPr sz="1100" b="0" dirty="0" err="1" smtClean="0">
                          <a:solidFill>
                            <a:srgbClr val="2C3E50"/>
                          </a:solidFill>
                          <a:latin typeface="微软雅黑"/>
                          <a:ea typeface="微软雅黑"/>
                          <a:cs typeface="微软雅黑"/>
                        </a:rPr>
                        <a:t/>
                      </a:r>
                      <a:r>
                        <a:rPr sz="1100" b="0" dirty="0" err="1">
                          <a:solidFill>
                            <a:srgbClr val="2C3E50"/>
                          </a:solidFill>
                          <a:latin typeface="微软雅黑"/>
                          <a:ea typeface="微软雅黑"/>
                          <a:cs typeface="微软雅黑"/>
                        </a:rPr>
                        <a:t/>
                      </a:r>
                      <a:r>
                        <a:rPr sz="1100" b="0" dirty="0" err="1" smtClean="0">
                          <a:solidFill>
                            <a:srgbClr val="2C3E50"/>
                          </a:solidFill>
                          <a:latin typeface="微软雅黑"/>
                          <a:ea typeface="微软雅黑"/>
                          <a:cs typeface="微软雅黑"/>
                        </a:rPr>
                        <a:t/>
                      </a:r>
                      <a:r>
                        <a:rPr lang="zh-CN" altLang="en-US" sz="1100" b="0" dirty="0" smtClean="0">
                          <a:solidFill>
                            <a:srgbClr val="2C3E50"/>
                          </a:solidFill>
                          <a:latin typeface="微软雅黑"/>
                          <a:ea typeface="微软雅黑"/>
                          <a:cs typeface="微软雅黑"/>
                        </a:rPr>
                        <a:t/>
                      </a:r>
                      <a:r>
                        <a:rPr sz="1100" b="0" dirty="0" smtClean="0">
                          <a:solidFill>
                            <a:srgbClr val="2C3E50"/>
                          </a:solidFill>
                          <a:latin typeface="微软雅黑"/>
                          <a:ea typeface="微软雅黑"/>
                          <a:cs typeface="微软雅黑"/>
                        </a:rPr>
                        <a:t/>
                      </a:r>
                      <a:r>
                        <a:rPr sz="1100" b="0" dirty="0">
                          <a:solidFill>
                            <a:srgbClr val="2C3E50"/>
                          </a:solidFill>
                          <a:latin typeface="微软雅黑"/>
                          <a:ea typeface="微软雅黑"/>
                          <a:cs typeface="微软雅黑"/>
                        </a:rPr>
                        <a:t/>
                      </a:r>
                      <a:r>
                        <a:rPr lang="zh-CN" altLang="en-US" sz="1100" b="0" dirty="0" smtClean="0">
                          <a:solidFill>
                            <a:srgbClr val="2C3E50"/>
                          </a:solidFill>
                          <a:latin typeface="微软雅黑"/>
                          <a:ea typeface="微软雅黑"/>
                          <a:cs typeface="微软雅黑"/>
                        </a:rPr>
                        <a:t/>
                      </a:r>
                      <a:r>
                        <a:rPr sz="1100" b="0" dirty="0" err="1" smtClean="0">
                          <a:solidFill>
                            <a:srgbClr val="2C3E50"/>
                          </a:solidFill>
                          <a:latin typeface="微软雅黑"/>
                          <a:ea typeface="微软雅黑"/>
                          <a:cs typeface="微软雅黑"/>
                        </a:rPr>
                        <a:t/>
                      </a:r>
                      <a:r>
                        <a:rPr lang="zh-CN" altLang="en-US" sz="1100" b="0" dirty="0" smtClean="0">
                          <a:solidFill>
                            <a:srgbClr val="2C3E50"/>
                          </a:solidFill>
                          <a:latin typeface="微软雅黑"/>
                          <a:ea typeface="微软雅黑"/>
                          <a:cs typeface="微软雅黑"/>
                        </a:rPr>
                        <a:t/>
                      </a:r>
                      <a:r>
                        <a:rPr sz="1100" b="0" dirty="0" err="1" smtClean="0">
                          <a:solidFill>
                            <a:srgbClr val="2C3E50"/>
                          </a:solidFill>
                          <a:latin typeface="微软雅黑"/>
                          <a:ea typeface="微软雅黑"/>
                          <a:cs typeface="微软雅黑"/>
                        </a:rPr>
                        <a:t/>
                      </a:r>
                      <a:r>
                        <a:rPr sz="1100" b="0" dirty="0" smtClean="0">
                          <a:solidFill>
                            <a:srgbClr val="2C3E50"/>
                          </a:solidFill>
                          <a:latin typeface="微软雅黑"/>
                          <a:ea typeface="微软雅黑"/>
                          <a:cs typeface="微软雅黑"/>
                        </a:rPr>
                        <a:t/>
                      </a:r>
                      <a:endParaRPr lang="en-US" sz="1100" b="0" dirty="0" smtClean="0">
                        <a:solidFill>
                          <a:srgbClr val="2C3E50"/>
                        </a:solidFill>
                        <a:latin typeface="微软雅黑"/>
                        <a:ea typeface="微软雅黑"/>
                        <a:cs typeface="微软雅黑"/>
                      </a:endParaRPr>
                    </a:p>
                    <a:p>
                      <a:pPr algn="l"/>
                      <a:r>
                        <a:rPr lang="zh-CN" altLang="en-US" sz="800" b="1" dirty="0" smtClean="0">
                          <a:solidFill>
                            <a:srgbClr val="C00000"/>
                          </a:solidFill>
                          <a:latin typeface="Calibri"/>
                          <a:ea typeface="微软雅黑"/>
                          <a:cs typeface="Calibri"/>
                        </a:rPr>
                        <a:t>Launch expected no earlier than 2030. A second-source opening may be pursued from H2 2028.</a:t>
                      </a:r>
                      <a:r>
                        <a:rPr lang="en-US" altLang="zh-CN" sz="1100" b="1" dirty="0" smtClean="0">
                          <a:solidFill>
                            <a:srgbClr val="C00000"/>
                          </a:solidFill>
                          <a:latin typeface="微软雅黑"/>
                          <a:ea typeface="微软雅黑"/>
                          <a:cs typeface="微软雅黑"/>
                        </a:rPr>
                        <a:t/>
                      </a:r>
                      <a:r>
                        <a:rPr lang="zh-CN" altLang="en-US" sz="1100" b="1" dirty="0" smtClean="0">
                          <a:solidFill>
                            <a:srgbClr val="C00000"/>
                          </a:solidFill>
                          <a:latin typeface="微软雅黑"/>
                          <a:ea typeface="微软雅黑"/>
                          <a:cs typeface="微软雅黑"/>
                        </a:rPr>
                        <a:t/>
                      </a:r>
                      <a:r>
                        <a:rPr lang="en-US" altLang="zh-CN" sz="1100" b="1" dirty="0" smtClean="0">
                          <a:solidFill>
                            <a:srgbClr val="C00000"/>
                          </a:solidFill>
                          <a:latin typeface="微软雅黑"/>
                          <a:ea typeface="微软雅黑"/>
                          <a:cs typeface="微软雅黑"/>
                        </a:rPr>
                        <a:t/>
                      </a:r>
                      <a:r>
                        <a:rPr lang="zh-CN" altLang="en-US" sz="1100" b="1" dirty="0" smtClean="0">
                          <a:solidFill>
                            <a:srgbClr val="C00000"/>
                          </a:solidFill>
                          <a:latin typeface="微软雅黑"/>
                          <a:ea typeface="微软雅黑"/>
                          <a:cs typeface="微软雅黑"/>
                        </a:rPr>
                        <a:t/>
                      </a:r>
                      <a:endParaRPr sz="1100" b="1" dirty="0">
                        <a:solidFill>
                          <a:srgbClr val="C00000"/>
                        </a:solidFill>
                        <a:latin typeface="微软雅黑"/>
                        <a:ea typeface="微软雅黑"/>
                        <a:cs typeface="微软雅黑"/>
                      </a:endParaRPr>
                    </a:p>
                  </a:txBody>
                  <a:tcPr anchor="ctr">
                    <a:solidFill>
                      <a:srgbClr val="FFFFFF"/>
                    </a:solidFill>
                  </a:tcPr>
                </a:tc>
                <a:extLst>
                  <a:ext uri="{0D108BD9-81ED-4DB2-BD59-A6C34878D82A}">
                    <a16:rowId xmlns:a16="http://schemas.microsoft.com/office/drawing/2014/main" val="10001"/>
                  </a:ext>
                </a:extLst>
              </a:tr>
              <a:tr h="544068">
                <a:tc>
                  <a:txBody>
                    <a:bodyPr/>
                    <a:lstStyle/>
                    <a:p>
                      <a:pPr algn="l"/>
                      <a:r>
                        <a:rPr sz="900" b="0">
                          <a:solidFill>
                            <a:srgbClr val="2C3E50"/>
                          </a:solidFill>
                          <a:latin typeface="Calibri"/>
                          <a:ea typeface="微软雅黑"/>
                          <a:cs typeface="Calibri"/>
                        </a:rPr>
                        <a:t>AZ</a:t>
                      </a:r>
                    </a:p>
                  </a:txBody>
                  <a:tcPr anchor="ctr">
                    <a:solidFill>
                      <a:srgbClr val="F6F8FA"/>
                    </a:solidFill>
                  </a:tcPr>
                </a:tc>
                <a:tc>
                  <a:txBody>
                    <a:bodyPr/>
                    <a:lstStyle/>
                    <a:p>
                      <a:pPr algn="l"/>
                      <a:r>
                        <a:rPr sz="900" b="0">
                          <a:solidFill>
                            <a:srgbClr val="2C3E50"/>
                          </a:solidFill>
                          <a:latin typeface="Calibri"/>
                          <a:ea typeface="微软雅黑"/>
                          <a:cs typeface="Calibri"/>
                        </a:rPr>
                        <a:t>ADC linker AZ14374332 (ASYM-147285, Exatecan as intermediate)</a:t>
                      </a:r>
                    </a:p>
                  </a:txBody>
                  <a:tcPr anchor="ctr">
                    <a:solidFill>
                      <a:srgbClr val="F6F8FA"/>
                    </a:solidFill>
                  </a:tcPr>
                </a:tc>
                <a:tc>
                  <a:txBody>
                    <a:bodyPr/>
                    <a:lstStyle/>
                    <a:p>
                      <a:pPr marL="0" algn="ctr" defTabSz="457200" rtl="0" eaLnBrk="1" latinLnBrk="0" hangingPunct="1"/>
                      <a:r>
                        <a:rPr sz="900" b="1" kern="1200" dirty="0" err="1">
                          <a:solidFill>
                            <a:srgbClr val="1A4A6E"/>
                          </a:solidFill>
                          <a:latin typeface="Calibri"/>
                          <a:ea typeface="微软雅黑"/>
                          <a:cs typeface="Calibri"/>
                        </a:rPr>
                        <a:t>Lost</a:t>
                      </a:r>
                      <a:endParaRPr sz="1100" b="1" kern="1200" dirty="0">
                        <a:solidFill>
                          <a:srgbClr val="1A4A6E"/>
                        </a:solidFill>
                        <a:latin typeface="微软雅黑"/>
                        <a:ea typeface="微软雅黑"/>
                        <a:cs typeface="微软雅黑"/>
                      </a:endParaRPr>
                    </a:p>
                  </a:txBody>
                  <a:tcPr anchor="ctr">
                    <a:solidFill>
                      <a:srgbClr val="F6F8FA"/>
                    </a:solidFill>
                  </a:tcPr>
                </a:tc>
                <a:tc>
                  <a:txBody>
                    <a:bodyPr/>
                    <a:lstStyle/>
                    <a:p>
                      <a:pPr algn="ctr"/>
                      <a:r>
                        <a:rPr sz="900" b="0">
                          <a:solidFill>
                            <a:srgbClr val="2C3E50"/>
                          </a:solidFill>
                          <a:latin typeface="Calibri"/>
                          <a:ea typeface="微软雅黑"/>
                          <a:cs typeface="Calibri"/>
                        </a:rPr>
                        <a:t>37 kg</a:t>
                      </a:r>
                    </a:p>
                  </a:txBody>
                  <a:tcPr anchor="ctr">
                    <a:solidFill>
                      <a:srgbClr val="F6F8FA"/>
                    </a:solidFill>
                  </a:tcPr>
                </a:tc>
                <a:tc>
                  <a:txBody>
                    <a:bodyPr/>
                    <a:lstStyle/>
                    <a:p>
                      <a:pPr algn="ctr"/>
                      <a:r>
                        <a:rPr sz="900" b="0">
                          <a:solidFill>
                            <a:srgbClr val="2C3E50"/>
                          </a:solidFill>
                          <a:latin typeface="Calibri"/>
                          <a:ea typeface="微软雅黑"/>
                          <a:cs typeface="Calibri"/>
                        </a:rPr>
                        <a:t>$18M</a:t>
                      </a:r>
                    </a:p>
                  </a:txBody>
                  <a:tcPr anchor="ctr">
                    <a:solidFill>
                      <a:srgbClr val="F6F8FA"/>
                    </a:solidFill>
                  </a:tcPr>
                </a:tc>
                <a:tc>
                  <a:txBody>
                    <a:bodyPr/>
                    <a:lstStyle/>
                    <a:p>
                      <a:pPr algn="l"/>
                      <a:r>
                        <a:rPr sz="900" b="0" dirty="0" err="1" smtClean="0">
                          <a:solidFill>
                            <a:srgbClr val="2C3E50"/>
                          </a:solidFill>
                          <a:latin typeface="Calibri"/>
                          <a:ea typeface="微软雅黑"/>
                          <a:cs typeface="Calibri"/>
                        </a:rPr>
                        <a:t>Same as the row above</a:t>
                      </a:r>
                      <a:endParaRPr sz="1100" b="0" dirty="0">
                        <a:solidFill>
                          <a:srgbClr val="2C3E50"/>
                        </a:solidFill>
                        <a:latin typeface="微软雅黑"/>
                        <a:ea typeface="微软雅黑"/>
                        <a:cs typeface="微软雅黑"/>
                      </a:endParaRPr>
                    </a:p>
                  </a:txBody>
                  <a:tcPr anchor="ctr">
                    <a:solidFill>
                      <a:srgbClr val="F6F8FA"/>
                    </a:solidFill>
                  </a:tcPr>
                </a:tc>
                <a:extLst>
                  <a:ext uri="{0D108BD9-81ED-4DB2-BD59-A6C34878D82A}">
                    <a16:rowId xmlns:a16="http://schemas.microsoft.com/office/drawing/2014/main" val="10002"/>
                  </a:ext>
                </a:extLst>
              </a:tr>
              <a:tr h="544068">
                <a:tc>
                  <a:txBody>
                    <a:bodyPr/>
                    <a:lstStyle/>
                    <a:p>
                      <a:pPr algn="l"/>
                      <a:r>
                        <a:rPr sz="900" b="0">
                          <a:solidFill>
                            <a:srgbClr val="2C3E50"/>
                          </a:solidFill>
                          <a:latin typeface="Calibri"/>
                          <a:ea typeface="微软雅黑"/>
                          <a:cs typeface="Calibri"/>
                        </a:rPr>
                        <a:t>AZ</a:t>
                      </a:r>
                    </a:p>
                  </a:txBody>
                  <a:tcPr anchor="ctr">
                    <a:solidFill>
                      <a:srgbClr val="FFFFFF"/>
                    </a:solidFill>
                  </a:tcPr>
                </a:tc>
                <a:tc>
                  <a:txBody>
                    <a:bodyPr/>
                    <a:lstStyle/>
                    <a:p>
                      <a:pPr algn="l"/>
                      <a:r>
                        <a:rPr sz="900" b="0">
                          <a:solidFill>
                            <a:srgbClr val="2C3E50"/>
                          </a:solidFill>
                          <a:latin typeface="Calibri"/>
                          <a:ea typeface="微软雅黑"/>
                          <a:cs typeface="Calibri"/>
                        </a:rPr>
                        <a:t>AZD5305（ASYM-124995）</a:t>
                      </a:r>
                    </a:p>
                  </a:txBody>
                  <a:tcPr anchor="ctr">
                    <a:solidFill>
                      <a:srgbClr val="FFFFFF"/>
                    </a:solidFill>
                  </a:tcPr>
                </a:tc>
                <a:tc>
                  <a:txBody>
                    <a:bodyPr/>
                    <a:lstStyle/>
                    <a:p>
                      <a:pPr algn="ctr"/>
                      <a:r>
                        <a:rPr sz="900" b="1" dirty="0" err="1">
                          <a:solidFill>
                            <a:srgbClr val="1A4A6E"/>
                          </a:solidFill>
                          <a:latin typeface="Calibri"/>
                          <a:ea typeface="微软雅黑"/>
                          <a:cs typeface="Calibri"/>
                        </a:rPr>
                        <a:t>Live · second source</a:t>
                      </a:r>
                      <a:r>
                        <a:rPr sz="1100" b="1" dirty="0">
                          <a:solidFill>
                            <a:srgbClr val="1A4A6E"/>
                          </a:solidFill>
                          <a:latin typeface="微软雅黑"/>
                          <a:ea typeface="微软雅黑"/>
                          <a:cs typeface="微软雅黑"/>
                        </a:rPr>
                        <a:t/>
                      </a:r>
                      <a:r>
                        <a:rPr sz="1100" b="1" dirty="0" err="1">
                          <a:solidFill>
                            <a:srgbClr val="1A4A6E"/>
                          </a:solidFill>
                          <a:latin typeface="微软雅黑"/>
                          <a:ea typeface="微软雅黑"/>
                          <a:cs typeface="微软雅黑"/>
                        </a:rPr>
                        <a:t/>
                      </a:r>
                      <a:endParaRPr sz="1100" b="1" dirty="0">
                        <a:solidFill>
                          <a:srgbClr val="1A4A6E"/>
                        </a:solidFill>
                        <a:latin typeface="微软雅黑"/>
                        <a:ea typeface="微软雅黑"/>
                        <a:cs typeface="微软雅黑"/>
                      </a:endParaRPr>
                    </a:p>
                  </a:txBody>
                  <a:tcPr anchor="ctr">
                    <a:solidFill>
                      <a:srgbClr val="FFFFFF"/>
                    </a:solidFill>
                  </a:tcPr>
                </a:tc>
                <a:tc>
                  <a:txBody>
                    <a:bodyPr/>
                    <a:lstStyle/>
                    <a:p>
                      <a:pPr algn="ctr"/>
                      <a:r>
                        <a:rPr sz="900" b="0">
                          <a:solidFill>
                            <a:srgbClr val="2C3E50"/>
                          </a:solidFill>
                          <a:latin typeface="Calibri"/>
                          <a:ea typeface="微软雅黑"/>
                          <a:cs typeface="Calibri"/>
                        </a:rPr>
                        <a:t>TBD</a:t>
                      </a:r>
                    </a:p>
                  </a:txBody>
                  <a:tcPr anchor="ctr">
                    <a:solidFill>
                      <a:srgbClr val="FFFFFF"/>
                    </a:solidFill>
                  </a:tcPr>
                </a:tc>
                <a:tc>
                  <a:txBody>
                    <a:bodyPr/>
                    <a:lstStyle/>
                    <a:p>
                      <a:pPr algn="ctr"/>
                      <a:r>
                        <a:rPr sz="900" b="0">
                          <a:solidFill>
                            <a:srgbClr val="2C3E50"/>
                          </a:solidFill>
                          <a:latin typeface="Calibri"/>
                          <a:ea typeface="微软雅黑"/>
                          <a:cs typeface="Calibri"/>
                        </a:rPr>
                        <a:t>—</a:t>
                      </a:r>
                    </a:p>
                  </a:txBody>
                  <a:tcPr anchor="ctr">
                    <a:solidFill>
                      <a:srgbClr val="FFFFFF"/>
                    </a:solidFill>
                  </a:tcPr>
                </a:tc>
                <a:tc>
                  <a:txBody>
                    <a:bodyPr/>
                    <a:lstStyle/>
                    <a:p>
                      <a:pPr algn="l"/>
                      <a:r>
                        <a:rPr lang="en-US" sz="800" b="0" dirty="0" smtClean="0">
                          <a:solidFill>
                            <a:srgbClr val="2C3E50"/>
                          </a:solidFill>
                          <a:latin typeface="Calibri"/>
                          <a:ea typeface="微软雅黑"/>
                          <a:cs typeface="Calibri"/>
                        </a:rPr>
                        <a:t>Seven-step synthesis, the last two steps high-potency. Sandwich holds a process-optimisation PO and is running it in the laboratory. AZ has not given a commercial volume.</a:t>
                      </a:r>
                      <a:r>
                        <a:rPr lang="zh-CN" altLang="en-US" sz="1100" b="0" dirty="0" smtClean="0">
                          <a:solidFill>
                            <a:srgbClr val="2C3E50"/>
                          </a:solidFill>
                          <a:latin typeface="微软雅黑"/>
                          <a:ea typeface="微软雅黑"/>
                          <a:cs typeface="微软雅黑"/>
                        </a:rPr>
                        <a:t/>
                      </a:r>
                      <a:r>
                        <a:rPr sz="1100" b="0" dirty="0" smtClean="0">
                          <a:solidFill>
                            <a:srgbClr val="2C3E50"/>
                          </a:solidFill>
                          <a:latin typeface="微软雅黑"/>
                          <a:ea typeface="微软雅黑"/>
                          <a:cs typeface="微软雅黑"/>
                        </a:rPr>
                        <a:t/>
                      </a:r>
                      <a:r>
                        <a:rPr lang="zh-CN" altLang="en-US" sz="1100" b="0" dirty="0" smtClean="0">
                          <a:solidFill>
                            <a:srgbClr val="2C3E50"/>
                          </a:solidFill>
                          <a:latin typeface="微软雅黑"/>
                          <a:ea typeface="微软雅黑"/>
                          <a:cs typeface="微软雅黑"/>
                        </a:rPr>
                        <a:t/>
                      </a:r>
                      <a:r>
                        <a:rPr lang="en-US" altLang="zh-CN" sz="1100" b="0" dirty="0" smtClean="0">
                          <a:solidFill>
                            <a:srgbClr val="2C3E50"/>
                          </a:solidFill>
                          <a:latin typeface="微软雅黑"/>
                          <a:ea typeface="微软雅黑"/>
                          <a:cs typeface="微软雅黑"/>
                        </a:rPr>
                        <a:t/>
                      </a:r>
                      <a:r>
                        <a:rPr lang="zh-CN" altLang="en-US" sz="1100" b="0" dirty="0" smtClean="0">
                          <a:solidFill>
                            <a:srgbClr val="2C3E50"/>
                          </a:solidFill>
                          <a:latin typeface="微软雅黑"/>
                          <a:ea typeface="微软雅黑"/>
                          <a:cs typeface="微软雅黑"/>
                        </a:rPr>
                        <a:t/>
                      </a:r>
                      <a:r>
                        <a:rPr lang="en-US" altLang="zh-CN" sz="1100" b="0" dirty="0" smtClean="0">
                          <a:solidFill>
                            <a:srgbClr val="2C3E50"/>
                          </a:solidFill>
                          <a:latin typeface="微软雅黑"/>
                          <a:ea typeface="微软雅黑"/>
                          <a:cs typeface="微软雅黑"/>
                        </a:rPr>
                        <a:t/>
                      </a:r>
                      <a:r>
                        <a:rPr lang="zh-CN" altLang="en-US" sz="1100" b="0" dirty="0" smtClean="0">
                          <a:solidFill>
                            <a:srgbClr val="2C3E50"/>
                          </a:solidFill>
                          <a:latin typeface="微软雅黑"/>
                          <a:ea typeface="微软雅黑"/>
                          <a:cs typeface="微软雅黑"/>
                        </a:rPr>
                        <a:t/>
                      </a:r>
                      <a:r>
                        <a:rPr sz="1100" b="0" dirty="0" smtClean="0">
                          <a:solidFill>
                            <a:srgbClr val="2C3E50"/>
                          </a:solidFill>
                          <a:latin typeface="微软雅黑"/>
                          <a:ea typeface="微软雅黑"/>
                          <a:cs typeface="微软雅黑"/>
                        </a:rPr>
                        <a:t/>
                      </a:r>
                      <a:r>
                        <a:rPr sz="1100" b="0" dirty="0" err="1">
                          <a:solidFill>
                            <a:srgbClr val="2C3E50"/>
                          </a:solidFill>
                          <a:latin typeface="微软雅黑"/>
                          <a:ea typeface="微软雅黑"/>
                          <a:cs typeface="微软雅黑"/>
                        </a:rPr>
                        <a:t/>
                      </a:r>
                      <a:r>
                        <a:rPr sz="1100" b="0" dirty="0" smtClean="0">
                          <a:solidFill>
                            <a:srgbClr val="2C3E50"/>
                          </a:solidFill>
                          <a:latin typeface="微软雅黑"/>
                          <a:ea typeface="微软雅黑"/>
                          <a:cs typeface="微软雅黑"/>
                        </a:rPr>
                        <a:t/>
                      </a:r>
                      <a:endParaRPr lang="en-US" sz="1100" b="0" dirty="0" smtClean="0">
                        <a:solidFill>
                          <a:srgbClr val="2C3E50"/>
                        </a:solidFill>
                        <a:latin typeface="微软雅黑"/>
                        <a:ea typeface="微软雅黑"/>
                        <a:cs typeface="微软雅黑"/>
                      </a:endParaRPr>
                    </a:p>
                    <a:p>
                      <a:pPr algn="l"/>
                      <a:r>
                        <a:rPr sz="800" b="1" dirty="0" smtClean="0">
                          <a:solidFill>
                            <a:srgbClr val="C00000"/>
                          </a:solidFill>
                          <a:latin typeface="Calibri"/>
                          <a:ea typeface="微软雅黑"/>
                          <a:cs typeface="Calibri"/>
                        </a:rPr>
                        <a:t>If Sandwich adds high-potency capacity, a second-source position is available to pursue.</a:t>
                      </a:r>
                      <a:r>
                        <a:rPr sz="1100" b="1" dirty="0">
                          <a:solidFill>
                            <a:srgbClr val="C00000"/>
                          </a:solidFill>
                          <a:latin typeface="微软雅黑"/>
                          <a:ea typeface="微软雅黑"/>
                          <a:cs typeface="微软雅黑"/>
                        </a:rPr>
                        <a:t/>
                      </a:r>
                      <a:r>
                        <a:rPr sz="1100" b="1" dirty="0" err="1">
                          <a:solidFill>
                            <a:srgbClr val="C00000"/>
                          </a:solidFill>
                          <a:latin typeface="微软雅黑"/>
                          <a:ea typeface="微软雅黑"/>
                          <a:cs typeface="微软雅黑"/>
                        </a:rPr>
                        <a:t/>
                      </a:r>
                      <a:r>
                        <a:rPr sz="1100" b="1" dirty="0" err="1" smtClean="0">
                          <a:solidFill>
                            <a:srgbClr val="C00000"/>
                          </a:solidFill>
                          <a:latin typeface="微软雅黑"/>
                          <a:ea typeface="微软雅黑"/>
                          <a:cs typeface="微软雅黑"/>
                        </a:rPr>
                        <a:t/>
                      </a:r>
                      <a:r>
                        <a:rPr sz="1100" b="0" dirty="0">
                          <a:solidFill>
                            <a:srgbClr val="2C3E50"/>
                          </a:solidFill>
                          <a:latin typeface="微软雅黑"/>
                          <a:ea typeface="微软雅黑"/>
                          <a:cs typeface="微软雅黑"/>
                        </a:rPr>
                        <a:t/>
                      </a:r>
                    </a:p>
                  </a:txBody>
                  <a:tcPr anchor="ctr">
                    <a:solidFill>
                      <a:srgbClr val="FFFFFF"/>
                    </a:solidFill>
                  </a:tcPr>
                </a:tc>
                <a:extLst>
                  <a:ext uri="{0D108BD9-81ED-4DB2-BD59-A6C34878D82A}">
                    <a16:rowId xmlns:a16="http://schemas.microsoft.com/office/drawing/2014/main" val="10003"/>
                  </a:ext>
                </a:extLst>
              </a:tr>
              <a:tr h="544068">
                <a:tc>
                  <a:txBody>
                    <a:bodyPr/>
                    <a:lstStyle/>
                    <a:p>
                      <a:pPr algn="l"/>
                      <a:r>
                        <a:rPr sz="900" b="0">
                          <a:solidFill>
                            <a:srgbClr val="2C3E50"/>
                          </a:solidFill>
                          <a:latin typeface="Calibri"/>
                          <a:ea typeface="微软雅黑"/>
                          <a:cs typeface="Calibri"/>
                        </a:rPr>
                        <a:t>AZ</a:t>
                      </a:r>
                    </a:p>
                  </a:txBody>
                  <a:tcPr anchor="ctr">
                    <a:solidFill>
                      <a:srgbClr val="F6F8FA"/>
                    </a:solidFill>
                  </a:tcPr>
                </a:tc>
                <a:tc>
                  <a:txBody>
                    <a:bodyPr/>
                    <a:lstStyle/>
                    <a:p>
                      <a:pPr algn="l"/>
                      <a:r>
                        <a:rPr sz="900" b="0">
                          <a:solidFill>
                            <a:srgbClr val="2C3E50"/>
                          </a:solidFill>
                          <a:latin typeface="Calibri"/>
                          <a:ea typeface="微软雅黑"/>
                          <a:cs typeface="Calibri"/>
                        </a:rPr>
                        <a:t>Camizestrant / AZD9833（ASYM-147692）</a:t>
                      </a:r>
                    </a:p>
                  </a:txBody>
                  <a:tcPr anchor="ctr">
                    <a:solidFill>
                      <a:srgbClr val="F6F8FA"/>
                    </a:solidFill>
                  </a:tcPr>
                </a:tc>
                <a:tc>
                  <a:txBody>
                    <a:bodyPr/>
                    <a:lstStyle/>
                    <a:p>
                      <a:pPr algn="ctr"/>
                      <a:r>
                        <a:rPr sz="900" b="1" dirty="0" err="1">
                          <a:solidFill>
                            <a:srgbClr val="1A4A6E"/>
                          </a:solidFill>
                          <a:latin typeface="Calibri"/>
                          <a:ea typeface="微软雅黑"/>
                          <a:cs typeface="Calibri"/>
                        </a:rPr>
                        <a:t>Live · second source</a:t>
                      </a:r>
                      <a:r>
                        <a:rPr sz="1100" b="1" dirty="0">
                          <a:solidFill>
                            <a:srgbClr val="1A4A6E"/>
                          </a:solidFill>
                          <a:latin typeface="微软雅黑"/>
                          <a:ea typeface="微软雅黑"/>
                          <a:cs typeface="微软雅黑"/>
                        </a:rPr>
                        <a:t/>
                      </a:r>
                      <a:r>
                        <a:rPr sz="1100" b="1" dirty="0" err="1">
                          <a:solidFill>
                            <a:srgbClr val="1A4A6E"/>
                          </a:solidFill>
                          <a:latin typeface="微软雅黑"/>
                          <a:ea typeface="微软雅黑"/>
                          <a:cs typeface="微软雅黑"/>
                        </a:rPr>
                        <a:t/>
                      </a:r>
                      <a:endParaRPr sz="1100" b="1" dirty="0">
                        <a:solidFill>
                          <a:srgbClr val="1A4A6E"/>
                        </a:solidFill>
                        <a:latin typeface="微软雅黑"/>
                        <a:ea typeface="微软雅黑"/>
                        <a:cs typeface="微软雅黑"/>
                      </a:endParaRPr>
                    </a:p>
                  </a:txBody>
                  <a:tcPr anchor="ctr">
                    <a:solidFill>
                      <a:srgbClr val="F6F8FA"/>
                    </a:solidFill>
                  </a:tcPr>
                </a:tc>
                <a:tc>
                  <a:txBody>
                    <a:bodyPr/>
                    <a:lstStyle/>
                    <a:p>
                      <a:pPr algn="ctr"/>
                      <a:r>
                        <a:rPr sz="900" b="0">
                          <a:solidFill>
                            <a:srgbClr val="2C3E50"/>
                          </a:solidFill>
                          <a:latin typeface="Calibri"/>
                          <a:ea typeface="微软雅黑"/>
                          <a:cs typeface="Calibri"/>
                        </a:rPr>
                        <a:t>~8,800 kg</a:t>
                      </a:r>
                    </a:p>
                  </a:txBody>
                  <a:tcPr anchor="ctr">
                    <a:solidFill>
                      <a:srgbClr val="F6F8FA"/>
                    </a:solidFill>
                  </a:tcPr>
                </a:tc>
                <a:tc>
                  <a:txBody>
                    <a:bodyPr/>
                    <a:lstStyle/>
                    <a:p>
                      <a:pPr algn="ctr"/>
                      <a:r>
                        <a:rPr sz="900" b="0" dirty="0">
                          <a:solidFill>
                            <a:srgbClr val="2C3E50"/>
                          </a:solidFill>
                          <a:latin typeface="Calibri"/>
                          <a:ea typeface="微软雅黑"/>
                          <a:cs typeface="Calibri"/>
                        </a:rPr>
                        <a:t>$</a:t>
                      </a:r>
                      <a:r>
                        <a:rPr sz="900" b="0" dirty="0" smtClean="0">
                          <a:solidFill>
                            <a:srgbClr val="2C3E50"/>
                          </a:solidFill>
                          <a:latin typeface="Calibri"/>
                          <a:ea typeface="微软雅黑"/>
                          <a:cs typeface="Calibri"/>
                        </a:rPr>
                        <a:t>5</a:t>
                      </a:r>
                      <a:r>
                        <a:rPr lang="en-US" sz="900" b="0" dirty="0" smtClean="0">
                          <a:solidFill>
                            <a:srgbClr val="2C3E50"/>
                          </a:solidFill>
                          <a:latin typeface="Calibri"/>
                          <a:ea typeface="微软雅黑"/>
                          <a:cs typeface="Calibri"/>
                        </a:rPr>
                        <a:t>-10</a:t>
                      </a:r>
                      <a:r>
                        <a:rPr sz="900" b="0" dirty="0" smtClean="0">
                          <a:solidFill>
                            <a:srgbClr val="2C3E50"/>
                          </a:solidFill>
                          <a:latin typeface="Calibri"/>
                          <a:ea typeface="微软雅黑"/>
                          <a:cs typeface="Calibri"/>
                        </a:rPr>
                        <a:t>M/</a:t>
                      </a:r>
                      <a:r>
                        <a:rPr sz="900" b="0" dirty="0" err="1" smtClean="0">
                          <a:solidFill>
                            <a:srgbClr val="2C3E50"/>
                          </a:solidFill>
                          <a:latin typeface="Calibri"/>
                          <a:ea typeface="微软雅黑"/>
                          <a:cs typeface="Calibri"/>
                        </a:rPr>
                        <a:t>yr</a:t>
                      </a:r>
                      <a:endParaRPr sz="1100" b="0" dirty="0">
                        <a:solidFill>
                          <a:srgbClr val="2C3E50"/>
                        </a:solidFill>
                        <a:latin typeface="微软雅黑"/>
                        <a:ea typeface="微软雅黑"/>
                        <a:cs typeface="微软雅黑"/>
                      </a:endParaRPr>
                    </a:p>
                  </a:txBody>
                  <a:tcPr anchor="ctr">
                    <a:solidFill>
                      <a:srgbClr val="F6F8FA"/>
                    </a:solidFill>
                  </a:tcPr>
                </a:tc>
                <a:tc>
                  <a:txBody>
                    <a:bodyPr/>
                    <a:lstStyle/>
                    <a:p>
                      <a:pPr algn="l"/>
                      <a:r>
                        <a:rPr lang="zh-CN" altLang="en-US" sz="900" b="0" dirty="0" smtClean="0">
                          <a:solidFill>
                            <a:srgbClr val="2C3E50"/>
                          </a:solidFill>
                          <a:latin typeface="Calibri"/>
                          <a:ea typeface="微软雅黑"/>
                          <a:cs typeface="Calibri"/>
                        </a:rPr>
                        <a:t>The final step is high-potency. Current supply is Cambrex US. The kilogramme figure is estimated from annual intermediate demand, not an API order confirmed by AZ.</a:t>
                      </a:r>
                      <a:r>
                        <a:rPr sz="1100" b="0" dirty="0" err="1" smtClean="0">
                          <a:solidFill>
                            <a:srgbClr val="2C3E50"/>
                          </a:solidFill>
                          <a:latin typeface="微软雅黑"/>
                          <a:ea typeface="微软雅黑"/>
                          <a:cs typeface="微软雅黑"/>
                        </a:rPr>
                        <a:t/>
                      </a:r>
                      <a:r>
                        <a:rPr sz="1100" b="0" dirty="0" err="1">
                          <a:solidFill>
                            <a:srgbClr val="2C3E50"/>
                          </a:solidFill>
                          <a:latin typeface="微软雅黑"/>
                          <a:ea typeface="微软雅黑"/>
                          <a:cs typeface="微软雅黑"/>
                        </a:rPr>
                        <a:t/>
                      </a:r>
                      <a:r>
                        <a:rPr sz="1100" b="0" dirty="0">
                          <a:solidFill>
                            <a:srgbClr val="2C3E50"/>
                          </a:solidFill>
                          <a:latin typeface="微软雅黑"/>
                          <a:ea typeface="微软雅黑"/>
                          <a:cs typeface="微软雅黑"/>
                        </a:rPr>
                        <a:t/>
                      </a:r>
                      <a:r>
                        <a:rPr sz="1100" b="0" dirty="0" err="1">
                          <a:solidFill>
                            <a:srgbClr val="2C3E50"/>
                          </a:solidFill>
                          <a:latin typeface="微软雅黑"/>
                          <a:ea typeface="微软雅黑"/>
                          <a:cs typeface="微软雅黑"/>
                        </a:rPr>
                        <a:t/>
                      </a:r>
                      <a:r>
                        <a:rPr sz="1100" b="0" dirty="0">
                          <a:solidFill>
                            <a:srgbClr val="2C3E50"/>
                          </a:solidFill>
                          <a:latin typeface="微软雅黑"/>
                          <a:ea typeface="微软雅黑"/>
                          <a:cs typeface="微软雅黑"/>
                        </a:rPr>
                        <a:t/>
                      </a:r>
                      <a:r>
                        <a:rPr sz="1100" b="0" dirty="0" err="1">
                          <a:solidFill>
                            <a:srgbClr val="2C3E50"/>
                          </a:solidFill>
                          <a:latin typeface="微软雅黑"/>
                          <a:ea typeface="微软雅黑"/>
                          <a:cs typeface="微软雅黑"/>
                        </a:rPr>
                        <a:t/>
                      </a:r>
                      <a:r>
                        <a:rPr sz="1100" b="0" dirty="0">
                          <a:solidFill>
                            <a:srgbClr val="2C3E50"/>
                          </a:solidFill>
                          <a:latin typeface="微软雅黑"/>
                          <a:ea typeface="微软雅黑"/>
                          <a:cs typeface="微软雅黑"/>
                        </a:rPr>
                        <a:t/>
                      </a:r>
                      <a:r>
                        <a:rPr sz="1100" b="0" dirty="0" err="1">
                          <a:solidFill>
                            <a:srgbClr val="2C3E50"/>
                          </a:solidFill>
                          <a:latin typeface="微软雅黑"/>
                          <a:ea typeface="微软雅黑"/>
                          <a:cs typeface="微软雅黑"/>
                        </a:rPr>
                        <a:t/>
                      </a:r>
                      <a:r>
                        <a:rPr sz="1100" b="0" dirty="0">
                          <a:solidFill>
                            <a:srgbClr val="2C3E50"/>
                          </a:solidFill>
                          <a:latin typeface="微软雅黑"/>
                          <a:ea typeface="微软雅黑"/>
                          <a:cs typeface="微软雅黑"/>
                        </a:rPr>
                        <a:t/>
                      </a:r>
                      <a:r>
                        <a:rPr sz="1100" b="0" dirty="0" err="1">
                          <a:solidFill>
                            <a:srgbClr val="2C3E50"/>
                          </a:solidFill>
                          <a:latin typeface="微软雅黑"/>
                          <a:ea typeface="微软雅黑"/>
                          <a:cs typeface="微软雅黑"/>
                        </a:rPr>
                        <a:t/>
                      </a:r>
                      <a:r>
                        <a:rPr sz="1100" b="0" dirty="0">
                          <a:solidFill>
                            <a:srgbClr val="2C3E50"/>
                          </a:solidFill>
                          <a:latin typeface="微软雅黑"/>
                          <a:ea typeface="微软雅黑"/>
                          <a:cs typeface="微软雅黑"/>
                        </a:rPr>
                        <a:t/>
                      </a:r>
                    </a:p>
                  </a:txBody>
                  <a:tcPr anchor="ctr">
                    <a:solidFill>
                      <a:srgbClr val="F6F8FA"/>
                    </a:solidFill>
                  </a:tcPr>
                </a:tc>
                <a:extLst>
                  <a:ext uri="{0D108BD9-81ED-4DB2-BD59-A6C34878D82A}">
                    <a16:rowId xmlns:a16="http://schemas.microsoft.com/office/drawing/2014/main" val="10004"/>
                  </a:ext>
                </a:extLst>
              </a:tr>
              <a:tr h="544068">
                <a:tc>
                  <a:txBody>
                    <a:bodyPr/>
                    <a:lstStyle/>
                    <a:p>
                      <a:pPr algn="l"/>
                      <a:r>
                        <a:rPr sz="900" b="0">
                          <a:solidFill>
                            <a:srgbClr val="2C3E50"/>
                          </a:solidFill>
                          <a:latin typeface="Calibri"/>
                          <a:ea typeface="微软雅黑"/>
                          <a:cs typeface="Calibri"/>
                        </a:rPr>
                        <a:t>AZ</a:t>
                      </a:r>
                    </a:p>
                  </a:txBody>
                  <a:tcPr anchor="ctr">
                    <a:solidFill>
                      <a:srgbClr val="FFFFFF"/>
                    </a:solidFill>
                  </a:tcPr>
                </a:tc>
                <a:tc>
                  <a:txBody>
                    <a:bodyPr/>
                    <a:lstStyle/>
                    <a:p>
                      <a:pPr algn="l"/>
                      <a:r>
                        <a:rPr sz="900" b="0">
                          <a:solidFill>
                            <a:srgbClr val="2C3E50"/>
                          </a:solidFill>
                          <a:latin typeface="Calibri"/>
                          <a:ea typeface="微软雅黑"/>
                          <a:cs typeface="Calibri"/>
                        </a:rPr>
                        <a:t>Other ADC programmes</a:t>
                      </a:r>
                    </a:p>
                  </a:txBody>
                  <a:tcPr anchor="ctr">
                    <a:solidFill>
                      <a:srgbClr val="FFFFFF"/>
                    </a:solidFill>
                  </a:tcPr>
                </a:tc>
                <a:tc>
                  <a:txBody>
                    <a:bodyPr/>
                    <a:lstStyle/>
                    <a:p>
                      <a:pPr algn="ctr"/>
                      <a:r>
                        <a:rPr sz="900" b="1" dirty="0" err="1">
                          <a:solidFill>
                            <a:srgbClr val="5A6A7A"/>
                          </a:solidFill>
                          <a:latin typeface="Calibri"/>
                          <a:ea typeface="微软雅黑"/>
                          <a:cs typeface="Calibri"/>
                        </a:rPr>
                        <a:t>Enquiry</a:t>
                      </a:r>
                      <a:endParaRPr sz="1100" b="1" dirty="0">
                        <a:solidFill>
                          <a:srgbClr val="5A6A7A"/>
                        </a:solidFill>
                        <a:latin typeface="微软雅黑"/>
                        <a:ea typeface="微软雅黑"/>
                        <a:cs typeface="微软雅黑"/>
                      </a:endParaRPr>
                    </a:p>
                  </a:txBody>
                  <a:tcPr anchor="ctr">
                    <a:solidFill>
                      <a:srgbClr val="FFFFFF"/>
                    </a:solidFill>
                  </a:tcPr>
                </a:tc>
                <a:tc>
                  <a:txBody>
                    <a:bodyPr/>
                    <a:lstStyle/>
                    <a:p>
                      <a:pPr algn="ctr"/>
                      <a:r>
                        <a:rPr sz="900" b="0">
                          <a:solidFill>
                            <a:srgbClr val="2C3E50"/>
                          </a:solidFill>
                          <a:latin typeface="Calibri"/>
                          <a:ea typeface="微软雅黑"/>
                          <a:cs typeface="Calibri"/>
                        </a:rPr>
                        <a:t>—</a:t>
                      </a:r>
                    </a:p>
                  </a:txBody>
                  <a:tcPr anchor="ctr">
                    <a:solidFill>
                      <a:srgbClr val="FFFFFF"/>
                    </a:solidFill>
                  </a:tcPr>
                </a:tc>
                <a:tc>
                  <a:txBody>
                    <a:bodyPr/>
                    <a:lstStyle/>
                    <a:p>
                      <a:pPr algn="ctr"/>
                      <a:r>
                        <a:rPr sz="900" b="0" dirty="0">
                          <a:solidFill>
                            <a:srgbClr val="2C3E50"/>
                          </a:solidFill>
                          <a:latin typeface="Calibri"/>
                          <a:ea typeface="微软雅黑"/>
                          <a:cs typeface="Calibri"/>
                        </a:rPr>
                        <a:t>—</a:t>
                      </a:r>
                    </a:p>
                  </a:txBody>
                  <a:tcPr anchor="ctr">
                    <a:solidFill>
                      <a:srgbClr val="FFFFFF"/>
                    </a:solidFill>
                  </a:tcPr>
                </a:tc>
                <a:tc>
                  <a:txBody>
                    <a:bodyPr/>
                    <a:lstStyle/>
                    <a:p>
                      <a:pPr algn="l"/>
                      <a:r>
                        <a:rPr sz="900" b="0">
                          <a:solidFill>
                            <a:srgbClr val="2C3E50"/>
                          </a:solidFill>
                          <a:latin typeface="Calibri"/>
                          <a:ea typeface="微软雅黑"/>
                          <a:cs typeface="Calibri"/>
                        </a:rPr>
                        <a:t>AZ has a broad ADC payload-linker pipeline and has recently asked to understand the Sandwich high-potency expansion plan.</a:t>
                      </a:r>
                    </a:p>
                  </a:txBody>
                  <a:tcPr anchor="ctr">
                    <a:solidFill>
                      <a:srgbClr val="FFFFFF"/>
                    </a:solidFill>
                  </a:tcPr>
                </a:tc>
                <a:extLst>
                  <a:ext uri="{0D108BD9-81ED-4DB2-BD59-A6C34878D82A}">
                    <a16:rowId xmlns:a16="http://schemas.microsoft.com/office/drawing/2014/main" val="10005"/>
                  </a:ext>
                </a:extLst>
              </a:tr>
              <a:tr h="544068">
                <a:tc>
                  <a:txBody>
                    <a:bodyPr/>
                    <a:lstStyle/>
                    <a:p>
                      <a:pPr algn="l"/>
                      <a:r>
                        <a:rPr sz="900" b="0">
                          <a:solidFill>
                            <a:srgbClr val="2C3E50"/>
                          </a:solidFill>
                          <a:latin typeface="Calibri"/>
                          <a:ea typeface="微软雅黑"/>
                          <a:cs typeface="Calibri"/>
                        </a:rPr>
                        <a:t>Genmab</a:t>
                      </a:r>
                    </a:p>
                  </a:txBody>
                  <a:tcPr anchor="ctr">
                    <a:solidFill>
                      <a:srgbClr val="F6F8FA"/>
                    </a:solidFill>
                  </a:tcPr>
                </a:tc>
                <a:tc>
                  <a:txBody>
                    <a:bodyPr/>
                    <a:lstStyle/>
                    <a:p>
                      <a:pPr algn="l"/>
                      <a:r>
                        <a:rPr sz="900" b="0">
                          <a:solidFill>
                            <a:srgbClr val="2C3E50"/>
                          </a:solidFill>
                          <a:latin typeface="Calibri"/>
                          <a:ea typeface="微软雅黑"/>
                          <a:cs typeface="Calibri"/>
                        </a:rPr>
                        <a:t>LD038.TFA（ASYM-129959）</a:t>
                      </a:r>
                    </a:p>
                  </a:txBody>
                  <a:tcPr anchor="ctr">
                    <a:solidFill>
                      <a:srgbClr val="F6F8FA"/>
                    </a:solidFill>
                  </a:tcPr>
                </a:tc>
                <a:tc>
                  <a:txBody>
                    <a:bodyPr/>
                    <a:lstStyle/>
                    <a:p>
                      <a:pPr algn="ctr"/>
                      <a:r>
                        <a:rPr sz="900" b="1">
                          <a:solidFill>
                            <a:srgbClr val="1A4A6E"/>
                          </a:solidFill>
                          <a:latin typeface="Calibri"/>
                          <a:ea typeface="微软雅黑"/>
                          <a:cs typeface="Calibri"/>
                        </a:rPr>
                        <a:t>Live · second source</a:t>
                      </a:r>
                    </a:p>
                  </a:txBody>
                  <a:tcPr anchor="ctr">
                    <a:solidFill>
                      <a:srgbClr val="F6F8FA"/>
                    </a:solidFill>
                  </a:tcPr>
                </a:tc>
                <a:tc>
                  <a:txBody>
                    <a:bodyPr/>
                    <a:lstStyle/>
                    <a:p>
                      <a:pPr algn="ctr"/>
                      <a:r>
                        <a:rPr sz="900" b="0">
                          <a:solidFill>
                            <a:srgbClr val="2C3E50"/>
                          </a:solidFill>
                          <a:latin typeface="Calibri"/>
                          <a:ea typeface="微软雅黑"/>
                          <a:cs typeface="Calibri"/>
                        </a:rPr>
                        <a:t>71.8 kg</a:t>
                      </a:r>
                    </a:p>
                  </a:txBody>
                  <a:tcPr anchor="ctr">
                    <a:solidFill>
                      <a:srgbClr val="F6F8FA"/>
                    </a:solidFill>
                  </a:tcPr>
                </a:tc>
                <a:tc>
                  <a:txBody>
                    <a:bodyPr/>
                    <a:lstStyle/>
                    <a:p>
                      <a:pPr algn="ctr"/>
                      <a:r>
                        <a:rPr sz="900" b="0">
                          <a:solidFill>
                            <a:srgbClr val="2C3E50"/>
                          </a:solidFill>
                          <a:latin typeface="Calibri"/>
                          <a:ea typeface="微软雅黑"/>
                          <a:cs typeface="Calibri"/>
                        </a:rPr>
                        <a:t>$86M</a:t>
                      </a:r>
                    </a:p>
                  </a:txBody>
                  <a:tcPr anchor="ctr">
                    <a:solidFill>
                      <a:srgbClr val="F6F8FA"/>
                    </a:solidFill>
                  </a:tcPr>
                </a:tc>
                <a:tc>
                  <a:txBody>
                    <a:bodyPr/>
                    <a:lstStyle/>
                    <a:p>
                      <a:pPr algn="l"/>
                      <a:r>
                        <a:rPr sz="800" b="0" dirty="0" err="1">
                          <a:solidFill>
                            <a:srgbClr val="2C3E50"/>
                          </a:solidFill>
                          <a:latin typeface="Calibri"/>
                          <a:ea typeface="微软雅黑"/>
                          <a:cs typeface="Calibri"/>
                        </a:rPr>
                        <a:t>Payload-linker. BLA filing planned for the end of 2026. Tianjin has completed PPQ and commercial batches are in progress.</a:t>
                      </a:r>
                      <a:r>
                        <a:rPr sz="1100" b="0" dirty="0">
                          <a:solidFill>
                            <a:srgbClr val="2C3E50"/>
                          </a:solidFill>
                          <a:latin typeface="微软雅黑"/>
                          <a:ea typeface="微软雅黑"/>
                          <a:cs typeface="微软雅黑"/>
                        </a:rPr>
                        <a:t/>
                      </a:r>
                      <a:r>
                        <a:rPr sz="1100" b="0" dirty="0" err="1">
                          <a:solidFill>
                            <a:srgbClr val="2C3E50"/>
                          </a:solidFill>
                          <a:latin typeface="微软雅黑"/>
                          <a:ea typeface="微软雅黑"/>
                          <a:cs typeface="微软雅黑"/>
                        </a:rPr>
                        <a:t/>
                      </a:r>
                      <a:r>
                        <a:rPr sz="1100" b="0" dirty="0">
                          <a:solidFill>
                            <a:srgbClr val="2C3E50"/>
                          </a:solidFill>
                          <a:latin typeface="微软雅黑"/>
                          <a:ea typeface="微软雅黑"/>
                          <a:cs typeface="微软雅黑"/>
                        </a:rPr>
                        <a:t/>
                      </a:r>
                      <a:r>
                        <a:rPr sz="1100" b="0" dirty="0" err="1">
                          <a:solidFill>
                            <a:srgbClr val="2C3E50"/>
                          </a:solidFill>
                          <a:latin typeface="微软雅黑"/>
                          <a:ea typeface="微软雅黑"/>
                          <a:cs typeface="微软雅黑"/>
                        </a:rPr>
                        <a:t/>
                      </a:r>
                      <a:r>
                        <a:rPr sz="1100" b="0" dirty="0">
                          <a:solidFill>
                            <a:srgbClr val="2C3E50"/>
                          </a:solidFill>
                          <a:latin typeface="微软雅黑"/>
                          <a:ea typeface="微软雅黑"/>
                          <a:cs typeface="微软雅黑"/>
                        </a:rPr>
                        <a:t/>
                      </a:r>
                      <a:r>
                        <a:rPr sz="1100" b="0" dirty="0" err="1">
                          <a:solidFill>
                            <a:srgbClr val="2C3E50"/>
                          </a:solidFill>
                          <a:latin typeface="微软雅黑"/>
                          <a:ea typeface="微软雅黑"/>
                          <a:cs typeface="微软雅黑"/>
                        </a:rPr>
                        <a:t/>
                      </a:r>
                      <a:r>
                        <a:rPr sz="1100" b="0" dirty="0" smtClean="0">
                          <a:solidFill>
                            <a:srgbClr val="2C3E50"/>
                          </a:solidFill>
                          <a:latin typeface="微软雅黑"/>
                          <a:ea typeface="微软雅黑"/>
                          <a:cs typeface="微软雅黑"/>
                        </a:rPr>
                        <a:t/>
                      </a:r>
                      <a:endParaRPr lang="en-US" sz="1100" b="0" dirty="0" smtClean="0">
                        <a:solidFill>
                          <a:srgbClr val="2C3E50"/>
                        </a:solidFill>
                        <a:latin typeface="微软雅黑"/>
                        <a:ea typeface="微软雅黑"/>
                        <a:cs typeface="微软雅黑"/>
                      </a:endParaRPr>
                    </a:p>
                    <a:p>
                      <a:pPr algn="l"/>
                      <a:r>
                        <a:rPr sz="800" b="1" dirty="0" err="1" smtClean="0">
                          <a:solidFill>
                            <a:srgbClr val="C00000"/>
                          </a:solidFill>
                          <a:latin typeface="Calibri"/>
                          <a:ea typeface="微软雅黑"/>
                          <a:cs typeface="Calibri"/>
                        </a:rPr>
                        <a:t>The customer is assessing a US/EU second source and is watching the Sandwich expansion plan. A collaboration would require a further upgrade of BLA capability.</a:t>
                      </a:r>
                      <a:r>
                        <a:rPr sz="1100" b="1" dirty="0" err="1">
                          <a:solidFill>
                            <a:srgbClr val="C00000"/>
                          </a:solidFill>
                          <a:latin typeface="微软雅黑"/>
                          <a:ea typeface="微软雅黑"/>
                          <a:cs typeface="微软雅黑"/>
                        </a:rPr>
                        <a:t/>
                      </a:r>
                      <a:r>
                        <a:rPr sz="1100" b="1" dirty="0">
                          <a:solidFill>
                            <a:srgbClr val="C00000"/>
                          </a:solidFill>
                          <a:latin typeface="微软雅黑"/>
                          <a:ea typeface="微软雅黑"/>
                          <a:cs typeface="微软雅黑"/>
                        </a:rPr>
                        <a:t/>
                      </a:r>
                      <a:r>
                        <a:rPr sz="1100" b="1" dirty="0" err="1" smtClean="0">
                          <a:solidFill>
                            <a:srgbClr val="C00000"/>
                          </a:solidFill>
                          <a:latin typeface="微软雅黑"/>
                          <a:ea typeface="微软雅黑"/>
                          <a:cs typeface="微软雅黑"/>
                        </a:rPr>
                        <a:t/>
                      </a:r>
                      <a:r>
                        <a:rPr lang="en-US" sz="1100" b="1" dirty="0" smtClean="0">
                          <a:solidFill>
                            <a:srgbClr val="C00000"/>
                          </a:solidFill>
                          <a:latin typeface="微软雅黑"/>
                          <a:ea typeface="微软雅黑"/>
                          <a:cs typeface="微软雅黑"/>
                        </a:rPr>
                        <a:t/>
                      </a:r>
                      <a:r>
                        <a:rPr lang="zh-CN" altLang="en-US" sz="1100" b="1" dirty="0" smtClean="0">
                          <a:solidFill>
                            <a:srgbClr val="C00000"/>
                          </a:solidFill>
                          <a:latin typeface="微软雅黑"/>
                          <a:ea typeface="微软雅黑"/>
                          <a:cs typeface="微软雅黑"/>
                        </a:rPr>
                        <a:t/>
                      </a:r>
                      <a:r>
                        <a:rPr lang="en-US" altLang="zh-CN" sz="1100" b="1" dirty="0" smtClean="0">
                          <a:solidFill>
                            <a:srgbClr val="C00000"/>
                          </a:solidFill>
                          <a:latin typeface="微软雅黑"/>
                          <a:ea typeface="微软雅黑"/>
                          <a:cs typeface="微软雅黑"/>
                        </a:rPr>
                        <a:t/>
                      </a:r>
                      <a:r>
                        <a:rPr lang="zh-CN" altLang="en-US" sz="1100" b="1" dirty="0" smtClean="0">
                          <a:solidFill>
                            <a:srgbClr val="C00000"/>
                          </a:solidFill>
                          <a:latin typeface="微软雅黑"/>
                          <a:ea typeface="微软雅黑"/>
                          <a:cs typeface="微软雅黑"/>
                        </a:rPr>
                        <a:t/>
                      </a:r>
                      <a:r>
                        <a:rPr sz="1100" b="0" dirty="0" smtClean="0">
                          <a:solidFill>
                            <a:srgbClr val="2C3E50"/>
                          </a:solidFill>
                          <a:latin typeface="微软雅黑"/>
                          <a:ea typeface="微软雅黑"/>
                          <a:cs typeface="微软雅黑"/>
                        </a:rPr>
                        <a:t/>
                      </a:r>
                      <a:endParaRPr sz="1100" b="0" dirty="0">
                        <a:solidFill>
                          <a:srgbClr val="2C3E50"/>
                        </a:solidFill>
                        <a:latin typeface="微软雅黑"/>
                        <a:ea typeface="微软雅黑"/>
                        <a:cs typeface="微软雅黑"/>
                      </a:endParaRPr>
                    </a:p>
                  </a:txBody>
                  <a:tcPr anchor="ctr">
                    <a:solidFill>
                      <a:srgbClr val="F6F8FA"/>
                    </a:solidFill>
                  </a:tcPr>
                </a:tc>
                <a:extLst>
                  <a:ext uri="{0D108BD9-81ED-4DB2-BD59-A6C34878D82A}">
                    <a16:rowId xmlns:a16="http://schemas.microsoft.com/office/drawing/2014/main" val="10006"/>
                  </a:ext>
                </a:extLst>
              </a:tr>
              <a:tr h="544068">
                <a:tc>
                  <a:txBody>
                    <a:bodyPr/>
                    <a:lstStyle/>
                    <a:p>
                      <a:pPr algn="l"/>
                      <a:r>
                        <a:rPr sz="900" b="0">
                          <a:solidFill>
                            <a:srgbClr val="2C3E50"/>
                          </a:solidFill>
                          <a:latin typeface="Calibri"/>
                          <a:ea typeface="微软雅黑"/>
                          <a:cs typeface="Calibri"/>
                        </a:rPr>
                        <a:t>BioNTech</a:t>
                      </a:r>
                    </a:p>
                  </a:txBody>
                  <a:tcPr anchor="ctr">
                    <a:solidFill>
                      <a:srgbClr val="FFFFFF"/>
                    </a:solidFill>
                  </a:tcPr>
                </a:tc>
                <a:tc>
                  <a:txBody>
                    <a:bodyPr/>
                    <a:lstStyle/>
                    <a:p>
                      <a:pPr algn="l"/>
                      <a:r>
                        <a:rPr sz="900" b="0">
                          <a:solidFill>
                            <a:srgbClr val="2C3E50"/>
                          </a:solidFill>
                          <a:latin typeface="Calibri"/>
                          <a:ea typeface="微软雅黑"/>
                          <a:cs typeface="Calibri"/>
                        </a:rPr>
                        <a:t>BNT3214（ASYM-139154）</a:t>
                      </a:r>
                    </a:p>
                  </a:txBody>
                  <a:tcPr anchor="ctr">
                    <a:solidFill>
                      <a:srgbClr val="FFFFFF"/>
                    </a:solidFill>
                  </a:tcPr>
                </a:tc>
                <a:tc>
                  <a:txBody>
                    <a:bodyPr/>
                    <a:lstStyle/>
                    <a:p>
                      <a:pPr algn="ctr"/>
                      <a:r>
                        <a:rPr sz="900" b="1">
                          <a:solidFill>
                            <a:srgbClr val="1F7A6F"/>
                          </a:solidFill>
                          <a:latin typeface="Calibri"/>
                          <a:ea typeface="微软雅黑"/>
                          <a:cs typeface="Calibri"/>
                        </a:rPr>
                        <a:t>Live · transfer to Sandwich</a:t>
                      </a:r>
                    </a:p>
                  </a:txBody>
                  <a:tcPr anchor="ctr">
                    <a:solidFill>
                      <a:srgbClr val="FFFFFF"/>
                    </a:solidFill>
                  </a:tcPr>
                </a:tc>
                <a:tc>
                  <a:txBody>
                    <a:bodyPr/>
                    <a:lstStyle/>
                    <a:p>
                      <a:pPr algn="ctr"/>
                      <a:r>
                        <a:rPr sz="900" b="0">
                          <a:solidFill>
                            <a:srgbClr val="2C3E50"/>
                          </a:solidFill>
                          <a:latin typeface="Calibri"/>
                          <a:ea typeface="微软雅黑"/>
                          <a:cs typeface="Calibri"/>
                        </a:rPr>
                        <a:t>8 kg</a:t>
                      </a:r>
                    </a:p>
                  </a:txBody>
                  <a:tcPr anchor="ctr">
                    <a:solidFill>
                      <a:srgbClr val="FFFFFF"/>
                    </a:solidFill>
                  </a:tcPr>
                </a:tc>
                <a:tc>
                  <a:txBody>
                    <a:bodyPr/>
                    <a:lstStyle/>
                    <a:p>
                      <a:pPr algn="ctr"/>
                      <a:r>
                        <a:rPr sz="900" b="0">
                          <a:solidFill>
                            <a:srgbClr val="2C3E50"/>
                          </a:solidFill>
                          <a:latin typeface="Calibri"/>
                          <a:ea typeface="微软雅黑"/>
                          <a:cs typeface="Calibri"/>
                        </a:rPr>
                        <a:t>$15–20M</a:t>
                      </a:r>
                    </a:p>
                  </a:txBody>
                  <a:tcPr anchor="ctr">
                    <a:solidFill>
                      <a:srgbClr val="FFFFFF"/>
                    </a:solidFill>
                  </a:tcPr>
                </a:tc>
                <a:tc>
                  <a:txBody>
                    <a:bodyPr/>
                    <a:lstStyle/>
                    <a:p>
                      <a:pPr algn="l"/>
                      <a:r>
                        <a:rPr sz="900" b="0" dirty="0" err="1">
                          <a:solidFill>
                            <a:srgbClr val="2C3E50"/>
                          </a:solidFill>
                          <a:latin typeface="Calibri"/>
                          <a:ea typeface="微软雅黑"/>
                          <a:cs typeface="Calibri"/>
                        </a:rPr>
                        <a:t>Early work is currently supported from China. The intention is for Sandwich to take the long-term supply once the project moves forward.</a:t>
                      </a:r>
                      <a:r>
                        <a:rPr sz="1100" b="0" dirty="0">
                          <a:solidFill>
                            <a:srgbClr val="2C3E50"/>
                          </a:solidFill>
                          <a:latin typeface="微软雅黑"/>
                          <a:ea typeface="微软雅黑"/>
                          <a:cs typeface="微软雅黑"/>
                        </a:rPr>
                        <a:t/>
                      </a:r>
                      <a:r>
                        <a:rPr sz="1100" b="0" dirty="0" err="1" smtClean="0">
                          <a:solidFill>
                            <a:srgbClr val="2C3E50"/>
                          </a:solidFill>
                          <a:latin typeface="微软雅黑"/>
                          <a:ea typeface="微软雅黑"/>
                          <a:cs typeface="微软雅黑"/>
                        </a:rPr>
                        <a:t/>
                      </a:r>
                      <a:endParaRPr sz="1100" b="0" dirty="0">
                        <a:solidFill>
                          <a:srgbClr val="2C3E50"/>
                        </a:solidFill>
                        <a:latin typeface="微软雅黑"/>
                        <a:ea typeface="微软雅黑"/>
                        <a:cs typeface="微软雅黑"/>
                      </a:endParaRPr>
                    </a:p>
                  </a:txBody>
                  <a:tcPr anchor="ctr">
                    <a:solidFill>
                      <a:srgbClr val="FFFFFF"/>
                    </a:solidFill>
                  </a:tcPr>
                </a:tc>
                <a:extLst>
                  <a:ext uri="{0D108BD9-81ED-4DB2-BD59-A6C34878D82A}">
                    <a16:rowId xmlns:a16="http://schemas.microsoft.com/office/drawing/2014/main" val="10007"/>
                  </a:ext>
                </a:extLst>
              </a:tr>
              <a:tr h="544068">
                <a:tc>
                  <a:txBody>
                    <a:bodyPr/>
                    <a:lstStyle/>
                    <a:p>
                      <a:pPr algn="l"/>
                      <a:r>
                        <a:rPr sz="900" b="0">
                          <a:solidFill>
                            <a:srgbClr val="2C3E50"/>
                          </a:solidFill>
                          <a:latin typeface="Calibri"/>
                          <a:ea typeface="微软雅黑"/>
                          <a:cs typeface="Calibri"/>
                        </a:rPr>
                        <a:t>NCC</a:t>
                      </a:r>
                    </a:p>
                  </a:txBody>
                  <a:tcPr anchor="ctr">
                    <a:solidFill>
                      <a:srgbClr val="F6F8FA"/>
                    </a:solidFill>
                  </a:tcPr>
                </a:tc>
                <a:tc>
                  <a:txBody>
                    <a:bodyPr/>
                    <a:lstStyle/>
                    <a:p>
                      <a:pPr algn="l"/>
                      <a:r>
                        <a:rPr sz="900" b="0">
                          <a:solidFill>
                            <a:srgbClr val="2C3E50"/>
                          </a:solidFill>
                          <a:latin typeface="Calibri"/>
                          <a:ea typeface="微软雅黑"/>
                          <a:cs typeface="Calibri"/>
                        </a:rPr>
                        <a:t>Exatecan mesylate</a:t>
                      </a:r>
                    </a:p>
                  </a:txBody>
                  <a:tcPr anchor="ctr">
                    <a:solidFill>
                      <a:srgbClr val="F6F8FA"/>
                    </a:solidFill>
                  </a:tcPr>
                </a:tc>
                <a:tc>
                  <a:txBody>
                    <a:bodyPr/>
                    <a:lstStyle/>
                    <a:p>
                      <a:pPr algn="ctr"/>
                      <a:r>
                        <a:rPr sz="900" b="1">
                          <a:solidFill>
                            <a:srgbClr val="009688"/>
                          </a:solidFill>
                          <a:latin typeface="Calibri"/>
                          <a:ea typeface="微软雅黑"/>
                          <a:cs typeface="Calibri"/>
                        </a:rPr>
                        <a:t>Requirement listed</a:t>
                      </a:r>
                    </a:p>
                  </a:txBody>
                  <a:tcPr anchor="ctr">
                    <a:solidFill>
                      <a:srgbClr val="F6F8FA"/>
                    </a:solidFill>
                  </a:tcPr>
                </a:tc>
                <a:tc>
                  <a:txBody>
                    <a:bodyPr/>
                    <a:lstStyle/>
                    <a:p>
                      <a:pPr algn="ctr"/>
                      <a:r>
                        <a:rPr sz="900" b="0">
                          <a:solidFill>
                            <a:srgbClr val="2C3E50"/>
                          </a:solidFill>
                          <a:latin typeface="Calibri"/>
                          <a:ea typeface="微软雅黑"/>
                          <a:cs typeface="Calibri"/>
                        </a:rPr>
                        <a:t>6 kg（2027）</a:t>
                      </a:r>
                    </a:p>
                  </a:txBody>
                  <a:tcPr anchor="ctr">
                    <a:solidFill>
                      <a:srgbClr val="F6F8FA"/>
                    </a:solidFill>
                  </a:tcPr>
                </a:tc>
                <a:tc>
                  <a:txBody>
                    <a:bodyPr/>
                    <a:lstStyle/>
                    <a:p>
                      <a:pPr algn="ctr"/>
                      <a:r>
                        <a:rPr sz="900" b="0">
                          <a:solidFill>
                            <a:srgbClr val="2C3E50"/>
                          </a:solidFill>
                          <a:latin typeface="Calibri"/>
                          <a:ea typeface="微软雅黑"/>
                          <a:cs typeface="Calibri"/>
                        </a:rPr>
                        <a:t>TBD</a:t>
                      </a:r>
                    </a:p>
                  </a:txBody>
                  <a:tcPr anchor="ctr">
                    <a:solidFill>
                      <a:srgbClr val="F6F8FA"/>
                    </a:solidFill>
                  </a:tcPr>
                </a:tc>
                <a:tc>
                  <a:txBody>
                    <a:bodyPr/>
                    <a:lstStyle/>
                    <a:p>
                      <a:pPr algn="l"/>
                      <a:r>
                        <a:rPr sz="900" b="0">
                          <a:solidFill>
                            <a:srgbClr val="2C3E50"/>
                          </a:solidFill>
                          <a:latin typeface="Calibri"/>
                          <a:ea typeface="微软雅黑"/>
                          <a:cs typeface="Calibri"/>
                        </a:rPr>
                        <a:t>Only 6 kg is listed for 2027. Later years and the value are TBD.</a:t>
                      </a:r>
                    </a:p>
                  </a:txBody>
                  <a:tcPr anchor="ctr">
                    <a:solidFill>
                      <a:srgbClr val="F6F8FA"/>
                    </a:solidFill>
                  </a:tcPr>
                </a:tc>
                <a:extLst>
                  <a:ext uri="{0D108BD9-81ED-4DB2-BD59-A6C34878D82A}">
                    <a16:rowId xmlns:a16="http://schemas.microsoft.com/office/drawing/2014/main" val="10008"/>
                  </a:ext>
                </a:extLst>
              </a:tr>
              <a:tr h="544068">
                <a:tc>
                  <a:txBody>
                    <a:bodyPr/>
                    <a:lstStyle/>
                    <a:p>
                      <a:pPr algn="l"/>
                      <a:r>
                        <a:rPr sz="900" b="0">
                          <a:solidFill>
                            <a:srgbClr val="2C3E50"/>
                          </a:solidFill>
                          <a:latin typeface="Calibri"/>
                          <a:ea typeface="微软雅黑"/>
                          <a:cs typeface="Calibri"/>
                        </a:rPr>
                        <a:t>Roche / Innovent / MediLink</a:t>
                      </a:r>
                    </a:p>
                  </a:txBody>
                  <a:tcPr anchor="ctr">
                    <a:solidFill>
                      <a:srgbClr val="FFFFFF"/>
                    </a:solidFill>
                  </a:tcPr>
                </a:tc>
                <a:tc>
                  <a:txBody>
                    <a:bodyPr/>
                    <a:lstStyle/>
                    <a:p>
                      <a:pPr algn="l"/>
                      <a:r>
                        <a:rPr sz="900" b="0">
                          <a:solidFill>
                            <a:srgbClr val="2C3E50"/>
                          </a:solidFill>
                          <a:latin typeface="Calibri"/>
                          <a:ea typeface="微软雅黑"/>
                          <a:cs typeface="Calibri"/>
                        </a:rPr>
                        <a:t>Enquiry on overseas high-potency capacity</a:t>
                      </a:r>
                    </a:p>
                  </a:txBody>
                  <a:tcPr anchor="ctr">
                    <a:solidFill>
                      <a:srgbClr val="FFFFFF"/>
                    </a:solidFill>
                  </a:tcPr>
                </a:tc>
                <a:tc>
                  <a:txBody>
                    <a:bodyPr/>
                    <a:lstStyle/>
                    <a:p>
                      <a:pPr algn="ctr"/>
                      <a:r>
                        <a:rPr sz="900" b="1">
                          <a:solidFill>
                            <a:srgbClr val="5A6A7A"/>
                          </a:solidFill>
                          <a:latin typeface="Calibri"/>
                          <a:ea typeface="微软雅黑"/>
                          <a:cs typeface="Calibri"/>
                        </a:rPr>
                        <a:t>Enquiry</a:t>
                      </a:r>
                    </a:p>
                  </a:txBody>
                  <a:tcPr anchor="ctr">
                    <a:solidFill>
                      <a:srgbClr val="FFFFFF"/>
                    </a:solidFill>
                  </a:tcPr>
                </a:tc>
                <a:tc>
                  <a:txBody>
                    <a:bodyPr/>
                    <a:lstStyle/>
                    <a:p>
                      <a:pPr algn="ctr"/>
                      <a:r>
                        <a:rPr sz="900" b="0">
                          <a:solidFill>
                            <a:srgbClr val="2C3E50"/>
                          </a:solidFill>
                          <a:latin typeface="Calibri"/>
                          <a:ea typeface="微软雅黑"/>
                          <a:cs typeface="Calibri"/>
                        </a:rPr>
                        <a:t>—</a:t>
                      </a:r>
                    </a:p>
                  </a:txBody>
                  <a:tcPr anchor="ctr">
                    <a:solidFill>
                      <a:srgbClr val="FFFFFF"/>
                    </a:solidFill>
                  </a:tcPr>
                </a:tc>
                <a:tc>
                  <a:txBody>
                    <a:bodyPr/>
                    <a:lstStyle/>
                    <a:p>
                      <a:pPr algn="ctr"/>
                      <a:r>
                        <a:rPr sz="900" b="0">
                          <a:solidFill>
                            <a:srgbClr val="2C3E50"/>
                          </a:solidFill>
                          <a:latin typeface="Calibri"/>
                          <a:ea typeface="微软雅黑"/>
                          <a:cs typeface="Calibri"/>
                        </a:rPr>
                        <a:t>—</a:t>
                      </a:r>
                    </a:p>
                  </a:txBody>
                  <a:tcPr anchor="ctr">
                    <a:solidFill>
                      <a:srgbClr val="FFFFFF"/>
                    </a:solidFill>
                  </a:tcPr>
                </a:tc>
                <a:tc>
                  <a:txBody>
                    <a:bodyPr/>
                    <a:lstStyle/>
                    <a:p>
                      <a:pPr algn="l"/>
                      <a:r>
                        <a:rPr sz="900" b="0" dirty="0" err="1" smtClean="0">
                          <a:solidFill>
                            <a:srgbClr val="2C3E50"/>
                          </a:solidFill>
                          <a:latin typeface="Calibri"/>
                          <a:ea typeface="微软雅黑"/>
                          <a:cs typeface="Calibri"/>
                        </a:rPr>
                        <a:t>All three are asking about overseas high-potency capacity.</a:t>
                      </a:r>
                      <a:endParaRPr sz="1100" b="0" dirty="0">
                        <a:solidFill>
                          <a:srgbClr val="2C3E50"/>
                        </a:solidFill>
                        <a:latin typeface="微软雅黑"/>
                        <a:ea typeface="微软雅黑"/>
                        <a:cs typeface="微软雅黑"/>
                      </a:endParaRPr>
                    </a:p>
                  </a:txBody>
                  <a:tcPr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4 / 31</a:t>
            </a:r>
          </a:p>
        </p:txBody>
      </p:sp>
      <p:sp>
        <p:nvSpPr>
          <p:cNvPr id="10" name="Rectangle 9"/>
          <p:cNvSpPr/>
          <p:nvPr/>
        </p:nvSpPr>
        <p:spPr>
          <a:xfrm>
            <a:off x="384048" y="164592"/>
            <a:ext cx="82296" cy="713232"/>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92443"/>
          </a:xfrm>
          <a:prstGeom prst="rect">
            <a:avLst/>
          </a:prstGeom>
          <a:noFill/>
        </p:spPr>
        <p:txBody>
          <a:bodyPr wrap="square" anchor="t">
            <a:spAutoFit/>
          </a:bodyPr>
          <a:lstStyle/>
          <a:p>
            <a:r>
              <a:rPr sz="1600" b="1" dirty="0" err="1" smtClean="0">
                <a:solidFill>
                  <a:srgbClr val="0F2B46"/>
                </a:solidFill>
                <a:latin typeface="Calibri"/>
                <a:ea typeface="微软雅黑"/>
                <a:cs typeface="Calibri"/>
              </a:rPr>
              <a:t>High-potency, purification and lyophilisation demand: customers are asking about capacity</a:t>
            </a:r>
            <a:r>
              <a:rPr lang="en-US" altLang="zh-CN" sz="2600" b="1" dirty="0">
                <a:solidFill>
                  <a:srgbClr val="0F2B46"/>
                </a:solidFill>
                <a:latin typeface="微软雅黑"/>
                <a:ea typeface="微软雅黑"/>
                <a:cs typeface="微软雅黑"/>
              </a:rPr>
              <a:t/>
            </a:r>
            <a:r>
              <a:rPr lang="zh-CN" altLang="en-US" sz="2600" b="1" dirty="0">
                <a:solidFill>
                  <a:srgbClr val="0F2B46"/>
                </a:solidFill>
                <a:latin typeface="微软雅黑"/>
                <a:ea typeface="微软雅黑"/>
                <a:cs typeface="微软雅黑"/>
              </a:rPr>
              <a:t/>
            </a:r>
            <a:r>
              <a:rPr lang="en-US" altLang="zh-CN" sz="2600" b="1" dirty="0">
                <a:solidFill>
                  <a:srgbClr val="0F2B46"/>
                </a:solidFill>
                <a:latin typeface="微软雅黑"/>
                <a:ea typeface="微软雅黑"/>
                <a:cs typeface="微软雅黑"/>
              </a:rPr>
              <a:t/>
            </a:r>
            <a:r>
              <a:rPr lang="zh-CN" altLang="en-US" sz="2600" b="1" dirty="0">
                <a:solidFill>
                  <a:srgbClr val="0F2B46"/>
                </a:solidFill>
                <a:latin typeface="微软雅黑"/>
                <a:ea typeface="微软雅黑"/>
                <a:cs typeface="微软雅黑"/>
              </a:rPr>
              <a:t/>
            </a:r>
            <a:r>
              <a:rPr sz="2600" b="1" dirty="0" err="1" smtClean="0">
                <a:solidFill>
                  <a:srgbClr val="0F2B46"/>
                </a:solidFill>
                <a:latin typeface="微软雅黑"/>
                <a:ea typeface="微软雅黑"/>
                <a:cs typeface="微软雅黑"/>
              </a:rPr>
              <a:t/>
            </a:r>
            <a:r>
              <a:rPr sz="2600" b="1" dirty="0" err="1">
                <a:solidFill>
                  <a:srgbClr val="0F2B46"/>
                </a:solidFill>
                <a:latin typeface="微软雅黑"/>
                <a:ea typeface="微软雅黑"/>
                <a:cs typeface="微软雅黑"/>
              </a:rPr>
              <a:t/>
            </a:r>
            <a:endParaRPr sz="2600" b="1" dirty="0">
              <a:solidFill>
                <a:srgbClr val="0F2B46"/>
              </a:solidFill>
              <a:latin typeface="微软雅黑"/>
              <a:ea typeface="微软雅黑"/>
              <a:cs typeface="微软雅黑"/>
            </a:endParaRP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Compiled by European BD · Sandwich high-potency demand and opportunities (2027–2030)</a:t>
            </a:r>
          </a:p>
        </p:txBody>
      </p:sp>
      <p:sp>
        <p:nvSpPr>
          <p:cNvPr id="13" name="Rounded Rectangle 12"/>
          <p:cNvSpPr/>
          <p:nvPr/>
        </p:nvSpPr>
        <p:spPr>
          <a:xfrm>
            <a:off x="384048"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1051560"/>
            <a:ext cx="82296" cy="1024128"/>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235903"/>
            <a:ext cx="2471851" cy="457200"/>
          </a:xfrm>
          <a:prstGeom prst="rect">
            <a:avLst/>
          </a:prstGeom>
          <a:noFill/>
        </p:spPr>
        <p:txBody>
          <a:bodyPr wrap="square" anchor="t">
            <a:spAutoFit/>
          </a:bodyPr>
          <a:lstStyle/>
          <a:p>
            <a:pPr algn="l"/>
            <a:r>
              <a:rPr sz="2000" b="1" dirty="0">
                <a:solidFill>
                  <a:srgbClr val="0F2B46"/>
                </a:solidFill>
                <a:latin typeface="Calibri"/>
                <a:ea typeface="微软雅黑"/>
                <a:cs typeface="Calibri"/>
              </a:rPr>
              <a:t>4 named accounts</a:t>
            </a:r>
            <a:r>
              <a:rPr sz="2000" b="1" dirty="0" err="1">
                <a:solidFill>
                  <a:srgbClr val="0F2B46"/>
                </a:solidFill>
                <a:latin typeface="微软雅黑"/>
                <a:ea typeface="微软雅黑"/>
                <a:cs typeface="微软雅黑"/>
              </a:rPr>
              <a:t/>
            </a:r>
            <a:endParaRPr sz="2000" b="1" dirty="0">
              <a:solidFill>
                <a:srgbClr val="0F2B46"/>
              </a:solidFill>
              <a:latin typeface="微软雅黑"/>
              <a:ea typeface="微软雅黑"/>
              <a:cs typeface="微软雅黑"/>
            </a:endParaRPr>
          </a:p>
        </p:txBody>
      </p:sp>
      <p:sp>
        <p:nvSpPr>
          <p:cNvPr id="16" name="TextBox 15"/>
          <p:cNvSpPr txBox="1"/>
          <p:nvPr/>
        </p:nvSpPr>
        <p:spPr>
          <a:xfrm>
            <a:off x="566928" y="1618488"/>
            <a:ext cx="2471851" cy="409651"/>
          </a:xfrm>
          <a:prstGeom prst="rect">
            <a:avLst/>
          </a:prstGeom>
          <a:noFill/>
        </p:spPr>
        <p:txBody>
          <a:bodyPr wrap="square" anchor="t">
            <a:spAutoFit/>
          </a:bodyPr>
          <a:lstStyle/>
          <a:p>
            <a:pPr algn="l"/>
            <a:r>
              <a:rPr sz="1200" b="0">
                <a:solidFill>
                  <a:srgbClr val="5A6A7A"/>
                </a:solidFill>
                <a:latin typeface="Calibri"/>
                <a:ea typeface="微软雅黑"/>
                <a:cs typeface="Calibri"/>
              </a:rPr>
              <a:t>AZ · Genmab · BioNTech · NCC</a:t>
            </a:r>
          </a:p>
        </p:txBody>
      </p:sp>
      <p:sp>
        <p:nvSpPr>
          <p:cNvPr id="17" name="Rounded Rectangle 16"/>
          <p:cNvSpPr/>
          <p:nvPr/>
        </p:nvSpPr>
        <p:spPr>
          <a:xfrm>
            <a:off x="3276523"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76523" y="1051560"/>
            <a:ext cx="82296" cy="1024128"/>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9403" y="1235903"/>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3 enquiries</a:t>
            </a:r>
          </a:p>
        </p:txBody>
      </p:sp>
      <p:sp>
        <p:nvSpPr>
          <p:cNvPr id="20" name="TextBox 19"/>
          <p:cNvSpPr txBox="1"/>
          <p:nvPr/>
        </p:nvSpPr>
        <p:spPr>
          <a:xfrm>
            <a:off x="3459403" y="1618488"/>
            <a:ext cx="2471851" cy="409651"/>
          </a:xfrm>
          <a:prstGeom prst="rect">
            <a:avLst/>
          </a:prstGeom>
          <a:noFill/>
        </p:spPr>
        <p:txBody>
          <a:bodyPr wrap="square" anchor="t">
            <a:spAutoFit/>
          </a:bodyPr>
          <a:lstStyle/>
          <a:p>
            <a:pPr algn="l"/>
            <a:r>
              <a:rPr sz="1200" b="0">
                <a:solidFill>
                  <a:srgbClr val="5A6A7A"/>
                </a:solidFill>
                <a:latin typeface="Calibri"/>
                <a:ea typeface="微软雅黑"/>
                <a:cs typeface="Calibri"/>
              </a:rPr>
              <a:t>Roche · Innovent · MediLink (no volume)</a:t>
            </a:r>
          </a:p>
        </p:txBody>
      </p:sp>
      <p:sp>
        <p:nvSpPr>
          <p:cNvPr id="21" name="Rounded Rectangle 20"/>
          <p:cNvSpPr/>
          <p:nvPr/>
        </p:nvSpPr>
        <p:spPr>
          <a:xfrm>
            <a:off x="6168999"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68999" y="1051560"/>
            <a:ext cx="82296" cy="1024128"/>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1879" y="1235903"/>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2 opportunities lost</a:t>
            </a:r>
          </a:p>
        </p:txBody>
      </p:sp>
      <p:sp>
        <p:nvSpPr>
          <p:cNvPr id="24" name="TextBox 23"/>
          <p:cNvSpPr txBox="1"/>
          <p:nvPr/>
        </p:nvSpPr>
        <p:spPr>
          <a:xfrm>
            <a:off x="6351879" y="1618488"/>
            <a:ext cx="2471851" cy="409651"/>
          </a:xfrm>
          <a:prstGeom prst="rect">
            <a:avLst/>
          </a:prstGeom>
          <a:noFill/>
        </p:spPr>
        <p:txBody>
          <a:bodyPr wrap="square" anchor="t">
            <a:spAutoFit/>
          </a:bodyPr>
          <a:lstStyle/>
          <a:p>
            <a:pPr algn="l"/>
            <a:r>
              <a:rPr sz="1200" b="0">
                <a:solidFill>
                  <a:srgbClr val="5A6A7A"/>
                </a:solidFill>
                <a:latin typeface="Calibri"/>
                <a:ea typeface="微软雅黑"/>
                <a:cs typeface="Calibri"/>
              </a:rPr>
              <a:t>AZ Exatecan + linker GMP</a:t>
            </a:r>
          </a:p>
        </p:txBody>
      </p:sp>
      <p:sp>
        <p:nvSpPr>
          <p:cNvPr id="25" name="Rounded Rectangle 24"/>
          <p:cNvSpPr/>
          <p:nvPr/>
        </p:nvSpPr>
        <p:spPr>
          <a:xfrm>
            <a:off x="9061475"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61475" y="1051560"/>
            <a:ext cx="82296" cy="1024128"/>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44355" y="1235903"/>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Asked about the expansion</a:t>
            </a:r>
          </a:p>
        </p:txBody>
      </p:sp>
      <p:sp>
        <p:nvSpPr>
          <p:cNvPr id="28" name="TextBox 27"/>
          <p:cNvSpPr txBox="1"/>
          <p:nvPr/>
        </p:nvSpPr>
        <p:spPr>
          <a:xfrm>
            <a:off x="9244355" y="1618488"/>
            <a:ext cx="2471851" cy="409651"/>
          </a:xfrm>
          <a:prstGeom prst="rect">
            <a:avLst/>
          </a:prstGeom>
          <a:noFill/>
        </p:spPr>
        <p:txBody>
          <a:bodyPr wrap="square" anchor="t">
            <a:spAutoFit/>
          </a:bodyPr>
          <a:lstStyle/>
          <a:p>
            <a:pPr algn="l"/>
            <a:r>
              <a:rPr sz="1200" b="0">
                <a:solidFill>
                  <a:srgbClr val="5A6A7A"/>
                </a:solidFill>
                <a:latin typeface="Calibri"/>
                <a:ea typeface="微软雅黑"/>
                <a:cs typeface="Calibri"/>
              </a:rPr>
              <a:t>AZ and Genmab have both asked about the Sandwich plan</a:t>
            </a:r>
          </a:p>
        </p:txBody>
      </p:sp>
      <p:sp>
        <p:nvSpPr>
          <p:cNvPr id="29" name="TextBox 28"/>
          <p:cNvSpPr txBox="1"/>
          <p:nvPr/>
        </p:nvSpPr>
        <p:spPr>
          <a:xfrm>
            <a:off x="384048" y="2450592"/>
            <a:ext cx="11423599" cy="1515800"/>
          </a:xfrm>
          <a:prstGeom prst="rect">
            <a:avLst/>
          </a:prstGeom>
          <a:noFill/>
        </p:spPr>
        <p:txBody>
          <a:bodyPr wrap="square">
            <a:spAutoFit/>
          </a:bodyPr>
          <a:lstStyle/>
          <a:p>
            <a:pPr marL="285750" indent="-285750">
              <a:spcAft>
                <a:spcPts val="700"/>
              </a:spcAft>
              <a:buFont typeface="Arial" panose="020B0604020202020204" pitchFamily="34" charset="0"/>
              <a:buChar char="•"/>
            </a:pPr>
            <a:r>
              <a:rPr sz="1200" b="0" dirty="0" err="1" smtClean="0">
                <a:solidFill>
                  <a:srgbClr val="2C3E50"/>
                </a:solidFill>
                <a:latin typeface="Calibri"/>
                <a:ea typeface="微软雅黑"/>
                <a:cs typeface="Calibri"/>
              </a:rPr>
              <a:t>European BD has listed the high-potency demand and opportunities directed at Sandwich.</a:t>
            </a:r>
            <a:r>
              <a:rPr sz="1500" b="0" dirty="0" smtClean="0">
                <a:solidFill>
                  <a:srgbClr val="2C3E50"/>
                </a:solidFill>
                <a:latin typeface="微软雅黑"/>
                <a:ea typeface="微软雅黑"/>
                <a:cs typeface="微软雅黑"/>
              </a:rPr>
              <a:t/>
            </a:r>
            <a:r>
              <a:rPr sz="1500" b="0" dirty="0">
                <a:solidFill>
                  <a:srgbClr val="2C3E50"/>
                </a:solidFill>
                <a:latin typeface="微软雅黑"/>
                <a:ea typeface="微软雅黑"/>
                <a:cs typeface="微软雅黑"/>
              </a:rPr>
              <a:t/>
            </a:r>
            <a:r>
              <a:rPr sz="1500" b="0" dirty="0" err="1">
                <a:solidFill>
                  <a:srgbClr val="2C3E50"/>
                </a:solidFill>
                <a:latin typeface="微软雅黑"/>
                <a:ea typeface="微软雅黑"/>
                <a:cs typeface="微软雅黑"/>
              </a:rPr>
              <a:t/>
            </a:r>
            <a:r>
              <a:rPr sz="1500" b="0" dirty="0">
                <a:solidFill>
                  <a:srgbClr val="2C3E50"/>
                </a:solidFill>
                <a:latin typeface="微软雅黑"/>
                <a:ea typeface="微软雅黑"/>
                <a:cs typeface="微软雅黑"/>
              </a:rPr>
              <a:t/>
            </a:r>
          </a:p>
          <a:p>
            <a:pPr marL="285750" indent="-285750">
              <a:spcAft>
                <a:spcPts val="700"/>
              </a:spcAft>
              <a:buFont typeface="Arial" panose="020B0604020202020204" pitchFamily="34" charset="0"/>
              <a:buChar char="•"/>
            </a:pPr>
            <a:r>
              <a:rPr sz="1200" b="0" dirty="0" err="1" smtClean="0">
                <a:solidFill>
                  <a:srgbClr val="2C3E50"/>
                </a:solidFill>
                <a:latin typeface="Calibri"/>
                <a:ea typeface="微软雅黑"/>
                <a:cs typeface="Calibri"/>
              </a:rPr>
              <a:t>Named accounts are AZ, Genmab, BioNTech and NCC. Roche, Innovent and MediLink have also enquired about overseas high-potency capacity.</a:t>
            </a:r>
            <a:r>
              <a:rPr sz="1500" b="0" dirty="0" smtClean="0">
                <a:solidFill>
                  <a:srgbClr val="2C3E50"/>
                </a:solidFill>
                <a:latin typeface="微软雅黑"/>
                <a:ea typeface="微软雅黑"/>
                <a:cs typeface="微软雅黑"/>
              </a:rPr>
              <a:t/>
            </a:r>
            <a:r>
              <a:rPr sz="1500" b="0" dirty="0" err="1">
                <a:solidFill>
                  <a:srgbClr val="2C3E50"/>
                </a:solidFill>
                <a:latin typeface="微软雅黑"/>
                <a:ea typeface="微软雅黑"/>
                <a:cs typeface="微软雅黑"/>
              </a:rPr>
              <a:t/>
            </a:r>
            <a:r>
              <a:rPr sz="1500" b="0" dirty="0">
                <a:solidFill>
                  <a:srgbClr val="2C3E50"/>
                </a:solidFill>
                <a:latin typeface="微软雅黑"/>
                <a:ea typeface="微软雅黑"/>
                <a:cs typeface="微软雅黑"/>
              </a:rPr>
              <a:t/>
            </a:r>
            <a:r>
              <a:rPr sz="1500" b="0" dirty="0" err="1">
                <a:solidFill>
                  <a:srgbClr val="2C3E50"/>
                </a:solidFill>
                <a:latin typeface="微软雅黑"/>
                <a:ea typeface="微软雅黑"/>
                <a:cs typeface="微软雅黑"/>
              </a:rPr>
              <a:t/>
            </a:r>
            <a:r>
              <a:rPr sz="1500" b="0" dirty="0">
                <a:solidFill>
                  <a:srgbClr val="2C3E50"/>
                </a:solidFill>
                <a:latin typeface="微软雅黑"/>
                <a:ea typeface="微软雅黑"/>
                <a:cs typeface="微软雅黑"/>
              </a:rPr>
              <a:t/>
            </a:r>
          </a:p>
          <a:p>
            <a:pPr marL="285750" indent="-285750">
              <a:spcAft>
                <a:spcPts val="700"/>
              </a:spcAft>
              <a:buFont typeface="Arial" panose="020B0604020202020204" pitchFamily="34" charset="0"/>
              <a:buChar char="•"/>
            </a:pPr>
            <a:r>
              <a:rPr sz="1200" b="0" dirty="0" err="1" smtClean="0">
                <a:solidFill>
                  <a:srgbClr val="2C3E50"/>
                </a:solidFill>
                <a:latin typeface="Calibri"/>
                <a:ea typeface="微软雅黑"/>
                <a:cs typeface="Calibri"/>
              </a:rPr>
              <a:t>AZ and Genmab have explicitly asked to understand the Sandwich high-potency expansion plan. For several projects the ask is a US/EU second source, to hedge supply risk.</a:t>
            </a:r>
            <a:r>
              <a:rPr sz="1500" b="0" dirty="0" smtClean="0">
                <a:solidFill>
                  <a:srgbClr val="2C3E50"/>
                </a:solidFill>
                <a:latin typeface="微软雅黑"/>
                <a:ea typeface="微软雅黑"/>
                <a:cs typeface="微软雅黑"/>
              </a:rPr>
              <a:t/>
            </a:r>
            <a:r>
              <a:rPr sz="1500" b="0" dirty="0" err="1">
                <a:solidFill>
                  <a:srgbClr val="2C3E50"/>
                </a:solidFill>
                <a:latin typeface="微软雅黑"/>
                <a:ea typeface="微软雅黑"/>
                <a:cs typeface="微软雅黑"/>
              </a:rPr>
              <a:t/>
            </a:r>
            <a:r>
              <a:rPr sz="1500" b="0" dirty="0">
                <a:solidFill>
                  <a:srgbClr val="2C3E50"/>
                </a:solidFill>
                <a:latin typeface="微软雅黑"/>
                <a:ea typeface="微软雅黑"/>
                <a:cs typeface="微软雅黑"/>
              </a:rPr>
              <a:t/>
            </a:r>
            <a:r>
              <a:rPr sz="1500" b="0" dirty="0" err="1">
                <a:solidFill>
                  <a:srgbClr val="2C3E50"/>
                </a:solidFill>
                <a:latin typeface="微软雅黑"/>
                <a:ea typeface="微软雅黑"/>
                <a:cs typeface="微软雅黑"/>
              </a:rPr>
              <a:t/>
            </a:r>
            <a:r>
              <a:rPr sz="1500" b="0" dirty="0">
                <a:solidFill>
                  <a:srgbClr val="2C3E50"/>
                </a:solidFill>
                <a:latin typeface="微软雅黑"/>
                <a:ea typeface="微软雅黑"/>
                <a:cs typeface="微软雅黑"/>
              </a:rPr>
              <a:t/>
            </a:r>
          </a:p>
          <a:p>
            <a:pPr marL="285750" indent="-285750">
              <a:spcAft>
                <a:spcPts val="700"/>
              </a:spcAft>
              <a:buFont typeface="Arial" panose="020B0604020202020204" pitchFamily="34" charset="0"/>
              <a:buChar char="•"/>
            </a:pPr>
            <a:r>
              <a:rPr sz="1200" b="0" dirty="0" err="1" smtClean="0">
                <a:solidFill>
                  <a:srgbClr val="2C3E50"/>
                </a:solidFill>
                <a:latin typeface="Calibri"/>
                <a:ea typeface="微软雅黑"/>
                <a:cs typeface="Calibri"/>
              </a:rPr>
              <a:t>BioNTech wants to extend a programme now supported from China into Sandwich, and has set out the capability required: high-potency containment comparable to TJ4 (1 ng/m³), laboratory through kilogramme scale, fit-for-purpose high-potency chromatography, high-potency lyophilisation, and high-potency analysis segregated from routine analysis.</a:t>
            </a:r>
            <a:r>
              <a:rPr sz="1500" b="0" dirty="0" smtClean="0">
                <a:solidFill>
                  <a:srgbClr val="2C3E50"/>
                </a:solidFill>
                <a:latin typeface="微软雅黑"/>
                <a:ea typeface="微软雅黑"/>
                <a:cs typeface="微软雅黑"/>
              </a:rPr>
              <a:t/>
            </a:r>
            <a:r>
              <a:rPr sz="1500" b="0" dirty="0" err="1">
                <a:solidFill>
                  <a:srgbClr val="2C3E50"/>
                </a:solidFill>
                <a:latin typeface="微软雅黑"/>
                <a:ea typeface="微软雅黑"/>
                <a:cs typeface="微软雅黑"/>
              </a:rPr>
              <a:t/>
            </a:r>
            <a:r>
              <a:rPr sz="1500" b="0" dirty="0">
                <a:solidFill>
                  <a:srgbClr val="2C3E50"/>
                </a:solidFill>
                <a:latin typeface="微软雅黑"/>
                <a:ea typeface="微软雅黑"/>
                <a:cs typeface="微软雅黑"/>
              </a:rPr>
              <a:t/>
            </a:r>
            <a:r>
              <a:rPr sz="1500" b="0" dirty="0" err="1">
                <a:solidFill>
                  <a:srgbClr val="2C3E50"/>
                </a:solidFill>
                <a:latin typeface="微软雅黑"/>
                <a:ea typeface="微软雅黑"/>
                <a:cs typeface="微软雅黑"/>
              </a:rPr>
              <a:t/>
            </a:r>
            <a:r>
              <a:rPr sz="1500" b="0" dirty="0">
                <a:solidFill>
                  <a:srgbClr val="2C3E50"/>
                </a:solidFill>
                <a:latin typeface="微软雅黑"/>
                <a:ea typeface="微软雅黑"/>
                <a:cs typeface="微软雅黑"/>
              </a:rPr>
              <a:t/>
            </a:r>
            <a:r>
              <a:rPr sz="1500" b="0" dirty="0" err="1">
                <a:solidFill>
                  <a:srgbClr val="2C3E50"/>
                </a:solidFill>
                <a:latin typeface="微软雅黑"/>
                <a:ea typeface="微软雅黑"/>
                <a:cs typeface="微软雅黑"/>
              </a:rPr>
              <a:t/>
            </a:r>
            <a:r>
              <a:rPr sz="1500" b="0" dirty="0">
                <a:solidFill>
                  <a:srgbClr val="2C3E50"/>
                </a:solidFill>
                <a:latin typeface="微软雅黑"/>
                <a:ea typeface="微软雅黑"/>
                <a:cs typeface="微软雅黑"/>
              </a:rPr>
              <a:t/>
            </a:r>
          </a:p>
        </p:txBody>
      </p:sp>
      <p:sp>
        <p:nvSpPr>
          <p:cNvPr id="30" name="Rounded Rectangle 29"/>
          <p:cNvSpPr/>
          <p:nvPr/>
        </p:nvSpPr>
        <p:spPr>
          <a:xfrm>
            <a:off x="384048" y="4828032"/>
            <a:ext cx="371033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84048" y="4828032"/>
            <a:ext cx="3710330" cy="7315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30352" y="4974336"/>
            <a:ext cx="3417722" cy="310896"/>
          </a:xfrm>
          <a:prstGeom prst="rect">
            <a:avLst/>
          </a:prstGeom>
          <a:noFill/>
        </p:spPr>
        <p:txBody>
          <a:bodyPr wrap="square" anchor="t">
            <a:spAutoFit/>
          </a:bodyPr>
          <a:lstStyle/>
          <a:p>
            <a:pPr algn="l"/>
            <a:r>
              <a:rPr sz="1500" b="1">
                <a:solidFill>
                  <a:srgbClr val="0F2B46"/>
                </a:solidFill>
                <a:latin typeface="Calibri"/>
                <a:ea typeface="微软雅黑"/>
                <a:cs typeface="Calibri"/>
              </a:rPr>
              <a:t>Containment and HP analysis</a:t>
            </a:r>
          </a:p>
        </p:txBody>
      </p:sp>
      <p:sp>
        <p:nvSpPr>
          <p:cNvPr id="33" name="TextBox 32"/>
          <p:cNvSpPr txBox="1"/>
          <p:nvPr/>
        </p:nvSpPr>
        <p:spPr>
          <a:xfrm>
            <a:off x="530352" y="5285232"/>
            <a:ext cx="3417722" cy="868680"/>
          </a:xfrm>
          <a:prstGeom prst="rect">
            <a:avLst/>
          </a:prstGeom>
          <a:noFill/>
        </p:spPr>
        <p:txBody>
          <a:bodyPr wrap="square" anchor="t">
            <a:spAutoFit/>
          </a:bodyPr>
          <a:lstStyle/>
          <a:p>
            <a:pPr algn="l"/>
            <a:r>
              <a:rPr sz="1100" b="0">
                <a:solidFill>
                  <a:srgbClr val="2C3E50"/>
                </a:solidFill>
                <a:latin typeface="Calibri"/>
                <a:ea typeface="微软雅黑"/>
                <a:cs typeface="Calibri"/>
              </a:rPr>
              <a:t>BioNTech requires containment comparable to TJ4 (1 ng/m³) and high-potency analysis segregated from routine analysis. This maps to the G-128 high-potency laboratory.</a:t>
            </a:r>
          </a:p>
        </p:txBody>
      </p:sp>
      <p:sp>
        <p:nvSpPr>
          <p:cNvPr id="34" name="Rounded Rectangle 33"/>
          <p:cNvSpPr/>
          <p:nvPr/>
        </p:nvSpPr>
        <p:spPr>
          <a:xfrm>
            <a:off x="4240682" y="4828032"/>
            <a:ext cx="371033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240682" y="4828032"/>
            <a:ext cx="3710330" cy="73152"/>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386986" y="4974336"/>
            <a:ext cx="3417722" cy="323165"/>
          </a:xfrm>
          <a:prstGeom prst="rect">
            <a:avLst/>
          </a:prstGeom>
          <a:noFill/>
        </p:spPr>
        <p:txBody>
          <a:bodyPr wrap="square" anchor="t">
            <a:spAutoFit/>
          </a:bodyPr>
          <a:lstStyle/>
          <a:p>
            <a:pPr algn="l"/>
            <a:r>
              <a:rPr sz="1000" b="1" dirty="0" err="1" smtClean="0">
                <a:solidFill>
                  <a:srgbClr val="0F2B46"/>
                </a:solidFill>
                <a:latin typeface="Calibri"/>
                <a:ea typeface="微软雅黑"/>
                <a:cs typeface="Calibri"/>
              </a:rPr>
              <a:t>High potency, chromatography and lyophilisation</a:t>
            </a:r>
            <a:r>
              <a:rPr lang="zh-CN" altLang="en-US" sz="1500" b="1" dirty="0" smtClean="0">
                <a:solidFill>
                  <a:srgbClr val="0F2B46"/>
                </a:solidFill>
                <a:latin typeface="微软雅黑"/>
                <a:ea typeface="微软雅黑"/>
                <a:cs typeface="微软雅黑"/>
              </a:rPr>
              <a:t/>
            </a:r>
            <a:r>
              <a:rPr sz="1500" b="1" dirty="0" err="1" smtClean="0">
                <a:solidFill>
                  <a:srgbClr val="0F2B46"/>
                </a:solidFill>
                <a:latin typeface="微软雅黑"/>
                <a:ea typeface="微软雅黑"/>
                <a:cs typeface="微软雅黑"/>
              </a:rPr>
              <a:t/>
            </a:r>
            <a:endParaRPr sz="1500" b="1" dirty="0">
              <a:solidFill>
                <a:srgbClr val="0F2B46"/>
              </a:solidFill>
              <a:latin typeface="微软雅黑"/>
              <a:ea typeface="微软雅黑"/>
              <a:cs typeface="微软雅黑"/>
            </a:endParaRPr>
          </a:p>
        </p:txBody>
      </p:sp>
      <p:sp>
        <p:nvSpPr>
          <p:cNvPr id="37" name="TextBox 36"/>
          <p:cNvSpPr txBox="1"/>
          <p:nvPr/>
        </p:nvSpPr>
        <p:spPr>
          <a:xfrm>
            <a:off x="4386986" y="5285232"/>
            <a:ext cx="3417722" cy="868680"/>
          </a:xfrm>
          <a:prstGeom prst="rect">
            <a:avLst/>
          </a:prstGeom>
          <a:noFill/>
        </p:spPr>
        <p:txBody>
          <a:bodyPr wrap="square" anchor="t">
            <a:spAutoFit/>
          </a:bodyPr>
          <a:lstStyle/>
          <a:p>
            <a:pPr algn="l"/>
            <a:r>
              <a:rPr sz="1200" b="0">
                <a:solidFill>
                  <a:srgbClr val="2C3E50"/>
                </a:solidFill>
                <a:latin typeface="Calibri"/>
                <a:ea typeface="微软雅黑"/>
                <a:cs typeface="Calibri"/>
              </a:rPr>
              <a:t>The same account lists fit-for-purpose high-potency chromatography and lyophilisation. This maps to the in-building HPLC and lyophiliser retrofit.</a:t>
            </a:r>
          </a:p>
        </p:txBody>
      </p:sp>
      <p:sp>
        <p:nvSpPr>
          <p:cNvPr id="38" name="Rounded Rectangle 37"/>
          <p:cNvSpPr/>
          <p:nvPr/>
        </p:nvSpPr>
        <p:spPr>
          <a:xfrm>
            <a:off x="8097316" y="4828032"/>
            <a:ext cx="371033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97316" y="4828032"/>
            <a:ext cx="3710330" cy="73152"/>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43620" y="4974336"/>
            <a:ext cx="3417722" cy="310896"/>
          </a:xfrm>
          <a:prstGeom prst="rect">
            <a:avLst/>
          </a:prstGeom>
          <a:noFill/>
        </p:spPr>
        <p:txBody>
          <a:bodyPr wrap="square" anchor="t">
            <a:spAutoFit/>
          </a:bodyPr>
          <a:lstStyle/>
          <a:p>
            <a:pPr algn="l"/>
            <a:r>
              <a:rPr sz="1500" b="1">
                <a:solidFill>
                  <a:srgbClr val="0F2B46"/>
                </a:solidFill>
                <a:latin typeface="Calibri"/>
                <a:ea typeface="微软雅黑"/>
                <a:cs typeface="Calibri"/>
              </a:rPr>
              <a:t>Second-source window</a:t>
            </a:r>
          </a:p>
        </p:txBody>
      </p:sp>
      <p:sp>
        <p:nvSpPr>
          <p:cNvPr id="41" name="TextBox 40"/>
          <p:cNvSpPr txBox="1"/>
          <p:nvPr/>
        </p:nvSpPr>
        <p:spPr>
          <a:xfrm>
            <a:off x="8243619" y="5285232"/>
            <a:ext cx="3564027" cy="1015663"/>
          </a:xfrm>
          <a:prstGeom prst="rect">
            <a:avLst/>
          </a:prstGeom>
          <a:noFill/>
        </p:spPr>
        <p:txBody>
          <a:bodyPr wrap="square" anchor="t">
            <a:spAutoFit/>
          </a:bodyPr>
          <a:lstStyle/>
          <a:p>
            <a:pPr marL="171450" indent="-171450" algn="l">
              <a:buFont typeface="Arial" panose="020B0604020202020204" pitchFamily="34" charset="0"/>
              <a:buChar char="•"/>
            </a:pPr>
            <a:r>
              <a:rPr lang="en-US" altLang="zh-CN" sz="1000" b="0" dirty="0" smtClean="0">
                <a:solidFill>
                  <a:srgbClr val="2C3E50"/>
                </a:solidFill>
                <a:latin typeface="Calibri"/>
                <a:ea typeface="微软雅黑"/>
                <a:cs typeface="Calibri"/>
              </a:rPr>
              <a:t>AZ Exatecan drug-linker and the AZD5305 project</a:t>
            </a:r>
            <a:r>
              <a:rPr lang="zh-CN" altLang="en-US" sz="1200" dirty="0">
                <a:solidFill>
                  <a:srgbClr val="2C3E50"/>
                </a:solidFill>
                <a:latin typeface="微软雅黑"/>
                <a:ea typeface="微软雅黑"/>
                <a:cs typeface="微软雅黑"/>
              </a:rPr>
              <a:t/>
            </a:r>
            <a:r>
              <a:rPr lang="en-US" altLang="zh-CN" sz="1200" b="0" dirty="0" err="1" smtClean="0">
                <a:solidFill>
                  <a:srgbClr val="2C3E50"/>
                </a:solidFill>
                <a:latin typeface="微软雅黑"/>
                <a:ea typeface="微软雅黑"/>
                <a:cs typeface="微软雅黑"/>
              </a:rPr>
              <a:t/>
            </a:r>
            <a:r>
              <a:rPr lang="en-US" altLang="zh-CN" sz="1200" b="0" dirty="0" smtClean="0">
                <a:solidFill>
                  <a:srgbClr val="2C3E50"/>
                </a:solidFill>
                <a:latin typeface="微软雅黑"/>
                <a:ea typeface="微软雅黑"/>
                <a:cs typeface="微软雅黑"/>
              </a:rPr>
              <a:t/>
            </a:r>
            <a:r>
              <a:rPr lang="zh-CN" altLang="en-US" sz="1200" b="0" dirty="0" smtClean="0">
                <a:solidFill>
                  <a:srgbClr val="2C3E50"/>
                </a:solidFill>
                <a:latin typeface="微软雅黑"/>
                <a:ea typeface="微软雅黑"/>
                <a:cs typeface="微软雅黑"/>
              </a:rPr>
              <a:t/>
            </a:r>
            <a:r>
              <a:rPr lang="en-US" altLang="zh-CN" sz="1200" b="0" dirty="0" smtClean="0">
                <a:solidFill>
                  <a:srgbClr val="2C3E50"/>
                </a:solidFill>
                <a:latin typeface="微软雅黑"/>
                <a:ea typeface="微软雅黑"/>
                <a:cs typeface="微软雅黑"/>
              </a:rPr>
              <a:t/>
            </a:r>
            <a:r>
              <a:rPr lang="zh-CN" altLang="en-US" sz="1200" b="0" dirty="0" smtClean="0">
                <a:solidFill>
                  <a:srgbClr val="2C3E50"/>
                </a:solidFill>
                <a:latin typeface="微软雅黑"/>
                <a:ea typeface="微软雅黑"/>
                <a:cs typeface="微软雅黑"/>
              </a:rPr>
              <a:t/>
            </a:r>
            <a:endParaRPr lang="en-US" sz="1200" b="0" dirty="0" smtClean="0">
              <a:solidFill>
                <a:srgbClr val="2C3E50"/>
              </a:solidFill>
              <a:latin typeface="微软雅黑"/>
              <a:ea typeface="微软雅黑"/>
              <a:cs typeface="微软雅黑"/>
            </a:endParaRPr>
          </a:p>
          <a:p>
            <a:pPr marL="171450" indent="-171450" algn="l">
              <a:buFont typeface="Arial" panose="020B0604020202020204" pitchFamily="34" charset="0"/>
              <a:buChar char="•"/>
            </a:pPr>
            <a:endParaRPr lang="en-US" sz="1200" b="0" dirty="0" smtClean="0">
              <a:solidFill>
                <a:srgbClr val="2C3E50"/>
              </a:solidFill>
              <a:latin typeface="微软雅黑"/>
              <a:ea typeface="微软雅黑"/>
              <a:cs typeface="微软雅黑"/>
            </a:endParaRPr>
          </a:p>
          <a:p>
            <a:pPr marL="171450" indent="-171450" algn="l">
              <a:buFont typeface="Arial" panose="020B0604020202020204" pitchFamily="34" charset="0"/>
              <a:buChar char="•"/>
            </a:pPr>
            <a:r>
              <a:rPr sz="1000" b="0" dirty="0" err="1" smtClean="0">
                <a:solidFill>
                  <a:srgbClr val="2C3E50"/>
                </a:solidFill>
                <a:latin typeface="Calibri"/>
                <a:ea typeface="微软雅黑"/>
                <a:cs typeface="Calibri"/>
              </a:rPr>
              <a:t>Genmab plans to file the BLA at the end of 2026. Tianjin is already in commercial manufacture, and a US/EU second source is under assessment. Several AZ APIs are likewise framed as second-source opportunities.</a:t>
            </a:r>
            <a:r>
              <a:rPr sz="1200" b="0" dirty="0" smtClean="0">
                <a:solidFill>
                  <a:srgbClr val="2C3E50"/>
                </a:solidFill>
                <a:latin typeface="微软雅黑"/>
                <a:ea typeface="微软雅黑"/>
                <a:cs typeface="微软雅黑"/>
              </a:rPr>
              <a:t/>
            </a:r>
            <a:r>
              <a:rPr sz="1200" b="0" dirty="0" err="1">
                <a:solidFill>
                  <a:srgbClr val="2C3E50"/>
                </a:solidFill>
                <a:latin typeface="微软雅黑"/>
                <a:ea typeface="微软雅黑"/>
                <a:cs typeface="微软雅黑"/>
              </a:rPr>
              <a:t/>
            </a:r>
            <a:r>
              <a:rPr sz="1200" b="0" dirty="0">
                <a:solidFill>
                  <a:srgbClr val="2C3E50"/>
                </a:solidFill>
                <a:latin typeface="微软雅黑"/>
                <a:ea typeface="微软雅黑"/>
                <a:cs typeface="微软雅黑"/>
              </a:rPr>
              <a:t/>
            </a:r>
            <a:r>
              <a:rPr sz="1200" b="0" dirty="0" err="1">
                <a:solidFill>
                  <a:srgbClr val="2C3E50"/>
                </a:solidFill>
                <a:latin typeface="微软雅黑"/>
                <a:ea typeface="微软雅黑"/>
                <a:cs typeface="微软雅黑"/>
              </a:rPr>
              <a:t/>
            </a:r>
            <a:r>
              <a:rPr sz="1200" b="0" dirty="0">
                <a:solidFill>
                  <a:srgbClr val="2C3E50"/>
                </a:solidFill>
                <a:latin typeface="微软雅黑"/>
                <a:ea typeface="微软雅黑"/>
                <a:cs typeface="微软雅黑"/>
              </a:rPr>
              <a:t/>
            </a:r>
            <a:r>
              <a:rPr sz="1200" b="0" dirty="0" err="1">
                <a:solidFill>
                  <a:srgbClr val="2C3E50"/>
                </a:solidFill>
                <a:latin typeface="微软雅黑"/>
                <a:ea typeface="微软雅黑"/>
                <a:cs typeface="微软雅黑"/>
              </a:rPr>
              <a:t/>
            </a:r>
            <a:r>
              <a:rPr sz="1200" b="0" dirty="0">
                <a:solidFill>
                  <a:srgbClr val="2C3E50"/>
                </a:solidFill>
                <a:latin typeface="微软雅黑"/>
                <a:ea typeface="微软雅黑"/>
                <a:cs typeface="微软雅黑"/>
              </a:rPr>
              <a:t/>
            </a:r>
            <a:r>
              <a:rPr sz="1200" b="0" dirty="0" err="1">
                <a:solidFill>
                  <a:srgbClr val="2C3E50"/>
                </a:solidFill>
                <a:latin typeface="微软雅黑"/>
                <a:ea typeface="微软雅黑"/>
                <a:cs typeface="微软雅黑"/>
              </a:rPr>
              <a:t/>
            </a:r>
            <a:r>
              <a:rPr sz="1200" b="0" dirty="0">
                <a:solidFill>
                  <a:srgbClr val="2C3E50"/>
                </a:solidFill>
                <a:latin typeface="微软雅黑"/>
                <a:ea typeface="微软雅黑"/>
                <a:cs typeface="微软雅黑"/>
              </a:rPr>
              <a:t/>
            </a:r>
            <a:r>
              <a:rPr sz="1200" b="0" dirty="0" err="1" smtClean="0">
                <a:solidFill>
                  <a:srgbClr val="2C3E50"/>
                </a:solidFill>
                <a:latin typeface="微软雅黑"/>
                <a:ea typeface="微软雅黑"/>
                <a:cs typeface="微软雅黑"/>
              </a:rPr>
              <a:t/>
            </a:r>
            <a:endParaRPr sz="1200" b="0" dirty="0">
              <a:solidFill>
                <a:srgbClr val="2C3E50"/>
              </a:solidFill>
              <a:latin typeface="微软雅黑"/>
              <a:ea typeface="微软雅黑"/>
              <a:cs typeface="微软雅黑"/>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5 / 31</a:t>
            </a:r>
          </a:p>
        </p:txBody>
      </p:sp>
      <p:sp>
        <p:nvSpPr>
          <p:cNvPr id="10" name="Rounded Rectangle 9"/>
          <p:cNvSpPr/>
          <p:nvPr/>
        </p:nvSpPr>
        <p:spPr>
          <a:xfrm>
            <a:off x="384048" y="256032"/>
            <a:ext cx="11423599" cy="26517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84048" y="256032"/>
            <a:ext cx="128016" cy="2651760"/>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49808" y="502920"/>
            <a:ext cx="1965960" cy="365760"/>
          </a:xfrm>
          <a:prstGeom prst="roundRect">
            <a:avLst>
              <a:gd name="adj" fmla="val 18000"/>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300" b="1">
                <a:solidFill>
                  <a:srgbClr val="FFFFFF"/>
                </a:solidFill>
                <a:latin typeface="Calibri"/>
                <a:ea typeface="微软雅黑"/>
                <a:cs typeface="Calibri"/>
              </a:rPr>
              <a:t>Part 1</a:t>
            </a:r>
          </a:p>
        </p:txBody>
      </p:sp>
      <p:sp>
        <p:nvSpPr>
          <p:cNvPr id="13" name="TextBox 12"/>
          <p:cNvSpPr txBox="1"/>
          <p:nvPr/>
        </p:nvSpPr>
        <p:spPr>
          <a:xfrm>
            <a:off x="749808" y="1051560"/>
            <a:ext cx="10783519" cy="777240"/>
          </a:xfrm>
          <a:prstGeom prst="rect">
            <a:avLst/>
          </a:prstGeom>
          <a:noFill/>
        </p:spPr>
        <p:txBody>
          <a:bodyPr wrap="square" anchor="t">
            <a:spAutoFit/>
          </a:bodyPr>
          <a:lstStyle/>
          <a:p>
            <a:pPr algn="l"/>
            <a:r>
              <a:rPr sz="3000" b="1">
                <a:solidFill>
                  <a:srgbClr val="0F2B46"/>
                </a:solidFill>
                <a:latin typeface="Calibri"/>
                <a:ea typeface="微软雅黑"/>
                <a:cs typeface="Calibri"/>
              </a:rPr>
              <a:t>1. Pilot-plant ground floor and C1 OEB5 upgrade</a:t>
            </a:r>
          </a:p>
        </p:txBody>
      </p:sp>
      <p:sp>
        <p:nvSpPr>
          <p:cNvPr id="14" name="TextBox 13"/>
          <p:cNvSpPr txBox="1"/>
          <p:nvPr/>
        </p:nvSpPr>
        <p:spPr>
          <a:xfrm>
            <a:off x="749808" y="1920240"/>
            <a:ext cx="10783519" cy="457200"/>
          </a:xfrm>
          <a:prstGeom prst="rect">
            <a:avLst/>
          </a:prstGeom>
          <a:noFill/>
        </p:spPr>
        <p:txBody>
          <a:bodyPr wrap="square" anchor="t">
            <a:spAutoFit/>
          </a:bodyPr>
          <a:lstStyle/>
          <a:p>
            <a:pPr algn="l"/>
            <a:r>
              <a:rPr sz="1600" b="0">
                <a:solidFill>
                  <a:srgbClr val="5A6A7A"/>
                </a:solidFill>
                <a:latin typeface="Calibri"/>
                <a:ea typeface="微软雅黑"/>
                <a:cs typeface="Calibri"/>
              </a:rPr>
              <a:t>HPLC + lyophiliser (RBPC FS P01)  ·  C1 module OEB5 upgrade (internal estimate)</a:t>
            </a:r>
          </a:p>
        </p:txBody>
      </p:sp>
      <p:sp>
        <p:nvSpPr>
          <p:cNvPr id="15" name="Rectangle 14"/>
          <p:cNvSpPr/>
          <p:nvPr/>
        </p:nvSpPr>
        <p:spPr>
          <a:xfrm>
            <a:off x="749808" y="2514600"/>
            <a:ext cx="1645920"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84048" y="3108960"/>
            <a:ext cx="2746171" cy="3200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84048" y="3108960"/>
            <a:ext cx="82296" cy="3200400"/>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3685032"/>
            <a:ext cx="2471851" cy="457200"/>
          </a:xfrm>
          <a:prstGeom prst="rect">
            <a:avLst/>
          </a:prstGeom>
          <a:noFill/>
        </p:spPr>
        <p:txBody>
          <a:bodyPr wrap="square" anchor="t">
            <a:spAutoFit/>
          </a:bodyPr>
          <a:lstStyle/>
          <a:p>
            <a:pPr algn="l"/>
            <a:r>
              <a:rPr sz="2200" b="1">
                <a:solidFill>
                  <a:srgbClr val="0F2B46"/>
                </a:solidFill>
                <a:latin typeface="Calibri"/>
                <a:ea typeface="微软雅黑"/>
                <a:cs typeface="Calibri"/>
              </a:rPr>
              <a:t>£7.81M</a:t>
            </a:r>
          </a:p>
        </p:txBody>
      </p:sp>
      <p:sp>
        <p:nvSpPr>
          <p:cNvPr id="19" name="TextBox 18"/>
          <p:cNvSpPr txBox="1"/>
          <p:nvPr/>
        </p:nvSpPr>
        <p:spPr>
          <a:xfrm>
            <a:off x="566928" y="4773168"/>
            <a:ext cx="2471851" cy="731520"/>
          </a:xfrm>
          <a:prstGeom prst="rect">
            <a:avLst/>
          </a:prstGeom>
          <a:noFill/>
        </p:spPr>
        <p:txBody>
          <a:bodyPr wrap="square" anchor="t">
            <a:spAutoFit/>
          </a:bodyPr>
          <a:lstStyle/>
          <a:p>
            <a:pPr algn="l"/>
            <a:r>
              <a:rPr sz="1300" b="0">
                <a:solidFill>
                  <a:srgbClr val="5A6A7A"/>
                </a:solidFill>
                <a:latin typeface="Calibri"/>
                <a:ea typeface="微软雅黑"/>
                <a:cs typeface="Calibri"/>
              </a:rPr>
              <a:t>Part 1 investment</a:t>
            </a:r>
          </a:p>
        </p:txBody>
      </p:sp>
      <p:sp>
        <p:nvSpPr>
          <p:cNvPr id="20" name="Rounded Rectangle 19"/>
          <p:cNvSpPr/>
          <p:nvPr/>
        </p:nvSpPr>
        <p:spPr>
          <a:xfrm>
            <a:off x="3276523" y="3108960"/>
            <a:ext cx="2746171" cy="3200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276523" y="3108960"/>
            <a:ext cx="82296" cy="3200400"/>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59403" y="3685032"/>
            <a:ext cx="2471851" cy="457200"/>
          </a:xfrm>
          <a:prstGeom prst="rect">
            <a:avLst/>
          </a:prstGeom>
          <a:noFill/>
        </p:spPr>
        <p:txBody>
          <a:bodyPr wrap="square" anchor="t">
            <a:spAutoFit/>
          </a:bodyPr>
          <a:lstStyle/>
          <a:p>
            <a:pPr algn="l"/>
            <a:r>
              <a:rPr sz="2200" b="1">
                <a:solidFill>
                  <a:srgbClr val="0F2B46"/>
                </a:solidFill>
                <a:latin typeface="Calibri"/>
                <a:ea typeface="微软雅黑"/>
                <a:cs typeface="Calibri"/>
              </a:rPr>
              <a:t>£5.33M</a:t>
            </a:r>
          </a:p>
        </p:txBody>
      </p:sp>
      <p:sp>
        <p:nvSpPr>
          <p:cNvPr id="23" name="TextBox 22"/>
          <p:cNvSpPr txBox="1"/>
          <p:nvPr/>
        </p:nvSpPr>
        <p:spPr>
          <a:xfrm>
            <a:off x="3459403" y="4773168"/>
            <a:ext cx="2471851" cy="731520"/>
          </a:xfrm>
          <a:prstGeom prst="rect">
            <a:avLst/>
          </a:prstGeom>
          <a:noFill/>
        </p:spPr>
        <p:txBody>
          <a:bodyPr wrap="square" anchor="t">
            <a:spAutoFit/>
          </a:bodyPr>
          <a:lstStyle/>
          <a:p>
            <a:pPr algn="l"/>
            <a:r>
              <a:rPr sz="1300" b="0">
                <a:solidFill>
                  <a:srgbClr val="5A6A7A"/>
                </a:solidFill>
                <a:latin typeface="Calibri"/>
                <a:ea typeface="微软雅黑"/>
                <a:cs typeface="Calibri"/>
              </a:rPr>
              <a:t>HPLC + lyophiliser</a:t>
            </a:r>
          </a:p>
        </p:txBody>
      </p:sp>
      <p:sp>
        <p:nvSpPr>
          <p:cNvPr id="24" name="Rounded Rectangle 23"/>
          <p:cNvSpPr/>
          <p:nvPr/>
        </p:nvSpPr>
        <p:spPr>
          <a:xfrm>
            <a:off x="6168999" y="3108960"/>
            <a:ext cx="2746171" cy="3200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68999" y="3108960"/>
            <a:ext cx="82296" cy="3200400"/>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1879" y="3685032"/>
            <a:ext cx="2471851" cy="457200"/>
          </a:xfrm>
          <a:prstGeom prst="rect">
            <a:avLst/>
          </a:prstGeom>
          <a:noFill/>
        </p:spPr>
        <p:txBody>
          <a:bodyPr wrap="square" anchor="t">
            <a:spAutoFit/>
          </a:bodyPr>
          <a:lstStyle/>
          <a:p>
            <a:pPr algn="l"/>
            <a:r>
              <a:rPr sz="2200" b="1">
                <a:solidFill>
                  <a:srgbClr val="0F2B46"/>
                </a:solidFill>
                <a:latin typeface="Calibri"/>
                <a:ea typeface="微软雅黑"/>
                <a:cs typeface="Calibri"/>
              </a:rPr>
              <a:t>£2.48M</a:t>
            </a:r>
          </a:p>
        </p:txBody>
      </p:sp>
      <p:sp>
        <p:nvSpPr>
          <p:cNvPr id="27" name="TextBox 26"/>
          <p:cNvSpPr txBox="1"/>
          <p:nvPr/>
        </p:nvSpPr>
        <p:spPr>
          <a:xfrm>
            <a:off x="6351879" y="4773168"/>
            <a:ext cx="2471851" cy="731520"/>
          </a:xfrm>
          <a:prstGeom prst="rect">
            <a:avLst/>
          </a:prstGeom>
          <a:noFill/>
        </p:spPr>
        <p:txBody>
          <a:bodyPr wrap="square" anchor="t">
            <a:spAutoFit/>
          </a:bodyPr>
          <a:lstStyle/>
          <a:p>
            <a:pPr algn="l"/>
            <a:r>
              <a:rPr sz="1300" b="0">
                <a:solidFill>
                  <a:srgbClr val="5A6A7A"/>
                </a:solidFill>
                <a:latin typeface="Calibri"/>
                <a:ea typeface="微软雅黑"/>
                <a:cs typeface="Calibri"/>
              </a:rPr>
              <a:t>C1 OEB5 upgrade</a:t>
            </a:r>
          </a:p>
        </p:txBody>
      </p:sp>
      <p:sp>
        <p:nvSpPr>
          <p:cNvPr id="28" name="Rounded Rectangle 27"/>
          <p:cNvSpPr/>
          <p:nvPr/>
        </p:nvSpPr>
        <p:spPr>
          <a:xfrm>
            <a:off x="9061475" y="3108960"/>
            <a:ext cx="2746171" cy="3200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061475" y="3108960"/>
            <a:ext cx="82296" cy="3200400"/>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44355" y="3685032"/>
            <a:ext cx="2471851" cy="457200"/>
          </a:xfrm>
          <a:prstGeom prst="rect">
            <a:avLst/>
          </a:prstGeom>
          <a:noFill/>
        </p:spPr>
        <p:txBody>
          <a:bodyPr wrap="square" anchor="t">
            <a:spAutoFit/>
          </a:bodyPr>
          <a:lstStyle/>
          <a:p>
            <a:pPr algn="l"/>
            <a:r>
              <a:rPr sz="2200" b="1">
                <a:solidFill>
                  <a:srgbClr val="0F2B46"/>
                </a:solidFill>
                <a:latin typeface="Calibri"/>
                <a:ea typeface="微软雅黑"/>
                <a:cs typeface="Calibri"/>
              </a:rPr>
              <a:t>2028-06</a:t>
            </a:r>
          </a:p>
        </p:txBody>
      </p:sp>
      <p:sp>
        <p:nvSpPr>
          <p:cNvPr id="31" name="TextBox 30"/>
          <p:cNvSpPr txBox="1"/>
          <p:nvPr/>
        </p:nvSpPr>
        <p:spPr>
          <a:xfrm>
            <a:off x="9244355" y="4773168"/>
            <a:ext cx="2471851" cy="731520"/>
          </a:xfrm>
          <a:prstGeom prst="rect">
            <a:avLst/>
          </a:prstGeom>
          <a:noFill/>
        </p:spPr>
        <p:txBody>
          <a:bodyPr wrap="square" anchor="t">
            <a:spAutoFit/>
          </a:bodyPr>
          <a:lstStyle/>
          <a:p>
            <a:pPr algn="l"/>
            <a:r>
              <a:rPr sz="1300" b="0">
                <a:solidFill>
                  <a:srgbClr val="5A6A7A"/>
                </a:solidFill>
                <a:latin typeface="Calibri"/>
                <a:ea typeface="微软雅黑"/>
                <a:cs typeface="Calibri"/>
              </a:rPr>
              <a:t>Latest milestone (lyophiliser)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6 / 31</a:t>
            </a:r>
          </a:p>
        </p:txBody>
      </p:sp>
      <p:sp>
        <p:nvSpPr>
          <p:cNvPr id="10" name="Rectangle 9"/>
          <p:cNvSpPr/>
          <p:nvPr/>
        </p:nvSpPr>
        <p:spPr>
          <a:xfrm>
            <a:off x="384048" y="164592"/>
            <a:ext cx="82296" cy="713232"/>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Part 1 · investment and milestones</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100" b="0">
                <a:solidFill>
                  <a:srgbClr val="5A6A7A"/>
                </a:solidFill>
                <a:latin typeface="Calibri"/>
                <a:ea typeface="微软雅黑"/>
                <a:cs typeface="Calibri"/>
              </a:rPr>
              <a:t>HPLC, the lyophiliser and the C1 OEB5 upgrade are delivered together, and together they provide OEB5 operation of preparative HPLC.</a:t>
            </a:r>
          </a:p>
        </p:txBody>
      </p:sp>
      <p:graphicFrame>
        <p:nvGraphicFramePr>
          <p:cNvPr id="13" name="Table 12"/>
          <p:cNvGraphicFramePr>
            <a:graphicFrameLocks noGrp="1"/>
          </p:cNvGraphicFramePr>
          <p:nvPr/>
        </p:nvGraphicFramePr>
        <p:xfrm>
          <a:off x="384048" y="1097280"/>
          <a:ext cx="11368735" cy="2286000"/>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1767535">
                  <a:extLst>
                    <a:ext uri="{9D8B030D-6E8A-4147-A177-3AD203B41FA5}">
                      <a16:colId xmlns:a16="http://schemas.microsoft.com/office/drawing/2014/main" val="20004"/>
                    </a:ext>
                  </a:extLst>
                </a:gridCol>
              </a:tblGrid>
              <a:tr h="571500">
                <a:tc>
                  <a:txBody>
                    <a:bodyPr/>
                    <a:lstStyle/>
                    <a:p>
                      <a:pPr algn="l"/>
                      <a:r>
                        <a:rPr sz="1300" b="1">
                          <a:solidFill>
                            <a:srgbClr val="FFFFFF"/>
                          </a:solidFill>
                          <a:latin typeface="Calibri"/>
                          <a:ea typeface="微软雅黑"/>
                          <a:cs typeface="Calibri"/>
                        </a:rPr>
                        <a:t>Item</a:t>
                      </a:r>
                    </a:p>
                  </a:txBody>
                  <a:tcPr anchor="ctr">
                    <a:solidFill>
                      <a:srgbClr val="0F2B46"/>
                    </a:solidFill>
                  </a:tcPr>
                </a:tc>
                <a:tc>
                  <a:txBody>
                    <a:bodyPr/>
                    <a:lstStyle/>
                    <a:p>
                      <a:pPr algn="r"/>
                      <a:r>
                        <a:rPr sz="1300" b="1">
                          <a:solidFill>
                            <a:srgbClr val="FFFFFF"/>
                          </a:solidFill>
                          <a:latin typeface="Calibri"/>
                          <a:ea typeface="微软雅黑"/>
                          <a:cs typeface="Calibri"/>
                        </a:rPr>
                        <a:t>Investment</a:t>
                      </a:r>
                    </a:p>
                  </a:txBody>
                  <a:tcPr anchor="ctr">
                    <a:solidFill>
                      <a:srgbClr val="0F2B46"/>
                    </a:solidFill>
                  </a:tcPr>
                </a:tc>
                <a:tc>
                  <a:txBody>
                    <a:bodyPr/>
                    <a:lstStyle/>
                    <a:p>
                      <a:pPr algn="l"/>
                      <a:r>
                        <a:rPr sz="1300" b="1">
                          <a:solidFill>
                            <a:srgbClr val="FFFFFF"/>
                          </a:solidFill>
                          <a:latin typeface="Calibri"/>
                          <a:ea typeface="微软雅黑"/>
                          <a:cs typeface="Calibri"/>
                        </a:rPr>
                        <a:t>Build-up</a:t>
                      </a:r>
                    </a:p>
                  </a:txBody>
                  <a:tcPr anchor="ctr">
                    <a:solidFill>
                      <a:srgbClr val="0F2B46"/>
                    </a:solidFill>
                  </a:tcPr>
                </a:tc>
                <a:tc>
                  <a:txBody>
                    <a:bodyPr/>
                    <a:lstStyle/>
                    <a:p>
                      <a:pPr algn="l"/>
                      <a:r>
                        <a:rPr sz="1300" b="1">
                          <a:solidFill>
                            <a:srgbClr val="FFFFFF"/>
                          </a:solidFill>
                          <a:latin typeface="Calibri"/>
                          <a:ea typeface="微软雅黑"/>
                          <a:cs typeface="Calibri"/>
                        </a:rPr>
                        <a:t>Key date</a:t>
                      </a:r>
                    </a:p>
                  </a:txBody>
                  <a:tcPr anchor="ctr">
                    <a:solidFill>
                      <a:srgbClr val="0F2B46"/>
                    </a:solidFill>
                  </a:tcPr>
                </a:tc>
                <a:tc>
                  <a:txBody>
                    <a:bodyPr/>
                    <a:lstStyle/>
                    <a:p>
                      <a:pPr algn="l"/>
                      <a:r>
                        <a:rPr sz="1300" b="1">
                          <a:solidFill>
                            <a:srgbClr val="FFFFFF"/>
                          </a:solidFill>
                          <a:latin typeface="Calibri"/>
                          <a:ea typeface="微软雅黑"/>
                          <a:cs typeface="Calibri"/>
                        </a:rPr>
                        <a:t>Basis</a:t>
                      </a:r>
                    </a:p>
                  </a:txBody>
                  <a:tcPr anchor="ctr">
                    <a:solidFill>
                      <a:srgbClr val="0F2B46"/>
                    </a:solidFill>
                  </a:tcPr>
                </a:tc>
                <a:extLst>
                  <a:ext uri="{0D108BD9-81ED-4DB2-BD59-A6C34878D82A}">
                    <a16:rowId xmlns:a16="http://schemas.microsoft.com/office/drawing/2014/main" val="10000"/>
                  </a:ext>
                </a:extLst>
              </a:tr>
              <a:tr h="571500">
                <a:tc>
                  <a:txBody>
                    <a:bodyPr/>
                    <a:lstStyle/>
                    <a:p>
                      <a:pPr algn="l"/>
                      <a:r>
                        <a:rPr sz="1300" b="0">
                          <a:solidFill>
                            <a:srgbClr val="2C3E50"/>
                          </a:solidFill>
                          <a:latin typeface="Calibri"/>
                          <a:ea typeface="微软雅黑"/>
                          <a:cs typeface="Calibri"/>
                        </a:rPr>
                        <a:t>HPLC + lyophiliser</a:t>
                      </a:r>
                    </a:p>
                  </a:txBody>
                  <a:tcPr anchor="ctr">
                    <a:solidFill>
                      <a:srgbClr val="FFFFFF"/>
                    </a:solidFill>
                  </a:tcPr>
                </a:tc>
                <a:tc>
                  <a:txBody>
                    <a:bodyPr/>
                    <a:lstStyle/>
                    <a:p>
                      <a:pPr algn="r"/>
                      <a:r>
                        <a:rPr sz="1300" b="0">
                          <a:solidFill>
                            <a:srgbClr val="2C3E50"/>
                          </a:solidFill>
                          <a:latin typeface="Calibri"/>
                          <a:ea typeface="微软雅黑"/>
                          <a:cs typeface="Calibri"/>
                        </a:rPr>
                        <a:t>£5,329,100</a:t>
                      </a:r>
                    </a:p>
                  </a:txBody>
                  <a:tcPr anchor="ctr">
                    <a:solidFill>
                      <a:srgbClr val="FFFFFF"/>
                    </a:solidFill>
                  </a:tcPr>
                </a:tc>
                <a:tc>
                  <a:txBody>
                    <a:bodyPr/>
                    <a:lstStyle/>
                    <a:p>
                      <a:pPr algn="l"/>
                      <a:r>
                        <a:rPr sz="1300" b="0">
                          <a:solidFill>
                            <a:srgbClr val="2C3E50"/>
                          </a:solidFill>
                          <a:latin typeface="Calibri"/>
                          <a:ea typeface="微软雅黑"/>
                          <a:cs typeface="Calibri"/>
                        </a:rPr>
                        <a:t>Direct £3,026,800 + indirect £1,072,500 + 30% project contingency £1,229,800</a:t>
                      </a:r>
                    </a:p>
                  </a:txBody>
                  <a:tcPr anchor="ctr">
                    <a:solidFill>
                      <a:srgbClr val="FFFFFF"/>
                    </a:solidFill>
                  </a:tcPr>
                </a:tc>
                <a:tc>
                  <a:txBody>
                    <a:bodyPr/>
                    <a:lstStyle/>
                    <a:p>
                      <a:pPr algn="l"/>
                      <a:r>
                        <a:rPr sz="1300" b="0">
                          <a:solidFill>
                            <a:srgbClr val="2C3E50"/>
                          </a:solidFill>
                          <a:latin typeface="Calibri"/>
                          <a:ea typeface="微软雅黑"/>
                          <a:cs typeface="Calibri"/>
                        </a:rPr>
                        <a:t>HPLC Dec 2027; lyophiliser Jun 2028</a:t>
                      </a:r>
                    </a:p>
                  </a:txBody>
                  <a:tcPr anchor="ctr">
                    <a:solidFill>
                      <a:srgbClr val="FFFFFF"/>
                    </a:solidFill>
                  </a:tcPr>
                </a:tc>
                <a:tc>
                  <a:txBody>
                    <a:bodyPr/>
                    <a:lstStyle/>
                    <a:p>
                      <a:pPr algn="l"/>
                      <a:r>
                        <a:rPr sz="1300" b="0">
                          <a:solidFill>
                            <a:srgbClr val="2C3E50"/>
                          </a:solidFill>
                          <a:latin typeface="Calibri"/>
                          <a:ea typeface="微软雅黑"/>
                          <a:cs typeface="Calibri"/>
                        </a:rPr>
                        <a:t>RBPC FS P01</a:t>
                      </a:r>
                    </a:p>
                  </a:txBody>
                  <a:tcPr anchor="ctr">
                    <a:solidFill>
                      <a:srgbClr val="FFFFFF"/>
                    </a:solidFill>
                  </a:tcPr>
                </a:tc>
                <a:extLst>
                  <a:ext uri="{0D108BD9-81ED-4DB2-BD59-A6C34878D82A}">
                    <a16:rowId xmlns:a16="http://schemas.microsoft.com/office/drawing/2014/main" val="10001"/>
                  </a:ext>
                </a:extLst>
              </a:tr>
              <a:tr h="571500">
                <a:tc>
                  <a:txBody>
                    <a:bodyPr/>
                    <a:lstStyle/>
                    <a:p>
                      <a:pPr algn="l"/>
                      <a:r>
                        <a:rPr sz="1300" b="0">
                          <a:solidFill>
                            <a:srgbClr val="2C3E50"/>
                          </a:solidFill>
                          <a:latin typeface="Calibri"/>
                          <a:ea typeface="微软雅黑"/>
                          <a:cs typeface="Calibri"/>
                        </a:rPr>
                        <a:t>C1 OEB5 upgrade</a:t>
                      </a:r>
                    </a:p>
                  </a:txBody>
                  <a:tcPr anchor="ctr">
                    <a:solidFill>
                      <a:srgbClr val="F6F8FA"/>
                    </a:solidFill>
                  </a:tcPr>
                </a:tc>
                <a:tc>
                  <a:txBody>
                    <a:bodyPr/>
                    <a:lstStyle/>
                    <a:p>
                      <a:pPr algn="r"/>
                      <a:r>
                        <a:rPr sz="1300" b="0">
                          <a:solidFill>
                            <a:srgbClr val="2C3E50"/>
                          </a:solidFill>
                          <a:latin typeface="Calibri"/>
                          <a:ea typeface="微软雅黑"/>
                          <a:cs typeface="Calibri"/>
                        </a:rPr>
                        <a:t>£2,476,500</a:t>
                      </a:r>
                    </a:p>
                  </a:txBody>
                  <a:tcPr anchor="ctr">
                    <a:solidFill>
                      <a:srgbClr val="F6F8FA"/>
                    </a:solidFill>
                  </a:tcPr>
                </a:tc>
                <a:tc>
                  <a:txBody>
                    <a:bodyPr/>
                    <a:lstStyle/>
                    <a:p>
                      <a:pPr algn="l"/>
                      <a:r>
                        <a:rPr sz="1300" b="0">
                          <a:solidFill>
                            <a:srgbClr val="2C3E50"/>
                          </a:solidFill>
                          <a:latin typeface="Calibri"/>
                          <a:ea typeface="微软雅黑"/>
                          <a:cs typeface="Calibri"/>
                        </a:rPr>
                        <a:t>Main equipment £1,905,000 + 30% project contingency £571,500</a:t>
                      </a:r>
                    </a:p>
                  </a:txBody>
                  <a:tcPr anchor="ctr">
                    <a:solidFill>
                      <a:srgbClr val="F6F8FA"/>
                    </a:solidFill>
                  </a:tcPr>
                </a:tc>
                <a:tc>
                  <a:txBody>
                    <a:bodyPr/>
                    <a:lstStyle/>
                    <a:p>
                      <a:pPr algn="l"/>
                      <a:r>
                        <a:rPr sz="1300" b="0">
                          <a:solidFill>
                            <a:srgbClr val="2C3E50"/>
                          </a:solidFill>
                          <a:latin typeface="Calibri"/>
                          <a:ea typeface="微软雅黑"/>
                          <a:cs typeface="Calibri"/>
                        </a:rPr>
                        <a:t>Installation and qualification, Oct 2027</a:t>
                      </a:r>
                    </a:p>
                  </a:txBody>
                  <a:tcPr anchor="ctr">
                    <a:solidFill>
                      <a:srgbClr val="F6F8FA"/>
                    </a:solidFill>
                  </a:tcPr>
                </a:tc>
                <a:tc>
                  <a:txBody>
                    <a:bodyPr/>
                    <a:lstStyle/>
                    <a:p>
                      <a:pPr algn="l"/>
                      <a:r>
                        <a:rPr sz="1300" b="0">
                          <a:solidFill>
                            <a:srgbClr val="2C3E50"/>
                          </a:solidFill>
                          <a:latin typeface="Calibri"/>
                          <a:ea typeface="微软雅黑"/>
                          <a:cs typeface="Calibri"/>
                        </a:rPr>
                        <a:t>Internal estimate; supplier budget quotations</a:t>
                      </a:r>
                    </a:p>
                  </a:txBody>
                  <a:tcPr anchor="ctr">
                    <a:solidFill>
                      <a:srgbClr val="F6F8FA"/>
                    </a:solidFill>
                  </a:tcPr>
                </a:tc>
                <a:extLst>
                  <a:ext uri="{0D108BD9-81ED-4DB2-BD59-A6C34878D82A}">
                    <a16:rowId xmlns:a16="http://schemas.microsoft.com/office/drawing/2014/main" val="10002"/>
                  </a:ext>
                </a:extLst>
              </a:tr>
              <a:tr h="571500">
                <a:tc>
                  <a:txBody>
                    <a:bodyPr/>
                    <a:lstStyle/>
                    <a:p>
                      <a:pPr algn="l"/>
                      <a:r>
                        <a:rPr sz="1300" b="0">
                          <a:solidFill>
                            <a:srgbClr val="2C3E50"/>
                          </a:solidFill>
                          <a:latin typeface="Calibri"/>
                          <a:ea typeface="微软雅黑"/>
                          <a:cs typeface="Calibri"/>
                        </a:rPr>
                        <a:t>Total</a:t>
                      </a:r>
                    </a:p>
                  </a:txBody>
                  <a:tcPr anchor="ctr">
                    <a:solidFill>
                      <a:srgbClr val="FFFFFF"/>
                    </a:solidFill>
                  </a:tcPr>
                </a:tc>
                <a:tc>
                  <a:txBody>
                    <a:bodyPr/>
                    <a:lstStyle/>
                    <a:p>
                      <a:pPr algn="r"/>
                      <a:r>
                        <a:rPr sz="1300" b="0">
                          <a:solidFill>
                            <a:srgbClr val="2C3E50"/>
                          </a:solidFill>
                          <a:latin typeface="Calibri"/>
                          <a:ea typeface="微软雅黑"/>
                          <a:cs typeface="Calibri"/>
                        </a:rPr>
                        <a:t>£7,805,600</a:t>
                      </a:r>
                    </a:p>
                  </a:txBody>
                  <a:tcPr anchor="ctr">
                    <a:solidFill>
                      <a:srgbClr val="FFFFFF"/>
                    </a:solidFill>
                  </a:tcPr>
                </a:tc>
                <a:tc>
                  <a:txBody>
                    <a:bodyPr/>
                    <a:lstStyle/>
                    <a:p>
                      <a:pPr algn="l"/>
                      <a:r>
                        <a:rPr sz="1300" b="0">
                          <a:solidFill>
                            <a:srgbClr val="2C3E50"/>
                          </a:solidFill>
                          <a:latin typeface="Calibri"/>
                          <a:ea typeface="微软雅黑"/>
                          <a:cs typeface="Calibri"/>
                        </a:rPr>
                        <a:t>of which project contingency £1,801,300</a:t>
                      </a:r>
                    </a:p>
                  </a:txBody>
                  <a:tcPr anchor="ctr">
                    <a:solidFill>
                      <a:srgbClr val="FFFFFF"/>
                    </a:solidFill>
                  </a:tcPr>
                </a:tc>
                <a:tc>
                  <a:txBody>
                    <a:bodyPr/>
                    <a:lstStyle/>
                    <a:p>
                      <a:pPr algn="l"/>
                      <a:r>
                        <a:rPr sz="1300" b="0">
                          <a:solidFill>
                            <a:srgbClr val="2C3E50"/>
                          </a:solidFill>
                          <a:latin typeface="Calibri"/>
                          <a:ea typeface="微软雅黑"/>
                          <a:cs typeface="Calibri"/>
                        </a:rPr>
                        <a:t>—</a:t>
                      </a:r>
                    </a:p>
                  </a:txBody>
                  <a:tcPr anchor="ctr">
                    <a:solidFill>
                      <a:srgbClr val="FFFFFF"/>
                    </a:solidFill>
                  </a:tcPr>
                </a:tc>
                <a:tc>
                  <a:txBody>
                    <a:bodyPr/>
                    <a:lstStyle/>
                    <a:p>
                      <a:pPr algn="l"/>
                      <a:r>
                        <a:rPr sz="1300" b="0">
                          <a:solidFill>
                            <a:srgbClr val="2C3E50"/>
                          </a:solidFill>
                          <a:latin typeface="Calibri"/>
                          <a:ea typeface="微软雅黑"/>
                          <a:cs typeface="Calibri"/>
                        </a:rPr>
                        <a:t>—</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4" name="Rounded Rectangle 13"/>
          <p:cNvSpPr/>
          <p:nvPr/>
        </p:nvSpPr>
        <p:spPr>
          <a:xfrm>
            <a:off x="384048" y="3611880"/>
            <a:ext cx="3710330" cy="2697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4048" y="3611880"/>
            <a:ext cx="3710330" cy="73152"/>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776472"/>
            <a:ext cx="3381146" cy="310896"/>
          </a:xfrm>
          <a:prstGeom prst="rect">
            <a:avLst/>
          </a:prstGeom>
          <a:noFill/>
        </p:spPr>
        <p:txBody>
          <a:bodyPr wrap="square" anchor="t">
            <a:spAutoFit/>
          </a:bodyPr>
          <a:lstStyle/>
          <a:p>
            <a:pPr algn="l"/>
            <a:r>
              <a:rPr sz="1500" b="1">
                <a:solidFill>
                  <a:srgbClr val="0F2B46"/>
                </a:solidFill>
                <a:latin typeface="Calibri"/>
                <a:ea typeface="微软雅黑"/>
                <a:cs typeface="Calibri"/>
              </a:rPr>
              <a:t>Principal equipment</a:t>
            </a:r>
          </a:p>
        </p:txBody>
      </p:sp>
      <p:sp>
        <p:nvSpPr>
          <p:cNvPr id="17" name="TextBox 16"/>
          <p:cNvSpPr txBox="1"/>
          <p:nvPr/>
        </p:nvSpPr>
        <p:spPr>
          <a:xfrm>
            <a:off x="512064" y="4160520"/>
            <a:ext cx="3454298" cy="2057400"/>
          </a:xfrm>
          <a:prstGeom prst="rect">
            <a:avLst/>
          </a:prstGeom>
          <a:noFill/>
        </p:spPr>
        <p:txBody>
          <a:bodyPr wrap="square">
            <a:spAutoFit/>
          </a:bodyPr>
          <a:lstStyle/>
          <a:p>
            <a:pPr>
              <a:spcAft>
                <a:spcPts val="600"/>
              </a:spcAft>
            </a:pPr>
            <a:r>
              <a:rPr sz="1300" b="0">
                <a:solidFill>
                  <a:srgbClr val="2C3E50"/>
                </a:solidFill>
                <a:latin typeface="Calibri"/>
                <a:ea typeface="微软雅黑"/>
                <a:cs typeface="Calibri"/>
              </a:rPr>
              <a:t>•  Lyophiliser £967,000; HPLC skid £358,000</a:t>
            </a:r>
          </a:p>
          <a:p>
            <a:pPr>
              <a:spcAft>
                <a:spcPts val="600"/>
              </a:spcAft>
            </a:pPr>
            <a:r>
              <a:rPr sz="1300" b="0">
                <a:solidFill>
                  <a:srgbClr val="2C3E50"/>
                </a:solidFill>
                <a:latin typeface="Calibri"/>
                <a:ea typeface="微软雅黑"/>
                <a:cs typeface="Calibri"/>
              </a:rPr>
              <a:t>•  Fixed isolators £1,000,000; flexible isolators £330,000</a:t>
            </a:r>
          </a:p>
          <a:p>
            <a:pPr>
              <a:spcAft>
                <a:spcPts val="600"/>
              </a:spcAft>
            </a:pPr>
            <a:r>
              <a:rPr sz="1300" b="0">
                <a:solidFill>
                  <a:srgbClr val="2C3E50"/>
                </a:solidFill>
                <a:latin typeface="Calibri"/>
                <a:ea typeface="微软雅黑"/>
                <a:cs typeface="Calibri"/>
              </a:rPr>
              <a:t>•  HVAC and airlocks £575,000</a:t>
            </a:r>
          </a:p>
        </p:txBody>
      </p:sp>
      <p:sp>
        <p:nvSpPr>
          <p:cNvPr id="18" name="Rounded Rectangle 17"/>
          <p:cNvSpPr/>
          <p:nvPr/>
        </p:nvSpPr>
        <p:spPr>
          <a:xfrm>
            <a:off x="4240682" y="3611880"/>
            <a:ext cx="3710330" cy="2697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240682" y="3611880"/>
            <a:ext cx="3710330" cy="7315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05274" y="3776472"/>
            <a:ext cx="3381146" cy="310896"/>
          </a:xfrm>
          <a:prstGeom prst="rect">
            <a:avLst/>
          </a:prstGeom>
          <a:noFill/>
        </p:spPr>
        <p:txBody>
          <a:bodyPr wrap="square" anchor="t">
            <a:spAutoFit/>
          </a:bodyPr>
          <a:lstStyle/>
          <a:p>
            <a:pPr algn="l"/>
            <a:r>
              <a:rPr sz="1500" b="1">
                <a:solidFill>
                  <a:srgbClr val="0F2B46"/>
                </a:solidFill>
                <a:latin typeface="Calibri"/>
                <a:ea typeface="微软雅黑"/>
                <a:cs typeface="Calibri"/>
              </a:rPr>
              <a:t>Linked delivery</a:t>
            </a:r>
          </a:p>
        </p:txBody>
      </p:sp>
      <p:sp>
        <p:nvSpPr>
          <p:cNvPr id="21" name="TextBox 20"/>
          <p:cNvSpPr txBox="1"/>
          <p:nvPr/>
        </p:nvSpPr>
        <p:spPr>
          <a:xfrm>
            <a:off x="4368698" y="4160520"/>
            <a:ext cx="3454298" cy="2057400"/>
          </a:xfrm>
          <a:prstGeom prst="rect">
            <a:avLst/>
          </a:prstGeom>
          <a:noFill/>
        </p:spPr>
        <p:txBody>
          <a:bodyPr wrap="square">
            <a:spAutoFit/>
          </a:bodyPr>
          <a:lstStyle/>
          <a:p>
            <a:pPr>
              <a:spcAft>
                <a:spcPts val="600"/>
              </a:spcAft>
            </a:pPr>
            <a:r>
              <a:rPr sz="1300" b="0">
                <a:solidFill>
                  <a:srgbClr val="2C3E50"/>
                </a:solidFill>
                <a:latin typeface="Calibri"/>
                <a:ea typeface="微软雅黑"/>
                <a:cs typeface="Calibri"/>
              </a:rPr>
              <a:t>•  The C1 upgrade completes before HPLC is brought into use (Oct 2027, then Dec 2027)</a:t>
            </a:r>
          </a:p>
          <a:p>
            <a:pPr>
              <a:spcAft>
                <a:spcPts val="600"/>
              </a:spcAft>
            </a:pPr>
            <a:r>
              <a:rPr sz="1300" b="0">
                <a:solidFill>
                  <a:srgbClr val="2C3E50"/>
                </a:solidFill>
                <a:latin typeface="Calibri"/>
                <a:ea typeface="微软雅黑"/>
                <a:cs typeface="Calibri"/>
              </a:rPr>
              <a:t>•  Lyophiliser manufacture, at 8–10 months, is the critical path for Part 1</a:t>
            </a:r>
          </a:p>
        </p:txBody>
      </p:sp>
      <p:sp>
        <p:nvSpPr>
          <p:cNvPr id="22" name="Rounded Rectangle 21"/>
          <p:cNvSpPr/>
          <p:nvPr/>
        </p:nvSpPr>
        <p:spPr>
          <a:xfrm>
            <a:off x="8097316" y="3611880"/>
            <a:ext cx="3710330" cy="2697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97316" y="3611880"/>
            <a:ext cx="3710330"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61908" y="3776472"/>
            <a:ext cx="3381146" cy="310896"/>
          </a:xfrm>
          <a:prstGeom prst="rect">
            <a:avLst/>
          </a:prstGeom>
          <a:noFill/>
        </p:spPr>
        <p:txBody>
          <a:bodyPr wrap="square" anchor="t">
            <a:spAutoFit/>
          </a:bodyPr>
          <a:lstStyle/>
          <a:p>
            <a:pPr algn="l"/>
            <a:r>
              <a:rPr sz="1500" b="1">
                <a:solidFill>
                  <a:srgbClr val="0F2B46"/>
                </a:solidFill>
                <a:latin typeface="Calibri"/>
                <a:ea typeface="微软雅黑"/>
                <a:cs typeface="Calibri"/>
              </a:rPr>
              <a:t>Contingency basis</a:t>
            </a:r>
          </a:p>
        </p:txBody>
      </p:sp>
      <p:sp>
        <p:nvSpPr>
          <p:cNvPr id="25" name="TextBox 24"/>
          <p:cNvSpPr txBox="1"/>
          <p:nvPr/>
        </p:nvSpPr>
        <p:spPr>
          <a:xfrm>
            <a:off x="8225332" y="4160520"/>
            <a:ext cx="3454298" cy="2057400"/>
          </a:xfrm>
          <a:prstGeom prst="rect">
            <a:avLst/>
          </a:prstGeom>
          <a:noFill/>
        </p:spPr>
        <p:txBody>
          <a:bodyPr wrap="square">
            <a:spAutoFit/>
          </a:bodyPr>
          <a:lstStyle/>
          <a:p>
            <a:pPr>
              <a:spcAft>
                <a:spcPts val="600"/>
              </a:spcAft>
            </a:pPr>
            <a:r>
              <a:rPr sz="1300" b="0">
                <a:solidFill>
                  <a:srgbClr val="2C3E50"/>
                </a:solidFill>
                <a:latin typeface="Calibri"/>
                <a:ea typeface="微软雅黑"/>
                <a:cs typeface="Calibri"/>
              </a:rPr>
              <a:t>•  Both lines carry a 30% project contingency</a:t>
            </a:r>
          </a:p>
          <a:p>
            <a:pPr>
              <a:spcAft>
                <a:spcPts val="600"/>
              </a:spcAft>
            </a:pPr>
            <a:r>
              <a:rPr sz="1300" b="0">
                <a:solidFill>
                  <a:srgbClr val="2C3E50"/>
                </a:solidFill>
                <a:latin typeface="Calibri"/>
                <a:ea typeface="微软雅黑"/>
                <a:cs typeface="Calibri"/>
              </a:rPr>
              <a:t>•  £1,801,300 in total. HPLC + lyophiliser also carries 30% price risk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7 / 31</a:t>
            </a:r>
          </a:p>
        </p:txBody>
      </p:sp>
      <p:sp>
        <p:nvSpPr>
          <p:cNvPr id="10" name="Rectangle 9"/>
          <p:cNvSpPr/>
          <p:nvPr/>
        </p:nvSpPr>
        <p:spPr>
          <a:xfrm>
            <a:off x="384048" y="164592"/>
            <a:ext cx="82296" cy="713232"/>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HPLC + lyophiliser · executive summary</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9802-RBP-ZZ-ZZ-RP-X-100000</a:t>
            </a:r>
          </a:p>
        </p:txBody>
      </p:sp>
      <p:sp>
        <p:nvSpPr>
          <p:cNvPr id="13" name="Rounded Rectangle 12"/>
          <p:cNvSpPr/>
          <p:nvPr/>
        </p:nvSpPr>
        <p:spPr>
          <a:xfrm>
            <a:off x="384048"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1051560"/>
            <a:ext cx="82296" cy="1024128"/>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235903"/>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Technically feasible</a:t>
            </a:r>
          </a:p>
        </p:txBody>
      </p:sp>
      <p:sp>
        <p:nvSpPr>
          <p:cNvPr id="16" name="TextBox 15"/>
          <p:cNvSpPr txBox="1"/>
          <p:nvPr/>
        </p:nvSpPr>
        <p:spPr>
          <a:xfrm>
            <a:off x="566928" y="1618488"/>
            <a:ext cx="2471851" cy="409651"/>
          </a:xfrm>
          <a:prstGeom prst="rect">
            <a:avLst/>
          </a:prstGeom>
          <a:noFill/>
        </p:spPr>
        <p:txBody>
          <a:bodyPr wrap="square" anchor="t">
            <a:spAutoFit/>
          </a:bodyPr>
          <a:lstStyle/>
          <a:p>
            <a:pPr algn="l"/>
            <a:r>
              <a:rPr sz="1200" b="0">
                <a:solidFill>
                  <a:srgbClr val="5A6A7A"/>
                </a:solidFill>
                <a:latin typeface="Calibri"/>
                <a:ea typeface="微软雅黑"/>
                <a:cs typeface="Calibri"/>
              </a:rPr>
              <a:t>FS P01</a:t>
            </a:r>
          </a:p>
        </p:txBody>
      </p:sp>
      <p:sp>
        <p:nvSpPr>
          <p:cNvPr id="17" name="Rounded Rectangle 16"/>
          <p:cNvSpPr/>
          <p:nvPr/>
        </p:nvSpPr>
        <p:spPr>
          <a:xfrm>
            <a:off x="3276523"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76523" y="1051560"/>
            <a:ext cx="82296" cy="1024128"/>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9403" y="1235903"/>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£5.33M</a:t>
            </a:r>
          </a:p>
        </p:txBody>
      </p:sp>
      <p:sp>
        <p:nvSpPr>
          <p:cNvPr id="20" name="TextBox 19"/>
          <p:cNvSpPr txBox="1"/>
          <p:nvPr/>
        </p:nvSpPr>
        <p:spPr>
          <a:xfrm>
            <a:off x="3459403" y="1618488"/>
            <a:ext cx="2471851" cy="409651"/>
          </a:xfrm>
          <a:prstGeom prst="rect">
            <a:avLst/>
          </a:prstGeom>
          <a:noFill/>
        </p:spPr>
        <p:txBody>
          <a:bodyPr wrap="square" anchor="t">
            <a:spAutoFit/>
          </a:bodyPr>
          <a:lstStyle/>
          <a:p>
            <a:pPr algn="l"/>
            <a:r>
              <a:rPr sz="1200" b="0">
                <a:solidFill>
                  <a:srgbClr val="5A6A7A"/>
                </a:solidFill>
                <a:latin typeface="Calibri"/>
                <a:ea typeface="微软雅黑"/>
                <a:cs typeface="Calibri"/>
              </a:rPr>
              <a:t>Total investment estimate</a:t>
            </a:r>
          </a:p>
        </p:txBody>
      </p:sp>
      <p:sp>
        <p:nvSpPr>
          <p:cNvPr id="21" name="Rounded Rectangle 20"/>
          <p:cNvSpPr/>
          <p:nvPr/>
        </p:nvSpPr>
        <p:spPr>
          <a:xfrm>
            <a:off x="6168999"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68999" y="1051560"/>
            <a:ext cx="82296" cy="1024128"/>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1879" y="1235903"/>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2027-12</a:t>
            </a:r>
          </a:p>
        </p:txBody>
      </p:sp>
      <p:sp>
        <p:nvSpPr>
          <p:cNvPr id="24" name="TextBox 23"/>
          <p:cNvSpPr txBox="1"/>
          <p:nvPr/>
        </p:nvSpPr>
        <p:spPr>
          <a:xfrm>
            <a:off x="6351879" y="1618488"/>
            <a:ext cx="2471851" cy="409651"/>
          </a:xfrm>
          <a:prstGeom prst="rect">
            <a:avLst/>
          </a:prstGeom>
          <a:noFill/>
        </p:spPr>
        <p:txBody>
          <a:bodyPr wrap="square" anchor="t">
            <a:spAutoFit/>
          </a:bodyPr>
          <a:lstStyle/>
          <a:p>
            <a:pPr algn="l"/>
            <a:r>
              <a:rPr sz="1200" b="0">
                <a:solidFill>
                  <a:srgbClr val="5A6A7A"/>
                </a:solidFill>
                <a:latin typeface="Calibri"/>
                <a:ea typeface="微软雅黑"/>
                <a:cs typeface="Calibri"/>
              </a:rPr>
              <a:t>HPLC target (+3 months)</a:t>
            </a:r>
          </a:p>
        </p:txBody>
      </p:sp>
      <p:sp>
        <p:nvSpPr>
          <p:cNvPr id="25" name="Rounded Rectangle 24"/>
          <p:cNvSpPr/>
          <p:nvPr/>
        </p:nvSpPr>
        <p:spPr>
          <a:xfrm>
            <a:off x="9061475"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61475" y="1051560"/>
            <a:ext cx="82296" cy="1024128"/>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44355" y="1235903"/>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2028-06</a:t>
            </a:r>
          </a:p>
        </p:txBody>
      </p:sp>
      <p:sp>
        <p:nvSpPr>
          <p:cNvPr id="28" name="TextBox 27"/>
          <p:cNvSpPr txBox="1"/>
          <p:nvPr/>
        </p:nvSpPr>
        <p:spPr>
          <a:xfrm>
            <a:off x="9244355" y="1618488"/>
            <a:ext cx="2471851" cy="409651"/>
          </a:xfrm>
          <a:prstGeom prst="rect">
            <a:avLst/>
          </a:prstGeom>
          <a:noFill/>
        </p:spPr>
        <p:txBody>
          <a:bodyPr wrap="square" anchor="t">
            <a:spAutoFit/>
          </a:bodyPr>
          <a:lstStyle/>
          <a:p>
            <a:pPr algn="l"/>
            <a:r>
              <a:rPr sz="1200" b="0">
                <a:solidFill>
                  <a:srgbClr val="5A6A7A"/>
                </a:solidFill>
                <a:latin typeface="Calibri"/>
                <a:ea typeface="微软雅黑"/>
                <a:cs typeface="Calibri"/>
              </a:rPr>
              <a:t>Lyophiliser target (+3 months)</a:t>
            </a:r>
          </a:p>
        </p:txBody>
      </p:sp>
      <p:sp>
        <p:nvSpPr>
          <p:cNvPr id="29" name="TextBox 28"/>
          <p:cNvSpPr txBox="1"/>
          <p:nvPr/>
        </p:nvSpPr>
        <p:spPr>
          <a:xfrm>
            <a:off x="429768" y="2276856"/>
            <a:ext cx="11332159" cy="4160520"/>
          </a:xfrm>
          <a:prstGeom prst="rect">
            <a:avLst/>
          </a:prstGeom>
          <a:noFill/>
        </p:spPr>
        <p:txBody>
          <a:bodyPr wrap="square">
            <a:spAutoFit/>
          </a:bodyPr>
          <a:lstStyle/>
          <a:p>
            <a:pPr>
              <a:spcAft>
                <a:spcPts val="1100"/>
              </a:spcAft>
            </a:pPr>
            <a:r>
              <a:rPr sz="1600" b="0">
                <a:solidFill>
                  <a:srgbClr val="2C3E50"/>
                </a:solidFill>
                <a:latin typeface="Calibri"/>
                <a:ea typeface="微软雅黑"/>
                <a:cs typeface="Calibri"/>
              </a:rPr>
              <a:t>•  Scope: preparative HPLC (DAC300/CP300) plus a lyophiliser (isolator, dehumidification, pure-steam generator and associated items) and the supporting retrofit.</a:t>
            </a:r>
          </a:p>
          <a:p>
            <a:pPr>
              <a:spcAft>
                <a:spcPts val="1100"/>
              </a:spcAft>
            </a:pPr>
            <a:r>
              <a:rPr sz="1600" b="0">
                <a:solidFill>
                  <a:srgbClr val="2C3E50"/>
                </a:solidFill>
                <a:latin typeface="Calibri"/>
                <a:ea typeface="微软雅黑"/>
                <a:cs typeface="Calibri"/>
              </a:rPr>
              <a:t>•  Investment: total CAPEX estimate £5.33M (direct + indirect + 30% project contingency). This is not the final Capex.</a:t>
            </a:r>
          </a:p>
          <a:p>
            <a:pPr>
              <a:spcAft>
                <a:spcPts val="1100"/>
              </a:spcAft>
            </a:pPr>
            <a:r>
              <a:rPr sz="1600" b="0">
                <a:solidFill>
                  <a:srgbClr val="2C3E50"/>
                </a:solidFill>
                <a:latin typeface="Calibri"/>
                <a:ea typeface="微软雅黑"/>
                <a:cs typeface="Calibri"/>
              </a:rPr>
              <a:t>•  Programme: driven by the long lead time of the lyophiliser. The lyophiliser is procured ahead of the HPLC.</a:t>
            </a:r>
          </a:p>
          <a:p>
            <a:pPr>
              <a:spcAft>
                <a:spcPts val="1100"/>
              </a:spcAft>
            </a:pPr>
            <a:r>
              <a:rPr sz="1600" b="0">
                <a:solidFill>
                  <a:srgbClr val="2C3E50"/>
                </a:solidFill>
                <a:latin typeface="Calibri"/>
                <a:ea typeface="微软雅黑"/>
                <a:cs typeface="Calibri"/>
              </a:rPr>
              <a:t>•  Dependency: delivery has to stay in step with the C1 OEB5 upgrade, otherwise preparative HPLC cannot run at OEB5.</a:t>
            </a:r>
          </a:p>
          <a:p>
            <a:pPr>
              <a:spcAft>
                <a:spcPts val="1100"/>
              </a:spcAft>
            </a:pPr>
            <a:r>
              <a:rPr sz="1600" b="0">
                <a:solidFill>
                  <a:srgbClr val="2C3E50"/>
                </a:solidFill>
                <a:latin typeface="Calibri"/>
                <a:ea typeface="微软雅黑"/>
                <a:cs typeface="Calibri"/>
              </a:rPr>
              <a:t>•  Demand link: on the European BD list, BioNTech names high-potency chromatography and lyophilisation as capabilities required for a long-term move to Sandwich.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8 / 31</a:t>
            </a:r>
          </a:p>
        </p:txBody>
      </p:sp>
      <p:sp>
        <p:nvSpPr>
          <p:cNvPr id="10" name="Rectangle 9"/>
          <p:cNvSpPr/>
          <p:nvPr/>
        </p:nvSpPr>
        <p:spPr>
          <a:xfrm>
            <a:off x="384048" y="164592"/>
            <a:ext cx="82296" cy="457200"/>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HPLC + lyophiliser · scope</a:t>
            </a:r>
          </a:p>
        </p:txBody>
      </p:sp>
      <p:sp>
        <p:nvSpPr>
          <p:cNvPr id="12" name="Rounded Rectangle 11"/>
          <p:cNvSpPr/>
          <p:nvPr/>
        </p:nvSpPr>
        <p:spPr>
          <a:xfrm>
            <a:off x="384048" y="786384"/>
            <a:ext cx="5638647" cy="5623559"/>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84048" y="786384"/>
            <a:ext cx="91440" cy="5623559"/>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3503" y="896112"/>
            <a:ext cx="5309463" cy="347472"/>
          </a:xfrm>
          <a:prstGeom prst="rect">
            <a:avLst/>
          </a:prstGeom>
          <a:noFill/>
        </p:spPr>
        <p:txBody>
          <a:bodyPr wrap="square" anchor="t">
            <a:spAutoFit/>
          </a:bodyPr>
          <a:lstStyle/>
          <a:p>
            <a:pPr algn="l"/>
            <a:r>
              <a:rPr sz="1600" b="1">
                <a:solidFill>
                  <a:srgbClr val="0F2B46"/>
                </a:solidFill>
                <a:latin typeface="Calibri"/>
                <a:ea typeface="微软雅黑"/>
                <a:cs typeface="Calibri"/>
              </a:rPr>
              <a:t>HPLC</a:t>
            </a:r>
          </a:p>
        </p:txBody>
      </p:sp>
      <p:sp>
        <p:nvSpPr>
          <p:cNvPr id="15" name="TextBox 14"/>
          <p:cNvSpPr txBox="1"/>
          <p:nvPr/>
        </p:nvSpPr>
        <p:spPr>
          <a:xfrm>
            <a:off x="566928" y="1261872"/>
            <a:ext cx="5346039" cy="846386"/>
          </a:xfrm>
          <a:prstGeom prst="rect">
            <a:avLst/>
          </a:prstGeom>
          <a:noFill/>
        </p:spPr>
        <p:txBody>
          <a:bodyPr wrap="square">
            <a:spAutoFit/>
          </a:bodyPr>
          <a:lstStyle/>
          <a:p>
            <a:pPr>
              <a:spcAft>
                <a:spcPts val="600"/>
              </a:spcAft>
            </a:pPr>
            <a:r>
              <a:rPr sz="1300" b="0" dirty="0">
                <a:solidFill>
                  <a:srgbClr val="2C3E50"/>
                </a:solidFill>
                <a:latin typeface="Calibri"/>
                <a:ea typeface="微软雅黑"/>
                <a:cs typeface="Calibri"/>
              </a:rPr>
              <a:t>•  DAC300/CP300 pump skid; mobile head tanks; 2,000 L waste tank</a:t>
            </a:r>
            <a:r>
              <a:rPr sz="1300" b="0" dirty="0" err="1">
                <a:solidFill>
                  <a:srgbClr val="2C3E50"/>
                </a:solidFill>
                <a:latin typeface="微软雅黑"/>
                <a:ea typeface="微软雅黑"/>
                <a:cs typeface="微软雅黑"/>
              </a:rPr>
              <a:t/>
            </a:r>
            <a:endParaRPr sz="1300" b="0" dirty="0">
              <a:solidFill>
                <a:srgbClr val="2C3E50"/>
              </a:solidFill>
              <a:latin typeface="微软雅黑"/>
              <a:ea typeface="微软雅黑"/>
              <a:cs typeface="微软雅黑"/>
            </a:endParaRPr>
          </a:p>
          <a:p>
            <a:pPr>
              <a:spcAft>
                <a:spcPts val="600"/>
              </a:spcAft>
            </a:pPr>
            <a:r>
              <a:rPr sz="1300" b="0" dirty="0">
                <a:solidFill>
                  <a:srgbClr val="2C3E50"/>
                </a:solidFill>
                <a:latin typeface="Calibri"/>
                <a:ea typeface="微软雅黑"/>
                <a:cs typeface="Calibri"/>
              </a:rPr>
              <a:t>•  Costed on a Hanbon (China) basis</a:t>
            </a:r>
            <a:r>
              <a:rPr sz="1300" b="0" dirty="0" err="1" smtClean="0">
                <a:solidFill>
                  <a:srgbClr val="2C3E50"/>
                </a:solidFill>
                <a:latin typeface="微软雅黑"/>
                <a:ea typeface="微软雅黑"/>
                <a:cs typeface="微软雅黑"/>
              </a:rPr>
              <a:t/>
            </a:r>
            <a:r>
              <a:rPr lang="zh-CN" altLang="en-US" sz="1300" b="0" dirty="0" smtClean="0">
                <a:solidFill>
                  <a:srgbClr val="2C3E50"/>
                </a:solidFill>
                <a:latin typeface="微软雅黑"/>
                <a:ea typeface="微软雅黑"/>
                <a:cs typeface="微软雅黑"/>
              </a:rPr>
              <a:t/>
            </a:r>
            <a:endParaRPr sz="1300" b="0" dirty="0">
              <a:solidFill>
                <a:srgbClr val="2C3E50"/>
              </a:solidFill>
              <a:latin typeface="微软雅黑"/>
              <a:ea typeface="微软雅黑"/>
              <a:cs typeface="微软雅黑"/>
            </a:endParaRPr>
          </a:p>
          <a:p>
            <a:pPr>
              <a:spcAft>
                <a:spcPts val="600"/>
              </a:spcAft>
            </a:pPr>
            <a:r>
              <a:rPr sz="1300" b="0" dirty="0">
                <a:solidFill>
                  <a:srgbClr val="2C3E50"/>
                </a:solidFill>
                <a:latin typeface="Calibri"/>
                <a:ea typeface="微软雅黑"/>
                <a:cs typeface="Calibri"/>
              </a:rPr>
              <a:t>•  Installed in area PG.05</a:t>
            </a:r>
            <a:r>
              <a:rPr sz="1300" b="0" dirty="0" err="1">
                <a:solidFill>
                  <a:srgbClr val="2C3E50"/>
                </a:solidFill>
                <a:latin typeface="微软雅黑"/>
                <a:ea typeface="微软雅黑"/>
                <a:cs typeface="微软雅黑"/>
              </a:rPr>
              <a:t/>
            </a:r>
            <a:endParaRPr sz="1300" b="0" dirty="0">
              <a:solidFill>
                <a:srgbClr val="2C3E50"/>
              </a:solidFill>
              <a:latin typeface="微软雅黑"/>
              <a:ea typeface="微软雅黑"/>
              <a:cs typeface="微软雅黑"/>
            </a:endParaRPr>
          </a:p>
        </p:txBody>
      </p:sp>
      <p:sp>
        <p:nvSpPr>
          <p:cNvPr id="16" name="Rounded Rectangle 15"/>
          <p:cNvSpPr/>
          <p:nvPr/>
        </p:nvSpPr>
        <p:spPr>
          <a:xfrm>
            <a:off x="6168999" y="786384"/>
            <a:ext cx="5638647" cy="5623559"/>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68999" y="786384"/>
            <a:ext cx="91440" cy="5623559"/>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88455" y="896112"/>
            <a:ext cx="5309463" cy="347472"/>
          </a:xfrm>
          <a:prstGeom prst="rect">
            <a:avLst/>
          </a:prstGeom>
          <a:noFill/>
        </p:spPr>
        <p:txBody>
          <a:bodyPr wrap="square" anchor="t">
            <a:spAutoFit/>
          </a:bodyPr>
          <a:lstStyle/>
          <a:p>
            <a:pPr algn="l"/>
            <a:r>
              <a:rPr sz="1600" b="1">
                <a:solidFill>
                  <a:srgbClr val="0F2B46"/>
                </a:solidFill>
                <a:latin typeface="Calibri"/>
                <a:ea typeface="微软雅黑"/>
                <a:cs typeface="Calibri"/>
              </a:rPr>
              <a:t>Lyophiliser</a:t>
            </a:r>
          </a:p>
        </p:txBody>
      </p:sp>
      <p:sp>
        <p:nvSpPr>
          <p:cNvPr id="19" name="TextBox 18"/>
          <p:cNvSpPr txBox="1"/>
          <p:nvPr/>
        </p:nvSpPr>
        <p:spPr>
          <a:xfrm>
            <a:off x="6351879" y="1261872"/>
            <a:ext cx="5346039" cy="846386"/>
          </a:xfrm>
          <a:prstGeom prst="rect">
            <a:avLst/>
          </a:prstGeom>
          <a:noFill/>
        </p:spPr>
        <p:txBody>
          <a:bodyPr wrap="square">
            <a:spAutoFit/>
          </a:bodyPr>
          <a:lstStyle/>
          <a:p>
            <a:pPr>
              <a:spcAft>
                <a:spcPts val="600"/>
              </a:spcAft>
            </a:pPr>
            <a:r>
              <a:rPr sz="1300" b="0" dirty="0">
                <a:solidFill>
                  <a:srgbClr val="2C3E50"/>
                </a:solidFill>
                <a:latin typeface="Calibri"/>
                <a:ea typeface="微软雅黑"/>
                <a:cs typeface="Calibri"/>
              </a:rPr>
              <a:t>•  Lyophiliser chamber, isolator, dual CIP, dehumidification, PSG</a:t>
            </a:r>
            <a:r>
              <a:rPr sz="1300" b="0" dirty="0" err="1">
                <a:solidFill>
                  <a:srgbClr val="2C3E50"/>
                </a:solidFill>
                <a:latin typeface="微软雅黑"/>
                <a:ea typeface="微软雅黑"/>
                <a:cs typeface="微软雅黑"/>
              </a:rPr>
              <a:t/>
            </a:r>
            <a:r>
              <a:rPr sz="1300" b="0" dirty="0">
                <a:solidFill>
                  <a:srgbClr val="2C3E50"/>
                </a:solidFill>
                <a:latin typeface="微软雅黑"/>
                <a:ea typeface="微软雅黑"/>
                <a:cs typeface="微软雅黑"/>
              </a:rPr>
              <a:t/>
            </a:r>
            <a:r>
              <a:rPr sz="1300" b="0" dirty="0" err="1">
                <a:solidFill>
                  <a:srgbClr val="2C3E50"/>
                </a:solidFill>
                <a:latin typeface="微软雅黑"/>
                <a:ea typeface="微软雅黑"/>
                <a:cs typeface="微软雅黑"/>
              </a:rPr>
              <a:t/>
            </a:r>
            <a:endParaRPr sz="1300" b="0" dirty="0">
              <a:solidFill>
                <a:srgbClr val="2C3E50"/>
              </a:solidFill>
              <a:latin typeface="微软雅黑"/>
              <a:ea typeface="微软雅黑"/>
              <a:cs typeface="微软雅黑"/>
            </a:endParaRPr>
          </a:p>
          <a:p>
            <a:pPr>
              <a:spcAft>
                <a:spcPts val="600"/>
              </a:spcAft>
            </a:pPr>
            <a:r>
              <a:rPr sz="1300" b="0" dirty="0">
                <a:solidFill>
                  <a:srgbClr val="2C3E50"/>
                </a:solidFill>
                <a:latin typeface="Calibri"/>
                <a:ea typeface="微软雅黑"/>
                <a:cs typeface="Calibri"/>
              </a:rPr>
              <a:t>•  Costed on a Tofflon basis</a:t>
            </a:r>
            <a:r>
              <a:rPr sz="1300" b="0" dirty="0" err="1">
                <a:solidFill>
                  <a:srgbClr val="2C3E50"/>
                </a:solidFill>
                <a:latin typeface="微软雅黑"/>
                <a:ea typeface="微软雅黑"/>
                <a:cs typeface="微软雅黑"/>
              </a:rPr>
              <a:t/>
            </a:r>
            <a:r>
              <a:rPr sz="1300" b="0" dirty="0" err="1" smtClean="0">
                <a:solidFill>
                  <a:srgbClr val="2C3E50"/>
                </a:solidFill>
                <a:latin typeface="微软雅黑"/>
                <a:ea typeface="微软雅黑"/>
                <a:cs typeface="微软雅黑"/>
              </a:rPr>
              <a:t/>
            </a:r>
            <a:r>
              <a:rPr sz="1300" b="0" dirty="0" smtClean="0">
                <a:solidFill>
                  <a:srgbClr val="2C3E50"/>
                </a:solidFill>
                <a:latin typeface="微软雅黑"/>
                <a:ea typeface="微软雅黑"/>
                <a:cs typeface="微软雅黑"/>
              </a:rPr>
              <a:t/>
            </a:r>
            <a:r>
              <a:rPr lang="zh-CN" altLang="en-US" sz="1300" dirty="0" smtClean="0">
                <a:solidFill>
                  <a:srgbClr val="2C3E50"/>
                </a:solidFill>
                <a:latin typeface="微软雅黑"/>
                <a:ea typeface="微软雅黑"/>
                <a:cs typeface="微软雅黑"/>
              </a:rPr>
              <a:t/>
            </a:r>
            <a:endParaRPr sz="1300" b="0" dirty="0">
              <a:solidFill>
                <a:srgbClr val="2C3E50"/>
              </a:solidFill>
              <a:latin typeface="微软雅黑"/>
              <a:ea typeface="微软雅黑"/>
              <a:cs typeface="微软雅黑"/>
            </a:endParaRPr>
          </a:p>
          <a:p>
            <a:pPr>
              <a:spcAft>
                <a:spcPts val="600"/>
              </a:spcAft>
            </a:pPr>
            <a:r>
              <a:rPr sz="1300" b="0" dirty="0">
                <a:solidFill>
                  <a:srgbClr val="2C3E50"/>
                </a:solidFill>
                <a:latin typeface="Calibri"/>
                <a:ea typeface="微软雅黑"/>
                <a:cs typeface="Calibri"/>
              </a:rPr>
              <a:t>•  Airlock and retrofit, about 20 weeks</a:t>
            </a:r>
            <a:r>
              <a:rPr sz="1300" b="0" dirty="0" err="1">
                <a:solidFill>
                  <a:srgbClr val="2C3E50"/>
                </a:solidFill>
                <a:latin typeface="微软雅黑"/>
                <a:ea typeface="微软雅黑"/>
                <a:cs typeface="微软雅黑"/>
              </a:rPr>
              <a:t/>
            </a:r>
            <a:r>
              <a:rPr sz="1300" b="0" dirty="0">
                <a:solidFill>
                  <a:srgbClr val="2C3E50"/>
                </a:solidFill>
                <a:latin typeface="微软雅黑"/>
                <a:ea typeface="微软雅黑"/>
                <a:cs typeface="微软雅黑"/>
              </a:rPr>
              <a:t/>
            </a:r>
            <a:r>
              <a:rPr sz="1300" b="0" dirty="0" err="1">
                <a:solidFill>
                  <a:srgbClr val="2C3E50"/>
                </a:solidFill>
                <a:latin typeface="微软雅黑"/>
                <a:ea typeface="微软雅黑"/>
                <a:cs typeface="微软雅黑"/>
              </a:rPr>
              <a:t/>
            </a:r>
            <a:r>
              <a:rPr sz="1300" b="0" dirty="0">
                <a:solidFill>
                  <a:srgbClr val="2C3E50"/>
                </a:solidFill>
                <a:latin typeface="微软雅黑"/>
                <a:ea typeface="微软雅黑"/>
                <a:cs typeface="微软雅黑"/>
              </a:rP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9 / 31</a:t>
            </a:r>
          </a:p>
        </p:txBody>
      </p:sp>
      <p:sp>
        <p:nvSpPr>
          <p:cNvPr id="10" name="Rectangle 9"/>
          <p:cNvSpPr/>
          <p:nvPr/>
        </p:nvSpPr>
        <p:spPr>
          <a:xfrm>
            <a:off x="384048" y="164592"/>
            <a:ext cx="82296" cy="713232"/>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HPLC + lyophiliser · investment</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9802-RBP-ZZ-ZZ-CP-X-100001</a:t>
            </a:r>
          </a:p>
        </p:txBody>
      </p:sp>
      <p:sp>
        <p:nvSpPr>
          <p:cNvPr id="13" name="Rounded Rectangle 12"/>
          <p:cNvSpPr/>
          <p:nvPr/>
        </p:nvSpPr>
        <p:spPr>
          <a:xfrm>
            <a:off x="384048" y="1024128"/>
            <a:ext cx="11423599" cy="457200"/>
          </a:xfrm>
          <a:prstGeom prst="roundRect">
            <a:avLst>
              <a:gd name="adj" fmla="val 8000"/>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216" y="1078992"/>
            <a:ext cx="5943600" cy="347472"/>
          </a:xfrm>
          <a:prstGeom prst="rect">
            <a:avLst/>
          </a:prstGeom>
          <a:noFill/>
        </p:spPr>
        <p:txBody>
          <a:bodyPr wrap="square" anchor="t">
            <a:spAutoFit/>
          </a:bodyPr>
          <a:lstStyle/>
          <a:p>
            <a:pPr algn="l"/>
            <a:r>
              <a:rPr sz="1600" b="1">
                <a:solidFill>
                  <a:srgbClr val="FFFFFF"/>
                </a:solidFill>
                <a:latin typeface="Calibri"/>
                <a:ea typeface="微软雅黑"/>
                <a:cs typeface="Calibri"/>
              </a:rPr>
              <a:t>Total investment estimate</a:t>
            </a:r>
          </a:p>
        </p:txBody>
      </p:sp>
      <p:sp>
        <p:nvSpPr>
          <p:cNvPr id="15" name="TextBox 14"/>
          <p:cNvSpPr txBox="1"/>
          <p:nvPr/>
        </p:nvSpPr>
        <p:spPr>
          <a:xfrm>
            <a:off x="6784848" y="1078992"/>
            <a:ext cx="4754880" cy="347472"/>
          </a:xfrm>
          <a:prstGeom prst="rect">
            <a:avLst/>
          </a:prstGeom>
          <a:noFill/>
        </p:spPr>
        <p:txBody>
          <a:bodyPr wrap="square" anchor="t">
            <a:spAutoFit/>
          </a:bodyPr>
          <a:lstStyle/>
          <a:p>
            <a:pPr algn="r"/>
            <a:r>
              <a:rPr sz="1800" b="1">
                <a:solidFill>
                  <a:srgbClr val="FFFFFF"/>
                </a:solidFill>
                <a:latin typeface="Calibri"/>
                <a:ea typeface="微软雅黑"/>
                <a:cs typeface="Calibri"/>
              </a:rPr>
              <a:t>£5,329,100</a:t>
            </a:r>
          </a:p>
        </p:txBody>
      </p:sp>
      <p:graphicFrame>
        <p:nvGraphicFramePr>
          <p:cNvPr id="16" name="Table 15"/>
          <p:cNvGraphicFramePr>
            <a:graphicFrameLocks noGrp="1"/>
          </p:cNvGraphicFramePr>
          <p:nvPr/>
        </p:nvGraphicFramePr>
        <p:xfrm>
          <a:off x="384048" y="1609344"/>
          <a:ext cx="5577839" cy="4736592"/>
        </p:xfrm>
        <a:graphic>
          <a:graphicData uri="http://schemas.openxmlformats.org/drawingml/2006/table">
            <a:tbl>
              <a:tblPr firstRow="1" bandRow="1">
                <a:tableStyleId>{5C22544A-7EE6-4342-B048-85BDC9FD1C3A}</a:tableStyleId>
              </a:tblPr>
              <a:tblGrid>
                <a:gridCol w="4016044">
                  <a:extLst>
                    <a:ext uri="{9D8B030D-6E8A-4147-A177-3AD203B41FA5}">
                      <a16:colId xmlns:a16="http://schemas.microsoft.com/office/drawing/2014/main" val="20000"/>
                    </a:ext>
                  </a:extLst>
                </a:gridCol>
                <a:gridCol w="1561795">
                  <a:extLst>
                    <a:ext uri="{9D8B030D-6E8A-4147-A177-3AD203B41FA5}">
                      <a16:colId xmlns:a16="http://schemas.microsoft.com/office/drawing/2014/main" val="20001"/>
                    </a:ext>
                  </a:extLst>
                </a:gridCol>
              </a:tblGrid>
              <a:tr h="364353">
                <a:tc>
                  <a:txBody>
                    <a:bodyPr/>
                    <a:lstStyle/>
                    <a:p>
                      <a:pPr algn="l"/>
                      <a:r>
                        <a:rPr sz="1200" b="1">
                          <a:solidFill>
                            <a:srgbClr val="FFFFFF"/>
                          </a:solidFill>
                          <a:latin typeface="Calibri"/>
                          <a:ea typeface="微软雅黑"/>
                          <a:cs typeface="Calibri"/>
                        </a:rPr>
                        <a:t>Direct costs</a:t>
                      </a:r>
                    </a:p>
                  </a:txBody>
                  <a:tcPr anchor="ctr">
                    <a:solidFill>
                      <a:srgbClr val="1A3A55"/>
                    </a:solidFill>
                  </a:tcPr>
                </a:tc>
                <a:tc>
                  <a:txBody>
                    <a:bodyPr/>
                    <a:lstStyle/>
                    <a:p>
                      <a:pPr algn="r"/>
                      <a:r>
                        <a:rPr sz="1200" b="1">
                          <a:solidFill>
                            <a:srgbClr val="FFFFFF"/>
                          </a:solidFill>
                          <a:latin typeface="Calibri"/>
                          <a:ea typeface="微软雅黑"/>
                          <a:cs typeface="Calibri"/>
                        </a:rPr>
                        <a:t>£3,026,800</a:t>
                      </a:r>
                    </a:p>
                  </a:txBody>
                  <a:tcPr anchor="ctr">
                    <a:solidFill>
                      <a:srgbClr val="1A3A55"/>
                    </a:solidFill>
                  </a:tcPr>
                </a:tc>
                <a:extLst>
                  <a:ext uri="{0D108BD9-81ED-4DB2-BD59-A6C34878D82A}">
                    <a16:rowId xmlns:a16="http://schemas.microsoft.com/office/drawing/2014/main" val="10000"/>
                  </a:ext>
                </a:extLst>
              </a:tr>
              <a:tr h="364353">
                <a:tc>
                  <a:txBody>
                    <a:bodyPr/>
                    <a:lstStyle/>
                    <a:p>
                      <a:pPr algn="l"/>
                      <a:r>
                        <a:rPr sz="1200" b="0">
                          <a:solidFill>
                            <a:srgbClr val="2C3E50"/>
                          </a:solidFill>
                          <a:latin typeface="Calibri"/>
                          <a:ea typeface="微软雅黑"/>
                          <a:cs typeface="Calibri"/>
                        </a:rPr>
                        <a:t>1. Main process equipment</a:t>
                      </a:r>
                    </a:p>
                  </a:txBody>
                  <a:tcPr anchor="ctr">
                    <a:solidFill>
                      <a:srgbClr val="FFFFFF"/>
                    </a:solidFill>
                  </a:tcPr>
                </a:tc>
                <a:tc>
                  <a:txBody>
                    <a:bodyPr/>
                    <a:lstStyle/>
                    <a:p>
                      <a:pPr algn="r"/>
                      <a:r>
                        <a:rPr sz="1200" b="0">
                          <a:solidFill>
                            <a:srgbClr val="2C3E50"/>
                          </a:solidFill>
                          <a:latin typeface="Calibri"/>
                          <a:ea typeface="微软雅黑"/>
                          <a:cs typeface="Calibri"/>
                        </a:rPr>
                        <a:t>£2,047,500</a:t>
                      </a:r>
                    </a:p>
                  </a:txBody>
                  <a:tcPr anchor="ctr">
                    <a:solidFill>
                      <a:srgbClr val="FFFFFF"/>
                    </a:solidFill>
                  </a:tcPr>
                </a:tc>
                <a:extLst>
                  <a:ext uri="{0D108BD9-81ED-4DB2-BD59-A6C34878D82A}">
                    <a16:rowId xmlns:a16="http://schemas.microsoft.com/office/drawing/2014/main" val="10001"/>
                  </a:ext>
                </a:extLst>
              </a:tr>
              <a:tr h="364353">
                <a:tc>
                  <a:txBody>
                    <a:bodyPr/>
                    <a:lstStyle/>
                    <a:p>
                      <a:pPr algn="l"/>
                      <a:r>
                        <a:rPr sz="1100" b="0">
                          <a:solidFill>
                            <a:srgbClr val="5A6A7A"/>
                          </a:solidFill>
                          <a:latin typeface="Calibri"/>
                          <a:ea typeface="微软雅黑"/>
                          <a:cs typeface="Calibri"/>
                        </a:rPr>
                        <a:t>1.1 Lyophiliser</a:t>
                      </a:r>
                    </a:p>
                  </a:txBody>
                  <a:tcPr anchor="ctr">
                    <a:solidFill>
                      <a:srgbClr val="F6F8FA"/>
                    </a:solidFill>
                  </a:tcPr>
                </a:tc>
                <a:tc>
                  <a:txBody>
                    <a:bodyPr/>
                    <a:lstStyle/>
                    <a:p>
                      <a:pPr algn="r"/>
                      <a:r>
                        <a:rPr sz="1100" b="0">
                          <a:solidFill>
                            <a:srgbClr val="5A6A7A"/>
                          </a:solidFill>
                          <a:latin typeface="Calibri"/>
                          <a:ea typeface="微软雅黑"/>
                          <a:cs typeface="Calibri"/>
                        </a:rPr>
                        <a:t>£967,000</a:t>
                      </a:r>
                    </a:p>
                  </a:txBody>
                  <a:tcPr anchor="ctr">
                    <a:solidFill>
                      <a:srgbClr val="F6F8FA"/>
                    </a:solidFill>
                  </a:tcPr>
                </a:tc>
                <a:extLst>
                  <a:ext uri="{0D108BD9-81ED-4DB2-BD59-A6C34878D82A}">
                    <a16:rowId xmlns:a16="http://schemas.microsoft.com/office/drawing/2014/main" val="10002"/>
                  </a:ext>
                </a:extLst>
              </a:tr>
              <a:tr h="364353">
                <a:tc>
                  <a:txBody>
                    <a:bodyPr/>
                    <a:lstStyle/>
                    <a:p>
                      <a:pPr algn="l"/>
                      <a:r>
                        <a:rPr sz="1100" b="0">
                          <a:solidFill>
                            <a:srgbClr val="5A6A7A"/>
                          </a:solidFill>
                          <a:latin typeface="Calibri"/>
                          <a:ea typeface="微软雅黑"/>
                          <a:cs typeface="Calibri"/>
                        </a:rPr>
                        <a:t>1.2 HPLC skid</a:t>
                      </a:r>
                    </a:p>
                  </a:txBody>
                  <a:tcPr anchor="ctr">
                    <a:solidFill>
                      <a:srgbClr val="FFFFFF"/>
                    </a:solidFill>
                  </a:tcPr>
                </a:tc>
                <a:tc>
                  <a:txBody>
                    <a:bodyPr/>
                    <a:lstStyle/>
                    <a:p>
                      <a:pPr algn="r"/>
                      <a:r>
                        <a:rPr sz="1100" b="0">
                          <a:solidFill>
                            <a:srgbClr val="5A6A7A"/>
                          </a:solidFill>
                          <a:latin typeface="Calibri"/>
                          <a:ea typeface="微软雅黑"/>
                          <a:cs typeface="Calibri"/>
                        </a:rPr>
                        <a:t>£358,000</a:t>
                      </a:r>
                    </a:p>
                  </a:txBody>
                  <a:tcPr anchor="ctr">
                    <a:solidFill>
                      <a:srgbClr val="FFFFFF"/>
                    </a:solidFill>
                  </a:tcPr>
                </a:tc>
                <a:extLst>
                  <a:ext uri="{0D108BD9-81ED-4DB2-BD59-A6C34878D82A}">
                    <a16:rowId xmlns:a16="http://schemas.microsoft.com/office/drawing/2014/main" val="10003"/>
                  </a:ext>
                </a:extLst>
              </a:tr>
              <a:tr h="364353">
                <a:tc>
                  <a:txBody>
                    <a:bodyPr/>
                    <a:lstStyle/>
                    <a:p>
                      <a:pPr algn="l"/>
                      <a:r>
                        <a:rPr sz="1100" b="0">
                          <a:solidFill>
                            <a:srgbClr val="5A6A7A"/>
                          </a:solidFill>
                          <a:latin typeface="Calibri"/>
                          <a:ea typeface="微软雅黑"/>
                          <a:cs typeface="Calibri"/>
                        </a:rPr>
                        <a:t>1.3 Tanks and vessels</a:t>
                      </a:r>
                    </a:p>
                  </a:txBody>
                  <a:tcPr anchor="ctr">
                    <a:solidFill>
                      <a:srgbClr val="F6F8FA"/>
                    </a:solidFill>
                  </a:tcPr>
                </a:tc>
                <a:tc>
                  <a:txBody>
                    <a:bodyPr/>
                    <a:lstStyle/>
                    <a:p>
                      <a:pPr algn="r"/>
                      <a:r>
                        <a:rPr sz="1100" b="0">
                          <a:solidFill>
                            <a:srgbClr val="5A6A7A"/>
                          </a:solidFill>
                          <a:latin typeface="Calibri"/>
                          <a:ea typeface="微软雅黑"/>
                          <a:cs typeface="Calibri"/>
                        </a:rPr>
                        <a:t>£200,000</a:t>
                      </a:r>
                    </a:p>
                  </a:txBody>
                  <a:tcPr anchor="ctr">
                    <a:solidFill>
                      <a:srgbClr val="F6F8FA"/>
                    </a:solidFill>
                  </a:tcPr>
                </a:tc>
                <a:extLst>
                  <a:ext uri="{0D108BD9-81ED-4DB2-BD59-A6C34878D82A}">
                    <a16:rowId xmlns:a16="http://schemas.microsoft.com/office/drawing/2014/main" val="10004"/>
                  </a:ext>
                </a:extLst>
              </a:tr>
              <a:tr h="364353">
                <a:tc>
                  <a:txBody>
                    <a:bodyPr/>
                    <a:lstStyle/>
                    <a:p>
                      <a:pPr algn="l"/>
                      <a:r>
                        <a:rPr sz="1100" b="0">
                          <a:solidFill>
                            <a:srgbClr val="5A6A7A"/>
                          </a:solidFill>
                          <a:latin typeface="Calibri"/>
                          <a:ea typeface="微软雅黑"/>
                          <a:cs typeface="Calibri"/>
                        </a:rPr>
                        <a:t>1.4 Pumps</a:t>
                      </a:r>
                    </a:p>
                  </a:txBody>
                  <a:tcPr anchor="ctr">
                    <a:solidFill>
                      <a:srgbClr val="FFFFFF"/>
                    </a:solidFill>
                  </a:tcPr>
                </a:tc>
                <a:tc>
                  <a:txBody>
                    <a:bodyPr/>
                    <a:lstStyle/>
                    <a:p>
                      <a:pPr algn="r"/>
                      <a:r>
                        <a:rPr sz="1100" b="0">
                          <a:solidFill>
                            <a:srgbClr val="5A6A7A"/>
                          </a:solidFill>
                          <a:latin typeface="Calibri"/>
                          <a:ea typeface="微软雅黑"/>
                          <a:cs typeface="Calibri"/>
                        </a:rPr>
                        <a:t>£50,000</a:t>
                      </a:r>
                    </a:p>
                  </a:txBody>
                  <a:tcPr anchor="ctr">
                    <a:solidFill>
                      <a:srgbClr val="FFFFFF"/>
                    </a:solidFill>
                  </a:tcPr>
                </a:tc>
                <a:extLst>
                  <a:ext uri="{0D108BD9-81ED-4DB2-BD59-A6C34878D82A}">
                    <a16:rowId xmlns:a16="http://schemas.microsoft.com/office/drawing/2014/main" val="10005"/>
                  </a:ext>
                </a:extLst>
              </a:tr>
              <a:tr h="364353">
                <a:tc>
                  <a:txBody>
                    <a:bodyPr/>
                    <a:lstStyle/>
                    <a:p>
                      <a:pPr algn="l"/>
                      <a:r>
                        <a:rPr sz="1100" b="0">
                          <a:solidFill>
                            <a:srgbClr val="5A6A7A"/>
                          </a:solidFill>
                          <a:latin typeface="Calibri"/>
                          <a:ea typeface="微软雅黑"/>
                          <a:cs typeface="Calibri"/>
                        </a:rPr>
                        <a:t>1.5 Price risk (30%)</a:t>
                      </a:r>
                    </a:p>
                  </a:txBody>
                  <a:tcPr anchor="ctr">
                    <a:solidFill>
                      <a:srgbClr val="F6F8FA"/>
                    </a:solidFill>
                  </a:tcPr>
                </a:tc>
                <a:tc>
                  <a:txBody>
                    <a:bodyPr/>
                    <a:lstStyle/>
                    <a:p>
                      <a:pPr algn="r"/>
                      <a:r>
                        <a:rPr sz="1100" b="0">
                          <a:solidFill>
                            <a:srgbClr val="5A6A7A"/>
                          </a:solidFill>
                          <a:latin typeface="Calibri"/>
                          <a:ea typeface="微软雅黑"/>
                          <a:cs typeface="Calibri"/>
                        </a:rPr>
                        <a:t>£472,500</a:t>
                      </a:r>
                    </a:p>
                  </a:txBody>
                  <a:tcPr anchor="ctr">
                    <a:solidFill>
                      <a:srgbClr val="F6F8FA"/>
                    </a:solidFill>
                  </a:tcPr>
                </a:tc>
                <a:extLst>
                  <a:ext uri="{0D108BD9-81ED-4DB2-BD59-A6C34878D82A}">
                    <a16:rowId xmlns:a16="http://schemas.microsoft.com/office/drawing/2014/main" val="10006"/>
                  </a:ext>
                </a:extLst>
              </a:tr>
              <a:tr h="364353">
                <a:tc>
                  <a:txBody>
                    <a:bodyPr/>
                    <a:lstStyle/>
                    <a:p>
                      <a:pPr algn="l"/>
                      <a:r>
                        <a:rPr sz="1200" b="0">
                          <a:solidFill>
                            <a:srgbClr val="2C3E50"/>
                          </a:solidFill>
                          <a:latin typeface="Calibri"/>
                          <a:ea typeface="微软雅黑"/>
                          <a:cs typeface="Calibri"/>
                        </a:rPr>
                        <a:t>2. Infrastructure retrofit</a:t>
                      </a:r>
                    </a:p>
                  </a:txBody>
                  <a:tcPr anchor="ctr">
                    <a:solidFill>
                      <a:srgbClr val="FFFFFF"/>
                    </a:solidFill>
                  </a:tcPr>
                </a:tc>
                <a:tc>
                  <a:txBody>
                    <a:bodyPr/>
                    <a:lstStyle/>
                    <a:p>
                      <a:pPr algn="r"/>
                      <a:r>
                        <a:rPr sz="1200" b="0">
                          <a:solidFill>
                            <a:srgbClr val="2C3E50"/>
                          </a:solidFill>
                          <a:latin typeface="Calibri"/>
                          <a:ea typeface="微软雅黑"/>
                          <a:cs typeface="Calibri"/>
                        </a:rPr>
                        <a:t>£979,300</a:t>
                      </a:r>
                    </a:p>
                  </a:txBody>
                  <a:tcPr anchor="ctr">
                    <a:solidFill>
                      <a:srgbClr val="FFFFFF"/>
                    </a:solidFill>
                  </a:tcPr>
                </a:tc>
                <a:extLst>
                  <a:ext uri="{0D108BD9-81ED-4DB2-BD59-A6C34878D82A}">
                    <a16:rowId xmlns:a16="http://schemas.microsoft.com/office/drawing/2014/main" val="10007"/>
                  </a:ext>
                </a:extLst>
              </a:tr>
              <a:tr h="364353">
                <a:tc>
                  <a:txBody>
                    <a:bodyPr/>
                    <a:lstStyle/>
                    <a:p>
                      <a:pPr algn="l"/>
                      <a:r>
                        <a:rPr sz="1100" b="0">
                          <a:solidFill>
                            <a:srgbClr val="5A6A7A"/>
                          </a:solidFill>
                          <a:latin typeface="Calibri"/>
                          <a:ea typeface="微软雅黑"/>
                          <a:cs typeface="Calibri"/>
                        </a:rPr>
                        <a:t>2.1 Civil and structure</a:t>
                      </a:r>
                    </a:p>
                  </a:txBody>
                  <a:tcPr anchor="ctr">
                    <a:solidFill>
                      <a:srgbClr val="F6F8FA"/>
                    </a:solidFill>
                  </a:tcPr>
                </a:tc>
                <a:tc>
                  <a:txBody>
                    <a:bodyPr/>
                    <a:lstStyle/>
                    <a:p>
                      <a:pPr algn="r"/>
                      <a:r>
                        <a:rPr sz="1100" b="0">
                          <a:solidFill>
                            <a:srgbClr val="5A6A7A"/>
                          </a:solidFill>
                          <a:latin typeface="Calibri"/>
                          <a:ea typeface="微软雅黑"/>
                          <a:cs typeface="Calibri"/>
                        </a:rPr>
                        <a:t>£326,000</a:t>
                      </a:r>
                    </a:p>
                  </a:txBody>
                  <a:tcPr anchor="ctr">
                    <a:solidFill>
                      <a:srgbClr val="F6F8FA"/>
                    </a:solidFill>
                  </a:tcPr>
                </a:tc>
                <a:extLst>
                  <a:ext uri="{0D108BD9-81ED-4DB2-BD59-A6C34878D82A}">
                    <a16:rowId xmlns:a16="http://schemas.microsoft.com/office/drawing/2014/main" val="10008"/>
                  </a:ext>
                </a:extLst>
              </a:tr>
              <a:tr h="364353">
                <a:tc>
                  <a:txBody>
                    <a:bodyPr/>
                    <a:lstStyle/>
                    <a:p>
                      <a:pPr algn="l"/>
                      <a:r>
                        <a:rPr sz="1100" b="0">
                          <a:solidFill>
                            <a:srgbClr val="5A6A7A"/>
                          </a:solidFill>
                          <a:latin typeface="Calibri"/>
                          <a:ea typeface="微软雅黑"/>
                          <a:cs typeface="Calibri"/>
                        </a:rPr>
                        <a:t>2.2 Mechanical and piping</a:t>
                      </a:r>
                    </a:p>
                  </a:txBody>
                  <a:tcPr anchor="ctr">
                    <a:solidFill>
                      <a:srgbClr val="FFFFFF"/>
                    </a:solidFill>
                  </a:tcPr>
                </a:tc>
                <a:tc>
                  <a:txBody>
                    <a:bodyPr/>
                    <a:lstStyle/>
                    <a:p>
                      <a:pPr algn="r"/>
                      <a:r>
                        <a:rPr sz="1100" b="0">
                          <a:solidFill>
                            <a:srgbClr val="5A6A7A"/>
                          </a:solidFill>
                          <a:latin typeface="Calibri"/>
                          <a:ea typeface="微软雅黑"/>
                          <a:cs typeface="Calibri"/>
                        </a:rPr>
                        <a:t>£264,000</a:t>
                      </a:r>
                    </a:p>
                  </a:txBody>
                  <a:tcPr anchor="ctr">
                    <a:solidFill>
                      <a:srgbClr val="FFFFFF"/>
                    </a:solidFill>
                  </a:tcPr>
                </a:tc>
                <a:extLst>
                  <a:ext uri="{0D108BD9-81ED-4DB2-BD59-A6C34878D82A}">
                    <a16:rowId xmlns:a16="http://schemas.microsoft.com/office/drawing/2014/main" val="10009"/>
                  </a:ext>
                </a:extLst>
              </a:tr>
              <a:tr h="364353">
                <a:tc>
                  <a:txBody>
                    <a:bodyPr/>
                    <a:lstStyle/>
                    <a:p>
                      <a:pPr algn="l"/>
                      <a:r>
                        <a:rPr sz="1100" b="0">
                          <a:solidFill>
                            <a:srgbClr val="5A6A7A"/>
                          </a:solidFill>
                          <a:latin typeface="Calibri"/>
                          <a:ea typeface="微软雅黑"/>
                          <a:cs typeface="Calibri"/>
                        </a:rPr>
                        <a:t>2.3 Electrical and instruments</a:t>
                      </a:r>
                    </a:p>
                  </a:txBody>
                  <a:tcPr anchor="ctr">
                    <a:solidFill>
                      <a:srgbClr val="F6F8FA"/>
                    </a:solidFill>
                  </a:tcPr>
                </a:tc>
                <a:tc>
                  <a:txBody>
                    <a:bodyPr/>
                    <a:lstStyle/>
                    <a:p>
                      <a:pPr algn="r"/>
                      <a:r>
                        <a:rPr sz="1100" b="0">
                          <a:solidFill>
                            <a:srgbClr val="5A6A7A"/>
                          </a:solidFill>
                          <a:latin typeface="Calibri"/>
                          <a:ea typeface="微软雅黑"/>
                          <a:cs typeface="Calibri"/>
                        </a:rPr>
                        <a:t>£128,000</a:t>
                      </a:r>
                    </a:p>
                  </a:txBody>
                  <a:tcPr anchor="ctr">
                    <a:solidFill>
                      <a:srgbClr val="F6F8FA"/>
                    </a:solidFill>
                  </a:tcPr>
                </a:tc>
                <a:extLst>
                  <a:ext uri="{0D108BD9-81ED-4DB2-BD59-A6C34878D82A}">
                    <a16:rowId xmlns:a16="http://schemas.microsoft.com/office/drawing/2014/main" val="10010"/>
                  </a:ext>
                </a:extLst>
              </a:tr>
              <a:tr h="364353">
                <a:tc>
                  <a:txBody>
                    <a:bodyPr/>
                    <a:lstStyle/>
                    <a:p>
                      <a:pPr algn="l"/>
                      <a:r>
                        <a:rPr sz="1100" b="0">
                          <a:solidFill>
                            <a:srgbClr val="5A6A7A"/>
                          </a:solidFill>
                          <a:latin typeface="Calibri"/>
                          <a:ea typeface="微软雅黑"/>
                          <a:cs typeface="Calibri"/>
                        </a:rPr>
                        <a:t>2.4 HVAC</a:t>
                      </a:r>
                    </a:p>
                  </a:txBody>
                  <a:tcPr anchor="ctr">
                    <a:solidFill>
                      <a:srgbClr val="FFFFFF"/>
                    </a:solidFill>
                  </a:tcPr>
                </a:tc>
                <a:tc>
                  <a:txBody>
                    <a:bodyPr/>
                    <a:lstStyle/>
                    <a:p>
                      <a:pPr algn="r"/>
                      <a:r>
                        <a:rPr sz="1100" b="0">
                          <a:solidFill>
                            <a:srgbClr val="5A6A7A"/>
                          </a:solidFill>
                          <a:latin typeface="Calibri"/>
                          <a:ea typeface="微软雅黑"/>
                          <a:cs typeface="Calibri"/>
                        </a:rPr>
                        <a:t>£35,300</a:t>
                      </a:r>
                    </a:p>
                  </a:txBody>
                  <a:tcPr anchor="ctr">
                    <a:solidFill>
                      <a:srgbClr val="FFFFFF"/>
                    </a:solidFill>
                  </a:tcPr>
                </a:tc>
                <a:extLst>
                  <a:ext uri="{0D108BD9-81ED-4DB2-BD59-A6C34878D82A}">
                    <a16:rowId xmlns:a16="http://schemas.microsoft.com/office/drawing/2014/main" val="10011"/>
                  </a:ext>
                </a:extLst>
              </a:tr>
              <a:tr h="364356">
                <a:tc>
                  <a:txBody>
                    <a:bodyPr/>
                    <a:lstStyle/>
                    <a:p>
                      <a:pPr algn="l"/>
                      <a:r>
                        <a:rPr sz="1100" b="0">
                          <a:solidFill>
                            <a:srgbClr val="5A6A7A"/>
                          </a:solidFill>
                          <a:latin typeface="Calibri"/>
                          <a:ea typeface="微软雅黑"/>
                          <a:cs typeface="Calibri"/>
                        </a:rPr>
                        <a:t>2.5 Price risk (30%)</a:t>
                      </a:r>
                    </a:p>
                  </a:txBody>
                  <a:tcPr anchor="ctr">
                    <a:solidFill>
                      <a:srgbClr val="F6F8FA"/>
                    </a:solidFill>
                  </a:tcPr>
                </a:tc>
                <a:tc>
                  <a:txBody>
                    <a:bodyPr/>
                    <a:lstStyle/>
                    <a:p>
                      <a:pPr algn="r"/>
                      <a:r>
                        <a:rPr sz="1100" b="0">
                          <a:solidFill>
                            <a:srgbClr val="5A6A7A"/>
                          </a:solidFill>
                          <a:latin typeface="Calibri"/>
                          <a:ea typeface="微软雅黑"/>
                          <a:cs typeface="Calibri"/>
                        </a:rPr>
                        <a:t>£226,000</a:t>
                      </a:r>
                    </a:p>
                  </a:txBody>
                  <a:tcPr anchor="ctr">
                    <a:solidFill>
                      <a:srgbClr val="F6F8FA"/>
                    </a:solidFill>
                  </a:tcPr>
                </a:tc>
                <a:extLst>
                  <a:ext uri="{0D108BD9-81ED-4DB2-BD59-A6C34878D82A}">
                    <a16:rowId xmlns:a16="http://schemas.microsoft.com/office/drawing/2014/main" val="10012"/>
                  </a:ext>
                </a:extLst>
              </a:tr>
            </a:tbl>
          </a:graphicData>
        </a:graphic>
      </p:graphicFrame>
      <p:graphicFrame>
        <p:nvGraphicFramePr>
          <p:cNvPr id="17" name="Table 16"/>
          <p:cNvGraphicFramePr>
            <a:graphicFrameLocks noGrp="1"/>
          </p:cNvGraphicFramePr>
          <p:nvPr/>
        </p:nvGraphicFramePr>
        <p:xfrm>
          <a:off x="6126480" y="1609344"/>
          <a:ext cx="5626302" cy="4736592"/>
        </p:xfrm>
        <a:graphic>
          <a:graphicData uri="http://schemas.openxmlformats.org/drawingml/2006/table">
            <a:tbl>
              <a:tblPr firstRow="1" bandRow="1">
                <a:tableStyleId>{5C22544A-7EE6-4342-B048-85BDC9FD1C3A}</a:tableStyleId>
              </a:tblPr>
              <a:tblGrid>
                <a:gridCol w="4050938">
                  <a:extLst>
                    <a:ext uri="{9D8B030D-6E8A-4147-A177-3AD203B41FA5}">
                      <a16:colId xmlns:a16="http://schemas.microsoft.com/office/drawing/2014/main" val="20000"/>
                    </a:ext>
                  </a:extLst>
                </a:gridCol>
                <a:gridCol w="1575364">
                  <a:extLst>
                    <a:ext uri="{9D8B030D-6E8A-4147-A177-3AD203B41FA5}">
                      <a16:colId xmlns:a16="http://schemas.microsoft.com/office/drawing/2014/main" val="20001"/>
                    </a:ext>
                  </a:extLst>
                </a:gridCol>
              </a:tblGrid>
              <a:tr h="592074">
                <a:tc>
                  <a:txBody>
                    <a:bodyPr/>
                    <a:lstStyle/>
                    <a:p>
                      <a:pPr algn="l"/>
                      <a:r>
                        <a:rPr sz="1300" b="1">
                          <a:solidFill>
                            <a:srgbClr val="FFFFFF"/>
                          </a:solidFill>
                          <a:latin typeface="Calibri"/>
                          <a:ea typeface="微软雅黑"/>
                          <a:cs typeface="Calibri"/>
                        </a:rPr>
                        <a:t>Indirect costs</a:t>
                      </a:r>
                    </a:p>
                  </a:txBody>
                  <a:tcPr anchor="ctr">
                    <a:solidFill>
                      <a:srgbClr val="1A3A55"/>
                    </a:solidFill>
                  </a:tcPr>
                </a:tc>
                <a:tc>
                  <a:txBody>
                    <a:bodyPr/>
                    <a:lstStyle/>
                    <a:p>
                      <a:pPr algn="r"/>
                      <a:r>
                        <a:rPr sz="1300" b="1">
                          <a:solidFill>
                            <a:srgbClr val="FFFFFF"/>
                          </a:solidFill>
                          <a:latin typeface="Calibri"/>
                          <a:ea typeface="微软雅黑"/>
                          <a:cs typeface="Calibri"/>
                        </a:rPr>
                        <a:t>£1,072,500</a:t>
                      </a:r>
                    </a:p>
                  </a:txBody>
                  <a:tcPr anchor="ctr">
                    <a:solidFill>
                      <a:srgbClr val="1A3A55"/>
                    </a:solidFill>
                  </a:tcPr>
                </a:tc>
                <a:extLst>
                  <a:ext uri="{0D108BD9-81ED-4DB2-BD59-A6C34878D82A}">
                    <a16:rowId xmlns:a16="http://schemas.microsoft.com/office/drawing/2014/main" val="10000"/>
                  </a:ext>
                </a:extLst>
              </a:tr>
              <a:tr h="592074">
                <a:tc>
                  <a:txBody>
                    <a:bodyPr/>
                    <a:lstStyle/>
                    <a:p>
                      <a:pPr algn="l"/>
                      <a:r>
                        <a:rPr sz="1300" b="0">
                          <a:solidFill>
                            <a:srgbClr val="2C3E50"/>
                          </a:solidFill>
                          <a:latin typeface="Calibri"/>
                          <a:ea typeface="微软雅黑"/>
                          <a:cs typeface="Calibri"/>
                        </a:rPr>
                        <a:t>3. FEED study</a:t>
                      </a:r>
                    </a:p>
                  </a:txBody>
                  <a:tcPr anchor="ctr">
                    <a:solidFill>
                      <a:srgbClr val="FFFFFF"/>
                    </a:solidFill>
                  </a:tcPr>
                </a:tc>
                <a:tc>
                  <a:txBody>
                    <a:bodyPr/>
                    <a:lstStyle/>
                    <a:p>
                      <a:pPr algn="r"/>
                      <a:r>
                        <a:rPr sz="1300" b="0">
                          <a:solidFill>
                            <a:srgbClr val="2C3E50"/>
                          </a:solidFill>
                          <a:latin typeface="Calibri"/>
                          <a:ea typeface="微软雅黑"/>
                          <a:cs typeface="Calibri"/>
                        </a:rPr>
                        <a:t>£225,000</a:t>
                      </a:r>
                    </a:p>
                  </a:txBody>
                  <a:tcPr anchor="ctr">
                    <a:solidFill>
                      <a:srgbClr val="FFFFFF"/>
                    </a:solidFill>
                  </a:tcPr>
                </a:tc>
                <a:extLst>
                  <a:ext uri="{0D108BD9-81ED-4DB2-BD59-A6C34878D82A}">
                    <a16:rowId xmlns:a16="http://schemas.microsoft.com/office/drawing/2014/main" val="10001"/>
                  </a:ext>
                </a:extLst>
              </a:tr>
              <a:tr h="592074">
                <a:tc>
                  <a:txBody>
                    <a:bodyPr/>
                    <a:lstStyle/>
                    <a:p>
                      <a:pPr algn="l"/>
                      <a:r>
                        <a:rPr sz="1300" b="0">
                          <a:solidFill>
                            <a:srgbClr val="2C3E50"/>
                          </a:solidFill>
                          <a:latin typeface="Calibri"/>
                          <a:ea typeface="微软雅黑"/>
                          <a:cs typeface="Calibri"/>
                        </a:rPr>
                        <a:t>4. Detailed design</a:t>
                      </a:r>
                    </a:p>
                  </a:txBody>
                  <a:tcPr anchor="ctr">
                    <a:solidFill>
                      <a:srgbClr val="F6F8FA"/>
                    </a:solidFill>
                  </a:tcPr>
                </a:tc>
                <a:tc>
                  <a:txBody>
                    <a:bodyPr/>
                    <a:lstStyle/>
                    <a:p>
                      <a:pPr algn="r"/>
                      <a:r>
                        <a:rPr sz="1300" b="0">
                          <a:solidFill>
                            <a:srgbClr val="2C3E50"/>
                          </a:solidFill>
                          <a:latin typeface="Calibri"/>
                          <a:ea typeface="微软雅黑"/>
                          <a:cs typeface="Calibri"/>
                        </a:rPr>
                        <a:t>£289,000</a:t>
                      </a:r>
                    </a:p>
                  </a:txBody>
                  <a:tcPr anchor="ctr">
                    <a:solidFill>
                      <a:srgbClr val="F6F8FA"/>
                    </a:solidFill>
                  </a:tcPr>
                </a:tc>
                <a:extLst>
                  <a:ext uri="{0D108BD9-81ED-4DB2-BD59-A6C34878D82A}">
                    <a16:rowId xmlns:a16="http://schemas.microsoft.com/office/drawing/2014/main" val="10002"/>
                  </a:ext>
                </a:extLst>
              </a:tr>
              <a:tr h="592074">
                <a:tc>
                  <a:txBody>
                    <a:bodyPr/>
                    <a:lstStyle/>
                    <a:p>
                      <a:pPr algn="l"/>
                      <a:r>
                        <a:rPr sz="1300" b="0">
                          <a:solidFill>
                            <a:srgbClr val="2C3E50"/>
                          </a:solidFill>
                          <a:latin typeface="Calibri"/>
                          <a:ea typeface="微软雅黑"/>
                          <a:cs typeface="Calibri"/>
                        </a:rPr>
                        <a:t>5. CDM</a:t>
                      </a:r>
                    </a:p>
                  </a:txBody>
                  <a:tcPr anchor="ctr">
                    <a:solidFill>
                      <a:srgbClr val="FFFFFF"/>
                    </a:solidFill>
                  </a:tcPr>
                </a:tc>
                <a:tc>
                  <a:txBody>
                    <a:bodyPr/>
                    <a:lstStyle/>
                    <a:p>
                      <a:pPr algn="r"/>
                      <a:r>
                        <a:rPr sz="1300" b="0">
                          <a:solidFill>
                            <a:srgbClr val="2C3E50"/>
                          </a:solidFill>
                          <a:latin typeface="Calibri"/>
                          <a:ea typeface="微软雅黑"/>
                          <a:cs typeface="Calibri"/>
                        </a:rPr>
                        <a:t>£235,000</a:t>
                      </a:r>
                    </a:p>
                  </a:txBody>
                  <a:tcPr anchor="ctr">
                    <a:solidFill>
                      <a:srgbClr val="FFFFFF"/>
                    </a:solidFill>
                  </a:tcPr>
                </a:tc>
                <a:extLst>
                  <a:ext uri="{0D108BD9-81ED-4DB2-BD59-A6C34878D82A}">
                    <a16:rowId xmlns:a16="http://schemas.microsoft.com/office/drawing/2014/main" val="10003"/>
                  </a:ext>
                </a:extLst>
              </a:tr>
              <a:tr h="592074">
                <a:tc>
                  <a:txBody>
                    <a:bodyPr/>
                    <a:lstStyle/>
                    <a:p>
                      <a:pPr algn="l"/>
                      <a:r>
                        <a:rPr sz="1300" b="0">
                          <a:solidFill>
                            <a:srgbClr val="2C3E50"/>
                          </a:solidFill>
                          <a:latin typeface="Calibri"/>
                          <a:ea typeface="微软雅黑"/>
                          <a:cs typeface="Calibri"/>
                        </a:rPr>
                        <a:t>6. Commissioning</a:t>
                      </a:r>
                    </a:p>
                  </a:txBody>
                  <a:tcPr anchor="ctr">
                    <a:solidFill>
                      <a:srgbClr val="F6F8FA"/>
                    </a:solidFill>
                  </a:tcPr>
                </a:tc>
                <a:tc>
                  <a:txBody>
                    <a:bodyPr/>
                    <a:lstStyle/>
                    <a:p>
                      <a:pPr algn="r"/>
                      <a:r>
                        <a:rPr sz="1300" b="0">
                          <a:solidFill>
                            <a:srgbClr val="2C3E50"/>
                          </a:solidFill>
                          <a:latin typeface="Calibri"/>
                          <a:ea typeface="微软雅黑"/>
                          <a:cs typeface="Calibri"/>
                        </a:rPr>
                        <a:t>£76,000</a:t>
                      </a:r>
                    </a:p>
                  </a:txBody>
                  <a:tcPr anchor="ctr">
                    <a:solidFill>
                      <a:srgbClr val="F6F8FA"/>
                    </a:solidFill>
                  </a:tcPr>
                </a:tc>
                <a:extLst>
                  <a:ext uri="{0D108BD9-81ED-4DB2-BD59-A6C34878D82A}">
                    <a16:rowId xmlns:a16="http://schemas.microsoft.com/office/drawing/2014/main" val="10004"/>
                  </a:ext>
                </a:extLst>
              </a:tr>
              <a:tr h="592074">
                <a:tc>
                  <a:txBody>
                    <a:bodyPr/>
                    <a:lstStyle/>
                    <a:p>
                      <a:pPr algn="l"/>
                      <a:r>
                        <a:rPr sz="1300" b="0">
                          <a:solidFill>
                            <a:srgbClr val="2C3E50"/>
                          </a:solidFill>
                          <a:latin typeface="Calibri"/>
                          <a:ea typeface="微软雅黑"/>
                          <a:cs typeface="Calibri"/>
                        </a:rPr>
                        <a:t>7. Price risk (30%)</a:t>
                      </a:r>
                    </a:p>
                  </a:txBody>
                  <a:tcPr anchor="ctr">
                    <a:solidFill>
                      <a:srgbClr val="FFFFFF"/>
                    </a:solidFill>
                  </a:tcPr>
                </a:tc>
                <a:tc>
                  <a:txBody>
                    <a:bodyPr/>
                    <a:lstStyle/>
                    <a:p>
                      <a:pPr algn="r"/>
                      <a:r>
                        <a:rPr sz="1300" b="0">
                          <a:solidFill>
                            <a:srgbClr val="2C3E50"/>
                          </a:solidFill>
                          <a:latin typeface="Calibri"/>
                          <a:ea typeface="微软雅黑"/>
                          <a:cs typeface="Calibri"/>
                        </a:rPr>
                        <a:t>£247,500</a:t>
                      </a:r>
                    </a:p>
                  </a:txBody>
                  <a:tcPr anchor="ctr">
                    <a:solidFill>
                      <a:srgbClr val="FFFFFF"/>
                    </a:solidFill>
                  </a:tcPr>
                </a:tc>
                <a:extLst>
                  <a:ext uri="{0D108BD9-81ED-4DB2-BD59-A6C34878D82A}">
                    <a16:rowId xmlns:a16="http://schemas.microsoft.com/office/drawing/2014/main" val="10005"/>
                  </a:ext>
                </a:extLst>
              </a:tr>
              <a:tr h="592074">
                <a:tc>
                  <a:txBody>
                    <a:bodyPr/>
                    <a:lstStyle/>
                    <a:p>
                      <a:pPr algn="l"/>
                      <a:r>
                        <a:rPr sz="1300" b="1">
                          <a:solidFill>
                            <a:srgbClr val="FFFFFF"/>
                          </a:solidFill>
                          <a:latin typeface="Calibri"/>
                          <a:ea typeface="微软雅黑"/>
                          <a:cs typeface="Calibri"/>
                        </a:rPr>
                        <a:t>General risk and contingency</a:t>
                      </a:r>
                    </a:p>
                  </a:txBody>
                  <a:tcPr anchor="ctr">
                    <a:solidFill>
                      <a:srgbClr val="1A3A55"/>
                    </a:solidFill>
                  </a:tcPr>
                </a:tc>
                <a:tc>
                  <a:txBody>
                    <a:bodyPr/>
                    <a:lstStyle/>
                    <a:p>
                      <a:pPr algn="r"/>
                      <a:r>
                        <a:rPr sz="1300" b="1">
                          <a:solidFill>
                            <a:srgbClr val="FFFFFF"/>
                          </a:solidFill>
                          <a:latin typeface="Calibri"/>
                          <a:ea typeface="微软雅黑"/>
                          <a:cs typeface="Calibri"/>
                        </a:rPr>
                        <a:t>£1,229,800</a:t>
                      </a:r>
                    </a:p>
                  </a:txBody>
                  <a:tcPr anchor="ctr">
                    <a:solidFill>
                      <a:srgbClr val="1A3A55"/>
                    </a:solidFill>
                  </a:tcPr>
                </a:tc>
                <a:extLst>
                  <a:ext uri="{0D108BD9-81ED-4DB2-BD59-A6C34878D82A}">
                    <a16:rowId xmlns:a16="http://schemas.microsoft.com/office/drawing/2014/main" val="10006"/>
                  </a:ext>
                </a:extLst>
              </a:tr>
              <a:tr h="592074">
                <a:tc>
                  <a:txBody>
                    <a:bodyPr/>
                    <a:lstStyle/>
                    <a:p>
                      <a:pPr algn="l"/>
                      <a:r>
                        <a:rPr sz="1300" b="0">
                          <a:solidFill>
                            <a:srgbClr val="2C3E50"/>
                          </a:solidFill>
                          <a:latin typeface="Calibri"/>
                          <a:ea typeface="微软雅黑"/>
                          <a:cs typeface="Calibri"/>
                        </a:rPr>
                        <a:t>Project contingency (30%)</a:t>
                      </a:r>
                    </a:p>
                  </a:txBody>
                  <a:tcPr anchor="ctr">
                    <a:solidFill>
                      <a:srgbClr val="FFFFFF"/>
                    </a:solidFill>
                  </a:tcPr>
                </a:tc>
                <a:tc>
                  <a:txBody>
                    <a:bodyPr/>
                    <a:lstStyle/>
                    <a:p>
                      <a:pPr algn="r"/>
                      <a:r>
                        <a:rPr sz="1300" b="0">
                          <a:solidFill>
                            <a:srgbClr val="2C3E50"/>
                          </a:solidFill>
                          <a:latin typeface="Calibri"/>
                          <a:ea typeface="微软雅黑"/>
                          <a:cs typeface="Calibri"/>
                        </a:rPr>
                        <a:t>£1,229,800</a:t>
                      </a:r>
                    </a:p>
                  </a:txBody>
                  <a:tcPr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10 / 31</a:t>
            </a:r>
          </a:p>
        </p:txBody>
      </p:sp>
      <p:sp>
        <p:nvSpPr>
          <p:cNvPr id="10" name="Rectangle 9"/>
          <p:cNvSpPr/>
          <p:nvPr/>
        </p:nvSpPr>
        <p:spPr>
          <a:xfrm>
            <a:off x="384048" y="164592"/>
            <a:ext cx="82296" cy="713232"/>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HPLC + lyophiliser · investment structure</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Direct / indirect / general risk and contingency</a:t>
            </a:r>
          </a:p>
        </p:txBody>
      </p:sp>
      <p:sp>
        <p:nvSpPr>
          <p:cNvPr id="13" name="Rounded Rectangle 12"/>
          <p:cNvSpPr/>
          <p:nvPr/>
        </p:nvSpPr>
        <p:spPr>
          <a:xfrm>
            <a:off x="384048" y="1024128"/>
            <a:ext cx="2746171" cy="86868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1024128"/>
            <a:ext cx="82296" cy="868680"/>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180490"/>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£5,329,100</a:t>
            </a:r>
          </a:p>
        </p:txBody>
      </p:sp>
      <p:sp>
        <p:nvSpPr>
          <p:cNvPr id="16" name="TextBox 15"/>
          <p:cNvSpPr txBox="1"/>
          <p:nvPr/>
        </p:nvSpPr>
        <p:spPr>
          <a:xfrm>
            <a:off x="566928" y="1591056"/>
            <a:ext cx="2471851" cy="347472"/>
          </a:xfrm>
          <a:prstGeom prst="rect">
            <a:avLst/>
          </a:prstGeom>
          <a:noFill/>
        </p:spPr>
        <p:txBody>
          <a:bodyPr wrap="square" anchor="t">
            <a:spAutoFit/>
          </a:bodyPr>
          <a:lstStyle/>
          <a:p>
            <a:pPr algn="l"/>
            <a:r>
              <a:rPr sz="1200" b="0">
                <a:solidFill>
                  <a:srgbClr val="5A6A7A"/>
                </a:solidFill>
                <a:latin typeface="Calibri"/>
                <a:ea typeface="微软雅黑"/>
                <a:cs typeface="Calibri"/>
              </a:rPr>
              <a:t>Total investment</a:t>
            </a:r>
          </a:p>
        </p:txBody>
      </p:sp>
      <p:sp>
        <p:nvSpPr>
          <p:cNvPr id="17" name="Rounded Rectangle 16"/>
          <p:cNvSpPr/>
          <p:nvPr/>
        </p:nvSpPr>
        <p:spPr>
          <a:xfrm>
            <a:off x="3276523" y="1024128"/>
            <a:ext cx="2746171" cy="86868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76523" y="1024128"/>
            <a:ext cx="82296" cy="868680"/>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9403" y="1180490"/>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£3,026,800</a:t>
            </a:r>
          </a:p>
        </p:txBody>
      </p:sp>
      <p:sp>
        <p:nvSpPr>
          <p:cNvPr id="20" name="TextBox 19"/>
          <p:cNvSpPr txBox="1"/>
          <p:nvPr/>
        </p:nvSpPr>
        <p:spPr>
          <a:xfrm>
            <a:off x="3459403" y="1591056"/>
            <a:ext cx="2471851" cy="347472"/>
          </a:xfrm>
          <a:prstGeom prst="rect">
            <a:avLst/>
          </a:prstGeom>
          <a:noFill/>
        </p:spPr>
        <p:txBody>
          <a:bodyPr wrap="square" anchor="t">
            <a:spAutoFit/>
          </a:bodyPr>
          <a:lstStyle/>
          <a:p>
            <a:pPr algn="l"/>
            <a:r>
              <a:rPr sz="1200" b="0">
                <a:solidFill>
                  <a:srgbClr val="5A6A7A"/>
                </a:solidFill>
                <a:latin typeface="Calibri"/>
                <a:ea typeface="微软雅黑"/>
                <a:cs typeface="Calibri"/>
              </a:rPr>
              <a:t>Direct costs</a:t>
            </a:r>
          </a:p>
        </p:txBody>
      </p:sp>
      <p:sp>
        <p:nvSpPr>
          <p:cNvPr id="21" name="Rounded Rectangle 20"/>
          <p:cNvSpPr/>
          <p:nvPr/>
        </p:nvSpPr>
        <p:spPr>
          <a:xfrm>
            <a:off x="6168999" y="1024128"/>
            <a:ext cx="2746171" cy="86868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68999" y="1024128"/>
            <a:ext cx="82296" cy="868680"/>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1879" y="1180490"/>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£1,072,500</a:t>
            </a:r>
          </a:p>
        </p:txBody>
      </p:sp>
      <p:sp>
        <p:nvSpPr>
          <p:cNvPr id="24" name="TextBox 23"/>
          <p:cNvSpPr txBox="1"/>
          <p:nvPr/>
        </p:nvSpPr>
        <p:spPr>
          <a:xfrm>
            <a:off x="6351879" y="1591056"/>
            <a:ext cx="2471851" cy="347472"/>
          </a:xfrm>
          <a:prstGeom prst="rect">
            <a:avLst/>
          </a:prstGeom>
          <a:noFill/>
        </p:spPr>
        <p:txBody>
          <a:bodyPr wrap="square" anchor="t">
            <a:spAutoFit/>
          </a:bodyPr>
          <a:lstStyle/>
          <a:p>
            <a:pPr algn="l"/>
            <a:r>
              <a:rPr sz="1200" b="0">
                <a:solidFill>
                  <a:srgbClr val="5A6A7A"/>
                </a:solidFill>
                <a:latin typeface="Calibri"/>
                <a:ea typeface="微软雅黑"/>
                <a:cs typeface="Calibri"/>
              </a:rPr>
              <a:t>Indirect costs</a:t>
            </a:r>
          </a:p>
        </p:txBody>
      </p:sp>
      <p:sp>
        <p:nvSpPr>
          <p:cNvPr id="25" name="Rounded Rectangle 24"/>
          <p:cNvSpPr/>
          <p:nvPr/>
        </p:nvSpPr>
        <p:spPr>
          <a:xfrm>
            <a:off x="9061475" y="1024128"/>
            <a:ext cx="2746171" cy="86868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61475" y="1024128"/>
            <a:ext cx="82296" cy="868680"/>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44355" y="1180490"/>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£1,229,800</a:t>
            </a:r>
          </a:p>
        </p:txBody>
      </p:sp>
      <p:sp>
        <p:nvSpPr>
          <p:cNvPr id="28" name="TextBox 27"/>
          <p:cNvSpPr txBox="1"/>
          <p:nvPr/>
        </p:nvSpPr>
        <p:spPr>
          <a:xfrm>
            <a:off x="9244355" y="1591056"/>
            <a:ext cx="2471851" cy="347472"/>
          </a:xfrm>
          <a:prstGeom prst="rect">
            <a:avLst/>
          </a:prstGeom>
          <a:noFill/>
        </p:spPr>
        <p:txBody>
          <a:bodyPr wrap="square" anchor="t">
            <a:spAutoFit/>
          </a:bodyPr>
          <a:lstStyle/>
          <a:p>
            <a:pPr algn="l"/>
            <a:r>
              <a:rPr sz="1100" b="0">
                <a:solidFill>
                  <a:srgbClr val="5A6A7A"/>
                </a:solidFill>
                <a:latin typeface="Calibri"/>
                <a:ea typeface="微软雅黑"/>
                <a:cs typeface="Calibri"/>
              </a:rPr>
              <a:t>General risk and contingency</a:t>
            </a:r>
          </a:p>
        </p:txBody>
      </p:sp>
      <p:sp>
        <p:nvSpPr>
          <p:cNvPr id="29" name="Rounded Rectangle 28"/>
          <p:cNvSpPr/>
          <p:nvPr/>
        </p:nvSpPr>
        <p:spPr>
          <a:xfrm>
            <a:off x="384048" y="2011680"/>
            <a:ext cx="11423599" cy="6583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2647" y="2084831"/>
            <a:ext cx="5303520" cy="502920"/>
          </a:xfrm>
          <a:prstGeom prst="rect">
            <a:avLst/>
          </a:prstGeom>
          <a:noFill/>
        </p:spPr>
        <p:txBody>
          <a:bodyPr wrap="square" anchor="t">
            <a:spAutoFit/>
          </a:bodyPr>
          <a:lstStyle/>
          <a:p>
            <a:pPr algn="l"/>
            <a:r>
              <a:rPr sz="1600" b="1">
                <a:solidFill>
                  <a:srgbClr val="0F2B46"/>
                </a:solidFill>
                <a:latin typeface="Calibri"/>
                <a:ea typeface="微软雅黑"/>
                <a:cs typeface="Calibri"/>
              </a:rPr>
              <a:t>1. Main process equipment    £2,047,500</a:t>
            </a:r>
          </a:p>
        </p:txBody>
      </p:sp>
      <p:sp>
        <p:nvSpPr>
          <p:cNvPr id="31" name="TextBox 30"/>
          <p:cNvSpPr txBox="1"/>
          <p:nvPr/>
        </p:nvSpPr>
        <p:spPr>
          <a:xfrm>
            <a:off x="6236208" y="2084831"/>
            <a:ext cx="5303520" cy="502920"/>
          </a:xfrm>
          <a:prstGeom prst="rect">
            <a:avLst/>
          </a:prstGeom>
          <a:noFill/>
        </p:spPr>
        <p:txBody>
          <a:bodyPr wrap="square" anchor="t">
            <a:spAutoFit/>
          </a:bodyPr>
          <a:lstStyle/>
          <a:p>
            <a:pPr algn="l"/>
            <a:r>
              <a:rPr sz="1600" b="1">
                <a:solidFill>
                  <a:srgbClr val="0F2B46"/>
                </a:solidFill>
                <a:latin typeface="Calibri"/>
                <a:ea typeface="微软雅黑"/>
                <a:cs typeface="Calibri"/>
              </a:rPr>
              <a:t>2. Infrastructure retrofit    £979,300</a:t>
            </a:r>
          </a:p>
        </p:txBody>
      </p:sp>
      <p:sp>
        <p:nvSpPr>
          <p:cNvPr id="32" name="Rounded Rectangle 31"/>
          <p:cNvSpPr/>
          <p:nvPr/>
        </p:nvSpPr>
        <p:spPr>
          <a:xfrm>
            <a:off x="384048" y="2788920"/>
            <a:ext cx="5577840" cy="354787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1207" y="2834640"/>
            <a:ext cx="5303520" cy="274320"/>
          </a:xfrm>
          <a:prstGeom prst="rect">
            <a:avLst/>
          </a:prstGeom>
          <a:noFill/>
        </p:spPr>
        <p:txBody>
          <a:bodyPr wrap="square" anchor="t">
            <a:spAutoFit/>
          </a:bodyPr>
          <a:lstStyle/>
          <a:p>
            <a:pPr algn="ctr"/>
            <a:r>
              <a:rPr sz="1400" b="1">
                <a:solidFill>
                  <a:srgbClr val="0F2B46"/>
                </a:solidFill>
                <a:latin typeface="Calibri"/>
                <a:ea typeface="微软雅黑"/>
                <a:cs typeface="Calibri"/>
              </a:rPr>
              <a:t>Total investment build-up</a:t>
            </a:r>
          </a:p>
        </p:txBody>
      </p:sp>
      <p:graphicFrame>
        <p:nvGraphicFramePr>
          <p:cNvPr id="34" name="Chart 33"/>
          <p:cNvGraphicFramePr>
            <a:graphicFrameLocks noGrp="1"/>
          </p:cNvGraphicFramePr>
          <p:nvPr/>
        </p:nvGraphicFramePr>
        <p:xfrm>
          <a:off x="429768" y="3090672"/>
          <a:ext cx="5486400" cy="3154680"/>
        </p:xfrm>
        <a:graphic>
          <a:graphicData uri="http://schemas.openxmlformats.org/drawingml/2006/chart">
            <c:chart xmlns:c="http://schemas.openxmlformats.org/drawingml/2006/chart" xmlns:r="http://schemas.openxmlformats.org/officeDocument/2006/relationships" r:id="rId2"/>
          </a:graphicData>
        </a:graphic>
      </p:graphicFrame>
      <p:sp>
        <p:nvSpPr>
          <p:cNvPr id="35" name="Rounded Rectangle 34"/>
          <p:cNvSpPr/>
          <p:nvPr/>
        </p:nvSpPr>
        <p:spPr>
          <a:xfrm>
            <a:off x="6126480" y="2788920"/>
            <a:ext cx="5626303" cy="354787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09360" y="2834640"/>
            <a:ext cx="5257800" cy="274320"/>
          </a:xfrm>
          <a:prstGeom prst="rect">
            <a:avLst/>
          </a:prstGeom>
          <a:noFill/>
        </p:spPr>
        <p:txBody>
          <a:bodyPr wrap="square" anchor="t">
            <a:spAutoFit/>
          </a:bodyPr>
          <a:lstStyle/>
          <a:p>
            <a:pPr algn="ctr"/>
            <a:r>
              <a:rPr sz="1400" b="1">
                <a:solidFill>
                  <a:srgbClr val="0F2B46"/>
                </a:solidFill>
                <a:latin typeface="Calibri"/>
                <a:ea typeface="微软雅黑"/>
                <a:cs typeface="Calibri"/>
              </a:rPr>
              <a:t>Direct costs by item</a:t>
            </a:r>
          </a:p>
        </p:txBody>
      </p:sp>
      <p:graphicFrame>
        <p:nvGraphicFramePr>
          <p:cNvPr id="37" name="Chart 36"/>
          <p:cNvGraphicFramePr>
            <a:graphicFrameLocks noGrp="1"/>
          </p:cNvGraphicFramePr>
          <p:nvPr/>
        </p:nvGraphicFramePr>
        <p:xfrm>
          <a:off x="6217920" y="3090672"/>
          <a:ext cx="5440680" cy="31546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11 / 31</a:t>
            </a:r>
          </a:p>
        </p:txBody>
      </p:sp>
      <p:sp>
        <p:nvSpPr>
          <p:cNvPr id="10" name="Rectangle 9"/>
          <p:cNvSpPr/>
          <p:nvPr/>
        </p:nvSpPr>
        <p:spPr>
          <a:xfrm>
            <a:off x="384048" y="164592"/>
            <a:ext cx="82296" cy="713232"/>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HPLC + lyophiliser · programme</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FS §4.4 Figure 1 · re-baselined to a September 2026 start (June basis + 3 months)</a:t>
            </a:r>
          </a:p>
        </p:txBody>
      </p:sp>
      <p:sp>
        <p:nvSpPr>
          <p:cNvPr id="13" name="Rounded Rectangle 12"/>
          <p:cNvSpPr/>
          <p:nvPr/>
        </p:nvSpPr>
        <p:spPr>
          <a:xfrm>
            <a:off x="384048"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987552"/>
            <a:ext cx="82296" cy="804672"/>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132392"/>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Lyophiliser manufacture</a:t>
            </a:r>
          </a:p>
        </p:txBody>
      </p:sp>
      <p:sp>
        <p:nvSpPr>
          <p:cNvPr id="16" name="TextBox 15"/>
          <p:cNvSpPr txBox="1"/>
          <p:nvPr/>
        </p:nvSpPr>
        <p:spPr>
          <a:xfrm>
            <a:off x="566928" y="1554480"/>
            <a:ext cx="2471851" cy="321868"/>
          </a:xfrm>
          <a:prstGeom prst="rect">
            <a:avLst/>
          </a:prstGeom>
          <a:noFill/>
        </p:spPr>
        <p:txBody>
          <a:bodyPr wrap="square" anchor="t">
            <a:spAutoFit/>
          </a:bodyPr>
          <a:lstStyle/>
          <a:p>
            <a:pPr algn="l"/>
            <a:r>
              <a:rPr sz="1200" b="0">
                <a:solidFill>
                  <a:srgbClr val="5A6A7A"/>
                </a:solidFill>
                <a:latin typeface="Calibri"/>
                <a:ea typeface="微软雅黑"/>
                <a:cs typeface="Calibri"/>
              </a:rPr>
              <a:t>8–10 months</a:t>
            </a:r>
          </a:p>
        </p:txBody>
      </p:sp>
      <p:sp>
        <p:nvSpPr>
          <p:cNvPr id="17" name="Rounded Rectangle 16"/>
          <p:cNvSpPr/>
          <p:nvPr/>
        </p:nvSpPr>
        <p:spPr>
          <a:xfrm>
            <a:off x="3276523"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76523" y="987552"/>
            <a:ext cx="82296" cy="804672"/>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9403" y="1132392"/>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HPLC supply</a:t>
            </a:r>
          </a:p>
        </p:txBody>
      </p:sp>
      <p:sp>
        <p:nvSpPr>
          <p:cNvPr id="20" name="TextBox 19"/>
          <p:cNvSpPr txBox="1"/>
          <p:nvPr/>
        </p:nvSpPr>
        <p:spPr>
          <a:xfrm>
            <a:off x="3459403" y="1554480"/>
            <a:ext cx="2471851" cy="321868"/>
          </a:xfrm>
          <a:prstGeom prst="rect">
            <a:avLst/>
          </a:prstGeom>
          <a:noFill/>
        </p:spPr>
        <p:txBody>
          <a:bodyPr wrap="square" anchor="t">
            <a:spAutoFit/>
          </a:bodyPr>
          <a:lstStyle/>
          <a:p>
            <a:pPr algn="l"/>
            <a:r>
              <a:rPr sz="1200" b="0">
                <a:solidFill>
                  <a:srgbClr val="5A6A7A"/>
                </a:solidFill>
                <a:latin typeface="Calibri"/>
                <a:ea typeface="微软雅黑"/>
                <a:cs typeface="Calibri"/>
              </a:rPr>
              <a:t>~18 weeks</a:t>
            </a:r>
          </a:p>
        </p:txBody>
      </p:sp>
      <p:sp>
        <p:nvSpPr>
          <p:cNvPr id="21" name="Rounded Rectangle 20"/>
          <p:cNvSpPr/>
          <p:nvPr/>
        </p:nvSpPr>
        <p:spPr>
          <a:xfrm>
            <a:off x="6168999"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68999" y="987552"/>
            <a:ext cx="82296" cy="804672"/>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1879" y="1132392"/>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FEED</a:t>
            </a:r>
          </a:p>
        </p:txBody>
      </p:sp>
      <p:sp>
        <p:nvSpPr>
          <p:cNvPr id="24" name="TextBox 23"/>
          <p:cNvSpPr txBox="1"/>
          <p:nvPr/>
        </p:nvSpPr>
        <p:spPr>
          <a:xfrm>
            <a:off x="6351879" y="1554480"/>
            <a:ext cx="2471851" cy="321868"/>
          </a:xfrm>
          <a:prstGeom prst="rect">
            <a:avLst/>
          </a:prstGeom>
          <a:noFill/>
        </p:spPr>
        <p:txBody>
          <a:bodyPr wrap="square" anchor="t">
            <a:spAutoFit/>
          </a:bodyPr>
          <a:lstStyle/>
          <a:p>
            <a:pPr algn="l"/>
            <a:r>
              <a:rPr sz="1200" b="0">
                <a:solidFill>
                  <a:srgbClr val="5A6A7A"/>
                </a:solidFill>
                <a:latin typeface="Calibri"/>
                <a:ea typeface="微软雅黑"/>
                <a:cs typeface="Calibri"/>
              </a:rPr>
              <a:t>12–14 weeks</a:t>
            </a:r>
          </a:p>
        </p:txBody>
      </p:sp>
      <p:sp>
        <p:nvSpPr>
          <p:cNvPr id="25" name="Rounded Rectangle 24"/>
          <p:cNvSpPr/>
          <p:nvPr/>
        </p:nvSpPr>
        <p:spPr>
          <a:xfrm>
            <a:off x="9061475"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61475" y="987552"/>
            <a:ext cx="82296" cy="804672"/>
          </a:xfrm>
          <a:prstGeom prst="rect">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44355" y="1132392"/>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Detailed design</a:t>
            </a:r>
          </a:p>
        </p:txBody>
      </p:sp>
      <p:sp>
        <p:nvSpPr>
          <p:cNvPr id="28" name="TextBox 27"/>
          <p:cNvSpPr txBox="1"/>
          <p:nvPr/>
        </p:nvSpPr>
        <p:spPr>
          <a:xfrm>
            <a:off x="9244355" y="1554480"/>
            <a:ext cx="2471851" cy="321868"/>
          </a:xfrm>
          <a:prstGeom prst="rect">
            <a:avLst/>
          </a:prstGeom>
          <a:noFill/>
        </p:spPr>
        <p:txBody>
          <a:bodyPr wrap="square" anchor="t">
            <a:spAutoFit/>
          </a:bodyPr>
          <a:lstStyle/>
          <a:p>
            <a:pPr algn="l"/>
            <a:r>
              <a:rPr sz="1200" b="0">
                <a:solidFill>
                  <a:srgbClr val="5A6A7A"/>
                </a:solidFill>
                <a:latin typeface="Calibri"/>
                <a:ea typeface="微软雅黑"/>
                <a:cs typeface="Calibri"/>
              </a:rPr>
              <a:t>18–20 weeks</a:t>
            </a:r>
          </a:p>
        </p:txBody>
      </p:sp>
      <p:sp>
        <p:nvSpPr>
          <p:cNvPr id="29" name="Rounded Rectangle 28"/>
          <p:cNvSpPr/>
          <p:nvPr/>
        </p:nvSpPr>
        <p:spPr>
          <a:xfrm>
            <a:off x="384048" y="1865376"/>
            <a:ext cx="11423599" cy="4608576"/>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384048" y="1865376"/>
            <a:ext cx="11423599" cy="4608576"/>
          </a:xfrm>
          <a:prstGeom prst="roundRect">
            <a:avLst>
              <a:gd name="adj" fmla="val 4000"/>
            </a:avLst>
          </a:prstGeom>
          <a:no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60320" y="2167128"/>
            <a:ext cx="7674559" cy="10972"/>
          </a:xfrm>
          <a:prstGeom prst="rect">
            <a:avLst/>
          </a:prstGeom>
          <a:solidFill>
            <a:srgbClr val="DD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60320" y="2139696"/>
            <a:ext cx="10972" cy="393192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148839" y="1920240"/>
            <a:ext cx="822960" cy="219456"/>
          </a:xfrm>
          <a:prstGeom prst="rect">
            <a:avLst/>
          </a:prstGeom>
          <a:noFill/>
        </p:spPr>
        <p:txBody>
          <a:bodyPr wrap="none" anchor="ctr"/>
          <a:lstStyle/>
          <a:p>
            <a:pPr algn="l"/>
            <a:r>
              <a:rPr sz="1000" b="1">
                <a:solidFill>
                  <a:srgbClr val="5A6A7A"/>
                </a:solidFill>
                <a:latin typeface="Calibri"/>
                <a:ea typeface="微软雅黑"/>
                <a:cs typeface="Calibri"/>
              </a:rPr>
              <a:t>2026 H1</a:t>
            </a:r>
          </a:p>
        </p:txBody>
      </p:sp>
      <p:sp>
        <p:nvSpPr>
          <p:cNvPr id="34" name="Rectangle 33"/>
          <p:cNvSpPr/>
          <p:nvPr/>
        </p:nvSpPr>
        <p:spPr>
          <a:xfrm>
            <a:off x="3152163" y="2139696"/>
            <a:ext cx="10972" cy="393192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740683" y="1920240"/>
            <a:ext cx="822960" cy="219456"/>
          </a:xfrm>
          <a:prstGeom prst="rect">
            <a:avLst/>
          </a:prstGeom>
          <a:noFill/>
        </p:spPr>
        <p:txBody>
          <a:bodyPr wrap="none" anchor="ctr"/>
          <a:lstStyle/>
          <a:p>
            <a:pPr algn="ctr"/>
            <a:r>
              <a:rPr sz="1000" b="1">
                <a:solidFill>
                  <a:srgbClr val="5A6A7A"/>
                </a:solidFill>
                <a:latin typeface="Calibri"/>
                <a:ea typeface="微软雅黑"/>
                <a:cs typeface="Calibri"/>
              </a:rPr>
              <a:t>2026 H2</a:t>
            </a:r>
          </a:p>
        </p:txBody>
      </p:sp>
      <p:sp>
        <p:nvSpPr>
          <p:cNvPr id="36" name="Rectangle 35"/>
          <p:cNvSpPr/>
          <p:nvPr/>
        </p:nvSpPr>
        <p:spPr>
          <a:xfrm>
            <a:off x="4937395" y="2139696"/>
            <a:ext cx="10972" cy="393192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25915" y="1920240"/>
            <a:ext cx="822960" cy="219456"/>
          </a:xfrm>
          <a:prstGeom prst="rect">
            <a:avLst/>
          </a:prstGeom>
          <a:noFill/>
        </p:spPr>
        <p:txBody>
          <a:bodyPr wrap="none" anchor="ctr"/>
          <a:lstStyle/>
          <a:p>
            <a:pPr algn="ctr"/>
            <a:r>
              <a:rPr sz="1000" b="1">
                <a:solidFill>
                  <a:srgbClr val="5A6A7A"/>
                </a:solidFill>
                <a:latin typeface="Calibri"/>
                <a:ea typeface="微软雅黑"/>
                <a:cs typeface="Calibri"/>
              </a:rPr>
              <a:t>2027 H1</a:t>
            </a:r>
          </a:p>
        </p:txBody>
      </p:sp>
      <p:sp>
        <p:nvSpPr>
          <p:cNvPr id="38" name="Rectangle 37"/>
          <p:cNvSpPr/>
          <p:nvPr/>
        </p:nvSpPr>
        <p:spPr>
          <a:xfrm>
            <a:off x="6693521" y="2139696"/>
            <a:ext cx="10972" cy="393192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82041" y="1920240"/>
            <a:ext cx="822960" cy="219456"/>
          </a:xfrm>
          <a:prstGeom prst="rect">
            <a:avLst/>
          </a:prstGeom>
          <a:noFill/>
        </p:spPr>
        <p:txBody>
          <a:bodyPr wrap="none" anchor="ctr"/>
          <a:lstStyle/>
          <a:p>
            <a:pPr algn="ctr"/>
            <a:r>
              <a:rPr sz="1000" b="1">
                <a:solidFill>
                  <a:srgbClr val="5A6A7A"/>
                </a:solidFill>
                <a:latin typeface="Calibri"/>
                <a:ea typeface="微软雅黑"/>
                <a:cs typeface="Calibri"/>
              </a:rPr>
              <a:t>2027 H2</a:t>
            </a:r>
          </a:p>
        </p:txBody>
      </p:sp>
      <p:sp>
        <p:nvSpPr>
          <p:cNvPr id="40" name="Rectangle 39"/>
          <p:cNvSpPr/>
          <p:nvPr/>
        </p:nvSpPr>
        <p:spPr>
          <a:xfrm>
            <a:off x="8478753" y="2139696"/>
            <a:ext cx="10972" cy="393192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067273" y="1920240"/>
            <a:ext cx="822960" cy="219456"/>
          </a:xfrm>
          <a:prstGeom prst="rect">
            <a:avLst/>
          </a:prstGeom>
          <a:noFill/>
        </p:spPr>
        <p:txBody>
          <a:bodyPr wrap="none" anchor="ctr"/>
          <a:lstStyle/>
          <a:p>
            <a:pPr algn="ctr"/>
            <a:r>
              <a:rPr sz="1000" b="1">
                <a:solidFill>
                  <a:srgbClr val="5A6A7A"/>
                </a:solidFill>
                <a:latin typeface="Calibri"/>
                <a:ea typeface="微软雅黑"/>
                <a:cs typeface="Calibri"/>
              </a:rPr>
              <a:t>2028 H1</a:t>
            </a:r>
          </a:p>
        </p:txBody>
      </p:sp>
      <p:sp>
        <p:nvSpPr>
          <p:cNvPr id="42" name="TextBox 41"/>
          <p:cNvSpPr txBox="1"/>
          <p:nvPr/>
        </p:nvSpPr>
        <p:spPr>
          <a:xfrm>
            <a:off x="475488" y="2139696"/>
            <a:ext cx="2029967" cy="245745"/>
          </a:xfrm>
          <a:prstGeom prst="rect">
            <a:avLst/>
          </a:prstGeom>
          <a:noFill/>
        </p:spPr>
        <p:txBody>
          <a:bodyPr wrap="none" anchor="ctr"/>
          <a:lstStyle/>
          <a:p>
            <a:pPr algn="r"/>
            <a:r>
              <a:rPr sz="1000" b="1">
                <a:solidFill>
                  <a:srgbClr val="0F2B46"/>
                </a:solidFill>
                <a:latin typeface="Calibri"/>
                <a:ea typeface="微软雅黑"/>
                <a:cs typeface="Calibri"/>
              </a:rPr>
              <a:t>FS / baseline</a:t>
            </a:r>
          </a:p>
        </p:txBody>
      </p:sp>
      <p:sp>
        <p:nvSpPr>
          <p:cNvPr id="43" name="Rounded Rectangle 42"/>
          <p:cNvSpPr/>
          <p:nvPr/>
        </p:nvSpPr>
        <p:spPr>
          <a:xfrm>
            <a:off x="2560320" y="2180272"/>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2734962" y="2198560"/>
            <a:ext cx="146304" cy="128016"/>
          </a:xfrm>
          <a:prstGeom prst="roundRect">
            <a:avLst>
              <a:gd name="adj" fmla="val 42000"/>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308031" y="2139696"/>
            <a:ext cx="1426464" cy="245745"/>
          </a:xfrm>
          <a:prstGeom prst="rect">
            <a:avLst/>
          </a:prstGeom>
          <a:noFill/>
        </p:spPr>
        <p:txBody>
          <a:bodyPr wrap="none" anchor="ctr"/>
          <a:lstStyle/>
          <a:p>
            <a:pPr algn="l"/>
            <a:r>
              <a:rPr sz="900" b="0">
                <a:solidFill>
                  <a:srgbClr val="5A6A7A"/>
                </a:solidFill>
                <a:latin typeface="Calibri"/>
                <a:ea typeface="微软雅黑"/>
                <a:cs typeface="Calibri"/>
              </a:rPr>
              <a:t>2026/05 – 2026/05</a:t>
            </a:r>
          </a:p>
        </p:txBody>
      </p:sp>
      <p:sp>
        <p:nvSpPr>
          <p:cNvPr id="46" name="Rectangle 45"/>
          <p:cNvSpPr/>
          <p:nvPr/>
        </p:nvSpPr>
        <p:spPr>
          <a:xfrm>
            <a:off x="457200" y="2385440"/>
            <a:ext cx="11277295" cy="24574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75488" y="2385440"/>
            <a:ext cx="2029967" cy="245745"/>
          </a:xfrm>
          <a:prstGeom prst="rect">
            <a:avLst/>
          </a:prstGeom>
          <a:noFill/>
        </p:spPr>
        <p:txBody>
          <a:bodyPr wrap="none" anchor="ctr"/>
          <a:lstStyle/>
          <a:p>
            <a:pPr algn="r"/>
            <a:r>
              <a:rPr sz="1000" b="1">
                <a:solidFill>
                  <a:srgbClr val="0F2B46"/>
                </a:solidFill>
                <a:latin typeface="Calibri"/>
                <a:ea typeface="微软雅黑"/>
                <a:cs typeface="Calibri"/>
              </a:rPr>
              <a:t>Engineer mobilised</a:t>
            </a:r>
          </a:p>
        </p:txBody>
      </p:sp>
      <p:sp>
        <p:nvSpPr>
          <p:cNvPr id="48" name="Rounded Rectangle 47"/>
          <p:cNvSpPr/>
          <p:nvPr/>
        </p:nvSpPr>
        <p:spPr>
          <a:xfrm>
            <a:off x="2560320" y="2426017"/>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3753709" y="2444305"/>
            <a:ext cx="291070" cy="128016"/>
          </a:xfrm>
          <a:prstGeom prst="roundRect">
            <a:avLst>
              <a:gd name="adj" fmla="val 42000"/>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308031" y="2385440"/>
            <a:ext cx="1426464" cy="245745"/>
          </a:xfrm>
          <a:prstGeom prst="rect">
            <a:avLst/>
          </a:prstGeom>
          <a:noFill/>
        </p:spPr>
        <p:txBody>
          <a:bodyPr wrap="none" anchor="ctr"/>
          <a:lstStyle/>
          <a:p>
            <a:pPr algn="l"/>
            <a:r>
              <a:rPr sz="900" b="0">
                <a:solidFill>
                  <a:srgbClr val="5A6A7A"/>
                </a:solidFill>
                <a:latin typeface="Calibri"/>
                <a:ea typeface="微软雅黑"/>
                <a:cs typeface="Calibri"/>
              </a:rPr>
              <a:t>2026/09 – 2026/10</a:t>
            </a:r>
          </a:p>
        </p:txBody>
      </p:sp>
      <p:sp>
        <p:nvSpPr>
          <p:cNvPr id="51" name="TextBox 50"/>
          <p:cNvSpPr txBox="1"/>
          <p:nvPr/>
        </p:nvSpPr>
        <p:spPr>
          <a:xfrm>
            <a:off x="475488" y="2631186"/>
            <a:ext cx="2029967" cy="245745"/>
          </a:xfrm>
          <a:prstGeom prst="rect">
            <a:avLst/>
          </a:prstGeom>
          <a:noFill/>
        </p:spPr>
        <p:txBody>
          <a:bodyPr wrap="none" anchor="ctr"/>
          <a:lstStyle/>
          <a:p>
            <a:pPr algn="r"/>
            <a:r>
              <a:rPr sz="1000" b="1">
                <a:solidFill>
                  <a:srgbClr val="0F2B46"/>
                </a:solidFill>
                <a:latin typeface="Calibri"/>
                <a:ea typeface="微软雅黑"/>
                <a:cs typeface="Calibri"/>
              </a:rPr>
              <a:t>FEED (indicative)</a:t>
            </a:r>
          </a:p>
        </p:txBody>
      </p:sp>
      <p:sp>
        <p:nvSpPr>
          <p:cNvPr id="52" name="Rounded Rectangle 51"/>
          <p:cNvSpPr/>
          <p:nvPr/>
        </p:nvSpPr>
        <p:spPr>
          <a:xfrm>
            <a:off x="2560320" y="2671762"/>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4161207" y="2690050"/>
            <a:ext cx="941127" cy="128016"/>
          </a:xfrm>
          <a:prstGeom prst="roundRect">
            <a:avLst>
              <a:gd name="adj" fmla="val 42000"/>
            </a:avLst>
          </a:prstGeom>
          <a:solidFill>
            <a:srgbClr val="6D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308031" y="2631186"/>
            <a:ext cx="1426464" cy="245745"/>
          </a:xfrm>
          <a:prstGeom prst="rect">
            <a:avLst/>
          </a:prstGeom>
          <a:noFill/>
        </p:spPr>
        <p:txBody>
          <a:bodyPr wrap="none" anchor="ctr"/>
          <a:lstStyle/>
          <a:p>
            <a:pPr algn="l"/>
            <a:r>
              <a:rPr sz="900" b="0">
                <a:solidFill>
                  <a:srgbClr val="5A6A7A"/>
                </a:solidFill>
                <a:latin typeface="Calibri"/>
                <a:ea typeface="微软雅黑"/>
                <a:cs typeface="Calibri"/>
              </a:rPr>
              <a:t>2026/10 – 2027/01</a:t>
            </a:r>
          </a:p>
        </p:txBody>
      </p:sp>
      <p:sp>
        <p:nvSpPr>
          <p:cNvPr id="55" name="Rectangle 54"/>
          <p:cNvSpPr/>
          <p:nvPr/>
        </p:nvSpPr>
        <p:spPr>
          <a:xfrm>
            <a:off x="457200" y="2876931"/>
            <a:ext cx="11277295" cy="24574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75488" y="2876931"/>
            <a:ext cx="2029967" cy="245745"/>
          </a:xfrm>
          <a:prstGeom prst="rect">
            <a:avLst/>
          </a:prstGeom>
          <a:noFill/>
        </p:spPr>
        <p:txBody>
          <a:bodyPr wrap="none" anchor="ctr"/>
          <a:lstStyle/>
          <a:p>
            <a:pPr algn="r"/>
            <a:r>
              <a:rPr sz="800" b="1">
                <a:solidFill>
                  <a:srgbClr val="0F2B46"/>
                </a:solidFill>
                <a:latin typeface="Calibri"/>
                <a:ea typeface="微软雅黑"/>
                <a:cs typeface="Calibri"/>
              </a:rPr>
              <a:t>Detailed design (indicative)</a:t>
            </a:r>
          </a:p>
        </p:txBody>
      </p:sp>
      <p:sp>
        <p:nvSpPr>
          <p:cNvPr id="57" name="Rounded Rectangle 56"/>
          <p:cNvSpPr/>
          <p:nvPr/>
        </p:nvSpPr>
        <p:spPr>
          <a:xfrm>
            <a:off x="2560320" y="2917507"/>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5112038" y="2935795"/>
            <a:ext cx="1348626" cy="128016"/>
          </a:xfrm>
          <a:prstGeom prst="roundRect">
            <a:avLst>
              <a:gd name="adj" fmla="val 42000"/>
            </a:avLst>
          </a:prstGeom>
          <a:solidFill>
            <a:srgbClr val="6D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308031" y="2876931"/>
            <a:ext cx="1426464" cy="245745"/>
          </a:xfrm>
          <a:prstGeom prst="rect">
            <a:avLst/>
          </a:prstGeom>
          <a:noFill/>
        </p:spPr>
        <p:txBody>
          <a:bodyPr wrap="none" anchor="ctr"/>
          <a:lstStyle/>
          <a:p>
            <a:pPr algn="l"/>
            <a:r>
              <a:rPr sz="900" b="0">
                <a:solidFill>
                  <a:srgbClr val="5A6A7A"/>
                </a:solidFill>
                <a:latin typeface="Calibri"/>
                <a:ea typeface="微软雅黑"/>
                <a:cs typeface="Calibri"/>
              </a:rPr>
              <a:t>2027/01 – 2027/06</a:t>
            </a:r>
          </a:p>
        </p:txBody>
      </p:sp>
      <p:sp>
        <p:nvSpPr>
          <p:cNvPr id="60" name="TextBox 59"/>
          <p:cNvSpPr txBox="1"/>
          <p:nvPr/>
        </p:nvSpPr>
        <p:spPr>
          <a:xfrm>
            <a:off x="475488" y="3122676"/>
            <a:ext cx="2029967" cy="245745"/>
          </a:xfrm>
          <a:prstGeom prst="rect">
            <a:avLst/>
          </a:prstGeom>
          <a:noFill/>
        </p:spPr>
        <p:txBody>
          <a:bodyPr wrap="none" anchor="ctr"/>
          <a:lstStyle/>
          <a:p>
            <a:pPr algn="r"/>
            <a:r>
              <a:rPr sz="1000" b="1">
                <a:solidFill>
                  <a:srgbClr val="0F2B46"/>
                </a:solidFill>
                <a:latin typeface="Calibri"/>
                <a:ea typeface="微软雅黑"/>
                <a:cs typeface="Calibri"/>
              </a:rPr>
              <a:t>Lyoph spec / funding</a:t>
            </a:r>
          </a:p>
        </p:txBody>
      </p:sp>
      <p:sp>
        <p:nvSpPr>
          <p:cNvPr id="61" name="Rounded Rectangle 60"/>
          <p:cNvSpPr/>
          <p:nvPr/>
        </p:nvSpPr>
        <p:spPr>
          <a:xfrm>
            <a:off x="2560320" y="3163252"/>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3967160" y="3181540"/>
            <a:ext cx="533629" cy="128016"/>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308031" y="3122676"/>
            <a:ext cx="1426464" cy="245745"/>
          </a:xfrm>
          <a:prstGeom prst="rect">
            <a:avLst/>
          </a:prstGeom>
          <a:noFill/>
        </p:spPr>
        <p:txBody>
          <a:bodyPr wrap="none" anchor="ctr"/>
          <a:lstStyle/>
          <a:p>
            <a:pPr algn="l"/>
            <a:r>
              <a:rPr sz="900" b="0">
                <a:solidFill>
                  <a:srgbClr val="5A6A7A"/>
                </a:solidFill>
                <a:latin typeface="Calibri"/>
                <a:ea typeface="微软雅黑"/>
                <a:cs typeface="Calibri"/>
              </a:rPr>
              <a:t>2026/09 – 2026/11</a:t>
            </a:r>
          </a:p>
        </p:txBody>
      </p:sp>
      <p:sp>
        <p:nvSpPr>
          <p:cNvPr id="64" name="Rectangle 63"/>
          <p:cNvSpPr/>
          <p:nvPr/>
        </p:nvSpPr>
        <p:spPr>
          <a:xfrm>
            <a:off x="457200" y="3368421"/>
            <a:ext cx="11277295" cy="24574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75488" y="3368421"/>
            <a:ext cx="2029967" cy="245745"/>
          </a:xfrm>
          <a:prstGeom prst="rect">
            <a:avLst/>
          </a:prstGeom>
          <a:noFill/>
        </p:spPr>
        <p:txBody>
          <a:bodyPr wrap="none" anchor="ctr"/>
          <a:lstStyle/>
          <a:p>
            <a:pPr algn="r"/>
            <a:r>
              <a:rPr sz="800" b="1">
                <a:solidFill>
                  <a:srgbClr val="0F2B46"/>
                </a:solidFill>
                <a:latin typeface="Calibri"/>
                <a:ea typeface="微软雅黑"/>
                <a:cs typeface="Calibri"/>
              </a:rPr>
              <a:t>Lyophiliser manufacture</a:t>
            </a:r>
          </a:p>
        </p:txBody>
      </p:sp>
      <p:sp>
        <p:nvSpPr>
          <p:cNvPr id="66" name="Rounded Rectangle 65"/>
          <p:cNvSpPr/>
          <p:nvPr/>
        </p:nvSpPr>
        <p:spPr>
          <a:xfrm>
            <a:off x="2560320" y="3408997"/>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4578408" y="3427285"/>
            <a:ext cx="2435289" cy="128016"/>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308031" y="3368421"/>
            <a:ext cx="1426464" cy="245745"/>
          </a:xfrm>
          <a:prstGeom prst="rect">
            <a:avLst/>
          </a:prstGeom>
          <a:noFill/>
        </p:spPr>
        <p:txBody>
          <a:bodyPr wrap="none" anchor="ctr"/>
          <a:lstStyle/>
          <a:p>
            <a:pPr algn="l"/>
            <a:r>
              <a:rPr sz="900" b="0">
                <a:solidFill>
                  <a:srgbClr val="5A6A7A"/>
                </a:solidFill>
                <a:latin typeface="Calibri"/>
                <a:ea typeface="微软雅黑"/>
                <a:cs typeface="Calibri"/>
              </a:rPr>
              <a:t>2026/11 – 2027/08</a:t>
            </a:r>
          </a:p>
        </p:txBody>
      </p:sp>
      <p:sp>
        <p:nvSpPr>
          <p:cNvPr id="69" name="TextBox 68"/>
          <p:cNvSpPr txBox="1"/>
          <p:nvPr/>
        </p:nvSpPr>
        <p:spPr>
          <a:xfrm>
            <a:off x="475488" y="3614166"/>
            <a:ext cx="2029967" cy="245745"/>
          </a:xfrm>
          <a:prstGeom prst="rect">
            <a:avLst/>
          </a:prstGeom>
          <a:noFill/>
        </p:spPr>
        <p:txBody>
          <a:bodyPr wrap="none" anchor="ctr"/>
          <a:lstStyle/>
          <a:p>
            <a:pPr algn="r"/>
            <a:r>
              <a:rPr sz="1000" b="1">
                <a:solidFill>
                  <a:srgbClr val="0F2B46"/>
                </a:solidFill>
                <a:latin typeface="Calibri"/>
                <a:ea typeface="微软雅黑"/>
                <a:cs typeface="Calibri"/>
              </a:rPr>
              <a:t>Lyoph FAT</a:t>
            </a:r>
          </a:p>
        </p:txBody>
      </p:sp>
      <p:sp>
        <p:nvSpPr>
          <p:cNvPr id="70" name="Rounded Rectangle 69"/>
          <p:cNvSpPr/>
          <p:nvPr/>
        </p:nvSpPr>
        <p:spPr>
          <a:xfrm>
            <a:off x="2560320" y="3654742"/>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7023401" y="3673030"/>
            <a:ext cx="329879" cy="128016"/>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308031" y="3614166"/>
            <a:ext cx="1426464" cy="245745"/>
          </a:xfrm>
          <a:prstGeom prst="rect">
            <a:avLst/>
          </a:prstGeom>
          <a:noFill/>
        </p:spPr>
        <p:txBody>
          <a:bodyPr wrap="none" anchor="ctr"/>
          <a:lstStyle/>
          <a:p>
            <a:pPr algn="l"/>
            <a:r>
              <a:rPr sz="900" b="0">
                <a:solidFill>
                  <a:srgbClr val="5A6A7A"/>
                </a:solidFill>
                <a:latin typeface="Calibri"/>
                <a:ea typeface="微软雅黑"/>
                <a:cs typeface="Calibri"/>
              </a:rPr>
              <a:t>2027/08 – 2027/09</a:t>
            </a:r>
          </a:p>
        </p:txBody>
      </p:sp>
      <p:sp>
        <p:nvSpPr>
          <p:cNvPr id="73" name="Rectangle 72"/>
          <p:cNvSpPr/>
          <p:nvPr/>
        </p:nvSpPr>
        <p:spPr>
          <a:xfrm>
            <a:off x="457200" y="3859911"/>
            <a:ext cx="11277295" cy="24574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75488" y="3859911"/>
            <a:ext cx="2029967" cy="245745"/>
          </a:xfrm>
          <a:prstGeom prst="rect">
            <a:avLst/>
          </a:prstGeom>
          <a:noFill/>
        </p:spPr>
        <p:txBody>
          <a:bodyPr wrap="none" anchor="ctr"/>
          <a:lstStyle/>
          <a:p>
            <a:pPr algn="r"/>
            <a:r>
              <a:rPr sz="1000" b="1">
                <a:solidFill>
                  <a:srgbClr val="0F2B46"/>
                </a:solidFill>
                <a:latin typeface="Calibri"/>
                <a:ea typeface="微软雅黑"/>
                <a:cs typeface="Calibri"/>
              </a:rPr>
              <a:t>Lyoph ship and install</a:t>
            </a:r>
          </a:p>
        </p:txBody>
      </p:sp>
      <p:sp>
        <p:nvSpPr>
          <p:cNvPr id="75" name="Rounded Rectangle 74"/>
          <p:cNvSpPr/>
          <p:nvPr/>
        </p:nvSpPr>
        <p:spPr>
          <a:xfrm>
            <a:off x="2560320" y="3900487"/>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p:cNvSpPr/>
          <p:nvPr/>
        </p:nvSpPr>
        <p:spPr>
          <a:xfrm>
            <a:off x="7362983" y="3918775"/>
            <a:ext cx="1067258" cy="128016"/>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0308031" y="3859911"/>
            <a:ext cx="1426464" cy="245745"/>
          </a:xfrm>
          <a:prstGeom prst="rect">
            <a:avLst/>
          </a:prstGeom>
          <a:noFill/>
        </p:spPr>
        <p:txBody>
          <a:bodyPr wrap="none" anchor="ctr"/>
          <a:lstStyle/>
          <a:p>
            <a:pPr algn="l"/>
            <a:r>
              <a:rPr sz="900" b="0">
                <a:solidFill>
                  <a:srgbClr val="5A6A7A"/>
                </a:solidFill>
                <a:latin typeface="Calibri"/>
                <a:ea typeface="微软雅黑"/>
                <a:cs typeface="Calibri"/>
              </a:rPr>
              <a:t>2027/09 – 2027/12</a:t>
            </a:r>
          </a:p>
        </p:txBody>
      </p:sp>
      <p:sp>
        <p:nvSpPr>
          <p:cNvPr id="78" name="TextBox 77"/>
          <p:cNvSpPr txBox="1"/>
          <p:nvPr/>
        </p:nvSpPr>
        <p:spPr>
          <a:xfrm>
            <a:off x="475488" y="4105656"/>
            <a:ext cx="2029967" cy="245745"/>
          </a:xfrm>
          <a:prstGeom prst="rect">
            <a:avLst/>
          </a:prstGeom>
          <a:noFill/>
        </p:spPr>
        <p:txBody>
          <a:bodyPr wrap="none" anchor="ctr"/>
          <a:lstStyle/>
          <a:p>
            <a:pPr algn="r"/>
            <a:r>
              <a:rPr sz="1000" b="1">
                <a:solidFill>
                  <a:srgbClr val="0F2B46"/>
                </a:solidFill>
                <a:latin typeface="Calibri"/>
                <a:ea typeface="微软雅黑"/>
                <a:cs typeface="Calibri"/>
              </a:rPr>
              <a:t>Lyoph validation to PQ</a:t>
            </a:r>
          </a:p>
        </p:txBody>
      </p:sp>
      <p:sp>
        <p:nvSpPr>
          <p:cNvPr id="79" name="Rounded Rectangle 78"/>
          <p:cNvSpPr/>
          <p:nvPr/>
        </p:nvSpPr>
        <p:spPr>
          <a:xfrm>
            <a:off x="2560320" y="4146232"/>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ounded Rectangle 79"/>
          <p:cNvSpPr/>
          <p:nvPr/>
        </p:nvSpPr>
        <p:spPr>
          <a:xfrm>
            <a:off x="8439944" y="4164520"/>
            <a:ext cx="1581483" cy="128016"/>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308031" y="4105656"/>
            <a:ext cx="1426464" cy="245745"/>
          </a:xfrm>
          <a:prstGeom prst="rect">
            <a:avLst/>
          </a:prstGeom>
          <a:noFill/>
        </p:spPr>
        <p:txBody>
          <a:bodyPr wrap="none" anchor="ctr"/>
          <a:lstStyle/>
          <a:p>
            <a:pPr algn="l"/>
            <a:r>
              <a:rPr sz="900" b="0">
                <a:solidFill>
                  <a:srgbClr val="5A6A7A"/>
                </a:solidFill>
                <a:latin typeface="Calibri"/>
                <a:ea typeface="微软雅黑"/>
                <a:cs typeface="Calibri"/>
              </a:rPr>
              <a:t>2027/12 – 2028/06</a:t>
            </a:r>
          </a:p>
        </p:txBody>
      </p:sp>
      <p:sp>
        <p:nvSpPr>
          <p:cNvPr id="82" name="Rectangle 81"/>
          <p:cNvSpPr/>
          <p:nvPr/>
        </p:nvSpPr>
        <p:spPr>
          <a:xfrm>
            <a:off x="457200" y="4351401"/>
            <a:ext cx="11277295" cy="24574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475488" y="4351401"/>
            <a:ext cx="2029967" cy="245745"/>
          </a:xfrm>
          <a:prstGeom prst="rect">
            <a:avLst/>
          </a:prstGeom>
          <a:noFill/>
        </p:spPr>
        <p:txBody>
          <a:bodyPr wrap="none" anchor="ctr"/>
          <a:lstStyle/>
          <a:p>
            <a:pPr algn="r"/>
            <a:r>
              <a:rPr sz="1000" b="1">
                <a:solidFill>
                  <a:srgbClr val="0F2B46"/>
                </a:solidFill>
                <a:latin typeface="Calibri"/>
                <a:ea typeface="微软雅黑"/>
                <a:cs typeface="Calibri"/>
              </a:rPr>
              <a:t>HPLC spec / funding</a:t>
            </a:r>
          </a:p>
        </p:txBody>
      </p:sp>
      <p:sp>
        <p:nvSpPr>
          <p:cNvPr id="84" name="Rounded Rectangle 83"/>
          <p:cNvSpPr/>
          <p:nvPr/>
        </p:nvSpPr>
        <p:spPr>
          <a:xfrm>
            <a:off x="2560320" y="4391977"/>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4772455" y="4410265"/>
            <a:ext cx="543331"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0308031" y="4351401"/>
            <a:ext cx="1426464" cy="245745"/>
          </a:xfrm>
          <a:prstGeom prst="rect">
            <a:avLst/>
          </a:prstGeom>
          <a:noFill/>
        </p:spPr>
        <p:txBody>
          <a:bodyPr wrap="none" anchor="ctr"/>
          <a:lstStyle/>
          <a:p>
            <a:pPr algn="l"/>
            <a:r>
              <a:rPr sz="900" b="0">
                <a:solidFill>
                  <a:srgbClr val="5A6A7A"/>
                </a:solidFill>
                <a:latin typeface="Calibri"/>
                <a:ea typeface="微软雅黑"/>
                <a:cs typeface="Calibri"/>
              </a:rPr>
              <a:t>2026/12 – 2027/02</a:t>
            </a:r>
          </a:p>
        </p:txBody>
      </p:sp>
      <p:sp>
        <p:nvSpPr>
          <p:cNvPr id="87" name="TextBox 86"/>
          <p:cNvSpPr txBox="1"/>
          <p:nvPr/>
        </p:nvSpPr>
        <p:spPr>
          <a:xfrm>
            <a:off x="475488" y="4597146"/>
            <a:ext cx="2029967" cy="245745"/>
          </a:xfrm>
          <a:prstGeom prst="rect">
            <a:avLst/>
          </a:prstGeom>
          <a:noFill/>
        </p:spPr>
        <p:txBody>
          <a:bodyPr wrap="none" anchor="ctr"/>
          <a:lstStyle/>
          <a:p>
            <a:pPr algn="r"/>
            <a:r>
              <a:rPr sz="1000" b="1">
                <a:solidFill>
                  <a:srgbClr val="0F2B46"/>
                </a:solidFill>
                <a:latin typeface="Calibri"/>
                <a:ea typeface="微软雅黑"/>
                <a:cs typeface="Calibri"/>
              </a:rPr>
              <a:t>HPLC manufacture</a:t>
            </a:r>
          </a:p>
        </p:txBody>
      </p:sp>
      <p:sp>
        <p:nvSpPr>
          <p:cNvPr id="88" name="Rounded Rectangle 87"/>
          <p:cNvSpPr/>
          <p:nvPr/>
        </p:nvSpPr>
        <p:spPr>
          <a:xfrm>
            <a:off x="2560320" y="4637722"/>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8"/>
          <p:cNvSpPr/>
          <p:nvPr/>
        </p:nvSpPr>
        <p:spPr>
          <a:xfrm>
            <a:off x="5393406" y="4656010"/>
            <a:ext cx="1212793"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0308031" y="4597146"/>
            <a:ext cx="1426464" cy="245745"/>
          </a:xfrm>
          <a:prstGeom prst="rect">
            <a:avLst/>
          </a:prstGeom>
          <a:noFill/>
        </p:spPr>
        <p:txBody>
          <a:bodyPr wrap="none" anchor="ctr"/>
          <a:lstStyle/>
          <a:p>
            <a:pPr algn="l"/>
            <a:r>
              <a:rPr sz="900" b="0">
                <a:solidFill>
                  <a:srgbClr val="5A6A7A"/>
                </a:solidFill>
                <a:latin typeface="Calibri"/>
                <a:ea typeface="微软雅黑"/>
                <a:cs typeface="Calibri"/>
              </a:rPr>
              <a:t>2027/02 – 2027/06</a:t>
            </a:r>
          </a:p>
        </p:txBody>
      </p:sp>
      <p:sp>
        <p:nvSpPr>
          <p:cNvPr id="91" name="Rectangle 90"/>
          <p:cNvSpPr/>
          <p:nvPr/>
        </p:nvSpPr>
        <p:spPr>
          <a:xfrm>
            <a:off x="457200" y="4842891"/>
            <a:ext cx="11277295" cy="24574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475488" y="4842891"/>
            <a:ext cx="2029967" cy="245745"/>
          </a:xfrm>
          <a:prstGeom prst="rect">
            <a:avLst/>
          </a:prstGeom>
          <a:noFill/>
        </p:spPr>
        <p:txBody>
          <a:bodyPr wrap="none" anchor="ctr"/>
          <a:lstStyle/>
          <a:p>
            <a:pPr algn="r"/>
            <a:r>
              <a:rPr sz="1000" b="1">
                <a:solidFill>
                  <a:srgbClr val="0F2B46"/>
                </a:solidFill>
                <a:latin typeface="Calibri"/>
                <a:ea typeface="微软雅黑"/>
                <a:cs typeface="Calibri"/>
              </a:rPr>
              <a:t>HPLC FAT</a:t>
            </a:r>
          </a:p>
        </p:txBody>
      </p:sp>
      <p:sp>
        <p:nvSpPr>
          <p:cNvPr id="93" name="Rounded Rectangle 92"/>
          <p:cNvSpPr/>
          <p:nvPr/>
        </p:nvSpPr>
        <p:spPr>
          <a:xfrm>
            <a:off x="2560320" y="4883467"/>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ounded Rectangle 93"/>
          <p:cNvSpPr/>
          <p:nvPr/>
        </p:nvSpPr>
        <p:spPr>
          <a:xfrm>
            <a:off x="6615902" y="4901755"/>
            <a:ext cx="252261"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0308031" y="4842891"/>
            <a:ext cx="1426464" cy="245745"/>
          </a:xfrm>
          <a:prstGeom prst="rect">
            <a:avLst/>
          </a:prstGeom>
          <a:noFill/>
        </p:spPr>
        <p:txBody>
          <a:bodyPr wrap="none" anchor="ctr"/>
          <a:lstStyle/>
          <a:p>
            <a:pPr algn="l"/>
            <a:r>
              <a:rPr sz="900" b="0">
                <a:solidFill>
                  <a:srgbClr val="5A6A7A"/>
                </a:solidFill>
                <a:latin typeface="Calibri"/>
                <a:ea typeface="微软雅黑"/>
                <a:cs typeface="Calibri"/>
              </a:rPr>
              <a:t>2027/06 – 2027/07</a:t>
            </a:r>
          </a:p>
        </p:txBody>
      </p:sp>
      <p:sp>
        <p:nvSpPr>
          <p:cNvPr id="96" name="TextBox 95"/>
          <p:cNvSpPr txBox="1"/>
          <p:nvPr/>
        </p:nvSpPr>
        <p:spPr>
          <a:xfrm>
            <a:off x="475488" y="5088636"/>
            <a:ext cx="2029967" cy="245745"/>
          </a:xfrm>
          <a:prstGeom prst="rect">
            <a:avLst/>
          </a:prstGeom>
          <a:noFill/>
        </p:spPr>
        <p:txBody>
          <a:bodyPr wrap="none" anchor="ctr"/>
          <a:lstStyle/>
          <a:p>
            <a:pPr algn="r"/>
            <a:r>
              <a:rPr sz="1000" b="1">
                <a:solidFill>
                  <a:srgbClr val="0F2B46"/>
                </a:solidFill>
                <a:latin typeface="Calibri"/>
                <a:ea typeface="微软雅黑"/>
                <a:cs typeface="Calibri"/>
              </a:rPr>
              <a:t>HPLC ship and install</a:t>
            </a:r>
          </a:p>
        </p:txBody>
      </p:sp>
      <p:sp>
        <p:nvSpPr>
          <p:cNvPr id="97" name="Rounded Rectangle 96"/>
          <p:cNvSpPr/>
          <p:nvPr/>
        </p:nvSpPr>
        <p:spPr>
          <a:xfrm>
            <a:off x="2560320" y="5129212"/>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6945782" y="5147500"/>
            <a:ext cx="611248"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10308031" y="5088636"/>
            <a:ext cx="1426464" cy="245745"/>
          </a:xfrm>
          <a:prstGeom prst="rect">
            <a:avLst/>
          </a:prstGeom>
          <a:noFill/>
        </p:spPr>
        <p:txBody>
          <a:bodyPr wrap="none" anchor="ctr"/>
          <a:lstStyle/>
          <a:p>
            <a:pPr algn="l"/>
            <a:r>
              <a:rPr sz="900" b="0">
                <a:solidFill>
                  <a:srgbClr val="5A6A7A"/>
                </a:solidFill>
                <a:latin typeface="Calibri"/>
                <a:ea typeface="微软雅黑"/>
                <a:cs typeface="Calibri"/>
              </a:rPr>
              <a:t>2027/07 – 2027/09</a:t>
            </a:r>
          </a:p>
        </p:txBody>
      </p:sp>
      <p:sp>
        <p:nvSpPr>
          <p:cNvPr id="100" name="Rectangle 99"/>
          <p:cNvSpPr/>
          <p:nvPr/>
        </p:nvSpPr>
        <p:spPr>
          <a:xfrm>
            <a:off x="457200" y="5334381"/>
            <a:ext cx="11277295" cy="24574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475488" y="5334381"/>
            <a:ext cx="2029967" cy="245745"/>
          </a:xfrm>
          <a:prstGeom prst="rect">
            <a:avLst/>
          </a:prstGeom>
          <a:noFill/>
        </p:spPr>
        <p:txBody>
          <a:bodyPr wrap="none" anchor="ctr"/>
          <a:lstStyle/>
          <a:p>
            <a:pPr algn="r"/>
            <a:r>
              <a:rPr sz="1000" b="1">
                <a:solidFill>
                  <a:srgbClr val="0F2B46"/>
                </a:solidFill>
                <a:latin typeface="Calibri"/>
                <a:ea typeface="微软雅黑"/>
                <a:cs typeface="Calibri"/>
              </a:rPr>
              <a:t>Mobile head tanks</a:t>
            </a:r>
          </a:p>
        </p:txBody>
      </p:sp>
      <p:sp>
        <p:nvSpPr>
          <p:cNvPr id="102" name="Rounded Rectangle 101"/>
          <p:cNvSpPr/>
          <p:nvPr/>
        </p:nvSpPr>
        <p:spPr>
          <a:xfrm>
            <a:off x="2560320" y="5374957"/>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ounded Rectangle 102"/>
          <p:cNvSpPr/>
          <p:nvPr/>
        </p:nvSpPr>
        <p:spPr>
          <a:xfrm>
            <a:off x="4510492" y="5393245"/>
            <a:ext cx="2774872"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10308031" y="5334381"/>
            <a:ext cx="1426464" cy="245745"/>
          </a:xfrm>
          <a:prstGeom prst="rect">
            <a:avLst/>
          </a:prstGeom>
          <a:noFill/>
        </p:spPr>
        <p:txBody>
          <a:bodyPr wrap="none" anchor="ctr"/>
          <a:lstStyle/>
          <a:p>
            <a:pPr algn="l"/>
            <a:r>
              <a:rPr sz="900" b="0">
                <a:solidFill>
                  <a:srgbClr val="5A6A7A"/>
                </a:solidFill>
                <a:latin typeface="Calibri"/>
                <a:ea typeface="微软雅黑"/>
                <a:cs typeface="Calibri"/>
              </a:rPr>
              <a:t>2026/11 – 2027/08</a:t>
            </a:r>
          </a:p>
        </p:txBody>
      </p:sp>
      <p:sp>
        <p:nvSpPr>
          <p:cNvPr id="105" name="TextBox 104"/>
          <p:cNvSpPr txBox="1"/>
          <p:nvPr/>
        </p:nvSpPr>
        <p:spPr>
          <a:xfrm>
            <a:off x="475488" y="5580126"/>
            <a:ext cx="2029967" cy="245745"/>
          </a:xfrm>
          <a:prstGeom prst="rect">
            <a:avLst/>
          </a:prstGeom>
          <a:noFill/>
        </p:spPr>
        <p:txBody>
          <a:bodyPr wrap="none" anchor="ctr"/>
          <a:lstStyle/>
          <a:p>
            <a:pPr algn="r"/>
            <a:r>
              <a:rPr sz="1000" b="1">
                <a:solidFill>
                  <a:srgbClr val="0F2B46"/>
                </a:solidFill>
                <a:latin typeface="Calibri"/>
                <a:ea typeface="微软雅黑"/>
                <a:cs typeface="Calibri"/>
              </a:rPr>
              <a:t>Waste tank</a:t>
            </a:r>
          </a:p>
        </p:txBody>
      </p:sp>
      <p:sp>
        <p:nvSpPr>
          <p:cNvPr id="106" name="Rounded Rectangle 105"/>
          <p:cNvSpPr/>
          <p:nvPr/>
        </p:nvSpPr>
        <p:spPr>
          <a:xfrm>
            <a:off x="2560320" y="5620702"/>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106"/>
          <p:cNvSpPr/>
          <p:nvPr/>
        </p:nvSpPr>
        <p:spPr>
          <a:xfrm>
            <a:off x="4510492" y="5638990"/>
            <a:ext cx="2639039"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10308031" y="5580126"/>
            <a:ext cx="1426464" cy="245745"/>
          </a:xfrm>
          <a:prstGeom prst="rect">
            <a:avLst/>
          </a:prstGeom>
          <a:noFill/>
        </p:spPr>
        <p:txBody>
          <a:bodyPr wrap="none" anchor="ctr"/>
          <a:lstStyle/>
          <a:p>
            <a:pPr algn="l"/>
            <a:r>
              <a:rPr sz="900" b="0">
                <a:solidFill>
                  <a:srgbClr val="5A6A7A"/>
                </a:solidFill>
                <a:latin typeface="Calibri"/>
                <a:ea typeface="微软雅黑"/>
                <a:cs typeface="Calibri"/>
              </a:rPr>
              <a:t>2026/11 – 2027/08</a:t>
            </a:r>
          </a:p>
        </p:txBody>
      </p:sp>
      <p:sp>
        <p:nvSpPr>
          <p:cNvPr id="109" name="Rectangle 108"/>
          <p:cNvSpPr/>
          <p:nvPr/>
        </p:nvSpPr>
        <p:spPr>
          <a:xfrm>
            <a:off x="457200" y="5825871"/>
            <a:ext cx="11277295" cy="24574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475488" y="5825871"/>
            <a:ext cx="2029967" cy="245745"/>
          </a:xfrm>
          <a:prstGeom prst="rect">
            <a:avLst/>
          </a:prstGeom>
          <a:noFill/>
        </p:spPr>
        <p:txBody>
          <a:bodyPr wrap="none" anchor="ctr"/>
          <a:lstStyle/>
          <a:p>
            <a:pPr algn="r"/>
            <a:r>
              <a:rPr sz="1000" b="1">
                <a:solidFill>
                  <a:srgbClr val="0F2B46"/>
                </a:solidFill>
                <a:latin typeface="Calibri"/>
                <a:ea typeface="微软雅黑"/>
                <a:cs typeface="Calibri"/>
              </a:rPr>
              <a:t>Retrofit</a:t>
            </a:r>
          </a:p>
        </p:txBody>
      </p:sp>
      <p:sp>
        <p:nvSpPr>
          <p:cNvPr id="111" name="Rounded Rectangle 110"/>
          <p:cNvSpPr/>
          <p:nvPr/>
        </p:nvSpPr>
        <p:spPr>
          <a:xfrm>
            <a:off x="2560320" y="5866447"/>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ounded Rectangle 111"/>
          <p:cNvSpPr/>
          <p:nvPr/>
        </p:nvSpPr>
        <p:spPr>
          <a:xfrm>
            <a:off x="6004654" y="5884735"/>
            <a:ext cx="1106067" cy="128016"/>
          </a:xfrm>
          <a:prstGeom prst="roundRect">
            <a:avLst>
              <a:gd name="adj" fmla="val 42000"/>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10308031" y="5825871"/>
            <a:ext cx="1426464" cy="245745"/>
          </a:xfrm>
          <a:prstGeom prst="rect">
            <a:avLst/>
          </a:prstGeom>
          <a:noFill/>
        </p:spPr>
        <p:txBody>
          <a:bodyPr wrap="none" anchor="ctr"/>
          <a:lstStyle/>
          <a:p>
            <a:pPr algn="l"/>
            <a:r>
              <a:rPr sz="900" b="0">
                <a:solidFill>
                  <a:srgbClr val="5A6A7A"/>
                </a:solidFill>
                <a:latin typeface="Calibri"/>
                <a:ea typeface="微软雅黑"/>
                <a:cs typeface="Calibri"/>
              </a:rPr>
              <a:t>2027/04 – 2027/08</a:t>
            </a:r>
          </a:p>
        </p:txBody>
      </p:sp>
      <p:sp>
        <p:nvSpPr>
          <p:cNvPr id="114" name="Rectangle 113"/>
          <p:cNvSpPr/>
          <p:nvPr/>
        </p:nvSpPr>
        <p:spPr>
          <a:xfrm>
            <a:off x="4151505" y="2139696"/>
            <a:ext cx="16459" cy="3931920"/>
          </a:xfrm>
          <a:prstGeom prst="rect">
            <a:avLst/>
          </a:prstGeom>
          <a:solidFill>
            <a:srgbClr val="B4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3932049" y="1920240"/>
            <a:ext cx="438912" cy="201168"/>
          </a:xfrm>
          <a:prstGeom prst="rect">
            <a:avLst/>
          </a:prstGeom>
          <a:noFill/>
        </p:spPr>
        <p:txBody>
          <a:bodyPr wrap="none" anchor="ctr"/>
          <a:lstStyle/>
          <a:p>
            <a:pPr algn="ctr"/>
            <a:r>
              <a:rPr sz="900" b="1">
                <a:solidFill>
                  <a:srgbClr val="B43A2A"/>
                </a:solidFill>
                <a:latin typeface="Calibri"/>
                <a:ea typeface="微软雅黑"/>
                <a:cs typeface="Calibri"/>
              </a:rPr>
              <a:t>Today</a:t>
            </a:r>
          </a:p>
        </p:txBody>
      </p:sp>
      <p:sp>
        <p:nvSpPr>
          <p:cNvPr id="116" name="Rounded Rectangle 115"/>
          <p:cNvSpPr/>
          <p:nvPr/>
        </p:nvSpPr>
        <p:spPr>
          <a:xfrm>
            <a:off x="2168499" y="6263640"/>
            <a:ext cx="109728" cy="109728"/>
          </a:xfrm>
          <a:prstGeom prst="roundRect">
            <a:avLst>
              <a:gd name="adj" fmla="val 35000"/>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2333091" y="6181344"/>
            <a:ext cx="694944" cy="274320"/>
          </a:xfrm>
          <a:prstGeom prst="rect">
            <a:avLst/>
          </a:prstGeom>
          <a:noFill/>
        </p:spPr>
        <p:txBody>
          <a:bodyPr wrap="none" anchor="ctr"/>
          <a:lstStyle/>
          <a:p>
            <a:pPr algn="l"/>
            <a:r>
              <a:rPr sz="1000" b="0">
                <a:solidFill>
                  <a:srgbClr val="5A6A7A"/>
                </a:solidFill>
                <a:latin typeface="Calibri"/>
                <a:ea typeface="微软雅黑"/>
                <a:cs typeface="Calibri"/>
              </a:rPr>
              <a:t>Done</a:t>
            </a:r>
          </a:p>
        </p:txBody>
      </p:sp>
      <p:sp>
        <p:nvSpPr>
          <p:cNvPr id="118" name="Rounded Rectangle 117"/>
          <p:cNvSpPr/>
          <p:nvPr/>
        </p:nvSpPr>
        <p:spPr>
          <a:xfrm>
            <a:off x="3357219" y="6263640"/>
            <a:ext cx="109728" cy="109728"/>
          </a:xfrm>
          <a:prstGeom prst="roundRect">
            <a:avLst>
              <a:gd name="adj" fmla="val 35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3521811" y="6181344"/>
            <a:ext cx="1028700" cy="274320"/>
          </a:xfrm>
          <a:prstGeom prst="rect">
            <a:avLst/>
          </a:prstGeom>
          <a:noFill/>
        </p:spPr>
        <p:txBody>
          <a:bodyPr wrap="none" anchor="ctr"/>
          <a:lstStyle/>
          <a:p>
            <a:pPr algn="l"/>
            <a:r>
              <a:rPr sz="1000" b="0">
                <a:solidFill>
                  <a:srgbClr val="5A6A7A"/>
                </a:solidFill>
                <a:latin typeface="Calibri"/>
                <a:ea typeface="微软雅黑"/>
                <a:cs typeface="Calibri"/>
              </a:rPr>
              <a:t>Procurement / manufacture</a:t>
            </a:r>
          </a:p>
        </p:txBody>
      </p:sp>
      <p:sp>
        <p:nvSpPr>
          <p:cNvPr id="120" name="Rounded Rectangle 119"/>
          <p:cNvSpPr/>
          <p:nvPr/>
        </p:nvSpPr>
        <p:spPr>
          <a:xfrm>
            <a:off x="4879695" y="6263640"/>
            <a:ext cx="109728" cy="109728"/>
          </a:xfrm>
          <a:prstGeom prst="roundRect">
            <a:avLst>
              <a:gd name="adj" fmla="val 35000"/>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5044287" y="6181344"/>
            <a:ext cx="1028700" cy="274320"/>
          </a:xfrm>
          <a:prstGeom prst="rect">
            <a:avLst/>
          </a:prstGeom>
          <a:noFill/>
        </p:spPr>
        <p:txBody>
          <a:bodyPr wrap="none" anchor="ctr"/>
          <a:lstStyle/>
          <a:p>
            <a:pPr algn="l"/>
            <a:r>
              <a:rPr sz="1000" b="0">
                <a:solidFill>
                  <a:srgbClr val="5A6A7A"/>
                </a:solidFill>
                <a:latin typeface="Calibri"/>
                <a:ea typeface="微软雅黑"/>
                <a:cs typeface="Calibri"/>
              </a:rPr>
              <a:t>Construction / qualification</a:t>
            </a:r>
          </a:p>
        </p:txBody>
      </p:sp>
      <p:sp>
        <p:nvSpPr>
          <p:cNvPr id="122" name="Rounded Rectangle 121"/>
          <p:cNvSpPr/>
          <p:nvPr/>
        </p:nvSpPr>
        <p:spPr>
          <a:xfrm>
            <a:off x="6402171" y="6263640"/>
            <a:ext cx="109728" cy="109728"/>
          </a:xfrm>
          <a:prstGeom prst="roundRect">
            <a:avLst>
              <a:gd name="adj" fmla="val 35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6566763" y="6181344"/>
            <a:ext cx="694944" cy="274320"/>
          </a:xfrm>
          <a:prstGeom prst="rect">
            <a:avLst/>
          </a:prstGeom>
          <a:noFill/>
        </p:spPr>
        <p:txBody>
          <a:bodyPr wrap="none" anchor="ctr"/>
          <a:lstStyle/>
          <a:p>
            <a:pPr algn="l"/>
            <a:r>
              <a:rPr sz="1000" b="0">
                <a:solidFill>
                  <a:srgbClr val="5A6A7A"/>
                </a:solidFill>
                <a:latin typeface="Calibri"/>
                <a:ea typeface="微软雅黑"/>
                <a:cs typeface="Calibri"/>
              </a:rPr>
              <a:t>Critical path</a:t>
            </a:r>
          </a:p>
        </p:txBody>
      </p:sp>
      <p:sp>
        <p:nvSpPr>
          <p:cNvPr id="124" name="Rounded Rectangle 123"/>
          <p:cNvSpPr/>
          <p:nvPr/>
        </p:nvSpPr>
        <p:spPr>
          <a:xfrm>
            <a:off x="7590891" y="6263640"/>
            <a:ext cx="109728" cy="109728"/>
          </a:xfrm>
          <a:prstGeom prst="roundRect">
            <a:avLst>
              <a:gd name="adj" fmla="val 35000"/>
            </a:avLst>
          </a:prstGeom>
          <a:solidFill>
            <a:srgbClr val="5B6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7755483" y="6181344"/>
            <a:ext cx="745236" cy="274320"/>
          </a:xfrm>
          <a:prstGeom prst="rect">
            <a:avLst/>
          </a:prstGeom>
          <a:noFill/>
        </p:spPr>
        <p:txBody>
          <a:bodyPr wrap="none" anchor="ctr"/>
          <a:lstStyle/>
          <a:p>
            <a:pPr algn="l"/>
            <a:r>
              <a:rPr sz="1000" b="0">
                <a:solidFill>
                  <a:srgbClr val="5A6A7A"/>
                </a:solidFill>
                <a:latin typeface="Calibri"/>
                <a:ea typeface="微软雅黑"/>
                <a:cs typeface="Calibri"/>
              </a:rPr>
              <a:t>Engineer mobilisation</a:t>
            </a:r>
          </a:p>
        </p:txBody>
      </p:sp>
      <p:sp>
        <p:nvSpPr>
          <p:cNvPr id="126" name="Rounded Rectangle 125"/>
          <p:cNvSpPr/>
          <p:nvPr/>
        </p:nvSpPr>
        <p:spPr>
          <a:xfrm>
            <a:off x="8829903" y="6263640"/>
            <a:ext cx="109728" cy="109728"/>
          </a:xfrm>
          <a:prstGeom prst="roundRect">
            <a:avLst>
              <a:gd name="adj" fmla="val 35000"/>
            </a:avLst>
          </a:prstGeom>
          <a:solidFill>
            <a:srgbClr val="6D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8994495" y="6181344"/>
            <a:ext cx="1028700" cy="274320"/>
          </a:xfrm>
          <a:prstGeom prst="rect">
            <a:avLst/>
          </a:prstGeom>
          <a:noFill/>
        </p:spPr>
        <p:txBody>
          <a:bodyPr wrap="none" anchor="ctr"/>
          <a:lstStyle/>
          <a:p>
            <a:pPr algn="l"/>
            <a:r>
              <a:rPr sz="1000" b="0">
                <a:solidFill>
                  <a:srgbClr val="5A6A7A"/>
                </a:solidFill>
                <a:latin typeface="Calibri"/>
                <a:ea typeface="微软雅黑"/>
                <a:cs typeface="Calibri"/>
              </a:rPr>
              <a:t>§4.3 indicative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12 / 31</a:t>
            </a:r>
          </a:p>
        </p:txBody>
      </p:sp>
      <p:sp>
        <p:nvSpPr>
          <p:cNvPr id="10" name="Rectangle 9"/>
          <p:cNvSpPr/>
          <p:nvPr/>
        </p:nvSpPr>
        <p:spPr>
          <a:xfrm>
            <a:off x="384048" y="164592"/>
            <a:ext cx="82296" cy="71323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C1 · executive summary</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Routine OEB5 operation of the existing C1 module</a:t>
            </a:r>
          </a:p>
        </p:txBody>
      </p:sp>
      <p:sp>
        <p:nvSpPr>
          <p:cNvPr id="13" name="Rounded Rectangle 12"/>
          <p:cNvSpPr/>
          <p:nvPr/>
        </p:nvSpPr>
        <p:spPr>
          <a:xfrm>
            <a:off x="384048" y="1051560"/>
            <a:ext cx="3710330"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1051560"/>
            <a:ext cx="82296" cy="1024128"/>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235903"/>
            <a:ext cx="3436010" cy="457200"/>
          </a:xfrm>
          <a:prstGeom prst="rect">
            <a:avLst/>
          </a:prstGeom>
          <a:noFill/>
        </p:spPr>
        <p:txBody>
          <a:bodyPr wrap="square" anchor="t">
            <a:spAutoFit/>
          </a:bodyPr>
          <a:lstStyle/>
          <a:p>
            <a:pPr algn="l"/>
            <a:r>
              <a:rPr sz="2000" b="1">
                <a:solidFill>
                  <a:srgbClr val="0F2B46"/>
                </a:solidFill>
                <a:latin typeface="Calibri"/>
                <a:ea typeface="微软雅黑"/>
                <a:cs typeface="Calibri"/>
              </a:rPr>
              <a:t>Routine OEB5 operation</a:t>
            </a:r>
          </a:p>
        </p:txBody>
      </p:sp>
      <p:sp>
        <p:nvSpPr>
          <p:cNvPr id="16" name="TextBox 15"/>
          <p:cNvSpPr txBox="1"/>
          <p:nvPr/>
        </p:nvSpPr>
        <p:spPr>
          <a:xfrm>
            <a:off x="566928" y="1618488"/>
            <a:ext cx="3436010" cy="409651"/>
          </a:xfrm>
          <a:prstGeom prst="rect">
            <a:avLst/>
          </a:prstGeom>
          <a:noFill/>
        </p:spPr>
        <p:txBody>
          <a:bodyPr wrap="square" anchor="t">
            <a:spAutoFit/>
          </a:bodyPr>
          <a:lstStyle/>
          <a:p>
            <a:pPr algn="l"/>
            <a:r>
              <a:rPr sz="1200" b="0">
                <a:solidFill>
                  <a:srgbClr val="5A6A7A"/>
                </a:solidFill>
                <a:latin typeface="Calibri"/>
                <a:ea typeface="微软雅黑"/>
                <a:cs typeface="Calibri"/>
              </a:rPr>
              <a:t>Upgrade objective</a:t>
            </a:r>
          </a:p>
        </p:txBody>
      </p:sp>
      <p:sp>
        <p:nvSpPr>
          <p:cNvPr id="17" name="Rounded Rectangle 16"/>
          <p:cNvSpPr/>
          <p:nvPr/>
        </p:nvSpPr>
        <p:spPr>
          <a:xfrm>
            <a:off x="4240682" y="1051560"/>
            <a:ext cx="3710330"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40682" y="1051560"/>
            <a:ext cx="82296" cy="1024128"/>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23562" y="1235903"/>
            <a:ext cx="3436010" cy="457200"/>
          </a:xfrm>
          <a:prstGeom prst="rect">
            <a:avLst/>
          </a:prstGeom>
          <a:noFill/>
        </p:spPr>
        <p:txBody>
          <a:bodyPr wrap="square" anchor="t">
            <a:spAutoFit/>
          </a:bodyPr>
          <a:lstStyle/>
          <a:p>
            <a:pPr algn="l"/>
            <a:r>
              <a:rPr sz="2000" b="1">
                <a:solidFill>
                  <a:srgbClr val="0F2B46"/>
                </a:solidFill>
                <a:latin typeface="Calibri"/>
                <a:ea typeface="微软雅黑"/>
                <a:cs typeface="Calibri"/>
              </a:rPr>
              <a:t>£2.48M</a:t>
            </a:r>
          </a:p>
        </p:txBody>
      </p:sp>
      <p:sp>
        <p:nvSpPr>
          <p:cNvPr id="20" name="TextBox 19"/>
          <p:cNvSpPr txBox="1"/>
          <p:nvPr/>
        </p:nvSpPr>
        <p:spPr>
          <a:xfrm>
            <a:off x="4423562" y="1618488"/>
            <a:ext cx="3436010" cy="409651"/>
          </a:xfrm>
          <a:prstGeom prst="rect">
            <a:avLst/>
          </a:prstGeom>
          <a:noFill/>
        </p:spPr>
        <p:txBody>
          <a:bodyPr wrap="square" anchor="t">
            <a:spAutoFit/>
          </a:bodyPr>
          <a:lstStyle/>
          <a:p>
            <a:pPr algn="l"/>
            <a:r>
              <a:rPr sz="1200" b="0">
                <a:solidFill>
                  <a:srgbClr val="5A6A7A"/>
                </a:solidFill>
                <a:latin typeface="Calibri"/>
                <a:ea typeface="微软雅黑"/>
                <a:cs typeface="Calibri"/>
              </a:rPr>
              <a:t>Total investment estimate</a:t>
            </a:r>
          </a:p>
        </p:txBody>
      </p:sp>
      <p:sp>
        <p:nvSpPr>
          <p:cNvPr id="21" name="Rounded Rectangle 20"/>
          <p:cNvSpPr/>
          <p:nvPr/>
        </p:nvSpPr>
        <p:spPr>
          <a:xfrm>
            <a:off x="8097316" y="1051560"/>
            <a:ext cx="3710330"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97316" y="1051560"/>
            <a:ext cx="82296" cy="1024128"/>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0196" y="1235903"/>
            <a:ext cx="3436010" cy="457200"/>
          </a:xfrm>
          <a:prstGeom prst="rect">
            <a:avLst/>
          </a:prstGeom>
          <a:noFill/>
        </p:spPr>
        <p:txBody>
          <a:bodyPr wrap="square" anchor="t">
            <a:spAutoFit/>
          </a:bodyPr>
          <a:lstStyle/>
          <a:p>
            <a:pPr algn="l"/>
            <a:r>
              <a:rPr sz="2000" b="1">
                <a:solidFill>
                  <a:srgbClr val="0F2B46"/>
                </a:solidFill>
                <a:latin typeface="Calibri"/>
                <a:ea typeface="微软雅黑"/>
                <a:cs typeface="Calibri"/>
              </a:rPr>
              <a:t>2027-10</a:t>
            </a:r>
          </a:p>
        </p:txBody>
      </p:sp>
      <p:sp>
        <p:nvSpPr>
          <p:cNvPr id="24" name="TextBox 23"/>
          <p:cNvSpPr txBox="1"/>
          <p:nvPr/>
        </p:nvSpPr>
        <p:spPr>
          <a:xfrm>
            <a:off x="8280196" y="1618488"/>
            <a:ext cx="3436010" cy="409651"/>
          </a:xfrm>
          <a:prstGeom prst="rect">
            <a:avLst/>
          </a:prstGeom>
          <a:noFill/>
        </p:spPr>
        <p:txBody>
          <a:bodyPr wrap="square" anchor="t">
            <a:spAutoFit/>
          </a:bodyPr>
          <a:lstStyle/>
          <a:p>
            <a:pPr algn="l"/>
            <a:r>
              <a:rPr sz="1200" b="0">
                <a:solidFill>
                  <a:srgbClr val="5A6A7A"/>
                </a:solidFill>
                <a:latin typeface="Calibri"/>
                <a:ea typeface="微软雅黑"/>
                <a:cs typeface="Calibri"/>
              </a:rPr>
              <a:t>Installation and qualification (+3 months)</a:t>
            </a:r>
          </a:p>
        </p:txBody>
      </p:sp>
      <p:sp>
        <p:nvSpPr>
          <p:cNvPr id="25" name="TextBox 24"/>
          <p:cNvSpPr txBox="1"/>
          <p:nvPr/>
        </p:nvSpPr>
        <p:spPr>
          <a:xfrm>
            <a:off x="429768" y="2276856"/>
            <a:ext cx="11332159" cy="2626360"/>
          </a:xfrm>
          <a:prstGeom prst="rect">
            <a:avLst/>
          </a:prstGeom>
          <a:noFill/>
        </p:spPr>
        <p:txBody>
          <a:bodyPr wrap="square">
            <a:spAutoFit/>
          </a:bodyPr>
          <a:lstStyle/>
          <a:p>
            <a:pPr>
              <a:spcAft>
                <a:spcPts val="1100"/>
              </a:spcAft>
            </a:pPr>
            <a:r>
              <a:rPr sz="1200" b="0" dirty="0">
                <a:solidFill>
                  <a:srgbClr val="2C3E50"/>
                </a:solidFill>
                <a:latin typeface="Calibri"/>
                <a:ea typeface="微软雅黑"/>
                <a:cs typeface="Calibri"/>
              </a:rPr>
              <a:t>•  Scope: fixed isolators for material dispensing on the upper floor and final packing on the ground floor; HVAC upgrade; interlocked inlet and outlet airlocks with a mist shower; custom flexible isolators covering each unit operation and the waste streams.</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p>
          <a:p>
            <a:pPr>
              <a:spcAft>
                <a:spcPts val="1100"/>
              </a:spcAft>
            </a:pPr>
            <a:r>
              <a:rPr sz="1200" b="0" dirty="0">
                <a:solidFill>
                  <a:srgbClr val="2C3E50"/>
                </a:solidFill>
                <a:latin typeface="Calibri"/>
                <a:ea typeface="微软雅黑"/>
                <a:cs typeface="Calibri"/>
              </a:rPr>
              <a:t>•  Estimate: budget quotations are in hand. ILC Dover, flexible isolator for reactor charging, £115,800 for the package, including concept design of the R19–R22 charging arrangement. Howorth, single-chamber dispensing isolator, £250,000 each. Both are ex works and exclude packing, transport, installation and commissioning.</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p>
          <a:p>
            <a:pPr>
              <a:spcAft>
                <a:spcPts val="1100"/>
              </a:spcAft>
            </a:pPr>
            <a:r>
              <a:rPr sz="1200" b="0" dirty="0">
                <a:solidFill>
                  <a:srgbClr val="2C3E50"/>
                </a:solidFill>
                <a:latin typeface="Calibri"/>
                <a:ea typeface="微软雅黑"/>
                <a:cs typeface="Calibri"/>
              </a:rPr>
              <a:t>•  Selection: this is an upgrade of the existing facility, with local alterations rather than installation of a complete new machine, so a China-sourced isolator is not recommended. Every part placed in the UK has to meet UK standards and carry the CE mark; retrospective certification adds at least 3–4 months, and the extra cost and time are not a good trade.</a:t>
            </a:r>
            <a:r>
              <a:rPr sz="1600" b="0" dirty="0" err="1">
                <a:solidFill>
                  <a:srgbClr val="2C3E50"/>
                </a:solidFill>
                <a:latin typeface="微软雅黑"/>
                <a:ea typeface="微软雅黑"/>
                <a:cs typeface="微软雅黑"/>
              </a:rPr>
              <a:t/>
            </a:r>
            <a:r>
              <a:rPr sz="1600" b="0" dirty="0" smtClean="0">
                <a:solidFill>
                  <a:srgbClr val="2C3E50"/>
                </a:solidFill>
                <a:latin typeface="微软雅黑"/>
                <a:ea typeface="微软雅黑"/>
                <a:cs typeface="微软雅黑"/>
              </a:rPr>
              <a:t/>
            </a:r>
            <a:r>
              <a:rPr lang="zh-CN" altLang="en-US" sz="1600" b="0" dirty="0" smtClean="0">
                <a:solidFill>
                  <a:srgbClr val="2C3E50"/>
                </a:solidFill>
                <a:latin typeface="微软雅黑"/>
                <a:ea typeface="微软雅黑"/>
                <a:cs typeface="微软雅黑"/>
              </a:rPr>
              <a:t/>
            </a:r>
            <a:r>
              <a:rPr sz="1600" b="0" dirty="0" err="1" smtClean="0">
                <a:solidFill>
                  <a:srgbClr val="2C3E50"/>
                </a:solidFill>
                <a:latin typeface="微软雅黑"/>
                <a:ea typeface="微软雅黑"/>
                <a:cs typeface="微软雅黑"/>
              </a:rPr>
              <a:t/>
            </a:r>
            <a:r>
              <a:rPr lang="zh-CN" altLang="en-US" sz="1600" dirty="0" smtClean="0">
                <a:solidFill>
                  <a:srgbClr val="2C3E50"/>
                </a:solidFill>
                <a:latin typeface="微软雅黑"/>
                <a:ea typeface="微软雅黑"/>
                <a:cs typeface="微软雅黑"/>
              </a:rPr>
              <a:t/>
            </a:r>
            <a:r>
              <a:rPr lang="en-US" altLang="zh-CN" sz="1600" dirty="0" err="1" smtClean="0">
                <a:solidFill>
                  <a:srgbClr val="2C3E50"/>
                </a:solidFill>
                <a:latin typeface="微软雅黑"/>
                <a:ea typeface="微软雅黑"/>
                <a:cs typeface="微软雅黑"/>
              </a:rPr>
              <a:t/>
            </a:r>
            <a:r>
              <a:rPr sz="1600" b="0" dirty="0" err="1" smtClean="0">
                <a:solidFill>
                  <a:srgbClr val="2C3E50"/>
                </a:solidFill>
                <a:latin typeface="微软雅黑"/>
                <a:ea typeface="微软雅黑"/>
                <a:cs typeface="微软雅黑"/>
              </a:rPr>
              <a:t/>
            </a:r>
            <a:r>
              <a:rPr sz="1600" b="0" dirty="0" smtClean="0">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smtClean="0">
                <a:solidFill>
                  <a:srgbClr val="2C3E50"/>
                </a:solidFill>
                <a:latin typeface="微软雅黑"/>
                <a:ea typeface="微软雅黑"/>
                <a:cs typeface="微软雅黑"/>
              </a:rPr>
              <a:t/>
            </a:r>
            <a:r>
              <a:rPr lang="zh-CN" altLang="en-US" sz="1600" dirty="0" smtClean="0">
                <a:solidFill>
                  <a:srgbClr val="2C3E50"/>
                </a:solidFill>
                <a:latin typeface="微软雅黑"/>
                <a:ea typeface="微软雅黑"/>
                <a:cs typeface="微软雅黑"/>
              </a:rPr>
              <a:t/>
            </a:r>
            <a:r>
              <a:rPr lang="zh-CN" altLang="en-US" sz="1600" dirty="0">
                <a:solidFill>
                  <a:srgbClr val="2C3E50"/>
                </a:solidFill>
                <a:latin typeface="微软雅黑"/>
                <a:ea typeface="微软雅黑"/>
                <a:cs typeface="微软雅黑"/>
              </a:rPr>
              <a:t/>
            </a:r>
            <a:endParaRPr sz="1600" b="0" dirty="0">
              <a:solidFill>
                <a:srgbClr val="2C3E50"/>
              </a:solidFill>
              <a:latin typeface="微软雅黑"/>
              <a:ea typeface="微软雅黑"/>
              <a:cs typeface="微软雅黑"/>
            </a:endParaRPr>
          </a:p>
          <a:p>
            <a:pPr>
              <a:spcAft>
                <a:spcPts val="1100"/>
              </a:spcAft>
            </a:pPr>
            <a:r>
              <a:rPr sz="1200" b="0" dirty="0">
                <a:solidFill>
                  <a:srgbClr val="2C3E50"/>
                </a:solidFill>
                <a:latin typeface="Calibri"/>
                <a:ea typeface="微软雅黑"/>
                <a:cs typeface="Calibri"/>
              </a:rPr>
              <a:t>•  Linked delivery: it has to finish with the in-building retrofit (preparative HPLC and lyophiliser) in order to give preparative HPLC an OEB5 operating capability.</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p>
          <a:p>
            <a:pPr>
              <a:spcAft>
                <a:spcPts val="1100"/>
              </a:spcAft>
            </a:pPr>
            <a:r>
              <a:rPr sz="1200" b="0" dirty="0">
                <a:solidFill>
                  <a:srgbClr val="2C3E50"/>
                </a:solidFill>
                <a:latin typeface="Calibri"/>
                <a:ea typeface="微软雅黑"/>
                <a:cs typeface="Calibri"/>
              </a:rPr>
              <a:t>•  Programme: assumed to be approved together with the retrofit. The preparative HPLC unit drives the C1 delivery timeline.</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13 / 31</a:t>
            </a:r>
          </a:p>
        </p:txBody>
      </p:sp>
      <p:sp>
        <p:nvSpPr>
          <p:cNvPr id="10" name="Rectangle 9"/>
          <p:cNvSpPr/>
          <p:nvPr/>
        </p:nvSpPr>
        <p:spPr>
          <a:xfrm>
            <a:off x="384048" y="164592"/>
            <a:ext cx="82296" cy="4572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C1 · scope</a:t>
            </a:r>
          </a:p>
        </p:txBody>
      </p:sp>
      <p:sp>
        <p:nvSpPr>
          <p:cNvPr id="12" name="Rounded Rectangle 11"/>
          <p:cNvSpPr/>
          <p:nvPr/>
        </p:nvSpPr>
        <p:spPr>
          <a:xfrm>
            <a:off x="384048" y="786384"/>
            <a:ext cx="5638647" cy="2738627"/>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84048" y="786384"/>
            <a:ext cx="91440" cy="2738627"/>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3503" y="896112"/>
            <a:ext cx="5309463" cy="347472"/>
          </a:xfrm>
          <a:prstGeom prst="rect">
            <a:avLst/>
          </a:prstGeom>
          <a:noFill/>
        </p:spPr>
        <p:txBody>
          <a:bodyPr wrap="square" anchor="t">
            <a:spAutoFit/>
          </a:bodyPr>
          <a:lstStyle/>
          <a:p>
            <a:pPr algn="l"/>
            <a:r>
              <a:rPr sz="1600" b="1">
                <a:solidFill>
                  <a:srgbClr val="0F2B46"/>
                </a:solidFill>
                <a:latin typeface="Calibri"/>
                <a:ea typeface="微软雅黑"/>
                <a:cs typeface="Calibri"/>
              </a:rPr>
              <a:t>Fixed isolators</a:t>
            </a:r>
          </a:p>
        </p:txBody>
      </p:sp>
      <p:sp>
        <p:nvSpPr>
          <p:cNvPr id="15" name="TextBox 14"/>
          <p:cNvSpPr txBox="1"/>
          <p:nvPr/>
        </p:nvSpPr>
        <p:spPr>
          <a:xfrm>
            <a:off x="566928" y="1261872"/>
            <a:ext cx="5346039" cy="2171699"/>
          </a:xfrm>
          <a:prstGeom prst="rect">
            <a:avLst/>
          </a:prstGeom>
          <a:noFill/>
        </p:spPr>
        <p:txBody>
          <a:bodyPr wrap="square">
            <a:spAutoFit/>
          </a:bodyPr>
          <a:lstStyle/>
          <a:p>
            <a:pPr>
              <a:spcAft>
                <a:spcPts val="600"/>
              </a:spcAft>
            </a:pPr>
            <a:r>
              <a:rPr sz="1300" b="0">
                <a:solidFill>
                  <a:srgbClr val="2C3E50"/>
                </a:solidFill>
                <a:latin typeface="Calibri"/>
                <a:ea typeface="微软雅黑"/>
                <a:cs typeface="Calibri"/>
              </a:rPr>
              <a:t>•  Upper floor (second floor): material dispensing</a:t>
            </a:r>
          </a:p>
          <a:p>
            <a:pPr>
              <a:spcAft>
                <a:spcPts val="600"/>
              </a:spcAft>
            </a:pPr>
            <a:r>
              <a:rPr sz="1300" b="0">
                <a:solidFill>
                  <a:srgbClr val="2C3E50"/>
                </a:solidFill>
                <a:latin typeface="Calibri"/>
                <a:ea typeface="微软雅黑"/>
                <a:cs typeface="Calibri"/>
              </a:rPr>
              <a:t>•  Ground floor: final packing</a:t>
            </a:r>
          </a:p>
        </p:txBody>
      </p:sp>
      <p:sp>
        <p:nvSpPr>
          <p:cNvPr id="16" name="Rounded Rectangle 15"/>
          <p:cNvSpPr/>
          <p:nvPr/>
        </p:nvSpPr>
        <p:spPr>
          <a:xfrm>
            <a:off x="6168999" y="786384"/>
            <a:ext cx="5638647" cy="2738627"/>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68999" y="786384"/>
            <a:ext cx="91440" cy="2738627"/>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88455" y="896112"/>
            <a:ext cx="5309463" cy="347472"/>
          </a:xfrm>
          <a:prstGeom prst="rect">
            <a:avLst/>
          </a:prstGeom>
          <a:noFill/>
        </p:spPr>
        <p:txBody>
          <a:bodyPr wrap="square" anchor="t">
            <a:spAutoFit/>
          </a:bodyPr>
          <a:lstStyle/>
          <a:p>
            <a:pPr algn="l"/>
            <a:r>
              <a:rPr sz="1600" b="1">
                <a:solidFill>
                  <a:srgbClr val="0F2B46"/>
                </a:solidFill>
                <a:latin typeface="Calibri"/>
                <a:ea typeface="微软雅黑"/>
                <a:cs typeface="Calibri"/>
              </a:rPr>
              <a:t>HVAC and airlocks</a:t>
            </a:r>
          </a:p>
        </p:txBody>
      </p:sp>
      <p:sp>
        <p:nvSpPr>
          <p:cNvPr id="19" name="TextBox 18"/>
          <p:cNvSpPr txBox="1"/>
          <p:nvPr/>
        </p:nvSpPr>
        <p:spPr>
          <a:xfrm>
            <a:off x="6351879" y="1261872"/>
            <a:ext cx="5346039" cy="2171699"/>
          </a:xfrm>
          <a:prstGeom prst="rect">
            <a:avLst/>
          </a:prstGeom>
          <a:noFill/>
        </p:spPr>
        <p:txBody>
          <a:bodyPr wrap="square">
            <a:spAutoFit/>
          </a:bodyPr>
          <a:lstStyle/>
          <a:p>
            <a:pPr>
              <a:spcAft>
                <a:spcPts val="600"/>
              </a:spcAft>
            </a:pPr>
            <a:r>
              <a:rPr sz="1300" b="0">
                <a:solidFill>
                  <a:srgbClr val="2C3E50"/>
                </a:solidFill>
                <a:latin typeface="Calibri"/>
                <a:ea typeface="微软雅黑"/>
                <a:cs typeface="Calibri"/>
              </a:rPr>
              <a:t>•  HVAC upgrade to support routine OEB5 operation</a:t>
            </a:r>
          </a:p>
          <a:p>
            <a:pPr>
              <a:spcAft>
                <a:spcPts val="600"/>
              </a:spcAft>
            </a:pPr>
            <a:r>
              <a:rPr sz="1300" b="0">
                <a:solidFill>
                  <a:srgbClr val="2C3E50"/>
                </a:solidFill>
                <a:latin typeface="Calibri"/>
                <a:ea typeface="微软雅黑"/>
                <a:cs typeface="Calibri"/>
              </a:rPr>
              <a:t>•  Interlock upgrade on the inlet and outlet airlocks, including a mist shower</a:t>
            </a:r>
          </a:p>
        </p:txBody>
      </p:sp>
      <p:sp>
        <p:nvSpPr>
          <p:cNvPr id="20" name="Rounded Rectangle 19"/>
          <p:cNvSpPr/>
          <p:nvPr/>
        </p:nvSpPr>
        <p:spPr>
          <a:xfrm>
            <a:off x="384048" y="3671315"/>
            <a:ext cx="5638647" cy="2738627"/>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84048" y="3671315"/>
            <a:ext cx="91440" cy="2738627"/>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3503" y="3781044"/>
            <a:ext cx="5309463" cy="347472"/>
          </a:xfrm>
          <a:prstGeom prst="rect">
            <a:avLst/>
          </a:prstGeom>
          <a:noFill/>
        </p:spPr>
        <p:txBody>
          <a:bodyPr wrap="square" anchor="t">
            <a:spAutoFit/>
          </a:bodyPr>
          <a:lstStyle/>
          <a:p>
            <a:pPr algn="l"/>
            <a:r>
              <a:rPr sz="1600" b="1">
                <a:solidFill>
                  <a:srgbClr val="0F2B46"/>
                </a:solidFill>
                <a:latin typeface="Calibri"/>
                <a:ea typeface="微软雅黑"/>
                <a:cs typeface="Calibri"/>
              </a:rPr>
              <a:t>Flexible containment</a:t>
            </a:r>
          </a:p>
        </p:txBody>
      </p:sp>
      <p:sp>
        <p:nvSpPr>
          <p:cNvPr id="23" name="TextBox 22"/>
          <p:cNvSpPr txBox="1"/>
          <p:nvPr/>
        </p:nvSpPr>
        <p:spPr>
          <a:xfrm>
            <a:off x="566928" y="4146804"/>
            <a:ext cx="5346039" cy="2171699"/>
          </a:xfrm>
          <a:prstGeom prst="rect">
            <a:avLst/>
          </a:prstGeom>
          <a:noFill/>
        </p:spPr>
        <p:txBody>
          <a:bodyPr wrap="square">
            <a:spAutoFit/>
          </a:bodyPr>
          <a:lstStyle/>
          <a:p>
            <a:pPr>
              <a:spcAft>
                <a:spcPts val="600"/>
              </a:spcAft>
            </a:pPr>
            <a:r>
              <a:rPr sz="1300" b="0">
                <a:solidFill>
                  <a:srgbClr val="2C3E50"/>
                </a:solidFill>
                <a:latin typeface="Calibri"/>
                <a:ea typeface="微软雅黑"/>
                <a:cs typeface="Calibri"/>
              </a:rPr>
              <a:t>•  Several custom flexible isolators</a:t>
            </a:r>
          </a:p>
          <a:p>
            <a:pPr>
              <a:spcAft>
                <a:spcPts val="600"/>
              </a:spcAft>
            </a:pPr>
            <a:r>
              <a:rPr sz="1300" b="0">
                <a:solidFill>
                  <a:srgbClr val="2C3E50"/>
                </a:solidFill>
                <a:latin typeface="Calibri"/>
                <a:ea typeface="微软雅黑"/>
                <a:cs typeface="Calibri"/>
              </a:rPr>
              <a:t>•  Covering each unit operation in the module, and the waste streams</a:t>
            </a:r>
          </a:p>
        </p:txBody>
      </p:sp>
      <p:sp>
        <p:nvSpPr>
          <p:cNvPr id="24" name="Rounded Rectangle 23"/>
          <p:cNvSpPr/>
          <p:nvPr/>
        </p:nvSpPr>
        <p:spPr>
          <a:xfrm>
            <a:off x="6168999" y="3671315"/>
            <a:ext cx="5638647" cy="2738627"/>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68999" y="3671315"/>
            <a:ext cx="91440" cy="2738627"/>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8455" y="3781044"/>
            <a:ext cx="5309463" cy="347472"/>
          </a:xfrm>
          <a:prstGeom prst="rect">
            <a:avLst/>
          </a:prstGeom>
          <a:noFill/>
        </p:spPr>
        <p:txBody>
          <a:bodyPr wrap="square" anchor="t">
            <a:spAutoFit/>
          </a:bodyPr>
          <a:lstStyle/>
          <a:p>
            <a:pPr algn="l"/>
            <a:r>
              <a:rPr sz="1600" b="1">
                <a:solidFill>
                  <a:srgbClr val="0F2B46"/>
                </a:solidFill>
                <a:latin typeface="Calibri"/>
                <a:ea typeface="微软雅黑"/>
                <a:cs typeface="Calibri"/>
              </a:rPr>
              <a:t>Pricing basis (supplier quotations)</a:t>
            </a:r>
          </a:p>
        </p:txBody>
      </p:sp>
      <p:sp>
        <p:nvSpPr>
          <p:cNvPr id="27" name="TextBox 26"/>
          <p:cNvSpPr txBox="1"/>
          <p:nvPr/>
        </p:nvSpPr>
        <p:spPr>
          <a:xfrm>
            <a:off x="6351879" y="4146804"/>
            <a:ext cx="5346039" cy="2171699"/>
          </a:xfrm>
          <a:prstGeom prst="rect">
            <a:avLst/>
          </a:prstGeom>
          <a:noFill/>
        </p:spPr>
        <p:txBody>
          <a:bodyPr wrap="square">
            <a:spAutoFit/>
          </a:bodyPr>
          <a:lstStyle/>
          <a:p>
            <a:pPr>
              <a:spcAft>
                <a:spcPts val="600"/>
              </a:spcAft>
            </a:pPr>
            <a:r>
              <a:rPr sz="1300" b="0">
                <a:solidFill>
                  <a:srgbClr val="2C3E50"/>
                </a:solidFill>
                <a:latin typeface="Calibri"/>
                <a:ea typeface="微软雅黑"/>
                <a:cs typeface="Calibri"/>
              </a:rPr>
              <a:t>•  Flexible isolator: ILC Dover JS26-11384-0 (22 July 2026), £115,800 for the package, EXW, excluding transport and installation; about 20 weeks after drawing approval</a:t>
            </a:r>
          </a:p>
          <a:p>
            <a:pPr>
              <a:spcAft>
                <a:spcPts val="600"/>
              </a:spcAft>
            </a:pPr>
            <a:r>
              <a:rPr sz="1300" b="0">
                <a:solidFill>
                  <a:srgbClr val="2C3E50"/>
                </a:solidFill>
                <a:latin typeface="Calibri"/>
                <a:ea typeface="微软雅黑"/>
                <a:cs typeface="Calibri"/>
              </a:rPr>
              <a:t>•  Fixed isolator: Howorth Q26543 (11 August 2026), single-chamber dispensing isolator £250,000 each; options of a 190 RTP at £18,000 and a mock-up at £17,000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14 / 31</a:t>
            </a:r>
          </a:p>
        </p:txBody>
      </p:sp>
      <p:sp>
        <p:nvSpPr>
          <p:cNvPr id="10" name="Rectangle 9"/>
          <p:cNvSpPr/>
          <p:nvPr/>
        </p:nvSpPr>
        <p:spPr>
          <a:xfrm>
            <a:off x="384048" y="164592"/>
            <a:ext cx="82296" cy="71323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C1 · isolator selection</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A China-sourced isolator is not recommended</a:t>
            </a:r>
          </a:p>
        </p:txBody>
      </p:sp>
      <p:sp>
        <p:nvSpPr>
          <p:cNvPr id="13" name="Rounded Rectangle 12"/>
          <p:cNvSpPr/>
          <p:nvPr/>
        </p:nvSpPr>
        <p:spPr>
          <a:xfrm>
            <a:off x="384048" y="1051560"/>
            <a:ext cx="3710330" cy="9875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1051560"/>
            <a:ext cx="82296" cy="98755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229319"/>
            <a:ext cx="3436010" cy="457200"/>
          </a:xfrm>
          <a:prstGeom prst="rect">
            <a:avLst/>
          </a:prstGeom>
          <a:noFill/>
        </p:spPr>
        <p:txBody>
          <a:bodyPr wrap="square" anchor="t">
            <a:spAutoFit/>
          </a:bodyPr>
          <a:lstStyle/>
          <a:p>
            <a:pPr algn="l"/>
            <a:r>
              <a:rPr sz="2000" b="1">
                <a:solidFill>
                  <a:srgbClr val="0F2B46"/>
                </a:solidFill>
                <a:latin typeface="Calibri"/>
                <a:ea typeface="微软雅黑"/>
                <a:cs typeface="Calibri"/>
              </a:rPr>
              <a:t>CE mark required</a:t>
            </a:r>
          </a:p>
        </p:txBody>
      </p:sp>
      <p:sp>
        <p:nvSpPr>
          <p:cNvPr id="16" name="TextBox 15"/>
          <p:cNvSpPr txBox="1"/>
          <p:nvPr/>
        </p:nvSpPr>
        <p:spPr>
          <a:xfrm>
            <a:off x="566928" y="1618488"/>
            <a:ext cx="3436010" cy="395020"/>
          </a:xfrm>
          <a:prstGeom prst="rect">
            <a:avLst/>
          </a:prstGeom>
          <a:noFill/>
        </p:spPr>
        <p:txBody>
          <a:bodyPr wrap="square" anchor="t">
            <a:spAutoFit/>
          </a:bodyPr>
          <a:lstStyle/>
          <a:p>
            <a:pPr algn="l"/>
            <a:r>
              <a:rPr sz="1200" b="0">
                <a:solidFill>
                  <a:srgbClr val="5A6A7A"/>
                </a:solidFill>
                <a:latin typeface="Calibri"/>
                <a:ea typeface="微软雅黑"/>
                <a:cs typeface="Calibri"/>
              </a:rPr>
              <a:t>Condition of UK placement</a:t>
            </a:r>
          </a:p>
        </p:txBody>
      </p:sp>
      <p:sp>
        <p:nvSpPr>
          <p:cNvPr id="17" name="Rounded Rectangle 16"/>
          <p:cNvSpPr/>
          <p:nvPr/>
        </p:nvSpPr>
        <p:spPr>
          <a:xfrm>
            <a:off x="4240682" y="1051560"/>
            <a:ext cx="3710330" cy="9875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40682" y="1051560"/>
            <a:ext cx="82296" cy="98755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23562" y="1229319"/>
            <a:ext cx="3436010" cy="457200"/>
          </a:xfrm>
          <a:prstGeom prst="rect">
            <a:avLst/>
          </a:prstGeom>
          <a:noFill/>
        </p:spPr>
        <p:txBody>
          <a:bodyPr wrap="square" anchor="t">
            <a:spAutoFit/>
          </a:bodyPr>
          <a:lstStyle/>
          <a:p>
            <a:pPr algn="l"/>
            <a:r>
              <a:rPr sz="2000" b="1">
                <a:solidFill>
                  <a:srgbClr val="0F2B46"/>
                </a:solidFill>
                <a:latin typeface="Calibri"/>
                <a:ea typeface="微软雅黑"/>
                <a:cs typeface="Calibri"/>
              </a:rPr>
              <a:t>+3–4 months</a:t>
            </a:r>
          </a:p>
        </p:txBody>
      </p:sp>
      <p:sp>
        <p:nvSpPr>
          <p:cNvPr id="20" name="TextBox 19"/>
          <p:cNvSpPr txBox="1"/>
          <p:nvPr/>
        </p:nvSpPr>
        <p:spPr>
          <a:xfrm>
            <a:off x="4423562" y="1618488"/>
            <a:ext cx="3436010" cy="395020"/>
          </a:xfrm>
          <a:prstGeom prst="rect">
            <a:avLst/>
          </a:prstGeom>
          <a:noFill/>
        </p:spPr>
        <p:txBody>
          <a:bodyPr wrap="square" anchor="t">
            <a:spAutoFit/>
          </a:bodyPr>
          <a:lstStyle/>
          <a:p>
            <a:pPr algn="l"/>
            <a:r>
              <a:rPr sz="1200" b="0">
                <a:solidFill>
                  <a:srgbClr val="5A6A7A"/>
                </a:solidFill>
                <a:latin typeface="Calibri"/>
                <a:ea typeface="微软雅黑"/>
                <a:cs typeface="Calibri"/>
              </a:rPr>
              <a:t>Minimum for retrospective certification</a:t>
            </a:r>
          </a:p>
        </p:txBody>
      </p:sp>
      <p:sp>
        <p:nvSpPr>
          <p:cNvPr id="21" name="Rounded Rectangle 20"/>
          <p:cNvSpPr/>
          <p:nvPr/>
        </p:nvSpPr>
        <p:spPr>
          <a:xfrm>
            <a:off x="8097316" y="1051560"/>
            <a:ext cx="3710330" cy="9875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97316" y="1051560"/>
            <a:ext cx="82296" cy="98755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0196" y="1229319"/>
            <a:ext cx="3436010" cy="457200"/>
          </a:xfrm>
          <a:prstGeom prst="rect">
            <a:avLst/>
          </a:prstGeom>
          <a:noFill/>
        </p:spPr>
        <p:txBody>
          <a:bodyPr wrap="square" anchor="t">
            <a:spAutoFit/>
          </a:bodyPr>
          <a:lstStyle/>
          <a:p>
            <a:pPr algn="l"/>
            <a:r>
              <a:rPr sz="1600" b="1">
                <a:solidFill>
                  <a:srgbClr val="0F2B46"/>
                </a:solidFill>
                <a:latin typeface="Calibri"/>
                <a:ea typeface="微软雅黑"/>
                <a:cs typeface="Calibri"/>
              </a:rPr>
              <a:t>Off-the-shelf high integrity</a:t>
            </a:r>
          </a:p>
        </p:txBody>
      </p:sp>
      <p:sp>
        <p:nvSpPr>
          <p:cNvPr id="24" name="TextBox 23"/>
          <p:cNvSpPr txBox="1"/>
          <p:nvPr/>
        </p:nvSpPr>
        <p:spPr>
          <a:xfrm>
            <a:off x="8280196" y="1618488"/>
            <a:ext cx="3436010" cy="395020"/>
          </a:xfrm>
          <a:prstGeom prst="rect">
            <a:avLst/>
          </a:prstGeom>
          <a:noFill/>
        </p:spPr>
        <p:txBody>
          <a:bodyPr wrap="square" anchor="t">
            <a:spAutoFit/>
          </a:bodyPr>
          <a:lstStyle/>
          <a:p>
            <a:pPr algn="l"/>
            <a:r>
              <a:rPr sz="1200" b="0">
                <a:solidFill>
                  <a:srgbClr val="5A6A7A"/>
                </a:solidFill>
                <a:latin typeface="Calibri"/>
                <a:ea typeface="微软雅黑"/>
                <a:cs typeface="Calibri"/>
              </a:rPr>
              <a:t>The type this project needs</a:t>
            </a:r>
          </a:p>
        </p:txBody>
      </p:sp>
      <p:sp>
        <p:nvSpPr>
          <p:cNvPr id="25" name="TextBox 24"/>
          <p:cNvSpPr txBox="1"/>
          <p:nvPr/>
        </p:nvSpPr>
        <p:spPr>
          <a:xfrm>
            <a:off x="429768" y="2194560"/>
            <a:ext cx="11332159" cy="4160520"/>
          </a:xfrm>
          <a:prstGeom prst="rect">
            <a:avLst/>
          </a:prstGeom>
          <a:noFill/>
        </p:spPr>
        <p:txBody>
          <a:bodyPr wrap="square">
            <a:spAutoFit/>
          </a:bodyPr>
          <a:lstStyle/>
          <a:p>
            <a:pPr>
              <a:spcAft>
                <a:spcPts val="1000"/>
              </a:spcAft>
            </a:pPr>
            <a:r>
              <a:rPr sz="1600" b="0" dirty="0">
                <a:solidFill>
                  <a:srgbClr val="2C3E50"/>
                </a:solidFill>
                <a:latin typeface="Calibri"/>
                <a:ea typeface="微软雅黑"/>
                <a:cs typeface="Calibri"/>
              </a:rPr>
              <a:t>•  Anything placed in the UK has to meet UK standards and carry the CE mark. The China-sourced option does not currently carry CE.</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p>
          <a:p>
            <a:pPr>
              <a:spcAft>
                <a:spcPts val="1000"/>
              </a:spcAft>
            </a:pPr>
            <a:r>
              <a:rPr sz="1600" b="0" dirty="0">
                <a:solidFill>
                  <a:srgbClr val="2C3E50"/>
                </a:solidFill>
                <a:latin typeface="Calibri"/>
                <a:ea typeface="微软雅黑"/>
                <a:cs typeface="Calibri"/>
              </a:rPr>
              <a:t>•  Retrospective CE marking adds at least 3–4 months on the experience of other projects, and longer if certification requires design changes.</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p>
          <a:p>
            <a:pPr>
              <a:spcAft>
                <a:spcPts val="1000"/>
              </a:spcAft>
            </a:pPr>
            <a:r>
              <a:rPr sz="1600" b="0" dirty="0">
                <a:solidFill>
                  <a:srgbClr val="2C3E50"/>
                </a:solidFill>
                <a:latin typeface="Calibri"/>
                <a:ea typeface="微软雅黑"/>
                <a:cs typeface="Calibri"/>
              </a:rPr>
              <a:t>•  The design and test documentation that CE marking requires was not prepared against that standard, so assembling it is a substantial piece of work.</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p>
          <a:p>
            <a:pPr>
              <a:spcAft>
                <a:spcPts val="1000"/>
              </a:spcAft>
            </a:pPr>
            <a:r>
              <a:rPr sz="1600" b="0" dirty="0">
                <a:solidFill>
                  <a:srgbClr val="2C3E50"/>
                </a:solidFill>
                <a:latin typeface="Calibri"/>
                <a:ea typeface="微软雅黑"/>
                <a:cs typeface="Calibri"/>
              </a:rPr>
              <a:t>•  This project needs an off-the-shelf high-integrity isolator. Information received from the China suppliers approached has not been usable as it stands. Tofflon mainly builds isolators bespoke to a piece of equipment, which is not this requirement.</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p>
          <a:p>
            <a:pPr>
              <a:spcAft>
                <a:spcPts val="1000"/>
              </a:spcAft>
            </a:pPr>
            <a:r>
              <a:rPr sz="1600" b="0" dirty="0">
                <a:solidFill>
                  <a:srgbClr val="2C3E50"/>
                </a:solidFill>
                <a:latin typeface="Calibri"/>
                <a:ea typeface="微软雅黑"/>
                <a:cs typeface="Calibri"/>
              </a:rPr>
              <a:t>•  Recommended route: develop the supply on the Howorth and ILC Dover budget quotations already in hand.</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r>
              <a:rPr sz="1600" b="0" dirty="0" err="1">
                <a:solidFill>
                  <a:srgbClr val="2C3E50"/>
                </a:solidFill>
                <a:latin typeface="微软雅黑"/>
                <a:ea typeface="微软雅黑"/>
                <a:cs typeface="微软雅黑"/>
              </a:rPr>
              <a:t/>
            </a:r>
            <a:r>
              <a:rPr sz="1600" b="0" dirty="0">
                <a:solidFill>
                  <a:srgbClr val="2C3E50"/>
                </a:solidFill>
                <a:latin typeface="微软雅黑"/>
                <a:ea typeface="微软雅黑"/>
                <a:cs typeface="微软雅黑"/>
              </a:rPr>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15 / 31</a:t>
            </a:r>
          </a:p>
        </p:txBody>
      </p:sp>
      <p:sp>
        <p:nvSpPr>
          <p:cNvPr id="10" name="Rectangle 9"/>
          <p:cNvSpPr/>
          <p:nvPr/>
        </p:nvSpPr>
        <p:spPr>
          <a:xfrm>
            <a:off x="384048" y="164592"/>
            <a:ext cx="82296" cy="71323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C1 · investment</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Internal estimate · main equipment + 30% project contingency</a:t>
            </a:r>
          </a:p>
        </p:txBody>
      </p:sp>
      <p:sp>
        <p:nvSpPr>
          <p:cNvPr id="13" name="Rounded Rectangle 12"/>
          <p:cNvSpPr/>
          <p:nvPr/>
        </p:nvSpPr>
        <p:spPr>
          <a:xfrm>
            <a:off x="384048" y="1024128"/>
            <a:ext cx="11423599" cy="457200"/>
          </a:xfrm>
          <a:prstGeom prst="roundRect">
            <a:avLst>
              <a:gd name="adj" fmla="val 8000"/>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216" y="1078992"/>
            <a:ext cx="5943600" cy="347472"/>
          </a:xfrm>
          <a:prstGeom prst="rect">
            <a:avLst/>
          </a:prstGeom>
          <a:noFill/>
        </p:spPr>
        <p:txBody>
          <a:bodyPr wrap="square" anchor="t">
            <a:spAutoFit/>
          </a:bodyPr>
          <a:lstStyle/>
          <a:p>
            <a:pPr algn="l"/>
            <a:r>
              <a:rPr sz="1600" b="1">
                <a:solidFill>
                  <a:srgbClr val="FFFFFF"/>
                </a:solidFill>
                <a:latin typeface="Calibri"/>
                <a:ea typeface="微软雅黑"/>
                <a:cs typeface="Calibri"/>
              </a:rPr>
              <a:t>Total investment estimate</a:t>
            </a:r>
          </a:p>
        </p:txBody>
      </p:sp>
      <p:sp>
        <p:nvSpPr>
          <p:cNvPr id="15" name="TextBox 14"/>
          <p:cNvSpPr txBox="1"/>
          <p:nvPr/>
        </p:nvSpPr>
        <p:spPr>
          <a:xfrm>
            <a:off x="6784848" y="1078992"/>
            <a:ext cx="4754880" cy="347472"/>
          </a:xfrm>
          <a:prstGeom prst="rect">
            <a:avLst/>
          </a:prstGeom>
          <a:noFill/>
        </p:spPr>
        <p:txBody>
          <a:bodyPr wrap="square" anchor="t">
            <a:spAutoFit/>
          </a:bodyPr>
          <a:lstStyle/>
          <a:p>
            <a:pPr algn="r"/>
            <a:r>
              <a:rPr sz="1800" b="1">
                <a:solidFill>
                  <a:srgbClr val="FFFFFF"/>
                </a:solidFill>
                <a:latin typeface="Calibri"/>
                <a:ea typeface="微软雅黑"/>
                <a:cs typeface="Calibri"/>
              </a:rPr>
              <a:t>£2,476,500</a:t>
            </a:r>
          </a:p>
        </p:txBody>
      </p:sp>
      <p:graphicFrame>
        <p:nvGraphicFramePr>
          <p:cNvPr id="16" name="Table 15"/>
          <p:cNvGraphicFramePr>
            <a:graphicFrameLocks noGrp="1"/>
          </p:cNvGraphicFramePr>
          <p:nvPr/>
        </p:nvGraphicFramePr>
        <p:xfrm>
          <a:off x="384048" y="1627632"/>
          <a:ext cx="11423598" cy="4709160"/>
        </p:xfrm>
        <a:graphic>
          <a:graphicData uri="http://schemas.openxmlformats.org/drawingml/2006/table">
            <a:tbl>
              <a:tblPr firstRow="1" bandRow="1">
                <a:tableStyleId>{5C22544A-7EE6-4342-B048-85BDC9FD1C3A}</a:tableStyleId>
              </a:tblPr>
              <a:tblGrid>
                <a:gridCol w="8224991">
                  <a:extLst>
                    <a:ext uri="{9D8B030D-6E8A-4147-A177-3AD203B41FA5}">
                      <a16:colId xmlns:a16="http://schemas.microsoft.com/office/drawing/2014/main" val="20000"/>
                    </a:ext>
                  </a:extLst>
                </a:gridCol>
                <a:gridCol w="3198607">
                  <a:extLst>
                    <a:ext uri="{9D8B030D-6E8A-4147-A177-3AD203B41FA5}">
                      <a16:colId xmlns:a16="http://schemas.microsoft.com/office/drawing/2014/main" val="20001"/>
                    </a:ext>
                  </a:extLst>
                </a:gridCol>
              </a:tblGrid>
              <a:tr h="428105">
                <a:tc>
                  <a:txBody>
                    <a:bodyPr/>
                    <a:lstStyle/>
                    <a:p>
                      <a:pPr algn="l"/>
                      <a:r>
                        <a:rPr sz="1500" b="1">
                          <a:solidFill>
                            <a:srgbClr val="FFFFFF"/>
                          </a:solidFill>
                          <a:latin typeface="Calibri"/>
                          <a:ea typeface="微软雅黑"/>
                          <a:cs typeface="Calibri"/>
                        </a:rPr>
                        <a:t>Main equipment (equipment and design)</a:t>
                      </a:r>
                    </a:p>
                  </a:txBody>
                  <a:tcPr anchor="ctr">
                    <a:solidFill>
                      <a:srgbClr val="1A3A55"/>
                    </a:solidFill>
                  </a:tcPr>
                </a:tc>
                <a:tc>
                  <a:txBody>
                    <a:bodyPr/>
                    <a:lstStyle/>
                    <a:p>
                      <a:pPr algn="r"/>
                      <a:r>
                        <a:rPr sz="1500" b="1">
                          <a:solidFill>
                            <a:srgbClr val="FFFFFF"/>
                          </a:solidFill>
                          <a:latin typeface="Calibri"/>
                          <a:ea typeface="微软雅黑"/>
                          <a:cs typeface="Calibri"/>
                        </a:rPr>
                        <a:t>£1,905,000</a:t>
                      </a:r>
                    </a:p>
                  </a:txBody>
                  <a:tcPr anchor="ctr">
                    <a:solidFill>
                      <a:srgbClr val="1A3A55"/>
                    </a:solidFill>
                  </a:tcPr>
                </a:tc>
                <a:extLst>
                  <a:ext uri="{0D108BD9-81ED-4DB2-BD59-A6C34878D82A}">
                    <a16:rowId xmlns:a16="http://schemas.microsoft.com/office/drawing/2014/main" val="10000"/>
                  </a:ext>
                </a:extLst>
              </a:tr>
              <a:tr h="428105">
                <a:tc>
                  <a:txBody>
                    <a:bodyPr/>
                    <a:lstStyle/>
                    <a:p>
                      <a:pPr algn="l"/>
                      <a:r>
                        <a:rPr sz="1500" b="0">
                          <a:solidFill>
                            <a:srgbClr val="2C3E50"/>
                          </a:solidFill>
                          <a:latin typeface="Calibri"/>
                          <a:ea typeface="微软雅黑"/>
                          <a:cs typeface="Calibri"/>
                        </a:rPr>
                        <a:t>1. Fixed isolators</a:t>
                      </a:r>
                    </a:p>
                  </a:txBody>
                  <a:tcPr anchor="ctr">
                    <a:solidFill>
                      <a:srgbClr val="FFFFFF"/>
                    </a:solidFill>
                  </a:tcPr>
                </a:tc>
                <a:tc>
                  <a:txBody>
                    <a:bodyPr/>
                    <a:lstStyle/>
                    <a:p>
                      <a:pPr algn="r"/>
                      <a:r>
                        <a:rPr sz="1500" b="0">
                          <a:solidFill>
                            <a:srgbClr val="2C3E50"/>
                          </a:solidFill>
                          <a:latin typeface="Calibri"/>
                          <a:ea typeface="微软雅黑"/>
                          <a:cs typeface="Calibri"/>
                        </a:rPr>
                        <a:t>£1,000,000</a:t>
                      </a:r>
                    </a:p>
                  </a:txBody>
                  <a:tcPr anchor="ctr">
                    <a:solidFill>
                      <a:srgbClr val="FFFFFF"/>
                    </a:solidFill>
                  </a:tcPr>
                </a:tc>
                <a:extLst>
                  <a:ext uri="{0D108BD9-81ED-4DB2-BD59-A6C34878D82A}">
                    <a16:rowId xmlns:a16="http://schemas.microsoft.com/office/drawing/2014/main" val="10001"/>
                  </a:ext>
                </a:extLst>
              </a:tr>
              <a:tr h="428105">
                <a:tc>
                  <a:txBody>
                    <a:bodyPr/>
                    <a:lstStyle/>
                    <a:p>
                      <a:pPr algn="l"/>
                      <a:r>
                        <a:rPr sz="1400" b="0">
                          <a:solidFill>
                            <a:srgbClr val="5A6A7A"/>
                          </a:solidFill>
                          <a:latin typeface="Calibri"/>
                          <a:ea typeface="微软雅黑"/>
                          <a:cs typeface="Calibri"/>
                        </a:rPr>
                        <a:t>1.1 Upper floor (second floor), material-dispensing fixed isolator</a:t>
                      </a:r>
                    </a:p>
                  </a:txBody>
                  <a:tcPr anchor="ctr">
                    <a:solidFill>
                      <a:srgbClr val="F6F8FA"/>
                    </a:solidFill>
                  </a:tcPr>
                </a:tc>
                <a:tc>
                  <a:txBody>
                    <a:bodyPr/>
                    <a:lstStyle/>
                    <a:p>
                      <a:pPr algn="r"/>
                      <a:r>
                        <a:rPr sz="1400" b="0">
                          <a:solidFill>
                            <a:srgbClr val="5A6A7A"/>
                          </a:solidFill>
                          <a:latin typeface="Calibri"/>
                          <a:ea typeface="微软雅黑"/>
                          <a:cs typeface="Calibri"/>
                        </a:rPr>
                        <a:t>£500,000</a:t>
                      </a:r>
                    </a:p>
                  </a:txBody>
                  <a:tcPr anchor="ctr">
                    <a:solidFill>
                      <a:srgbClr val="F6F8FA"/>
                    </a:solidFill>
                  </a:tcPr>
                </a:tc>
                <a:extLst>
                  <a:ext uri="{0D108BD9-81ED-4DB2-BD59-A6C34878D82A}">
                    <a16:rowId xmlns:a16="http://schemas.microsoft.com/office/drawing/2014/main" val="10002"/>
                  </a:ext>
                </a:extLst>
              </a:tr>
              <a:tr h="428105">
                <a:tc>
                  <a:txBody>
                    <a:bodyPr/>
                    <a:lstStyle/>
                    <a:p>
                      <a:pPr algn="l"/>
                      <a:r>
                        <a:rPr sz="1400" b="0">
                          <a:solidFill>
                            <a:srgbClr val="5A6A7A"/>
                          </a:solidFill>
                          <a:latin typeface="Calibri"/>
                          <a:ea typeface="微软雅黑"/>
                          <a:cs typeface="Calibri"/>
                        </a:rPr>
                        <a:t>1.2 Ground floor, final-packing fixed isolator</a:t>
                      </a:r>
                    </a:p>
                  </a:txBody>
                  <a:tcPr anchor="ctr">
                    <a:solidFill>
                      <a:srgbClr val="FFFFFF"/>
                    </a:solidFill>
                  </a:tcPr>
                </a:tc>
                <a:tc>
                  <a:txBody>
                    <a:bodyPr/>
                    <a:lstStyle/>
                    <a:p>
                      <a:pPr algn="r"/>
                      <a:r>
                        <a:rPr sz="1400" b="0">
                          <a:solidFill>
                            <a:srgbClr val="5A6A7A"/>
                          </a:solidFill>
                          <a:latin typeface="Calibri"/>
                          <a:ea typeface="微软雅黑"/>
                          <a:cs typeface="Calibri"/>
                        </a:rPr>
                        <a:t>£500,000</a:t>
                      </a:r>
                    </a:p>
                  </a:txBody>
                  <a:tcPr anchor="ctr">
                    <a:solidFill>
                      <a:srgbClr val="FFFFFF"/>
                    </a:solidFill>
                  </a:tcPr>
                </a:tc>
                <a:extLst>
                  <a:ext uri="{0D108BD9-81ED-4DB2-BD59-A6C34878D82A}">
                    <a16:rowId xmlns:a16="http://schemas.microsoft.com/office/drawing/2014/main" val="10003"/>
                  </a:ext>
                </a:extLst>
              </a:tr>
              <a:tr h="428105">
                <a:tc>
                  <a:txBody>
                    <a:bodyPr/>
                    <a:lstStyle/>
                    <a:p>
                      <a:pPr algn="l"/>
                      <a:r>
                        <a:rPr sz="1500" b="0">
                          <a:solidFill>
                            <a:srgbClr val="2C3E50"/>
                          </a:solidFill>
                          <a:latin typeface="Calibri"/>
                          <a:ea typeface="微软雅黑"/>
                          <a:cs typeface="Calibri"/>
                        </a:rPr>
                        <a:t>2. HVAC and airlocks</a:t>
                      </a:r>
                    </a:p>
                  </a:txBody>
                  <a:tcPr anchor="ctr">
                    <a:solidFill>
                      <a:srgbClr val="F6F8FA"/>
                    </a:solidFill>
                  </a:tcPr>
                </a:tc>
                <a:tc>
                  <a:txBody>
                    <a:bodyPr/>
                    <a:lstStyle/>
                    <a:p>
                      <a:pPr algn="r"/>
                      <a:r>
                        <a:rPr sz="1500" b="0">
                          <a:solidFill>
                            <a:srgbClr val="2C3E50"/>
                          </a:solidFill>
                          <a:latin typeface="Calibri"/>
                          <a:ea typeface="微软雅黑"/>
                          <a:cs typeface="Calibri"/>
                        </a:rPr>
                        <a:t>£575,000</a:t>
                      </a:r>
                    </a:p>
                  </a:txBody>
                  <a:tcPr anchor="ctr">
                    <a:solidFill>
                      <a:srgbClr val="F6F8FA"/>
                    </a:solidFill>
                  </a:tcPr>
                </a:tc>
                <a:extLst>
                  <a:ext uri="{0D108BD9-81ED-4DB2-BD59-A6C34878D82A}">
                    <a16:rowId xmlns:a16="http://schemas.microsoft.com/office/drawing/2014/main" val="10004"/>
                  </a:ext>
                </a:extLst>
              </a:tr>
              <a:tr h="428105">
                <a:tc>
                  <a:txBody>
                    <a:bodyPr/>
                    <a:lstStyle/>
                    <a:p>
                      <a:pPr algn="l"/>
                      <a:r>
                        <a:rPr sz="1400" b="0">
                          <a:solidFill>
                            <a:srgbClr val="5A6A7A"/>
                          </a:solidFill>
                          <a:latin typeface="Calibri"/>
                          <a:ea typeface="微软雅黑"/>
                          <a:cs typeface="Calibri"/>
                        </a:rPr>
                        <a:t>2.1 HVAC modification and upgrade</a:t>
                      </a:r>
                    </a:p>
                  </a:txBody>
                  <a:tcPr anchor="ctr">
                    <a:solidFill>
                      <a:srgbClr val="FFFFFF"/>
                    </a:solidFill>
                  </a:tcPr>
                </a:tc>
                <a:tc>
                  <a:txBody>
                    <a:bodyPr/>
                    <a:lstStyle/>
                    <a:p>
                      <a:pPr algn="r"/>
                      <a:r>
                        <a:rPr sz="1400" b="0">
                          <a:solidFill>
                            <a:srgbClr val="5A6A7A"/>
                          </a:solidFill>
                          <a:latin typeface="Calibri"/>
                          <a:ea typeface="微软雅黑"/>
                          <a:cs typeface="Calibri"/>
                        </a:rPr>
                        <a:t>£350,000</a:t>
                      </a:r>
                    </a:p>
                  </a:txBody>
                  <a:tcPr anchor="ctr">
                    <a:solidFill>
                      <a:srgbClr val="FFFFFF"/>
                    </a:solidFill>
                  </a:tcPr>
                </a:tc>
                <a:extLst>
                  <a:ext uri="{0D108BD9-81ED-4DB2-BD59-A6C34878D82A}">
                    <a16:rowId xmlns:a16="http://schemas.microsoft.com/office/drawing/2014/main" val="10005"/>
                  </a:ext>
                </a:extLst>
              </a:tr>
              <a:tr h="428105">
                <a:tc>
                  <a:txBody>
                    <a:bodyPr/>
                    <a:lstStyle/>
                    <a:p>
                      <a:pPr algn="l"/>
                      <a:r>
                        <a:rPr sz="1400" b="0">
                          <a:solidFill>
                            <a:srgbClr val="5A6A7A"/>
                          </a:solidFill>
                          <a:latin typeface="Calibri"/>
                          <a:ea typeface="微软雅黑"/>
                          <a:cs typeface="Calibri"/>
                        </a:rPr>
                        <a:t>2.2 Airlock interlocks and mist shower</a:t>
                      </a:r>
                    </a:p>
                  </a:txBody>
                  <a:tcPr anchor="ctr">
                    <a:solidFill>
                      <a:srgbClr val="F6F8FA"/>
                    </a:solidFill>
                  </a:tcPr>
                </a:tc>
                <a:tc>
                  <a:txBody>
                    <a:bodyPr/>
                    <a:lstStyle/>
                    <a:p>
                      <a:pPr algn="r"/>
                      <a:r>
                        <a:rPr sz="1400" b="0">
                          <a:solidFill>
                            <a:srgbClr val="5A6A7A"/>
                          </a:solidFill>
                          <a:latin typeface="Calibri"/>
                          <a:ea typeface="微软雅黑"/>
                          <a:cs typeface="Calibri"/>
                        </a:rPr>
                        <a:t>£225,000</a:t>
                      </a:r>
                    </a:p>
                  </a:txBody>
                  <a:tcPr anchor="ctr">
                    <a:solidFill>
                      <a:srgbClr val="F6F8FA"/>
                    </a:solidFill>
                  </a:tcPr>
                </a:tc>
                <a:extLst>
                  <a:ext uri="{0D108BD9-81ED-4DB2-BD59-A6C34878D82A}">
                    <a16:rowId xmlns:a16="http://schemas.microsoft.com/office/drawing/2014/main" val="10006"/>
                  </a:ext>
                </a:extLst>
              </a:tr>
              <a:tr h="428105">
                <a:tc>
                  <a:txBody>
                    <a:bodyPr/>
                    <a:lstStyle/>
                    <a:p>
                      <a:pPr algn="l"/>
                      <a:r>
                        <a:rPr sz="1500" b="0">
                          <a:solidFill>
                            <a:srgbClr val="2C3E50"/>
                          </a:solidFill>
                          <a:latin typeface="Calibri"/>
                          <a:ea typeface="微软雅黑"/>
                          <a:cs typeface="Calibri"/>
                        </a:rPr>
                        <a:t>3. Flexible containment</a:t>
                      </a:r>
                    </a:p>
                  </a:txBody>
                  <a:tcPr anchor="ctr">
                    <a:solidFill>
                      <a:srgbClr val="FFFFFF"/>
                    </a:solidFill>
                  </a:tcPr>
                </a:tc>
                <a:tc>
                  <a:txBody>
                    <a:bodyPr/>
                    <a:lstStyle/>
                    <a:p>
                      <a:pPr algn="r"/>
                      <a:r>
                        <a:rPr sz="1500" b="0">
                          <a:solidFill>
                            <a:srgbClr val="2C3E50"/>
                          </a:solidFill>
                          <a:latin typeface="Calibri"/>
                          <a:ea typeface="微软雅黑"/>
                          <a:cs typeface="Calibri"/>
                        </a:rPr>
                        <a:t>£330,000</a:t>
                      </a:r>
                    </a:p>
                  </a:txBody>
                  <a:tcPr anchor="ctr">
                    <a:solidFill>
                      <a:srgbClr val="FFFFFF"/>
                    </a:solidFill>
                  </a:tcPr>
                </a:tc>
                <a:extLst>
                  <a:ext uri="{0D108BD9-81ED-4DB2-BD59-A6C34878D82A}">
                    <a16:rowId xmlns:a16="http://schemas.microsoft.com/office/drawing/2014/main" val="10007"/>
                  </a:ext>
                </a:extLst>
              </a:tr>
              <a:tr h="428105">
                <a:tc>
                  <a:txBody>
                    <a:bodyPr/>
                    <a:lstStyle/>
                    <a:p>
                      <a:pPr algn="l"/>
                      <a:r>
                        <a:rPr sz="1400" b="0">
                          <a:solidFill>
                            <a:srgbClr val="5A6A7A"/>
                          </a:solidFill>
                          <a:latin typeface="Calibri"/>
                          <a:ea typeface="微软雅黑"/>
                          <a:cs typeface="Calibri"/>
                        </a:rPr>
                        <a:t>3.1 Custom flexible isolators for each unit operation</a:t>
                      </a:r>
                    </a:p>
                  </a:txBody>
                  <a:tcPr anchor="ctr">
                    <a:solidFill>
                      <a:srgbClr val="F6F8FA"/>
                    </a:solidFill>
                  </a:tcPr>
                </a:tc>
                <a:tc>
                  <a:txBody>
                    <a:bodyPr/>
                    <a:lstStyle/>
                    <a:p>
                      <a:pPr algn="r"/>
                      <a:r>
                        <a:rPr sz="1400" b="0">
                          <a:solidFill>
                            <a:srgbClr val="5A6A7A"/>
                          </a:solidFill>
                          <a:latin typeface="Calibri"/>
                          <a:ea typeface="微软雅黑"/>
                          <a:cs typeface="Calibri"/>
                        </a:rPr>
                        <a:t>£330,000</a:t>
                      </a:r>
                    </a:p>
                  </a:txBody>
                  <a:tcPr anchor="ctr">
                    <a:solidFill>
                      <a:srgbClr val="F6F8FA"/>
                    </a:solidFill>
                  </a:tcPr>
                </a:tc>
                <a:extLst>
                  <a:ext uri="{0D108BD9-81ED-4DB2-BD59-A6C34878D82A}">
                    <a16:rowId xmlns:a16="http://schemas.microsoft.com/office/drawing/2014/main" val="10008"/>
                  </a:ext>
                </a:extLst>
              </a:tr>
              <a:tr h="428105">
                <a:tc>
                  <a:txBody>
                    <a:bodyPr/>
                    <a:lstStyle/>
                    <a:p>
                      <a:pPr algn="l"/>
                      <a:r>
                        <a:rPr sz="1500" b="1">
                          <a:solidFill>
                            <a:srgbClr val="FFFFFF"/>
                          </a:solidFill>
                          <a:latin typeface="Calibri"/>
                          <a:ea typeface="微软雅黑"/>
                          <a:cs typeface="Calibri"/>
                        </a:rPr>
                        <a:t>General risk and contingency</a:t>
                      </a:r>
                    </a:p>
                  </a:txBody>
                  <a:tcPr anchor="ctr">
                    <a:solidFill>
                      <a:srgbClr val="1A3A55"/>
                    </a:solidFill>
                  </a:tcPr>
                </a:tc>
                <a:tc>
                  <a:txBody>
                    <a:bodyPr/>
                    <a:lstStyle/>
                    <a:p>
                      <a:pPr algn="r"/>
                      <a:r>
                        <a:rPr sz="1500" b="1">
                          <a:solidFill>
                            <a:srgbClr val="FFFFFF"/>
                          </a:solidFill>
                          <a:latin typeface="Calibri"/>
                          <a:ea typeface="微软雅黑"/>
                          <a:cs typeface="Calibri"/>
                        </a:rPr>
                        <a:t>£571,500</a:t>
                      </a:r>
                    </a:p>
                  </a:txBody>
                  <a:tcPr anchor="ctr">
                    <a:solidFill>
                      <a:srgbClr val="1A3A55"/>
                    </a:solidFill>
                  </a:tcPr>
                </a:tc>
                <a:extLst>
                  <a:ext uri="{0D108BD9-81ED-4DB2-BD59-A6C34878D82A}">
                    <a16:rowId xmlns:a16="http://schemas.microsoft.com/office/drawing/2014/main" val="10009"/>
                  </a:ext>
                </a:extLst>
              </a:tr>
              <a:tr h="428110">
                <a:tc>
                  <a:txBody>
                    <a:bodyPr/>
                    <a:lstStyle/>
                    <a:p>
                      <a:pPr algn="l"/>
                      <a:r>
                        <a:rPr sz="1500" b="0">
                          <a:solidFill>
                            <a:srgbClr val="2C3E50"/>
                          </a:solidFill>
                          <a:latin typeface="Calibri"/>
                          <a:ea typeface="微软雅黑"/>
                          <a:cs typeface="Calibri"/>
                        </a:rPr>
                        <a:t>Project contingency (30%)</a:t>
                      </a:r>
                    </a:p>
                  </a:txBody>
                  <a:tcPr anchor="ctr">
                    <a:solidFill>
                      <a:srgbClr val="F6F8FA"/>
                    </a:solidFill>
                  </a:tcPr>
                </a:tc>
                <a:tc>
                  <a:txBody>
                    <a:bodyPr/>
                    <a:lstStyle/>
                    <a:p>
                      <a:pPr algn="r"/>
                      <a:r>
                        <a:rPr sz="1500" b="0">
                          <a:solidFill>
                            <a:srgbClr val="2C3E50"/>
                          </a:solidFill>
                          <a:latin typeface="Calibri"/>
                          <a:ea typeface="微软雅黑"/>
                          <a:cs typeface="Calibri"/>
                        </a:rPr>
                        <a:t>£571,500</a:t>
                      </a:r>
                    </a:p>
                  </a:txBody>
                  <a:tcPr anchor="ctr">
                    <a:solidFill>
                      <a:srgbClr val="F6F8FA"/>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16 / 31</a:t>
            </a:r>
          </a:p>
        </p:txBody>
      </p:sp>
      <p:sp>
        <p:nvSpPr>
          <p:cNvPr id="10" name="Rectangle 9"/>
          <p:cNvSpPr/>
          <p:nvPr/>
        </p:nvSpPr>
        <p:spPr>
          <a:xfrm>
            <a:off x="384048" y="164592"/>
            <a:ext cx="82296" cy="71323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C1 · investment structure</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Main equipment subtotal / project contingency</a:t>
            </a:r>
          </a:p>
        </p:txBody>
      </p:sp>
      <p:sp>
        <p:nvSpPr>
          <p:cNvPr id="13" name="Rounded Rectangle 12"/>
          <p:cNvSpPr/>
          <p:nvPr/>
        </p:nvSpPr>
        <p:spPr>
          <a:xfrm>
            <a:off x="384048" y="1051560"/>
            <a:ext cx="3710330" cy="9875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1051560"/>
            <a:ext cx="82296" cy="98755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229319"/>
            <a:ext cx="3436010" cy="457200"/>
          </a:xfrm>
          <a:prstGeom prst="rect">
            <a:avLst/>
          </a:prstGeom>
          <a:noFill/>
        </p:spPr>
        <p:txBody>
          <a:bodyPr wrap="square" anchor="t">
            <a:spAutoFit/>
          </a:bodyPr>
          <a:lstStyle/>
          <a:p>
            <a:pPr algn="l"/>
            <a:r>
              <a:rPr sz="2000" b="1">
                <a:solidFill>
                  <a:srgbClr val="0F2B46"/>
                </a:solidFill>
                <a:latin typeface="Calibri"/>
                <a:ea typeface="微软雅黑"/>
                <a:cs typeface="Calibri"/>
              </a:rPr>
              <a:t>£2,476,500</a:t>
            </a:r>
          </a:p>
        </p:txBody>
      </p:sp>
      <p:sp>
        <p:nvSpPr>
          <p:cNvPr id="16" name="TextBox 15"/>
          <p:cNvSpPr txBox="1"/>
          <p:nvPr/>
        </p:nvSpPr>
        <p:spPr>
          <a:xfrm>
            <a:off x="566928" y="1618488"/>
            <a:ext cx="3436010" cy="395020"/>
          </a:xfrm>
          <a:prstGeom prst="rect">
            <a:avLst/>
          </a:prstGeom>
          <a:noFill/>
        </p:spPr>
        <p:txBody>
          <a:bodyPr wrap="square" anchor="t">
            <a:spAutoFit/>
          </a:bodyPr>
          <a:lstStyle/>
          <a:p>
            <a:pPr algn="l"/>
            <a:r>
              <a:rPr sz="1200" b="0">
                <a:solidFill>
                  <a:srgbClr val="5A6A7A"/>
                </a:solidFill>
                <a:latin typeface="Calibri"/>
                <a:ea typeface="微软雅黑"/>
                <a:cs typeface="Calibri"/>
              </a:rPr>
              <a:t>Total investment</a:t>
            </a:r>
          </a:p>
        </p:txBody>
      </p:sp>
      <p:sp>
        <p:nvSpPr>
          <p:cNvPr id="17" name="Rounded Rectangle 16"/>
          <p:cNvSpPr/>
          <p:nvPr/>
        </p:nvSpPr>
        <p:spPr>
          <a:xfrm>
            <a:off x="4240682" y="1051560"/>
            <a:ext cx="3710330" cy="9875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40682" y="1051560"/>
            <a:ext cx="82296" cy="98755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23562" y="1229319"/>
            <a:ext cx="3436010" cy="457200"/>
          </a:xfrm>
          <a:prstGeom prst="rect">
            <a:avLst/>
          </a:prstGeom>
          <a:noFill/>
        </p:spPr>
        <p:txBody>
          <a:bodyPr wrap="square" anchor="t">
            <a:spAutoFit/>
          </a:bodyPr>
          <a:lstStyle/>
          <a:p>
            <a:pPr algn="l"/>
            <a:r>
              <a:rPr sz="2000" b="1">
                <a:solidFill>
                  <a:srgbClr val="0F2B46"/>
                </a:solidFill>
                <a:latin typeface="Calibri"/>
                <a:ea typeface="微软雅黑"/>
                <a:cs typeface="Calibri"/>
              </a:rPr>
              <a:t>£1,905,000</a:t>
            </a:r>
          </a:p>
        </p:txBody>
      </p:sp>
      <p:sp>
        <p:nvSpPr>
          <p:cNvPr id="20" name="TextBox 19"/>
          <p:cNvSpPr txBox="1"/>
          <p:nvPr/>
        </p:nvSpPr>
        <p:spPr>
          <a:xfrm>
            <a:off x="4423562" y="1618488"/>
            <a:ext cx="3436010" cy="395020"/>
          </a:xfrm>
          <a:prstGeom prst="rect">
            <a:avLst/>
          </a:prstGeom>
          <a:noFill/>
        </p:spPr>
        <p:txBody>
          <a:bodyPr wrap="square" anchor="t">
            <a:spAutoFit/>
          </a:bodyPr>
          <a:lstStyle/>
          <a:p>
            <a:pPr algn="l"/>
            <a:r>
              <a:rPr sz="1200" b="0">
                <a:solidFill>
                  <a:srgbClr val="5A6A7A"/>
                </a:solidFill>
                <a:latin typeface="Calibri"/>
                <a:ea typeface="微软雅黑"/>
                <a:cs typeface="Calibri"/>
              </a:rPr>
              <a:t>Main equipment subtotal</a:t>
            </a:r>
          </a:p>
        </p:txBody>
      </p:sp>
      <p:sp>
        <p:nvSpPr>
          <p:cNvPr id="21" name="Rounded Rectangle 20"/>
          <p:cNvSpPr/>
          <p:nvPr/>
        </p:nvSpPr>
        <p:spPr>
          <a:xfrm>
            <a:off x="8097316" y="1051560"/>
            <a:ext cx="3710330" cy="9875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97316" y="1051560"/>
            <a:ext cx="82296" cy="98755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0196" y="1229319"/>
            <a:ext cx="3436010" cy="457200"/>
          </a:xfrm>
          <a:prstGeom prst="rect">
            <a:avLst/>
          </a:prstGeom>
          <a:noFill/>
        </p:spPr>
        <p:txBody>
          <a:bodyPr wrap="square" anchor="t">
            <a:spAutoFit/>
          </a:bodyPr>
          <a:lstStyle/>
          <a:p>
            <a:pPr algn="l"/>
            <a:r>
              <a:rPr sz="2000" b="1">
                <a:solidFill>
                  <a:srgbClr val="0F2B46"/>
                </a:solidFill>
                <a:latin typeface="Calibri"/>
                <a:ea typeface="微软雅黑"/>
                <a:cs typeface="Calibri"/>
              </a:rPr>
              <a:t>£571,500</a:t>
            </a:r>
          </a:p>
        </p:txBody>
      </p:sp>
      <p:sp>
        <p:nvSpPr>
          <p:cNvPr id="24" name="TextBox 23"/>
          <p:cNvSpPr txBox="1"/>
          <p:nvPr/>
        </p:nvSpPr>
        <p:spPr>
          <a:xfrm>
            <a:off x="8280196" y="1618488"/>
            <a:ext cx="3436010" cy="395020"/>
          </a:xfrm>
          <a:prstGeom prst="rect">
            <a:avLst/>
          </a:prstGeom>
          <a:noFill/>
        </p:spPr>
        <p:txBody>
          <a:bodyPr wrap="square" anchor="t">
            <a:spAutoFit/>
          </a:bodyPr>
          <a:lstStyle/>
          <a:p>
            <a:pPr algn="l"/>
            <a:r>
              <a:rPr sz="1200" b="0">
                <a:solidFill>
                  <a:srgbClr val="5A6A7A"/>
                </a:solidFill>
                <a:latin typeface="Calibri"/>
                <a:ea typeface="微软雅黑"/>
                <a:cs typeface="Calibri"/>
              </a:rPr>
              <a:t>Project contingency</a:t>
            </a:r>
          </a:p>
        </p:txBody>
      </p:sp>
      <p:sp>
        <p:nvSpPr>
          <p:cNvPr id="25" name="Rounded Rectangle 24"/>
          <p:cNvSpPr/>
          <p:nvPr/>
        </p:nvSpPr>
        <p:spPr>
          <a:xfrm>
            <a:off x="384048" y="2212848"/>
            <a:ext cx="5577840" cy="41148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21207" y="2286000"/>
            <a:ext cx="5303520" cy="274320"/>
          </a:xfrm>
          <a:prstGeom prst="rect">
            <a:avLst/>
          </a:prstGeom>
          <a:noFill/>
        </p:spPr>
        <p:txBody>
          <a:bodyPr wrap="square" anchor="t">
            <a:spAutoFit/>
          </a:bodyPr>
          <a:lstStyle/>
          <a:p>
            <a:pPr algn="ctr"/>
            <a:r>
              <a:rPr sz="1400" b="1">
                <a:solidFill>
                  <a:srgbClr val="0F2B46"/>
                </a:solidFill>
                <a:latin typeface="Calibri"/>
                <a:ea typeface="微软雅黑"/>
                <a:cs typeface="Calibri"/>
              </a:rPr>
              <a:t>Total investment build-up</a:t>
            </a:r>
          </a:p>
        </p:txBody>
      </p:sp>
      <p:graphicFrame>
        <p:nvGraphicFramePr>
          <p:cNvPr id="27" name="Chart 26"/>
          <p:cNvGraphicFramePr>
            <a:graphicFrameLocks noGrp="1"/>
          </p:cNvGraphicFramePr>
          <p:nvPr/>
        </p:nvGraphicFramePr>
        <p:xfrm>
          <a:off x="429768" y="2578608"/>
          <a:ext cx="5486400" cy="3611880"/>
        </p:xfrm>
        <a:graphic>
          <a:graphicData uri="http://schemas.openxmlformats.org/drawingml/2006/chart">
            <c:chart xmlns:c="http://schemas.openxmlformats.org/drawingml/2006/chart" xmlns:r="http://schemas.openxmlformats.org/officeDocument/2006/relationships" r:id="rId2"/>
          </a:graphicData>
        </a:graphic>
      </p:graphicFrame>
      <p:sp>
        <p:nvSpPr>
          <p:cNvPr id="28" name="Rounded Rectangle 27"/>
          <p:cNvSpPr/>
          <p:nvPr/>
        </p:nvSpPr>
        <p:spPr>
          <a:xfrm>
            <a:off x="6126480" y="2212848"/>
            <a:ext cx="5626303" cy="41148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09360" y="2286000"/>
            <a:ext cx="5257800" cy="274320"/>
          </a:xfrm>
          <a:prstGeom prst="rect">
            <a:avLst/>
          </a:prstGeom>
          <a:noFill/>
        </p:spPr>
        <p:txBody>
          <a:bodyPr wrap="square" anchor="t">
            <a:spAutoFit/>
          </a:bodyPr>
          <a:lstStyle/>
          <a:p>
            <a:pPr algn="ctr"/>
            <a:r>
              <a:rPr sz="1400" b="1">
                <a:solidFill>
                  <a:srgbClr val="0F2B46"/>
                </a:solidFill>
                <a:latin typeface="Calibri"/>
                <a:ea typeface="微软雅黑"/>
                <a:cs typeface="Calibri"/>
              </a:rPr>
              <a:t>Main equipment by item</a:t>
            </a:r>
          </a:p>
        </p:txBody>
      </p:sp>
      <p:graphicFrame>
        <p:nvGraphicFramePr>
          <p:cNvPr id="30" name="Chart 29"/>
          <p:cNvGraphicFramePr>
            <a:graphicFrameLocks noGrp="1"/>
          </p:cNvGraphicFramePr>
          <p:nvPr/>
        </p:nvGraphicFramePr>
        <p:xfrm>
          <a:off x="6217920" y="2578608"/>
          <a:ext cx="5440680" cy="36118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17 / 31</a:t>
            </a:r>
          </a:p>
        </p:txBody>
      </p:sp>
      <p:sp>
        <p:nvSpPr>
          <p:cNvPr id="10" name="Rectangle 9"/>
          <p:cNvSpPr/>
          <p:nvPr/>
        </p:nvSpPr>
        <p:spPr>
          <a:xfrm>
            <a:off x="384048" y="164592"/>
            <a:ext cx="82296" cy="71323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C1 · programme</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Assumes approval together with the retrofit · re-baselined to a September 2026 start (June basis + 3 months)</a:t>
            </a:r>
          </a:p>
        </p:txBody>
      </p:sp>
      <p:sp>
        <p:nvSpPr>
          <p:cNvPr id="13" name="Rounded Rectangle 12"/>
          <p:cNvSpPr/>
          <p:nvPr/>
        </p:nvSpPr>
        <p:spPr>
          <a:xfrm>
            <a:off x="384048"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987552"/>
            <a:ext cx="82296" cy="80467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132392"/>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Scope freeze</a:t>
            </a:r>
          </a:p>
        </p:txBody>
      </p:sp>
      <p:sp>
        <p:nvSpPr>
          <p:cNvPr id="16" name="TextBox 15"/>
          <p:cNvSpPr txBox="1"/>
          <p:nvPr/>
        </p:nvSpPr>
        <p:spPr>
          <a:xfrm>
            <a:off x="566928" y="1554480"/>
            <a:ext cx="2471851" cy="321868"/>
          </a:xfrm>
          <a:prstGeom prst="rect">
            <a:avLst/>
          </a:prstGeom>
          <a:noFill/>
        </p:spPr>
        <p:txBody>
          <a:bodyPr wrap="square" anchor="t">
            <a:spAutoFit/>
          </a:bodyPr>
          <a:lstStyle/>
          <a:p>
            <a:pPr algn="l"/>
            <a:r>
              <a:rPr sz="1200" b="0">
                <a:solidFill>
                  <a:srgbClr val="5A6A7A"/>
                </a:solidFill>
                <a:latin typeface="Calibri"/>
                <a:ea typeface="微软雅黑"/>
                <a:cs typeface="Calibri"/>
              </a:rPr>
              <a:t>8 weeks</a:t>
            </a:r>
          </a:p>
        </p:txBody>
      </p:sp>
      <p:sp>
        <p:nvSpPr>
          <p:cNvPr id="17" name="Rounded Rectangle 16"/>
          <p:cNvSpPr/>
          <p:nvPr/>
        </p:nvSpPr>
        <p:spPr>
          <a:xfrm>
            <a:off x="3276523"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76523" y="987552"/>
            <a:ext cx="82296" cy="80467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9403" y="1132392"/>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Detailed design</a:t>
            </a:r>
          </a:p>
        </p:txBody>
      </p:sp>
      <p:sp>
        <p:nvSpPr>
          <p:cNvPr id="20" name="TextBox 19"/>
          <p:cNvSpPr txBox="1"/>
          <p:nvPr/>
        </p:nvSpPr>
        <p:spPr>
          <a:xfrm>
            <a:off x="3459403" y="1554480"/>
            <a:ext cx="2471851" cy="321868"/>
          </a:xfrm>
          <a:prstGeom prst="rect">
            <a:avLst/>
          </a:prstGeom>
          <a:noFill/>
        </p:spPr>
        <p:txBody>
          <a:bodyPr wrap="square" anchor="t">
            <a:spAutoFit/>
          </a:bodyPr>
          <a:lstStyle/>
          <a:p>
            <a:pPr algn="l"/>
            <a:r>
              <a:rPr sz="1200" b="0">
                <a:solidFill>
                  <a:srgbClr val="5A6A7A"/>
                </a:solidFill>
                <a:latin typeface="Calibri"/>
                <a:ea typeface="微软雅黑"/>
                <a:cs typeface="Calibri"/>
              </a:rPr>
              <a:t>12 weeks</a:t>
            </a:r>
          </a:p>
        </p:txBody>
      </p:sp>
      <p:sp>
        <p:nvSpPr>
          <p:cNvPr id="21" name="Rounded Rectangle 20"/>
          <p:cNvSpPr/>
          <p:nvPr/>
        </p:nvSpPr>
        <p:spPr>
          <a:xfrm>
            <a:off x="6168999"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68999" y="987552"/>
            <a:ext cx="82296" cy="80467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1879" y="1132392"/>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Order and manufacture</a:t>
            </a:r>
          </a:p>
        </p:txBody>
      </p:sp>
      <p:sp>
        <p:nvSpPr>
          <p:cNvPr id="24" name="TextBox 23"/>
          <p:cNvSpPr txBox="1"/>
          <p:nvPr/>
        </p:nvSpPr>
        <p:spPr>
          <a:xfrm>
            <a:off x="6351879" y="1554480"/>
            <a:ext cx="2471851" cy="321868"/>
          </a:xfrm>
          <a:prstGeom prst="rect">
            <a:avLst/>
          </a:prstGeom>
          <a:noFill/>
        </p:spPr>
        <p:txBody>
          <a:bodyPr wrap="square" anchor="t">
            <a:spAutoFit/>
          </a:bodyPr>
          <a:lstStyle/>
          <a:p>
            <a:pPr algn="l"/>
            <a:r>
              <a:rPr sz="1200" b="0">
                <a:solidFill>
                  <a:srgbClr val="5A6A7A"/>
                </a:solidFill>
                <a:latin typeface="Calibri"/>
                <a:ea typeface="微软雅黑"/>
                <a:cs typeface="Calibri"/>
              </a:rPr>
              <a:t>20 weeks</a:t>
            </a:r>
          </a:p>
        </p:txBody>
      </p:sp>
      <p:sp>
        <p:nvSpPr>
          <p:cNvPr id="25" name="Rounded Rectangle 24"/>
          <p:cNvSpPr/>
          <p:nvPr/>
        </p:nvSpPr>
        <p:spPr>
          <a:xfrm>
            <a:off x="9061475"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61475" y="987552"/>
            <a:ext cx="82296" cy="804672"/>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44355" y="1132392"/>
            <a:ext cx="2471851" cy="457200"/>
          </a:xfrm>
          <a:prstGeom prst="rect">
            <a:avLst/>
          </a:prstGeom>
          <a:noFill/>
        </p:spPr>
        <p:txBody>
          <a:bodyPr wrap="square" anchor="t">
            <a:spAutoFit/>
          </a:bodyPr>
          <a:lstStyle/>
          <a:p>
            <a:pPr algn="l"/>
            <a:r>
              <a:rPr sz="1500" b="1">
                <a:solidFill>
                  <a:srgbClr val="0F2B46"/>
                </a:solidFill>
                <a:latin typeface="Calibri"/>
                <a:ea typeface="微软雅黑"/>
                <a:cs typeface="Calibri"/>
              </a:rPr>
              <a:t>Installation and qualification</a:t>
            </a:r>
          </a:p>
        </p:txBody>
      </p:sp>
      <p:sp>
        <p:nvSpPr>
          <p:cNvPr id="28" name="TextBox 27"/>
          <p:cNvSpPr txBox="1"/>
          <p:nvPr/>
        </p:nvSpPr>
        <p:spPr>
          <a:xfrm>
            <a:off x="9244355" y="1554480"/>
            <a:ext cx="2471851" cy="321868"/>
          </a:xfrm>
          <a:prstGeom prst="rect">
            <a:avLst/>
          </a:prstGeom>
          <a:noFill/>
        </p:spPr>
        <p:txBody>
          <a:bodyPr wrap="square" anchor="t">
            <a:spAutoFit/>
          </a:bodyPr>
          <a:lstStyle/>
          <a:p>
            <a:pPr algn="l"/>
            <a:r>
              <a:rPr sz="1200" b="0">
                <a:solidFill>
                  <a:srgbClr val="5A6A7A"/>
                </a:solidFill>
                <a:latin typeface="Calibri"/>
                <a:ea typeface="微软雅黑"/>
                <a:cs typeface="Calibri"/>
              </a:rPr>
              <a:t>8 weeks</a:t>
            </a:r>
          </a:p>
        </p:txBody>
      </p:sp>
      <p:sp>
        <p:nvSpPr>
          <p:cNvPr id="29" name="Rounded Rectangle 28"/>
          <p:cNvSpPr/>
          <p:nvPr/>
        </p:nvSpPr>
        <p:spPr>
          <a:xfrm>
            <a:off x="384048" y="1865376"/>
            <a:ext cx="11423599" cy="4608576"/>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384048" y="1865376"/>
            <a:ext cx="11423599" cy="4608576"/>
          </a:xfrm>
          <a:prstGeom prst="roundRect">
            <a:avLst>
              <a:gd name="adj" fmla="val 4000"/>
            </a:avLst>
          </a:prstGeom>
          <a:no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715768" y="2167128"/>
            <a:ext cx="7427671" cy="10972"/>
          </a:xfrm>
          <a:prstGeom prst="rect">
            <a:avLst/>
          </a:prstGeom>
          <a:solidFill>
            <a:srgbClr val="DD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15768" y="2139696"/>
            <a:ext cx="10972" cy="393192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04287" y="1920240"/>
            <a:ext cx="822960" cy="219456"/>
          </a:xfrm>
          <a:prstGeom prst="rect">
            <a:avLst/>
          </a:prstGeom>
          <a:noFill/>
        </p:spPr>
        <p:txBody>
          <a:bodyPr wrap="none" anchor="ctr"/>
          <a:lstStyle/>
          <a:p>
            <a:pPr algn="l"/>
            <a:r>
              <a:rPr sz="1000" b="1">
                <a:solidFill>
                  <a:srgbClr val="5A6A7A"/>
                </a:solidFill>
                <a:latin typeface="Calibri"/>
                <a:ea typeface="微软雅黑"/>
                <a:cs typeface="Calibri"/>
              </a:rPr>
              <a:t>2026 H2</a:t>
            </a:r>
          </a:p>
        </p:txBody>
      </p:sp>
      <p:sp>
        <p:nvSpPr>
          <p:cNvPr id="34" name="Rectangle 33"/>
          <p:cNvSpPr/>
          <p:nvPr/>
        </p:nvSpPr>
        <p:spPr>
          <a:xfrm>
            <a:off x="5207947" y="2139696"/>
            <a:ext cx="10972" cy="393192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96467" y="1920240"/>
            <a:ext cx="822960" cy="219456"/>
          </a:xfrm>
          <a:prstGeom prst="rect">
            <a:avLst/>
          </a:prstGeom>
          <a:noFill/>
        </p:spPr>
        <p:txBody>
          <a:bodyPr wrap="none" anchor="ctr"/>
          <a:lstStyle/>
          <a:p>
            <a:pPr algn="ctr"/>
            <a:r>
              <a:rPr sz="1000" b="1">
                <a:solidFill>
                  <a:srgbClr val="5A6A7A"/>
                </a:solidFill>
                <a:latin typeface="Calibri"/>
                <a:ea typeface="微软雅黑"/>
                <a:cs typeface="Calibri"/>
              </a:rPr>
              <a:t>2027 H1</a:t>
            </a:r>
          </a:p>
        </p:txBody>
      </p:sp>
      <p:sp>
        <p:nvSpPr>
          <p:cNvPr id="36" name="Rectangle 35"/>
          <p:cNvSpPr/>
          <p:nvPr/>
        </p:nvSpPr>
        <p:spPr>
          <a:xfrm>
            <a:off x="8156211" y="2139696"/>
            <a:ext cx="10972" cy="393192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44731" y="1920240"/>
            <a:ext cx="822960" cy="219456"/>
          </a:xfrm>
          <a:prstGeom prst="rect">
            <a:avLst/>
          </a:prstGeom>
          <a:noFill/>
        </p:spPr>
        <p:txBody>
          <a:bodyPr wrap="none" anchor="ctr"/>
          <a:lstStyle/>
          <a:p>
            <a:pPr algn="ctr"/>
            <a:r>
              <a:rPr sz="1000" b="1">
                <a:solidFill>
                  <a:srgbClr val="5A6A7A"/>
                </a:solidFill>
                <a:latin typeface="Calibri"/>
                <a:ea typeface="微软雅黑"/>
                <a:cs typeface="Calibri"/>
              </a:rPr>
              <a:t>2027 H2</a:t>
            </a:r>
          </a:p>
        </p:txBody>
      </p:sp>
      <p:sp>
        <p:nvSpPr>
          <p:cNvPr id="38" name="TextBox 37"/>
          <p:cNvSpPr txBox="1"/>
          <p:nvPr/>
        </p:nvSpPr>
        <p:spPr>
          <a:xfrm>
            <a:off x="475488" y="2139696"/>
            <a:ext cx="2185415" cy="982980"/>
          </a:xfrm>
          <a:prstGeom prst="rect">
            <a:avLst/>
          </a:prstGeom>
          <a:noFill/>
        </p:spPr>
        <p:txBody>
          <a:bodyPr wrap="none" anchor="ctr"/>
          <a:lstStyle/>
          <a:p>
            <a:pPr algn="r"/>
            <a:r>
              <a:rPr sz="1400" b="1">
                <a:solidFill>
                  <a:srgbClr val="0F2B46"/>
                </a:solidFill>
                <a:latin typeface="Calibri"/>
                <a:ea typeface="微软雅黑"/>
                <a:cs typeface="Calibri"/>
              </a:rPr>
              <a:t>Scope freeze</a:t>
            </a:r>
          </a:p>
        </p:txBody>
      </p:sp>
      <p:sp>
        <p:nvSpPr>
          <p:cNvPr id="39" name="Rounded Rectangle 38"/>
          <p:cNvSpPr/>
          <p:nvPr/>
        </p:nvSpPr>
        <p:spPr>
          <a:xfrm>
            <a:off x="2715768" y="2355951"/>
            <a:ext cx="7427671" cy="550468"/>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3709381" y="2374239"/>
            <a:ext cx="977325" cy="513892"/>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216591" y="2139696"/>
            <a:ext cx="1517904" cy="982980"/>
          </a:xfrm>
          <a:prstGeom prst="rect">
            <a:avLst/>
          </a:prstGeom>
          <a:noFill/>
        </p:spPr>
        <p:txBody>
          <a:bodyPr wrap="none" anchor="ctr"/>
          <a:lstStyle/>
          <a:p>
            <a:pPr algn="l"/>
            <a:r>
              <a:rPr sz="1200" b="0">
                <a:solidFill>
                  <a:srgbClr val="5A6A7A"/>
                </a:solidFill>
                <a:latin typeface="Calibri"/>
                <a:ea typeface="微软雅黑"/>
                <a:cs typeface="Calibri"/>
              </a:rPr>
              <a:t>2026/10 – 2026/12</a:t>
            </a:r>
          </a:p>
        </p:txBody>
      </p:sp>
      <p:sp>
        <p:nvSpPr>
          <p:cNvPr id="42" name="Rectangle 41"/>
          <p:cNvSpPr/>
          <p:nvPr/>
        </p:nvSpPr>
        <p:spPr>
          <a:xfrm>
            <a:off x="457200" y="3122676"/>
            <a:ext cx="11277295" cy="9829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75488" y="3122676"/>
            <a:ext cx="2185415" cy="982980"/>
          </a:xfrm>
          <a:prstGeom prst="rect">
            <a:avLst/>
          </a:prstGeom>
          <a:noFill/>
        </p:spPr>
        <p:txBody>
          <a:bodyPr wrap="none" anchor="ctr"/>
          <a:lstStyle/>
          <a:p>
            <a:pPr algn="r"/>
            <a:r>
              <a:rPr sz="1400" b="1">
                <a:solidFill>
                  <a:srgbClr val="0F2B46"/>
                </a:solidFill>
                <a:latin typeface="Calibri"/>
                <a:ea typeface="微软雅黑"/>
                <a:cs typeface="Calibri"/>
              </a:rPr>
              <a:t>Detailed design</a:t>
            </a:r>
          </a:p>
        </p:txBody>
      </p:sp>
      <p:sp>
        <p:nvSpPr>
          <p:cNvPr id="44" name="Rounded Rectangle 43"/>
          <p:cNvSpPr/>
          <p:nvPr/>
        </p:nvSpPr>
        <p:spPr>
          <a:xfrm>
            <a:off x="2715768" y="3338931"/>
            <a:ext cx="7427671" cy="550468"/>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4702995" y="3357219"/>
            <a:ext cx="1449698" cy="513892"/>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216591" y="3122676"/>
            <a:ext cx="1517904" cy="982980"/>
          </a:xfrm>
          <a:prstGeom prst="rect">
            <a:avLst/>
          </a:prstGeom>
          <a:noFill/>
        </p:spPr>
        <p:txBody>
          <a:bodyPr wrap="none" anchor="ctr"/>
          <a:lstStyle/>
          <a:p>
            <a:pPr algn="l"/>
            <a:r>
              <a:rPr sz="1200" b="0">
                <a:solidFill>
                  <a:srgbClr val="5A6A7A"/>
                </a:solidFill>
                <a:latin typeface="Calibri"/>
                <a:ea typeface="微软雅黑"/>
                <a:cs typeface="Calibri"/>
              </a:rPr>
              <a:t>2026/12 – 2027/03</a:t>
            </a:r>
          </a:p>
        </p:txBody>
      </p:sp>
      <p:sp>
        <p:nvSpPr>
          <p:cNvPr id="47" name="TextBox 46"/>
          <p:cNvSpPr txBox="1"/>
          <p:nvPr/>
        </p:nvSpPr>
        <p:spPr>
          <a:xfrm>
            <a:off x="475488" y="4105656"/>
            <a:ext cx="2185415" cy="982980"/>
          </a:xfrm>
          <a:prstGeom prst="rect">
            <a:avLst/>
          </a:prstGeom>
          <a:noFill/>
        </p:spPr>
        <p:txBody>
          <a:bodyPr wrap="none" anchor="ctr"/>
          <a:lstStyle/>
          <a:p>
            <a:pPr algn="r"/>
            <a:r>
              <a:rPr sz="800" b="1">
                <a:solidFill>
                  <a:srgbClr val="0F2B46"/>
                </a:solidFill>
                <a:latin typeface="Calibri"/>
                <a:ea typeface="微软雅黑"/>
                <a:cs typeface="Calibri"/>
              </a:rPr>
              <a:t>Order and equipment manufacture</a:t>
            </a:r>
          </a:p>
        </p:txBody>
      </p:sp>
      <p:sp>
        <p:nvSpPr>
          <p:cNvPr id="48" name="Rounded Rectangle 47"/>
          <p:cNvSpPr/>
          <p:nvPr/>
        </p:nvSpPr>
        <p:spPr>
          <a:xfrm>
            <a:off x="2715768" y="4321911"/>
            <a:ext cx="7427671" cy="550468"/>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168983" y="4340199"/>
            <a:ext cx="2459601" cy="513892"/>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216591" y="4105656"/>
            <a:ext cx="1517904" cy="982980"/>
          </a:xfrm>
          <a:prstGeom prst="rect">
            <a:avLst/>
          </a:prstGeom>
          <a:noFill/>
        </p:spPr>
        <p:txBody>
          <a:bodyPr wrap="none" anchor="ctr"/>
          <a:lstStyle/>
          <a:p>
            <a:pPr algn="l"/>
            <a:r>
              <a:rPr sz="1200" b="0">
                <a:solidFill>
                  <a:srgbClr val="5A6A7A"/>
                </a:solidFill>
                <a:latin typeface="Calibri"/>
                <a:ea typeface="微软雅黑"/>
                <a:cs typeface="Calibri"/>
              </a:rPr>
              <a:t>2027/03 – 2027/08</a:t>
            </a:r>
          </a:p>
        </p:txBody>
      </p:sp>
      <p:sp>
        <p:nvSpPr>
          <p:cNvPr id="51" name="Rectangle 50"/>
          <p:cNvSpPr/>
          <p:nvPr/>
        </p:nvSpPr>
        <p:spPr>
          <a:xfrm>
            <a:off x="457200" y="5088636"/>
            <a:ext cx="11277295" cy="9829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75488" y="5088636"/>
            <a:ext cx="2185415" cy="982980"/>
          </a:xfrm>
          <a:prstGeom prst="rect">
            <a:avLst/>
          </a:prstGeom>
          <a:noFill/>
        </p:spPr>
        <p:txBody>
          <a:bodyPr wrap="none" anchor="ctr"/>
          <a:lstStyle/>
          <a:p>
            <a:pPr algn="r"/>
            <a:r>
              <a:rPr sz="800" b="1">
                <a:solidFill>
                  <a:srgbClr val="0F2B46"/>
                </a:solidFill>
                <a:latin typeface="Calibri"/>
                <a:ea typeface="微软雅黑"/>
                <a:cs typeface="Calibri"/>
              </a:rPr>
              <a:t>Installation and qualification</a:t>
            </a:r>
          </a:p>
        </p:txBody>
      </p:sp>
      <p:sp>
        <p:nvSpPr>
          <p:cNvPr id="53" name="Rounded Rectangle 52"/>
          <p:cNvSpPr/>
          <p:nvPr/>
        </p:nvSpPr>
        <p:spPr>
          <a:xfrm>
            <a:off x="2715768" y="5304891"/>
            <a:ext cx="7427671" cy="550468"/>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8661162" y="5323179"/>
            <a:ext cx="977325" cy="513892"/>
          </a:xfrm>
          <a:prstGeom prst="roundRect">
            <a:avLst>
              <a:gd name="adj" fmla="val 42000"/>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216591" y="5088636"/>
            <a:ext cx="1517904" cy="982980"/>
          </a:xfrm>
          <a:prstGeom prst="rect">
            <a:avLst/>
          </a:prstGeom>
          <a:noFill/>
        </p:spPr>
        <p:txBody>
          <a:bodyPr wrap="none" anchor="ctr"/>
          <a:lstStyle/>
          <a:p>
            <a:pPr algn="l"/>
            <a:r>
              <a:rPr sz="1200" b="0">
                <a:solidFill>
                  <a:srgbClr val="5A6A7A"/>
                </a:solidFill>
                <a:latin typeface="Calibri"/>
                <a:ea typeface="微软雅黑"/>
                <a:cs typeface="Calibri"/>
              </a:rPr>
              <a:t>2027/08 – 2027/10</a:t>
            </a:r>
          </a:p>
        </p:txBody>
      </p:sp>
      <p:sp>
        <p:nvSpPr>
          <p:cNvPr id="56" name="Rectangle 55"/>
          <p:cNvSpPr/>
          <p:nvPr/>
        </p:nvSpPr>
        <p:spPr>
          <a:xfrm>
            <a:off x="3888558" y="2139696"/>
            <a:ext cx="16459" cy="3931920"/>
          </a:xfrm>
          <a:prstGeom prst="rect">
            <a:avLst/>
          </a:prstGeom>
          <a:solidFill>
            <a:srgbClr val="B4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669102" y="1920240"/>
            <a:ext cx="438912" cy="201168"/>
          </a:xfrm>
          <a:prstGeom prst="rect">
            <a:avLst/>
          </a:prstGeom>
          <a:noFill/>
        </p:spPr>
        <p:txBody>
          <a:bodyPr wrap="none" anchor="ctr"/>
          <a:lstStyle/>
          <a:p>
            <a:pPr algn="ctr"/>
            <a:r>
              <a:rPr sz="900" b="1">
                <a:solidFill>
                  <a:srgbClr val="B43A2A"/>
                </a:solidFill>
                <a:latin typeface="Calibri"/>
                <a:ea typeface="微软雅黑"/>
                <a:cs typeface="Calibri"/>
              </a:rPr>
              <a:t>Today</a:t>
            </a:r>
          </a:p>
        </p:txBody>
      </p:sp>
      <p:sp>
        <p:nvSpPr>
          <p:cNvPr id="58" name="Rounded Rectangle 57"/>
          <p:cNvSpPr/>
          <p:nvPr/>
        </p:nvSpPr>
        <p:spPr>
          <a:xfrm>
            <a:off x="3976725" y="6263640"/>
            <a:ext cx="109728" cy="109728"/>
          </a:xfrm>
          <a:prstGeom prst="roundRect">
            <a:avLst>
              <a:gd name="adj" fmla="val 35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141317" y="6181344"/>
            <a:ext cx="1028700" cy="274320"/>
          </a:xfrm>
          <a:prstGeom prst="rect">
            <a:avLst/>
          </a:prstGeom>
          <a:noFill/>
        </p:spPr>
        <p:txBody>
          <a:bodyPr wrap="none" anchor="ctr"/>
          <a:lstStyle/>
          <a:p>
            <a:pPr algn="l"/>
            <a:r>
              <a:rPr sz="1000" b="0">
                <a:solidFill>
                  <a:srgbClr val="5A6A7A"/>
                </a:solidFill>
                <a:latin typeface="Calibri"/>
                <a:ea typeface="微软雅黑"/>
                <a:cs typeface="Calibri"/>
              </a:rPr>
              <a:t>Design / preparation</a:t>
            </a:r>
          </a:p>
        </p:txBody>
      </p:sp>
      <p:sp>
        <p:nvSpPr>
          <p:cNvPr id="60" name="Rounded Rectangle 59"/>
          <p:cNvSpPr/>
          <p:nvPr/>
        </p:nvSpPr>
        <p:spPr>
          <a:xfrm>
            <a:off x="5499201" y="6263640"/>
            <a:ext cx="109728" cy="109728"/>
          </a:xfrm>
          <a:prstGeom prst="roundRect">
            <a:avLst>
              <a:gd name="adj" fmla="val 35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663793" y="6181344"/>
            <a:ext cx="1028700" cy="274320"/>
          </a:xfrm>
          <a:prstGeom prst="rect">
            <a:avLst/>
          </a:prstGeom>
          <a:noFill/>
        </p:spPr>
        <p:txBody>
          <a:bodyPr wrap="none" anchor="ctr"/>
          <a:lstStyle/>
          <a:p>
            <a:pPr algn="l"/>
            <a:r>
              <a:rPr sz="1000" b="0">
                <a:solidFill>
                  <a:srgbClr val="5A6A7A"/>
                </a:solidFill>
                <a:latin typeface="Calibri"/>
                <a:ea typeface="微软雅黑"/>
                <a:cs typeface="Calibri"/>
              </a:rPr>
              <a:t>Order and manufacture</a:t>
            </a:r>
          </a:p>
        </p:txBody>
      </p:sp>
      <p:sp>
        <p:nvSpPr>
          <p:cNvPr id="62" name="Rounded Rectangle 61"/>
          <p:cNvSpPr/>
          <p:nvPr/>
        </p:nvSpPr>
        <p:spPr>
          <a:xfrm>
            <a:off x="7021677" y="6263640"/>
            <a:ext cx="109728" cy="109728"/>
          </a:xfrm>
          <a:prstGeom prst="roundRect">
            <a:avLst>
              <a:gd name="adj" fmla="val 35000"/>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186269" y="6181344"/>
            <a:ext cx="1028700" cy="274320"/>
          </a:xfrm>
          <a:prstGeom prst="rect">
            <a:avLst/>
          </a:prstGeom>
          <a:noFill/>
        </p:spPr>
        <p:txBody>
          <a:bodyPr wrap="none" anchor="ctr"/>
          <a:lstStyle/>
          <a:p>
            <a:pPr algn="l"/>
            <a:r>
              <a:rPr sz="1000" b="0">
                <a:solidFill>
                  <a:srgbClr val="5A6A7A"/>
                </a:solidFill>
                <a:latin typeface="Calibri"/>
                <a:ea typeface="微软雅黑"/>
                <a:cs typeface="Calibri"/>
              </a:rPr>
              <a:t>Installation / qualification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18 / 31</a:t>
            </a:r>
          </a:p>
        </p:txBody>
      </p:sp>
      <p:sp>
        <p:nvSpPr>
          <p:cNvPr id="10" name="Rounded Rectangle 9"/>
          <p:cNvSpPr/>
          <p:nvPr/>
        </p:nvSpPr>
        <p:spPr>
          <a:xfrm>
            <a:off x="384048" y="256032"/>
            <a:ext cx="11423599" cy="26517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84048" y="256032"/>
            <a:ext cx="128016" cy="2651760"/>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49808" y="502920"/>
            <a:ext cx="1965960" cy="365760"/>
          </a:xfrm>
          <a:prstGeom prst="roundRect">
            <a:avLst>
              <a:gd name="adj" fmla="val 18000"/>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300" b="1">
                <a:solidFill>
                  <a:srgbClr val="FFFFFF"/>
                </a:solidFill>
                <a:latin typeface="Calibri"/>
                <a:ea typeface="微软雅黑"/>
                <a:cs typeface="Calibri"/>
              </a:rPr>
              <a:t>Part 2</a:t>
            </a:r>
          </a:p>
        </p:txBody>
      </p:sp>
      <p:sp>
        <p:nvSpPr>
          <p:cNvPr id="13" name="TextBox 12"/>
          <p:cNvSpPr txBox="1"/>
          <p:nvPr/>
        </p:nvSpPr>
        <p:spPr>
          <a:xfrm>
            <a:off x="749808" y="1051560"/>
            <a:ext cx="10783519" cy="777240"/>
          </a:xfrm>
          <a:prstGeom prst="rect">
            <a:avLst/>
          </a:prstGeom>
          <a:noFill/>
        </p:spPr>
        <p:txBody>
          <a:bodyPr wrap="square" anchor="t">
            <a:spAutoFit/>
          </a:bodyPr>
          <a:lstStyle/>
          <a:p>
            <a:pPr algn="l"/>
            <a:r>
              <a:rPr sz="2600" b="1">
                <a:solidFill>
                  <a:srgbClr val="0F2B46"/>
                </a:solidFill>
                <a:latin typeface="Calibri"/>
                <a:ea typeface="微软雅黑"/>
                <a:cs typeface="Calibri"/>
              </a:rPr>
              <a:t>2. OEB5 high-potency laboratory (G-128 suite alteration)</a:t>
            </a:r>
          </a:p>
        </p:txBody>
      </p:sp>
      <p:sp>
        <p:nvSpPr>
          <p:cNvPr id="14" name="TextBox 13"/>
          <p:cNvSpPr txBox="1"/>
          <p:nvPr/>
        </p:nvSpPr>
        <p:spPr>
          <a:xfrm>
            <a:off x="749808" y="1920240"/>
            <a:ext cx="10783519" cy="457200"/>
          </a:xfrm>
          <a:prstGeom prst="rect">
            <a:avLst/>
          </a:prstGeom>
          <a:noFill/>
        </p:spPr>
        <p:txBody>
          <a:bodyPr wrap="square" anchor="t">
            <a:spAutoFit/>
          </a:bodyPr>
          <a:lstStyle/>
          <a:p>
            <a:pPr algn="l"/>
            <a:r>
              <a:rPr sz="1600" b="0">
                <a:solidFill>
                  <a:srgbClr val="5A6A7A"/>
                </a:solidFill>
                <a:latin typeface="Calibri"/>
                <a:ea typeface="微软雅黑"/>
                <a:cs typeface="Calibri"/>
              </a:rPr>
              <a:t>Concept stage · cost plan 6 Aug 2026 / concept programme 27 Jul 2026 / risk register</a:t>
            </a:r>
          </a:p>
        </p:txBody>
      </p:sp>
      <p:sp>
        <p:nvSpPr>
          <p:cNvPr id="15" name="Rectangle 14"/>
          <p:cNvSpPr/>
          <p:nvPr/>
        </p:nvSpPr>
        <p:spPr>
          <a:xfrm>
            <a:off x="749808" y="2514600"/>
            <a:ext cx="1645920"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84048" y="3108960"/>
            <a:ext cx="2746171" cy="3200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84048" y="3108960"/>
            <a:ext cx="82296" cy="3200400"/>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3685032"/>
            <a:ext cx="2471851" cy="457200"/>
          </a:xfrm>
          <a:prstGeom prst="rect">
            <a:avLst/>
          </a:prstGeom>
          <a:noFill/>
        </p:spPr>
        <p:txBody>
          <a:bodyPr wrap="square" anchor="t">
            <a:spAutoFit/>
          </a:bodyPr>
          <a:lstStyle/>
          <a:p>
            <a:pPr algn="l"/>
            <a:r>
              <a:rPr sz="2200" b="1">
                <a:solidFill>
                  <a:srgbClr val="0F2B46"/>
                </a:solidFill>
                <a:latin typeface="Calibri"/>
                <a:ea typeface="微软雅黑"/>
                <a:cs typeface="Calibri"/>
              </a:rPr>
              <a:t>Concept stage</a:t>
            </a:r>
          </a:p>
        </p:txBody>
      </p:sp>
      <p:sp>
        <p:nvSpPr>
          <p:cNvPr id="19" name="TextBox 18"/>
          <p:cNvSpPr txBox="1"/>
          <p:nvPr/>
        </p:nvSpPr>
        <p:spPr>
          <a:xfrm>
            <a:off x="566928" y="4773168"/>
            <a:ext cx="2471851" cy="731520"/>
          </a:xfrm>
          <a:prstGeom prst="rect">
            <a:avLst/>
          </a:prstGeom>
          <a:noFill/>
        </p:spPr>
        <p:txBody>
          <a:bodyPr wrap="square" anchor="t">
            <a:spAutoFit/>
          </a:bodyPr>
          <a:lstStyle/>
          <a:p>
            <a:pPr algn="l"/>
            <a:r>
              <a:rPr sz="1300" b="0">
                <a:solidFill>
                  <a:srgbClr val="5A6A7A"/>
                </a:solidFill>
                <a:latin typeface="Calibri"/>
                <a:ea typeface="微软雅黑"/>
                <a:cs typeface="Calibri"/>
              </a:rPr>
              <a:t>Cost plan / concept programme / risk register</a:t>
            </a:r>
          </a:p>
        </p:txBody>
      </p:sp>
      <p:sp>
        <p:nvSpPr>
          <p:cNvPr id="20" name="Rounded Rectangle 19"/>
          <p:cNvSpPr/>
          <p:nvPr/>
        </p:nvSpPr>
        <p:spPr>
          <a:xfrm>
            <a:off x="3276523" y="3108960"/>
            <a:ext cx="2746171" cy="3200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276523" y="3108960"/>
            <a:ext cx="82296" cy="3200400"/>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59403" y="3685032"/>
            <a:ext cx="2471851" cy="457200"/>
          </a:xfrm>
          <a:prstGeom prst="rect">
            <a:avLst/>
          </a:prstGeom>
          <a:noFill/>
        </p:spPr>
        <p:txBody>
          <a:bodyPr wrap="square" anchor="t">
            <a:spAutoFit/>
          </a:bodyPr>
          <a:lstStyle/>
          <a:p>
            <a:pPr algn="l"/>
            <a:r>
              <a:rPr sz="2200" b="1">
                <a:solidFill>
                  <a:srgbClr val="0F2B46"/>
                </a:solidFill>
                <a:latin typeface="Calibri"/>
                <a:ea typeface="微软雅黑"/>
                <a:cs typeface="Calibri"/>
              </a:rPr>
              <a:t>£3.55M</a:t>
            </a:r>
          </a:p>
        </p:txBody>
      </p:sp>
      <p:sp>
        <p:nvSpPr>
          <p:cNvPr id="23" name="TextBox 22"/>
          <p:cNvSpPr txBox="1"/>
          <p:nvPr/>
        </p:nvSpPr>
        <p:spPr>
          <a:xfrm>
            <a:off x="3459403" y="4773168"/>
            <a:ext cx="2471851" cy="731520"/>
          </a:xfrm>
          <a:prstGeom prst="rect">
            <a:avLst/>
          </a:prstGeom>
          <a:noFill/>
        </p:spPr>
        <p:txBody>
          <a:bodyPr wrap="square" anchor="t">
            <a:spAutoFit/>
          </a:bodyPr>
          <a:lstStyle/>
          <a:p>
            <a:pPr algn="l"/>
            <a:r>
              <a:rPr sz="1300" b="0">
                <a:solidFill>
                  <a:srgbClr val="5A6A7A"/>
                </a:solidFill>
                <a:latin typeface="Calibri"/>
                <a:ea typeface="微软雅黑"/>
                <a:cs typeface="Calibri"/>
              </a:rPr>
              <a:t>Phase 1 investment estimate (excludes Phase 2 equipment)</a:t>
            </a:r>
          </a:p>
        </p:txBody>
      </p:sp>
      <p:sp>
        <p:nvSpPr>
          <p:cNvPr id="24" name="Rounded Rectangle 23"/>
          <p:cNvSpPr/>
          <p:nvPr/>
        </p:nvSpPr>
        <p:spPr>
          <a:xfrm>
            <a:off x="6168999" y="3108960"/>
            <a:ext cx="2746171" cy="3200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68999" y="3108960"/>
            <a:ext cx="82296" cy="3200400"/>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1879" y="3685032"/>
            <a:ext cx="2471851" cy="457200"/>
          </a:xfrm>
          <a:prstGeom prst="rect">
            <a:avLst/>
          </a:prstGeom>
          <a:noFill/>
        </p:spPr>
        <p:txBody>
          <a:bodyPr wrap="square" anchor="t">
            <a:spAutoFit/>
          </a:bodyPr>
          <a:lstStyle/>
          <a:p>
            <a:pPr algn="l"/>
            <a:r>
              <a:rPr sz="2200" b="1">
                <a:solidFill>
                  <a:srgbClr val="0F2B46"/>
                </a:solidFill>
                <a:latin typeface="Calibri"/>
                <a:ea typeface="微软雅黑"/>
                <a:cs typeface="Calibri"/>
              </a:rPr>
              <a:t>2027-11</a:t>
            </a:r>
          </a:p>
        </p:txBody>
      </p:sp>
      <p:sp>
        <p:nvSpPr>
          <p:cNvPr id="27" name="TextBox 26"/>
          <p:cNvSpPr txBox="1"/>
          <p:nvPr/>
        </p:nvSpPr>
        <p:spPr>
          <a:xfrm>
            <a:off x="6351879" y="4773168"/>
            <a:ext cx="2471851" cy="731520"/>
          </a:xfrm>
          <a:prstGeom prst="rect">
            <a:avLst/>
          </a:prstGeom>
          <a:noFill/>
        </p:spPr>
        <p:txBody>
          <a:bodyPr wrap="square" anchor="t">
            <a:spAutoFit/>
          </a:bodyPr>
          <a:lstStyle/>
          <a:p>
            <a:pPr algn="l"/>
            <a:r>
              <a:rPr sz="1300" b="0">
                <a:solidFill>
                  <a:srgbClr val="5A6A7A"/>
                </a:solidFill>
                <a:latin typeface="Calibri"/>
                <a:ea typeface="微软雅黑"/>
                <a:cs typeface="Calibri"/>
              </a:rPr>
              <a:t>Target delivery (concept programme + 6 weeks)</a:t>
            </a:r>
          </a:p>
        </p:txBody>
      </p:sp>
      <p:sp>
        <p:nvSpPr>
          <p:cNvPr id="28" name="Rounded Rectangle 27"/>
          <p:cNvSpPr/>
          <p:nvPr/>
        </p:nvSpPr>
        <p:spPr>
          <a:xfrm>
            <a:off x="9061475" y="3108960"/>
            <a:ext cx="2746171" cy="3200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061475" y="3108960"/>
            <a:ext cx="82296" cy="3200400"/>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44355" y="3685032"/>
            <a:ext cx="2471851" cy="457200"/>
          </a:xfrm>
          <a:prstGeom prst="rect">
            <a:avLst/>
          </a:prstGeom>
          <a:noFill/>
        </p:spPr>
        <p:txBody>
          <a:bodyPr wrap="square" anchor="t">
            <a:spAutoFit/>
          </a:bodyPr>
          <a:lstStyle/>
          <a:p>
            <a:pPr algn="l"/>
            <a:r>
              <a:rPr sz="2200" b="1">
                <a:solidFill>
                  <a:srgbClr val="0F2B46"/>
                </a:solidFill>
                <a:latin typeface="Calibri"/>
                <a:ea typeface="微软雅黑"/>
                <a:cs typeface="Calibri"/>
              </a:rPr>
              <a:t>215 m²</a:t>
            </a:r>
          </a:p>
        </p:txBody>
      </p:sp>
      <p:sp>
        <p:nvSpPr>
          <p:cNvPr id="31" name="TextBox 30"/>
          <p:cNvSpPr txBox="1"/>
          <p:nvPr/>
        </p:nvSpPr>
        <p:spPr>
          <a:xfrm>
            <a:off x="9244355" y="4773168"/>
            <a:ext cx="2471851" cy="731520"/>
          </a:xfrm>
          <a:prstGeom prst="rect">
            <a:avLst/>
          </a:prstGeom>
          <a:noFill/>
        </p:spPr>
        <p:txBody>
          <a:bodyPr wrap="square" anchor="t">
            <a:spAutoFit/>
          </a:bodyPr>
          <a:lstStyle/>
          <a:p>
            <a:pPr algn="l"/>
            <a:r>
              <a:rPr sz="1300" b="0">
                <a:solidFill>
                  <a:srgbClr val="5A6A7A"/>
                </a:solidFill>
                <a:latin typeface="Calibri"/>
                <a:ea typeface="微软雅黑"/>
                <a:cs typeface="Calibri"/>
              </a:rPr>
              <a:t>GIFA (laboratory c. 182 + write-up c. 33)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19 / 31</a:t>
            </a:r>
          </a:p>
        </p:txBody>
      </p:sp>
      <p:sp>
        <p:nvSpPr>
          <p:cNvPr id="10" name="Rectangle 9"/>
          <p:cNvSpPr/>
          <p:nvPr/>
        </p:nvSpPr>
        <p:spPr>
          <a:xfrm>
            <a:off x="384048" y="164592"/>
            <a:ext cx="82296" cy="71323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High-potency laboratory · executive summary</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DPH_G-128 Suite Alterations Concept Cost Plan 260806</a:t>
            </a:r>
          </a:p>
        </p:txBody>
      </p:sp>
      <p:sp>
        <p:nvSpPr>
          <p:cNvPr id="13" name="Rounded Rectangle 12"/>
          <p:cNvSpPr/>
          <p:nvPr/>
        </p:nvSpPr>
        <p:spPr>
          <a:xfrm>
            <a:off x="384048"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1051560"/>
            <a:ext cx="82296" cy="1024128"/>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235903"/>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Concept stage</a:t>
            </a:r>
          </a:p>
        </p:txBody>
      </p:sp>
      <p:sp>
        <p:nvSpPr>
          <p:cNvPr id="16" name="TextBox 15"/>
          <p:cNvSpPr txBox="1"/>
          <p:nvPr/>
        </p:nvSpPr>
        <p:spPr>
          <a:xfrm>
            <a:off x="566928" y="1618488"/>
            <a:ext cx="2471851" cy="409651"/>
          </a:xfrm>
          <a:prstGeom prst="rect">
            <a:avLst/>
          </a:prstGeom>
          <a:noFill/>
        </p:spPr>
        <p:txBody>
          <a:bodyPr wrap="square" anchor="t">
            <a:spAutoFit/>
          </a:bodyPr>
          <a:lstStyle/>
          <a:p>
            <a:pPr algn="l"/>
            <a:r>
              <a:rPr sz="1200" b="0">
                <a:solidFill>
                  <a:srgbClr val="5A6A7A"/>
                </a:solidFill>
                <a:latin typeface="Calibri"/>
                <a:ea typeface="微软雅黑"/>
                <a:cs typeface="Calibri"/>
              </a:rPr>
              <a:t>Cost plan / concept programme / risk register</a:t>
            </a:r>
          </a:p>
        </p:txBody>
      </p:sp>
      <p:sp>
        <p:nvSpPr>
          <p:cNvPr id="17" name="Rounded Rectangle 16"/>
          <p:cNvSpPr/>
          <p:nvPr/>
        </p:nvSpPr>
        <p:spPr>
          <a:xfrm>
            <a:off x="3276523"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76523" y="1051560"/>
            <a:ext cx="82296" cy="1024128"/>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9403" y="1235903"/>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£3.55M</a:t>
            </a:r>
          </a:p>
        </p:txBody>
      </p:sp>
      <p:sp>
        <p:nvSpPr>
          <p:cNvPr id="20" name="TextBox 19"/>
          <p:cNvSpPr txBox="1"/>
          <p:nvPr/>
        </p:nvSpPr>
        <p:spPr>
          <a:xfrm>
            <a:off x="3459403" y="1618488"/>
            <a:ext cx="2471851" cy="409651"/>
          </a:xfrm>
          <a:prstGeom prst="rect">
            <a:avLst/>
          </a:prstGeom>
          <a:noFill/>
        </p:spPr>
        <p:txBody>
          <a:bodyPr wrap="square" anchor="t">
            <a:spAutoFit/>
          </a:bodyPr>
          <a:lstStyle/>
          <a:p>
            <a:pPr algn="l"/>
            <a:r>
              <a:rPr sz="1100" b="0">
                <a:solidFill>
                  <a:srgbClr val="5A6A7A"/>
                </a:solidFill>
                <a:latin typeface="Calibri"/>
                <a:ea typeface="微软雅黑"/>
                <a:cs typeface="Calibri"/>
              </a:rPr>
              <a:t>Phase 1 investment estimate (excludes Phase 2 equipment)</a:t>
            </a:r>
          </a:p>
        </p:txBody>
      </p:sp>
      <p:sp>
        <p:nvSpPr>
          <p:cNvPr id="21" name="Rounded Rectangle 20"/>
          <p:cNvSpPr/>
          <p:nvPr/>
        </p:nvSpPr>
        <p:spPr>
          <a:xfrm>
            <a:off x="6168999"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68999" y="1051560"/>
            <a:ext cx="82296" cy="1024128"/>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1879" y="1235903"/>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2027-11</a:t>
            </a:r>
          </a:p>
        </p:txBody>
      </p:sp>
      <p:sp>
        <p:nvSpPr>
          <p:cNvPr id="24" name="TextBox 23"/>
          <p:cNvSpPr txBox="1"/>
          <p:nvPr/>
        </p:nvSpPr>
        <p:spPr>
          <a:xfrm>
            <a:off x="6351879" y="1618488"/>
            <a:ext cx="2471851" cy="409651"/>
          </a:xfrm>
          <a:prstGeom prst="rect">
            <a:avLst/>
          </a:prstGeom>
          <a:noFill/>
        </p:spPr>
        <p:txBody>
          <a:bodyPr wrap="square" anchor="t">
            <a:spAutoFit/>
          </a:bodyPr>
          <a:lstStyle/>
          <a:p>
            <a:pPr algn="l"/>
            <a:r>
              <a:rPr sz="1200" b="0">
                <a:solidFill>
                  <a:srgbClr val="5A6A7A"/>
                </a:solidFill>
                <a:latin typeface="Calibri"/>
                <a:ea typeface="微软雅黑"/>
                <a:cs typeface="Calibri"/>
              </a:rPr>
              <a:t>Target delivery (concept programme + 6 weeks)</a:t>
            </a:r>
          </a:p>
        </p:txBody>
      </p:sp>
      <p:sp>
        <p:nvSpPr>
          <p:cNvPr id="25" name="Rounded Rectangle 24"/>
          <p:cNvSpPr/>
          <p:nvPr/>
        </p:nvSpPr>
        <p:spPr>
          <a:xfrm>
            <a:off x="9061475" y="1051560"/>
            <a:ext cx="2746171"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61475" y="1051560"/>
            <a:ext cx="82296" cy="1024128"/>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44355" y="1235903"/>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215 m²</a:t>
            </a:r>
          </a:p>
        </p:txBody>
      </p:sp>
      <p:sp>
        <p:nvSpPr>
          <p:cNvPr id="28" name="TextBox 27"/>
          <p:cNvSpPr txBox="1"/>
          <p:nvPr/>
        </p:nvSpPr>
        <p:spPr>
          <a:xfrm>
            <a:off x="9244355" y="1618488"/>
            <a:ext cx="2471851" cy="409651"/>
          </a:xfrm>
          <a:prstGeom prst="rect">
            <a:avLst/>
          </a:prstGeom>
          <a:noFill/>
        </p:spPr>
        <p:txBody>
          <a:bodyPr wrap="square" anchor="t">
            <a:spAutoFit/>
          </a:bodyPr>
          <a:lstStyle/>
          <a:p>
            <a:pPr algn="l"/>
            <a:r>
              <a:rPr sz="1200" b="0">
                <a:solidFill>
                  <a:srgbClr val="5A6A7A"/>
                </a:solidFill>
                <a:latin typeface="Calibri"/>
                <a:ea typeface="微软雅黑"/>
                <a:cs typeface="Calibri"/>
              </a:rPr>
              <a:t>GIFA (laboratory c. 182 + write-up c. 33)</a:t>
            </a:r>
          </a:p>
        </p:txBody>
      </p:sp>
      <p:sp>
        <p:nvSpPr>
          <p:cNvPr id="29" name="TextBox 28"/>
          <p:cNvSpPr txBox="1"/>
          <p:nvPr/>
        </p:nvSpPr>
        <p:spPr>
          <a:xfrm>
            <a:off x="429768" y="2276856"/>
            <a:ext cx="11332159" cy="4160520"/>
          </a:xfrm>
          <a:prstGeom prst="rect">
            <a:avLst/>
          </a:prstGeom>
          <a:noFill/>
        </p:spPr>
        <p:txBody>
          <a:bodyPr wrap="square">
            <a:spAutoFit/>
          </a:bodyPr>
          <a:lstStyle/>
          <a:p>
            <a:pPr>
              <a:spcAft>
                <a:spcPts val="1100"/>
              </a:spcAft>
            </a:pPr>
            <a:r>
              <a:rPr sz="1600" b="0">
                <a:solidFill>
                  <a:srgbClr val="2C3E50"/>
                </a:solidFill>
                <a:latin typeface="Calibri"/>
                <a:ea typeface="微软雅黑"/>
                <a:cs typeface="Calibri"/>
              </a:rPr>
              <a:t>•  Scope: alteration of the existing G-128 suite into laboratory and write-up space, GIFA 215 m². The cost plan allows isolators at 4 × £150,000 + 1 × £100,000.</a:t>
            </a:r>
          </a:p>
          <a:p>
            <a:pPr>
              <a:spcAft>
                <a:spcPts val="1100"/>
              </a:spcAft>
            </a:pPr>
            <a:r>
              <a:rPr sz="1600" b="0">
                <a:solidFill>
                  <a:srgbClr val="2C3E50"/>
                </a:solidFill>
                <a:latin typeface="Calibri"/>
                <a:ea typeface="微软雅黑"/>
                <a:cs typeface="Calibri"/>
              </a:rPr>
              <a:t>•  Investment: Phase 1 project investment including inflation is £3,550,444, VAT excluded. The full figure including Phase 2 and later equipment is £4,300,044.</a:t>
            </a:r>
          </a:p>
          <a:p>
            <a:pPr>
              <a:spcAft>
                <a:spcPts val="1100"/>
              </a:spcAft>
            </a:pPr>
            <a:r>
              <a:rPr sz="1600" b="0">
                <a:solidFill>
                  <a:srgbClr val="2C3E50"/>
                </a:solidFill>
                <a:latin typeface="Calibri"/>
                <a:ea typeface="微软雅黑"/>
                <a:cs typeface="Calibri"/>
              </a:rPr>
              <a:t>•  Build-up: building works £1.95M + professional services £0.14M + Phase 1 owner equipment £0.96M + risk allowance £0.40M + inflation £0.10M.</a:t>
            </a:r>
          </a:p>
          <a:p>
            <a:pPr>
              <a:spcAft>
                <a:spcPts val="1100"/>
              </a:spcAft>
            </a:pPr>
            <a:r>
              <a:rPr sz="1600" b="0">
                <a:solidFill>
                  <a:srgbClr val="2C3E50"/>
                </a:solidFill>
                <a:latin typeface="Calibri"/>
                <a:ea typeface="微软雅黑"/>
                <a:cs typeface="Calibri"/>
              </a:rPr>
              <a:t>•  Programme: the draft concept programme is 262 working days from funding approval and the decision to proceed, with delivery targeted for November 2027. Isolators arrive on 14 July 2027.</a:t>
            </a:r>
          </a:p>
          <a:p>
            <a:pPr>
              <a:spcAft>
                <a:spcPts val="1100"/>
              </a:spcAft>
            </a:pPr>
            <a:r>
              <a:rPr sz="1600" b="0">
                <a:solidFill>
                  <a:srgbClr val="2C3E50"/>
                </a:solidFill>
                <a:latin typeface="Calibri"/>
                <a:ea typeface="微软雅黑"/>
                <a:cs typeface="Calibri"/>
              </a:rPr>
              <a:t>•  Isolator cost: currently an estimate based on discussion with suppliers. The final figure depends on the containment level confirmed with the scope.</a:t>
            </a:r>
          </a:p>
          <a:p>
            <a:pPr>
              <a:spcAft>
                <a:spcPts val="1100"/>
              </a:spcAft>
            </a:pPr>
            <a:r>
              <a:rPr sz="1600" b="0">
                <a:solidFill>
                  <a:srgbClr val="2C3E50"/>
                </a:solidFill>
                <a:latin typeface="Calibri"/>
                <a:ea typeface="微软雅黑"/>
                <a:cs typeface="Calibri"/>
              </a:rPr>
              <a:t>•  Owner equipment is in two phases. Phase 1 is the equipment required to start up, £963,445, and is included now. Phase 2 and later is the equipment for the full fit-out, £749,600, and is not included now. The two phases together are £1,713,045 to purchase.</a:t>
            </a:r>
          </a:p>
          <a:p>
            <a:pPr>
              <a:spcAft>
                <a:spcPts val="1100"/>
              </a:spcAft>
            </a:pPr>
            <a:r>
              <a:rPr sz="1600" b="0">
                <a:solidFill>
                  <a:srgbClr val="2C3E50"/>
                </a:solidFill>
                <a:latin typeface="Calibri"/>
                <a:ea typeface="微软雅黑"/>
                <a:cs typeface="Calibri"/>
              </a:rPr>
              <a:t>•  Demand link: European BD has listed demand or enquiries from AZ, Genmab, BioNTech, NCC and others for high-potency capability at Sandwich. BioNTech specifically requires containment comparable to TJ4 and segregated high-potency analysis.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20 / 31</a:t>
            </a:r>
          </a:p>
        </p:txBody>
      </p:sp>
      <p:sp>
        <p:nvSpPr>
          <p:cNvPr id="10" name="Rectangle 9"/>
          <p:cNvSpPr/>
          <p:nvPr/>
        </p:nvSpPr>
        <p:spPr>
          <a:xfrm>
            <a:off x="384048" y="164592"/>
            <a:ext cx="82296" cy="71323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High-potency laboratory · scope</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From the G-128 concept cost plan</a:t>
            </a:r>
          </a:p>
        </p:txBody>
      </p:sp>
      <p:sp>
        <p:nvSpPr>
          <p:cNvPr id="13" name="Rounded Rectangle 12"/>
          <p:cNvSpPr/>
          <p:nvPr/>
        </p:nvSpPr>
        <p:spPr>
          <a:xfrm>
            <a:off x="384048" y="1060704"/>
            <a:ext cx="5638647" cy="2167127"/>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1060704"/>
            <a:ext cx="91440" cy="2167127"/>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3503" y="1170432"/>
            <a:ext cx="5309463" cy="347472"/>
          </a:xfrm>
          <a:prstGeom prst="rect">
            <a:avLst/>
          </a:prstGeom>
          <a:noFill/>
        </p:spPr>
        <p:txBody>
          <a:bodyPr wrap="square" anchor="t">
            <a:spAutoFit/>
          </a:bodyPr>
          <a:lstStyle/>
          <a:p>
            <a:pPr algn="l"/>
            <a:r>
              <a:rPr sz="1600" b="1">
                <a:solidFill>
                  <a:srgbClr val="0F2B46"/>
                </a:solidFill>
                <a:latin typeface="Calibri"/>
                <a:ea typeface="微软雅黑"/>
                <a:cs typeface="Calibri"/>
              </a:rPr>
              <a:t>Scope and area</a:t>
            </a:r>
          </a:p>
        </p:txBody>
      </p:sp>
      <p:sp>
        <p:nvSpPr>
          <p:cNvPr id="16" name="TextBox 15"/>
          <p:cNvSpPr txBox="1"/>
          <p:nvPr/>
        </p:nvSpPr>
        <p:spPr>
          <a:xfrm>
            <a:off x="566928" y="1536192"/>
            <a:ext cx="5346039" cy="1600199"/>
          </a:xfrm>
          <a:prstGeom prst="rect">
            <a:avLst/>
          </a:prstGeom>
          <a:noFill/>
        </p:spPr>
        <p:txBody>
          <a:bodyPr wrap="square">
            <a:spAutoFit/>
          </a:bodyPr>
          <a:lstStyle/>
          <a:p>
            <a:pPr>
              <a:spcAft>
                <a:spcPts val="600"/>
              </a:spcAft>
            </a:pPr>
            <a:r>
              <a:rPr sz="1300" b="0">
                <a:solidFill>
                  <a:srgbClr val="2C3E50"/>
                </a:solidFill>
                <a:latin typeface="Calibri"/>
                <a:ea typeface="微软雅黑"/>
                <a:cs typeface="Calibri"/>
              </a:rPr>
              <a:t>•  Alteration of the existing G-128 suite (G128 and G128A–D); GIFA 215 m²</a:t>
            </a:r>
          </a:p>
          <a:p>
            <a:pPr>
              <a:spcAft>
                <a:spcPts val="600"/>
              </a:spcAft>
            </a:pPr>
            <a:r>
              <a:rPr sz="1300" b="0">
                <a:solidFill>
                  <a:srgbClr val="2C3E50"/>
                </a:solidFill>
                <a:latin typeface="Calibri"/>
                <a:ea typeface="微软雅黑"/>
                <a:cs typeface="Calibri"/>
              </a:rPr>
              <a:t>•  Laboratory about 182 m² (the basis of the services rates) + write-up about 33 m² (carpet quantity)</a:t>
            </a:r>
          </a:p>
          <a:p>
            <a:pPr>
              <a:spcAft>
                <a:spcPts val="600"/>
              </a:spcAft>
            </a:pPr>
            <a:r>
              <a:rPr sz="1300" b="0">
                <a:solidFill>
                  <a:srgbClr val="2C3E50"/>
                </a:solidFill>
                <a:latin typeface="Calibri"/>
                <a:ea typeface="微软雅黑"/>
                <a:cs typeface="Calibri"/>
              </a:rPr>
              <a:t>•  Remove the blockwork wall between G128 and G128D; form 2 transfer-hatch openings and 2 door openings in the concrete wall</a:t>
            </a:r>
          </a:p>
        </p:txBody>
      </p:sp>
      <p:sp>
        <p:nvSpPr>
          <p:cNvPr id="17" name="Rounded Rectangle 16"/>
          <p:cNvSpPr/>
          <p:nvPr/>
        </p:nvSpPr>
        <p:spPr>
          <a:xfrm>
            <a:off x="6168999" y="1060704"/>
            <a:ext cx="5638647" cy="2167127"/>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68999" y="1060704"/>
            <a:ext cx="91440" cy="2167127"/>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88455" y="1170432"/>
            <a:ext cx="5309463" cy="347472"/>
          </a:xfrm>
          <a:prstGeom prst="rect">
            <a:avLst/>
          </a:prstGeom>
          <a:noFill/>
        </p:spPr>
        <p:txBody>
          <a:bodyPr wrap="square" anchor="t">
            <a:spAutoFit/>
          </a:bodyPr>
          <a:lstStyle/>
          <a:p>
            <a:pPr algn="l"/>
            <a:r>
              <a:rPr sz="1600" b="1">
                <a:solidFill>
                  <a:srgbClr val="0F2B46"/>
                </a:solidFill>
                <a:latin typeface="Calibri"/>
                <a:ea typeface="微软雅黑"/>
                <a:cs typeface="Calibri"/>
              </a:rPr>
              <a:t>Isolators and laboratory equipment</a:t>
            </a:r>
          </a:p>
        </p:txBody>
      </p:sp>
      <p:sp>
        <p:nvSpPr>
          <p:cNvPr id="20" name="TextBox 19"/>
          <p:cNvSpPr txBox="1"/>
          <p:nvPr/>
        </p:nvSpPr>
        <p:spPr>
          <a:xfrm>
            <a:off x="6351879" y="1536192"/>
            <a:ext cx="5346039" cy="1600199"/>
          </a:xfrm>
          <a:prstGeom prst="rect">
            <a:avLst/>
          </a:prstGeom>
          <a:noFill/>
        </p:spPr>
        <p:txBody>
          <a:bodyPr wrap="square">
            <a:spAutoFit/>
          </a:bodyPr>
          <a:lstStyle/>
          <a:p>
            <a:pPr>
              <a:spcAft>
                <a:spcPts val="600"/>
              </a:spcAft>
            </a:pPr>
            <a:r>
              <a:rPr sz="1100" b="0">
                <a:solidFill>
                  <a:srgbClr val="2C3E50"/>
                </a:solidFill>
                <a:latin typeface="Calibri"/>
                <a:ea typeface="微软雅黑"/>
                <a:cs typeface="Calibri"/>
              </a:rPr>
              <a:t>•  Cost plan: 4 × £150,000 + 1 × £100,000 (£700,000 in total)</a:t>
            </a:r>
          </a:p>
          <a:p>
            <a:pPr>
              <a:spcAft>
                <a:spcPts val="600"/>
              </a:spcAft>
            </a:pPr>
            <a:r>
              <a:rPr sz="1100" b="0">
                <a:solidFill>
                  <a:srgbClr val="2C3E50"/>
                </a:solidFill>
                <a:latin typeface="Calibri"/>
                <a:ea typeface="微软雅黑"/>
                <a:cs typeface="Calibri"/>
              </a:rPr>
              <a:t>•  Nature of the cost: an estimate based on discussion with suppliers; the final figure depends on the containment level confirmed with the scope</a:t>
            </a:r>
          </a:p>
          <a:p>
            <a:pPr>
              <a:spcAft>
                <a:spcPts val="600"/>
              </a:spcAft>
            </a:pPr>
            <a:r>
              <a:rPr sz="1100" b="0">
                <a:solidFill>
                  <a:srgbClr val="2C3E50"/>
                </a:solidFill>
                <a:latin typeface="Calibri"/>
                <a:ea typeface="微软雅黑"/>
                <a:cs typeface="Calibri"/>
              </a:rPr>
              <a:t>•  Fume cupboards: assumed to remain serviceable, with £20,000 allowed for servicing and repair. Whether to buy new is still open on the programme</a:t>
            </a:r>
          </a:p>
          <a:p>
            <a:pPr>
              <a:spcAft>
                <a:spcPts val="600"/>
              </a:spcAft>
            </a:pPr>
            <a:r>
              <a:rPr sz="1100" b="0">
                <a:solidFill>
                  <a:srgbClr val="2C3E50"/>
                </a:solidFill>
                <a:latin typeface="Calibri"/>
                <a:ea typeface="微软雅黑"/>
                <a:cs typeface="Calibri"/>
              </a:rPr>
              <a:t>•  SF6 leak testing £20,000. Furniture covers lockers, a step-over bench, mobile benches and BIBO bins</a:t>
            </a:r>
          </a:p>
        </p:txBody>
      </p:sp>
      <p:sp>
        <p:nvSpPr>
          <p:cNvPr id="21" name="Rounded Rectangle 20"/>
          <p:cNvSpPr/>
          <p:nvPr/>
        </p:nvSpPr>
        <p:spPr>
          <a:xfrm>
            <a:off x="384048" y="3374136"/>
            <a:ext cx="5638647" cy="2167127"/>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84048" y="3374136"/>
            <a:ext cx="91440" cy="2167127"/>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3503" y="3483864"/>
            <a:ext cx="5309463" cy="347472"/>
          </a:xfrm>
          <a:prstGeom prst="rect">
            <a:avLst/>
          </a:prstGeom>
          <a:noFill/>
        </p:spPr>
        <p:txBody>
          <a:bodyPr wrap="square" anchor="t">
            <a:spAutoFit/>
          </a:bodyPr>
          <a:lstStyle/>
          <a:p>
            <a:pPr algn="l"/>
            <a:r>
              <a:rPr sz="1600" b="1">
                <a:solidFill>
                  <a:srgbClr val="0F2B46"/>
                </a:solidFill>
                <a:latin typeface="Calibri"/>
                <a:ea typeface="微软雅黑"/>
                <a:cs typeface="Calibri"/>
              </a:rPr>
              <a:t>Building and finishes</a:t>
            </a:r>
          </a:p>
        </p:txBody>
      </p:sp>
      <p:sp>
        <p:nvSpPr>
          <p:cNvPr id="24" name="TextBox 23"/>
          <p:cNvSpPr txBox="1"/>
          <p:nvPr/>
        </p:nvSpPr>
        <p:spPr>
          <a:xfrm>
            <a:off x="566928" y="3849624"/>
            <a:ext cx="5346039" cy="1600199"/>
          </a:xfrm>
          <a:prstGeom prst="rect">
            <a:avLst/>
          </a:prstGeom>
          <a:noFill/>
        </p:spPr>
        <p:txBody>
          <a:bodyPr wrap="square">
            <a:spAutoFit/>
          </a:bodyPr>
          <a:lstStyle/>
          <a:p>
            <a:pPr>
              <a:spcAft>
                <a:spcPts val="600"/>
              </a:spcAft>
            </a:pPr>
            <a:r>
              <a:rPr sz="1300" b="0">
                <a:solidFill>
                  <a:srgbClr val="2C3E50"/>
                </a:solidFill>
                <a:latin typeface="Calibri"/>
                <a:ea typeface="微软雅黑"/>
                <a:cs typeface="Calibri"/>
              </a:rPr>
              <a:t>•  Strip-out: clear furniture and laboratory equipment, remove floors and ceilings, and remove gas, ductwork, electrical services, smoke detectors and Crowcon</a:t>
            </a:r>
          </a:p>
          <a:p>
            <a:pPr>
              <a:spcAft>
                <a:spcPts val="600"/>
              </a:spcAft>
            </a:pPr>
            <a:r>
              <a:rPr sz="1300" b="0">
                <a:solidFill>
                  <a:srgbClr val="2C3E50"/>
                </a:solidFill>
                <a:latin typeface="Calibri"/>
                <a:ea typeface="微软雅黑"/>
                <a:cs typeface="Calibri"/>
              </a:rPr>
              <a:t>•  New work: 475 m² of wall lining, 40 m² of new partition; 5 single-leaf and 1 leaf-and-a-half hygienic door, 2 timber doors, and 4 existing doors refurbished</a:t>
            </a:r>
          </a:p>
          <a:p>
            <a:pPr>
              <a:spcAft>
                <a:spcPts val="600"/>
              </a:spcAft>
            </a:pPr>
            <a:r>
              <a:rPr sz="1300" b="0">
                <a:solidFill>
                  <a:srgbClr val="2C3E50"/>
                </a:solidFill>
                <a:latin typeface="Calibri"/>
                <a:ea typeface="微软雅黑"/>
                <a:cs typeface="Calibri"/>
              </a:rPr>
              <a:t>•  Finishes: 173 m² of laboratory sheet vinyl, 173 m² of metal ceiling, 33 m² of write-up carpet</a:t>
            </a:r>
          </a:p>
        </p:txBody>
      </p:sp>
      <p:sp>
        <p:nvSpPr>
          <p:cNvPr id="25" name="Rounded Rectangle 24"/>
          <p:cNvSpPr/>
          <p:nvPr/>
        </p:nvSpPr>
        <p:spPr>
          <a:xfrm>
            <a:off x="6168999" y="3374136"/>
            <a:ext cx="5638647" cy="2167127"/>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68999" y="3374136"/>
            <a:ext cx="91440" cy="2167127"/>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88455" y="3483864"/>
            <a:ext cx="5309463" cy="347472"/>
          </a:xfrm>
          <a:prstGeom prst="rect">
            <a:avLst/>
          </a:prstGeom>
          <a:noFill/>
        </p:spPr>
        <p:txBody>
          <a:bodyPr wrap="square" anchor="t">
            <a:spAutoFit/>
          </a:bodyPr>
          <a:lstStyle/>
          <a:p>
            <a:pPr algn="l"/>
            <a:r>
              <a:rPr sz="1600" b="1">
                <a:solidFill>
                  <a:srgbClr val="0F2B46"/>
                </a:solidFill>
                <a:latin typeface="Calibri"/>
                <a:ea typeface="微软雅黑"/>
                <a:cs typeface="Calibri"/>
              </a:rPr>
              <a:t>Services, safety and owner supply</a:t>
            </a:r>
          </a:p>
        </p:txBody>
      </p:sp>
      <p:sp>
        <p:nvSpPr>
          <p:cNvPr id="28" name="TextBox 27"/>
          <p:cNvSpPr txBox="1"/>
          <p:nvPr/>
        </p:nvSpPr>
        <p:spPr>
          <a:xfrm>
            <a:off x="6351879" y="3849624"/>
            <a:ext cx="5346039" cy="1600199"/>
          </a:xfrm>
          <a:prstGeom prst="rect">
            <a:avLst/>
          </a:prstGeom>
          <a:noFill/>
        </p:spPr>
        <p:txBody>
          <a:bodyPr wrap="square">
            <a:spAutoFit/>
          </a:bodyPr>
          <a:lstStyle/>
          <a:p>
            <a:pPr>
              <a:spcAft>
                <a:spcPts val="600"/>
              </a:spcAft>
            </a:pPr>
            <a:r>
              <a:rPr sz="1000" b="0">
                <a:solidFill>
                  <a:srgbClr val="2C3E50"/>
                </a:solidFill>
                <a:latin typeface="Calibri"/>
                <a:ea typeface="微软雅黑"/>
                <a:cs typeface="Calibri"/>
              </a:rPr>
              <a:t>•  HVAC £217,920: return the AHU to service, full supply and extract ductwork, bag-in/bag-out HEPA extract filtration, BMS upgrade and system balancing</a:t>
            </a:r>
          </a:p>
          <a:p>
            <a:pPr>
              <a:spcAft>
                <a:spcPts val="600"/>
              </a:spcAft>
            </a:pPr>
            <a:r>
              <a:rPr sz="1000" b="0">
                <a:solidFill>
                  <a:srgbClr val="2C3E50"/>
                </a:solidFill>
                <a:latin typeface="Calibri"/>
                <a:ea typeface="微软雅黑"/>
                <a:cs typeface="Calibri"/>
              </a:rPr>
              <a:t>•  Electrical £107,380, sprinklers £30,030, access control / cabling / CCTV / fire alarm £51,345, laboratory gas pipework £63,700, mist shower £35,000</a:t>
            </a:r>
          </a:p>
          <a:p>
            <a:pPr>
              <a:spcAft>
                <a:spcPts val="600"/>
              </a:spcAft>
            </a:pPr>
            <a:r>
              <a:rPr sz="1000" b="0">
                <a:solidFill>
                  <a:srgbClr val="2C3E50"/>
                </a:solidFill>
                <a:latin typeface="Calibri"/>
                <a:ea typeface="微软雅黑"/>
                <a:cs typeface="Calibri"/>
              </a:rPr>
              <a:t>•  Equipment supplied and installed by the owner (Asymchem): Phase 1 £963,445 (phased list, £1,713,045 to purchase in total)</a:t>
            </a:r>
          </a:p>
          <a:p>
            <a:pPr>
              <a:spcAft>
                <a:spcPts val="600"/>
              </a:spcAft>
            </a:pPr>
            <a:r>
              <a:rPr sz="1000" b="0">
                <a:solidFill>
                  <a:srgbClr val="2C3E50"/>
                </a:solidFill>
                <a:latin typeface="Calibri"/>
                <a:ea typeface="微软雅黑"/>
                <a:cs typeface="Calibri"/>
              </a:rPr>
              <a:t>•  Phase 1 by group: ARD/QC £662,600, instruments inside isolators £175,345, CRD £125,500</a:t>
            </a:r>
          </a:p>
        </p:txBody>
      </p:sp>
      <p:sp>
        <p:nvSpPr>
          <p:cNvPr id="29" name="Rounded Rectangle 28"/>
          <p:cNvSpPr/>
          <p:nvPr/>
        </p:nvSpPr>
        <p:spPr>
          <a:xfrm>
            <a:off x="384048" y="5577840"/>
            <a:ext cx="11423599" cy="83210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84048" y="5577840"/>
            <a:ext cx="82296" cy="832103"/>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85216" y="5596128"/>
            <a:ext cx="11112703" cy="777240"/>
          </a:xfrm>
          <a:prstGeom prst="rect">
            <a:avLst/>
          </a:prstGeom>
          <a:noFill/>
        </p:spPr>
        <p:txBody>
          <a:bodyPr wrap="square" anchor="t">
            <a:spAutoFit/>
          </a:bodyPr>
          <a:lstStyle/>
          <a:p>
            <a:pPr algn="l"/>
            <a:r>
              <a:rPr sz="1100" b="0">
                <a:solidFill>
                  <a:srgbClr val="2C3E50"/>
                </a:solidFill>
                <a:latin typeface="Calibri"/>
                <a:ea typeface="微软雅黑"/>
                <a:cs typeface="Calibri"/>
              </a:rPr>
              <a:t>Risk and premise: landlord consent for the alteration is being sought from DPML. Once altered, the laboratory cannot be handed back to DPML in its current operating condition, and Clare is following that discussion. DPML (Paul Bax, 21 August 2026) has agreed in principle to the proposed PDF and DPH alterations, including G.128, subject to design review. Two Licences for Alteration can be started, with scope and drawings added as the design develops.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21 / 31</a:t>
            </a:r>
          </a:p>
        </p:txBody>
      </p:sp>
      <p:sp>
        <p:nvSpPr>
          <p:cNvPr id="10" name="Rectangle 9"/>
          <p:cNvSpPr/>
          <p:nvPr/>
        </p:nvSpPr>
        <p:spPr>
          <a:xfrm>
            <a:off x="384048" y="164592"/>
            <a:ext cx="82296" cy="71323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High-potency laboratory · phased owner equipment</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Equipment List Costs for scoping 0911</a:t>
            </a:r>
          </a:p>
        </p:txBody>
      </p:sp>
      <p:sp>
        <p:nvSpPr>
          <p:cNvPr id="13" name="Rounded Rectangle 12"/>
          <p:cNvSpPr/>
          <p:nvPr/>
        </p:nvSpPr>
        <p:spPr>
          <a:xfrm>
            <a:off x="384048" y="1024128"/>
            <a:ext cx="2746171"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1024128"/>
            <a:ext cx="82296" cy="914400"/>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188720"/>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£963,445</a:t>
            </a:r>
          </a:p>
        </p:txBody>
      </p:sp>
      <p:sp>
        <p:nvSpPr>
          <p:cNvPr id="16" name="TextBox 15"/>
          <p:cNvSpPr txBox="1"/>
          <p:nvPr/>
        </p:nvSpPr>
        <p:spPr>
          <a:xfrm>
            <a:off x="566928" y="1591056"/>
            <a:ext cx="2471851" cy="365760"/>
          </a:xfrm>
          <a:prstGeom prst="rect">
            <a:avLst/>
          </a:prstGeom>
          <a:noFill/>
        </p:spPr>
        <p:txBody>
          <a:bodyPr wrap="square" anchor="t">
            <a:spAutoFit/>
          </a:bodyPr>
          <a:lstStyle/>
          <a:p>
            <a:pPr algn="l"/>
            <a:r>
              <a:rPr sz="1200" b="0">
                <a:solidFill>
                  <a:srgbClr val="5A6A7A"/>
                </a:solidFill>
                <a:latin typeface="Calibri"/>
                <a:ea typeface="微软雅黑"/>
                <a:cs typeface="Calibri"/>
              </a:rPr>
              <a:t>Phase 1 equipment (included now)</a:t>
            </a:r>
          </a:p>
        </p:txBody>
      </p:sp>
      <p:sp>
        <p:nvSpPr>
          <p:cNvPr id="17" name="Rounded Rectangle 16"/>
          <p:cNvSpPr/>
          <p:nvPr/>
        </p:nvSpPr>
        <p:spPr>
          <a:xfrm>
            <a:off x="3276523" y="1024128"/>
            <a:ext cx="2746171"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76523" y="1024128"/>
            <a:ext cx="82296" cy="914400"/>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9403" y="1188720"/>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£749,600</a:t>
            </a:r>
          </a:p>
        </p:txBody>
      </p:sp>
      <p:sp>
        <p:nvSpPr>
          <p:cNvPr id="20" name="TextBox 19"/>
          <p:cNvSpPr txBox="1"/>
          <p:nvPr/>
        </p:nvSpPr>
        <p:spPr>
          <a:xfrm>
            <a:off x="3459403" y="1591056"/>
            <a:ext cx="2471851" cy="365760"/>
          </a:xfrm>
          <a:prstGeom prst="rect">
            <a:avLst/>
          </a:prstGeom>
          <a:noFill/>
        </p:spPr>
        <p:txBody>
          <a:bodyPr wrap="square" anchor="t">
            <a:spAutoFit/>
          </a:bodyPr>
          <a:lstStyle/>
          <a:p>
            <a:pPr algn="l"/>
            <a:r>
              <a:rPr sz="1200" b="0">
                <a:solidFill>
                  <a:srgbClr val="5A6A7A"/>
                </a:solidFill>
                <a:latin typeface="Calibri"/>
                <a:ea typeface="微软雅黑"/>
                <a:cs typeface="Calibri"/>
              </a:rPr>
              <a:t>Phase 2 and later</a:t>
            </a:r>
          </a:p>
        </p:txBody>
      </p:sp>
      <p:sp>
        <p:nvSpPr>
          <p:cNvPr id="21" name="Rounded Rectangle 20"/>
          <p:cNvSpPr/>
          <p:nvPr/>
        </p:nvSpPr>
        <p:spPr>
          <a:xfrm>
            <a:off x="6168999" y="1024128"/>
            <a:ext cx="2746171"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68999" y="1024128"/>
            <a:ext cx="82296" cy="914400"/>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1879" y="1188720"/>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£1,713,045</a:t>
            </a:r>
          </a:p>
        </p:txBody>
      </p:sp>
      <p:sp>
        <p:nvSpPr>
          <p:cNvPr id="24" name="TextBox 23"/>
          <p:cNvSpPr txBox="1"/>
          <p:nvPr/>
        </p:nvSpPr>
        <p:spPr>
          <a:xfrm>
            <a:off x="6351879" y="1591056"/>
            <a:ext cx="2471851" cy="365760"/>
          </a:xfrm>
          <a:prstGeom prst="rect">
            <a:avLst/>
          </a:prstGeom>
          <a:noFill/>
        </p:spPr>
        <p:txBody>
          <a:bodyPr wrap="square" anchor="t">
            <a:spAutoFit/>
          </a:bodyPr>
          <a:lstStyle/>
          <a:p>
            <a:pPr algn="l"/>
            <a:r>
              <a:rPr sz="1200" b="0">
                <a:solidFill>
                  <a:srgbClr val="5A6A7A"/>
                </a:solidFill>
                <a:latin typeface="Calibri"/>
                <a:ea typeface="微软雅黑"/>
                <a:cs typeface="Calibri"/>
              </a:rPr>
              <a:t>To purchase, total</a:t>
            </a:r>
          </a:p>
        </p:txBody>
      </p:sp>
      <p:sp>
        <p:nvSpPr>
          <p:cNvPr id="25" name="Rounded Rectangle 24"/>
          <p:cNvSpPr/>
          <p:nvPr/>
        </p:nvSpPr>
        <p:spPr>
          <a:xfrm>
            <a:off x="9061475" y="1024128"/>
            <a:ext cx="2746171"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61475" y="1024128"/>
            <a:ext cx="82296" cy="914400"/>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44355" y="1188720"/>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£3,550,444</a:t>
            </a:r>
          </a:p>
        </p:txBody>
      </p:sp>
      <p:sp>
        <p:nvSpPr>
          <p:cNvPr id="28" name="TextBox 27"/>
          <p:cNvSpPr txBox="1"/>
          <p:nvPr/>
        </p:nvSpPr>
        <p:spPr>
          <a:xfrm>
            <a:off x="9244355" y="1591056"/>
            <a:ext cx="2471851" cy="365760"/>
          </a:xfrm>
          <a:prstGeom prst="rect">
            <a:avLst/>
          </a:prstGeom>
          <a:noFill/>
        </p:spPr>
        <p:txBody>
          <a:bodyPr wrap="square" anchor="t">
            <a:spAutoFit/>
          </a:bodyPr>
          <a:lstStyle/>
          <a:p>
            <a:pPr algn="l"/>
            <a:r>
              <a:rPr sz="1200" b="0">
                <a:solidFill>
                  <a:srgbClr val="5A6A7A"/>
                </a:solidFill>
                <a:latin typeface="Calibri"/>
                <a:ea typeface="微软雅黑"/>
                <a:cs typeface="Calibri"/>
              </a:rPr>
              <a:t>Phase 1 investment (incl. inflation)</a:t>
            </a:r>
          </a:p>
        </p:txBody>
      </p:sp>
      <p:sp>
        <p:nvSpPr>
          <p:cNvPr id="29" name="Rounded Rectangle 28"/>
          <p:cNvSpPr/>
          <p:nvPr/>
        </p:nvSpPr>
        <p:spPr>
          <a:xfrm>
            <a:off x="384048" y="2066543"/>
            <a:ext cx="5638647" cy="20848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84048" y="2066543"/>
            <a:ext cx="82296" cy="2084831"/>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85216" y="2139696"/>
            <a:ext cx="5309463" cy="292608"/>
          </a:xfrm>
          <a:prstGeom prst="rect">
            <a:avLst/>
          </a:prstGeom>
          <a:noFill/>
        </p:spPr>
        <p:txBody>
          <a:bodyPr wrap="square" anchor="t">
            <a:spAutoFit/>
          </a:bodyPr>
          <a:lstStyle/>
          <a:p>
            <a:pPr algn="l"/>
            <a:r>
              <a:rPr sz="1500" b="1">
                <a:solidFill>
                  <a:srgbClr val="0F2B46"/>
                </a:solidFill>
                <a:latin typeface="Calibri"/>
                <a:ea typeface="微软雅黑"/>
                <a:cs typeface="Calibri"/>
              </a:rPr>
              <a:t>Phase 1 · equipment required to start up</a:t>
            </a:r>
          </a:p>
        </p:txBody>
      </p:sp>
      <p:sp>
        <p:nvSpPr>
          <p:cNvPr id="32" name="TextBox 31"/>
          <p:cNvSpPr txBox="1"/>
          <p:nvPr/>
        </p:nvSpPr>
        <p:spPr>
          <a:xfrm>
            <a:off x="548640" y="2468880"/>
            <a:ext cx="5364327" cy="1572768"/>
          </a:xfrm>
          <a:prstGeom prst="rect">
            <a:avLst/>
          </a:prstGeom>
          <a:noFill/>
        </p:spPr>
        <p:txBody>
          <a:bodyPr wrap="square">
            <a:spAutoFit/>
          </a:bodyPr>
          <a:lstStyle/>
          <a:p>
            <a:pPr>
              <a:spcAft>
                <a:spcPts val="600"/>
              </a:spcAft>
            </a:pPr>
            <a:r>
              <a:rPr sz="1300" b="0">
                <a:solidFill>
                  <a:srgbClr val="2C3E50"/>
                </a:solidFill>
                <a:latin typeface="Calibri"/>
                <a:ea typeface="微软雅黑"/>
                <a:cs typeface="Calibri"/>
              </a:rPr>
              <a:t>•  Opening fit-out: one analytical HPLC bought first; the mass spectrometer and its gas supply are in Phase 1</a:t>
            </a:r>
          </a:p>
          <a:p>
            <a:pPr>
              <a:spcAft>
                <a:spcPts val="600"/>
              </a:spcAft>
            </a:pPr>
            <a:r>
              <a:rPr sz="1300" b="0">
                <a:solidFill>
                  <a:srgbClr val="2C3E50"/>
                </a:solidFill>
                <a:latin typeface="Calibri"/>
                <a:ea typeface="微软雅黑"/>
                <a:cs typeface="Calibri"/>
              </a:rPr>
              <a:t>•  Instruments for solids handling inside the isolators are in Phase 1</a:t>
            </a:r>
          </a:p>
          <a:p>
            <a:pPr>
              <a:spcAft>
                <a:spcPts val="600"/>
              </a:spcAft>
            </a:pPr>
            <a:r>
              <a:rPr sz="1300" b="0">
                <a:solidFill>
                  <a:srgbClr val="2C3E50"/>
                </a:solidFill>
                <a:latin typeface="Calibri"/>
                <a:ea typeface="微软雅黑"/>
                <a:cs typeface="Calibri"/>
              </a:rPr>
              <a:t>•  Reaction systems sized for one project at a time (one EasyMax, and similar items, bought first)</a:t>
            </a:r>
          </a:p>
        </p:txBody>
      </p:sp>
      <p:sp>
        <p:nvSpPr>
          <p:cNvPr id="33" name="Rounded Rectangle 32"/>
          <p:cNvSpPr/>
          <p:nvPr/>
        </p:nvSpPr>
        <p:spPr>
          <a:xfrm>
            <a:off x="6168999" y="2066543"/>
            <a:ext cx="5638647" cy="20848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168999" y="2066543"/>
            <a:ext cx="82296" cy="2084831"/>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70167" y="2139696"/>
            <a:ext cx="5309463" cy="292608"/>
          </a:xfrm>
          <a:prstGeom prst="rect">
            <a:avLst/>
          </a:prstGeom>
          <a:noFill/>
        </p:spPr>
        <p:txBody>
          <a:bodyPr wrap="square" anchor="t">
            <a:spAutoFit/>
          </a:bodyPr>
          <a:lstStyle/>
          <a:p>
            <a:pPr algn="l"/>
            <a:r>
              <a:rPr sz="1400" b="1">
                <a:solidFill>
                  <a:srgbClr val="0F2B46"/>
                </a:solidFill>
                <a:latin typeface="Calibri"/>
                <a:ea typeface="微软雅黑"/>
                <a:cs typeface="Calibri"/>
              </a:rPr>
              <a:t>Phase 2 and later · equipment for the full fit-out</a:t>
            </a:r>
          </a:p>
        </p:txBody>
      </p:sp>
      <p:sp>
        <p:nvSpPr>
          <p:cNvPr id="36" name="TextBox 35"/>
          <p:cNvSpPr txBox="1"/>
          <p:nvPr/>
        </p:nvSpPr>
        <p:spPr>
          <a:xfrm>
            <a:off x="6333591" y="2468880"/>
            <a:ext cx="5364327" cy="1572768"/>
          </a:xfrm>
          <a:prstGeom prst="rect">
            <a:avLst/>
          </a:prstGeom>
          <a:noFill/>
        </p:spPr>
        <p:txBody>
          <a:bodyPr wrap="square">
            <a:spAutoFit/>
          </a:bodyPr>
          <a:lstStyle/>
          <a:p>
            <a:pPr>
              <a:spcAft>
                <a:spcPts val="600"/>
              </a:spcAft>
            </a:pPr>
            <a:r>
              <a:rPr sz="1300" b="0">
                <a:solidFill>
                  <a:srgbClr val="2C3E50"/>
                </a:solidFill>
                <a:latin typeface="Calibri"/>
                <a:ea typeface="微软雅黑"/>
                <a:cs typeface="Calibri"/>
              </a:rPr>
              <a:t>•  Preparative HPLC, particle sizer and auto titrator</a:t>
            </a:r>
          </a:p>
          <a:p>
            <a:pPr>
              <a:spcAft>
                <a:spcPts val="600"/>
              </a:spcAft>
            </a:pPr>
            <a:r>
              <a:rPr sz="1300" b="0">
                <a:solidFill>
                  <a:srgbClr val="2C3E50"/>
                </a:solidFill>
                <a:latin typeface="Calibri"/>
                <a:ea typeface="微软雅黑"/>
                <a:cs typeface="Calibri"/>
              </a:rPr>
              <a:t>•  Crystallisation screening, part of the reaction ancillaries, and glasswash</a:t>
            </a:r>
          </a:p>
          <a:p>
            <a:pPr>
              <a:spcAft>
                <a:spcPts val="600"/>
              </a:spcAft>
            </a:pPr>
            <a:r>
              <a:rPr sz="1300" b="0">
                <a:solidFill>
                  <a:srgbClr val="2C3E50"/>
                </a:solidFill>
                <a:latin typeface="Calibri"/>
                <a:ea typeface="微软雅黑"/>
                <a:cs typeface="Calibri"/>
              </a:rPr>
              <a:t>•  Software £200,000, carried as later</a:t>
            </a:r>
          </a:p>
        </p:txBody>
      </p:sp>
      <p:graphicFrame>
        <p:nvGraphicFramePr>
          <p:cNvPr id="37" name="Table 36"/>
          <p:cNvGraphicFramePr>
            <a:graphicFrameLocks noGrp="1"/>
          </p:cNvGraphicFramePr>
          <p:nvPr/>
        </p:nvGraphicFramePr>
        <p:xfrm>
          <a:off x="384048" y="4279392"/>
          <a:ext cx="11368733" cy="1572768"/>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2630728">
                  <a:extLst>
                    <a:ext uri="{9D8B030D-6E8A-4147-A177-3AD203B41FA5}">
                      <a16:colId xmlns:a16="http://schemas.microsoft.com/office/drawing/2014/main" val="20001"/>
                    </a:ext>
                  </a:extLst>
                </a:gridCol>
                <a:gridCol w="2630728">
                  <a:extLst>
                    <a:ext uri="{9D8B030D-6E8A-4147-A177-3AD203B41FA5}">
                      <a16:colId xmlns:a16="http://schemas.microsoft.com/office/drawing/2014/main" val="20002"/>
                    </a:ext>
                  </a:extLst>
                </a:gridCol>
                <a:gridCol w="2632557">
                  <a:extLst>
                    <a:ext uri="{9D8B030D-6E8A-4147-A177-3AD203B41FA5}">
                      <a16:colId xmlns:a16="http://schemas.microsoft.com/office/drawing/2014/main" val="20003"/>
                    </a:ext>
                  </a:extLst>
                </a:gridCol>
              </a:tblGrid>
              <a:tr h="314553">
                <a:tc>
                  <a:txBody>
                    <a:bodyPr/>
                    <a:lstStyle/>
                    <a:p>
                      <a:pPr algn="l"/>
                      <a:r>
                        <a:rPr sz="1300" b="1">
                          <a:solidFill>
                            <a:srgbClr val="FFFFFF"/>
                          </a:solidFill>
                          <a:latin typeface="Calibri"/>
                          <a:ea typeface="微软雅黑"/>
                          <a:cs typeface="Calibri"/>
                        </a:rPr>
                        <a:t>Group</a:t>
                      </a:r>
                    </a:p>
                  </a:txBody>
                  <a:tcPr anchor="ctr">
                    <a:solidFill>
                      <a:srgbClr val="0F2B46"/>
                    </a:solidFill>
                  </a:tcPr>
                </a:tc>
                <a:tc>
                  <a:txBody>
                    <a:bodyPr/>
                    <a:lstStyle/>
                    <a:p>
                      <a:pPr algn="r"/>
                      <a:r>
                        <a:rPr sz="1300" b="1">
                          <a:solidFill>
                            <a:srgbClr val="FFFFFF"/>
                          </a:solidFill>
                          <a:latin typeface="Calibri"/>
                          <a:ea typeface="微软雅黑"/>
                          <a:cs typeface="Calibri"/>
                        </a:rPr>
                        <a:t>To purchase</a:t>
                      </a:r>
                    </a:p>
                  </a:txBody>
                  <a:tcPr anchor="ctr">
                    <a:solidFill>
                      <a:srgbClr val="0F2B46"/>
                    </a:solidFill>
                  </a:tcPr>
                </a:tc>
                <a:tc>
                  <a:txBody>
                    <a:bodyPr/>
                    <a:lstStyle/>
                    <a:p>
                      <a:pPr algn="r"/>
                      <a:r>
                        <a:rPr sz="1300" b="1">
                          <a:solidFill>
                            <a:srgbClr val="FFFFFF"/>
                          </a:solidFill>
                          <a:latin typeface="Calibri"/>
                          <a:ea typeface="微软雅黑"/>
                          <a:cs typeface="Calibri"/>
                        </a:rPr>
                        <a:t>Phase 1</a:t>
                      </a:r>
                    </a:p>
                  </a:txBody>
                  <a:tcPr anchor="ctr">
                    <a:solidFill>
                      <a:srgbClr val="0F2B46"/>
                    </a:solidFill>
                  </a:tcPr>
                </a:tc>
                <a:tc>
                  <a:txBody>
                    <a:bodyPr/>
                    <a:lstStyle/>
                    <a:p>
                      <a:pPr algn="r"/>
                      <a:r>
                        <a:rPr sz="1300" b="1">
                          <a:solidFill>
                            <a:srgbClr val="FFFFFF"/>
                          </a:solidFill>
                          <a:latin typeface="Calibri"/>
                          <a:ea typeface="微软雅黑"/>
                          <a:cs typeface="Calibri"/>
                        </a:rPr>
                        <a:t>Phase 2 and later</a:t>
                      </a:r>
                    </a:p>
                  </a:txBody>
                  <a:tcPr anchor="ctr">
                    <a:solidFill>
                      <a:srgbClr val="0F2B46"/>
                    </a:solidFill>
                  </a:tcPr>
                </a:tc>
                <a:extLst>
                  <a:ext uri="{0D108BD9-81ED-4DB2-BD59-A6C34878D82A}">
                    <a16:rowId xmlns:a16="http://schemas.microsoft.com/office/drawing/2014/main" val="10000"/>
                  </a:ext>
                </a:extLst>
              </a:tr>
              <a:tr h="314553">
                <a:tc>
                  <a:txBody>
                    <a:bodyPr/>
                    <a:lstStyle/>
                    <a:p>
                      <a:pPr algn="l"/>
                      <a:r>
                        <a:rPr sz="1300" b="0">
                          <a:solidFill>
                            <a:srgbClr val="2C3E50"/>
                          </a:solidFill>
                          <a:latin typeface="Calibri"/>
                          <a:ea typeface="微软雅黑"/>
                          <a:cs typeface="Calibri"/>
                        </a:rPr>
                        <a:t>ARD / QC</a:t>
                      </a:r>
                    </a:p>
                  </a:txBody>
                  <a:tcPr anchor="ctr">
                    <a:solidFill>
                      <a:srgbClr val="FFFFFF"/>
                    </a:solidFill>
                  </a:tcPr>
                </a:tc>
                <a:tc>
                  <a:txBody>
                    <a:bodyPr/>
                    <a:lstStyle/>
                    <a:p>
                      <a:pPr algn="r"/>
                      <a:r>
                        <a:rPr sz="1300" b="0">
                          <a:solidFill>
                            <a:srgbClr val="2C3E50"/>
                          </a:solidFill>
                          <a:latin typeface="Calibri"/>
                          <a:ea typeface="微软雅黑"/>
                          <a:cs typeface="Calibri"/>
                        </a:rPr>
                        <a:t>£832,600</a:t>
                      </a:r>
                    </a:p>
                  </a:txBody>
                  <a:tcPr anchor="ctr">
                    <a:solidFill>
                      <a:srgbClr val="FFFFFF"/>
                    </a:solidFill>
                  </a:tcPr>
                </a:tc>
                <a:tc>
                  <a:txBody>
                    <a:bodyPr/>
                    <a:lstStyle/>
                    <a:p>
                      <a:pPr algn="r"/>
                      <a:r>
                        <a:rPr sz="1300" b="0">
                          <a:solidFill>
                            <a:srgbClr val="2C3E50"/>
                          </a:solidFill>
                          <a:latin typeface="Calibri"/>
                          <a:ea typeface="微软雅黑"/>
                          <a:cs typeface="Calibri"/>
                        </a:rPr>
                        <a:t>£662,600</a:t>
                      </a:r>
                    </a:p>
                  </a:txBody>
                  <a:tcPr anchor="ctr">
                    <a:solidFill>
                      <a:srgbClr val="FFFFFF"/>
                    </a:solidFill>
                  </a:tcPr>
                </a:tc>
                <a:tc>
                  <a:txBody>
                    <a:bodyPr/>
                    <a:lstStyle/>
                    <a:p>
                      <a:pPr algn="r"/>
                      <a:r>
                        <a:rPr sz="1300" b="0">
                          <a:solidFill>
                            <a:srgbClr val="2C3E50"/>
                          </a:solidFill>
                          <a:latin typeface="Calibri"/>
                          <a:ea typeface="微软雅黑"/>
                          <a:cs typeface="Calibri"/>
                        </a:rPr>
                        <a:t>£170,000</a:t>
                      </a:r>
                    </a:p>
                  </a:txBody>
                  <a:tcPr anchor="ctr">
                    <a:solidFill>
                      <a:srgbClr val="FFFFFF"/>
                    </a:solidFill>
                  </a:tcPr>
                </a:tc>
                <a:extLst>
                  <a:ext uri="{0D108BD9-81ED-4DB2-BD59-A6C34878D82A}">
                    <a16:rowId xmlns:a16="http://schemas.microsoft.com/office/drawing/2014/main" val="10001"/>
                  </a:ext>
                </a:extLst>
              </a:tr>
              <a:tr h="314553">
                <a:tc>
                  <a:txBody>
                    <a:bodyPr/>
                    <a:lstStyle/>
                    <a:p>
                      <a:pPr algn="l"/>
                      <a:r>
                        <a:rPr sz="1300" b="0">
                          <a:solidFill>
                            <a:srgbClr val="2C3E50"/>
                          </a:solidFill>
                          <a:latin typeface="Calibri"/>
                          <a:ea typeface="微软雅黑"/>
                          <a:cs typeface="Calibri"/>
                        </a:rPr>
                        <a:t>Instruments inside isolators</a:t>
                      </a:r>
                    </a:p>
                  </a:txBody>
                  <a:tcPr anchor="ctr">
                    <a:solidFill>
                      <a:srgbClr val="F6F8FA"/>
                    </a:solidFill>
                  </a:tcPr>
                </a:tc>
                <a:tc>
                  <a:txBody>
                    <a:bodyPr/>
                    <a:lstStyle/>
                    <a:p>
                      <a:pPr algn="r"/>
                      <a:r>
                        <a:rPr sz="1300" b="0">
                          <a:solidFill>
                            <a:srgbClr val="2C3E50"/>
                          </a:solidFill>
                          <a:latin typeface="Calibri"/>
                          <a:ea typeface="微软雅黑"/>
                          <a:cs typeface="Calibri"/>
                        </a:rPr>
                        <a:t>£383,345</a:t>
                      </a:r>
                    </a:p>
                  </a:txBody>
                  <a:tcPr anchor="ctr">
                    <a:solidFill>
                      <a:srgbClr val="F6F8FA"/>
                    </a:solidFill>
                  </a:tcPr>
                </a:tc>
                <a:tc>
                  <a:txBody>
                    <a:bodyPr/>
                    <a:lstStyle/>
                    <a:p>
                      <a:pPr algn="r"/>
                      <a:r>
                        <a:rPr sz="1300" b="0">
                          <a:solidFill>
                            <a:srgbClr val="2C3E50"/>
                          </a:solidFill>
                          <a:latin typeface="Calibri"/>
                          <a:ea typeface="微软雅黑"/>
                          <a:cs typeface="Calibri"/>
                        </a:rPr>
                        <a:t>£175,345</a:t>
                      </a:r>
                    </a:p>
                  </a:txBody>
                  <a:tcPr anchor="ctr">
                    <a:solidFill>
                      <a:srgbClr val="F6F8FA"/>
                    </a:solidFill>
                  </a:tcPr>
                </a:tc>
                <a:tc>
                  <a:txBody>
                    <a:bodyPr/>
                    <a:lstStyle/>
                    <a:p>
                      <a:pPr algn="r"/>
                      <a:r>
                        <a:rPr sz="1300" b="0">
                          <a:solidFill>
                            <a:srgbClr val="2C3E50"/>
                          </a:solidFill>
                          <a:latin typeface="Calibri"/>
                          <a:ea typeface="微软雅黑"/>
                          <a:cs typeface="Calibri"/>
                        </a:rPr>
                        <a:t>£208,000</a:t>
                      </a:r>
                    </a:p>
                  </a:txBody>
                  <a:tcPr anchor="ctr">
                    <a:solidFill>
                      <a:srgbClr val="F6F8FA"/>
                    </a:solidFill>
                  </a:tcPr>
                </a:tc>
                <a:extLst>
                  <a:ext uri="{0D108BD9-81ED-4DB2-BD59-A6C34878D82A}">
                    <a16:rowId xmlns:a16="http://schemas.microsoft.com/office/drawing/2014/main" val="10002"/>
                  </a:ext>
                </a:extLst>
              </a:tr>
              <a:tr h="314553">
                <a:tc>
                  <a:txBody>
                    <a:bodyPr/>
                    <a:lstStyle/>
                    <a:p>
                      <a:pPr algn="l"/>
                      <a:r>
                        <a:rPr sz="1300" b="0">
                          <a:solidFill>
                            <a:srgbClr val="2C3E50"/>
                          </a:solidFill>
                          <a:latin typeface="Calibri"/>
                          <a:ea typeface="微软雅黑"/>
                          <a:cs typeface="Calibri"/>
                        </a:rPr>
                        <a:t>CRD</a:t>
                      </a:r>
                    </a:p>
                  </a:txBody>
                  <a:tcPr anchor="ctr">
                    <a:solidFill>
                      <a:srgbClr val="FFFFFF"/>
                    </a:solidFill>
                  </a:tcPr>
                </a:tc>
                <a:tc>
                  <a:txBody>
                    <a:bodyPr/>
                    <a:lstStyle/>
                    <a:p>
                      <a:pPr algn="r"/>
                      <a:r>
                        <a:rPr sz="1300" b="0">
                          <a:solidFill>
                            <a:srgbClr val="2C3E50"/>
                          </a:solidFill>
                          <a:latin typeface="Calibri"/>
                          <a:ea typeface="微软雅黑"/>
                          <a:cs typeface="Calibri"/>
                        </a:rPr>
                        <a:t>£497,100</a:t>
                      </a:r>
                    </a:p>
                  </a:txBody>
                  <a:tcPr anchor="ctr">
                    <a:solidFill>
                      <a:srgbClr val="FFFFFF"/>
                    </a:solidFill>
                  </a:tcPr>
                </a:tc>
                <a:tc>
                  <a:txBody>
                    <a:bodyPr/>
                    <a:lstStyle/>
                    <a:p>
                      <a:pPr algn="r"/>
                      <a:r>
                        <a:rPr sz="1300" b="0">
                          <a:solidFill>
                            <a:srgbClr val="2C3E50"/>
                          </a:solidFill>
                          <a:latin typeface="Calibri"/>
                          <a:ea typeface="微软雅黑"/>
                          <a:cs typeface="Calibri"/>
                        </a:rPr>
                        <a:t>£125,500</a:t>
                      </a:r>
                    </a:p>
                  </a:txBody>
                  <a:tcPr anchor="ctr">
                    <a:solidFill>
                      <a:srgbClr val="FFFFFF"/>
                    </a:solidFill>
                  </a:tcPr>
                </a:tc>
                <a:tc>
                  <a:txBody>
                    <a:bodyPr/>
                    <a:lstStyle/>
                    <a:p>
                      <a:pPr algn="r"/>
                      <a:r>
                        <a:rPr sz="1300" b="0">
                          <a:solidFill>
                            <a:srgbClr val="2C3E50"/>
                          </a:solidFill>
                          <a:latin typeface="Calibri"/>
                          <a:ea typeface="微软雅黑"/>
                          <a:cs typeface="Calibri"/>
                        </a:rPr>
                        <a:t>£371,600</a:t>
                      </a:r>
                    </a:p>
                  </a:txBody>
                  <a:tcPr anchor="ctr">
                    <a:solidFill>
                      <a:srgbClr val="FFFFFF"/>
                    </a:solidFill>
                  </a:tcPr>
                </a:tc>
                <a:extLst>
                  <a:ext uri="{0D108BD9-81ED-4DB2-BD59-A6C34878D82A}">
                    <a16:rowId xmlns:a16="http://schemas.microsoft.com/office/drawing/2014/main" val="10003"/>
                  </a:ext>
                </a:extLst>
              </a:tr>
              <a:tr h="314556">
                <a:tc>
                  <a:txBody>
                    <a:bodyPr/>
                    <a:lstStyle/>
                    <a:p>
                      <a:pPr algn="l"/>
                      <a:r>
                        <a:rPr sz="1300" b="0">
                          <a:solidFill>
                            <a:srgbClr val="2C3E50"/>
                          </a:solidFill>
                          <a:latin typeface="Calibri"/>
                          <a:ea typeface="微软雅黑"/>
                          <a:cs typeface="Calibri"/>
                        </a:rPr>
                        <a:t>Total</a:t>
                      </a:r>
                    </a:p>
                  </a:txBody>
                  <a:tcPr anchor="ctr">
                    <a:solidFill>
                      <a:srgbClr val="F6F8FA"/>
                    </a:solidFill>
                  </a:tcPr>
                </a:tc>
                <a:tc>
                  <a:txBody>
                    <a:bodyPr/>
                    <a:lstStyle/>
                    <a:p>
                      <a:pPr algn="r"/>
                      <a:r>
                        <a:rPr sz="1300" b="0">
                          <a:solidFill>
                            <a:srgbClr val="2C3E50"/>
                          </a:solidFill>
                          <a:latin typeface="Calibri"/>
                          <a:ea typeface="微软雅黑"/>
                          <a:cs typeface="Calibri"/>
                        </a:rPr>
                        <a:t>£1,713,045</a:t>
                      </a:r>
                    </a:p>
                  </a:txBody>
                  <a:tcPr anchor="ctr">
                    <a:solidFill>
                      <a:srgbClr val="F6F8FA"/>
                    </a:solidFill>
                  </a:tcPr>
                </a:tc>
                <a:tc>
                  <a:txBody>
                    <a:bodyPr/>
                    <a:lstStyle/>
                    <a:p>
                      <a:pPr algn="r"/>
                      <a:r>
                        <a:rPr sz="1300" b="0">
                          <a:solidFill>
                            <a:srgbClr val="2C3E50"/>
                          </a:solidFill>
                          <a:latin typeface="Calibri"/>
                          <a:ea typeface="微软雅黑"/>
                          <a:cs typeface="Calibri"/>
                        </a:rPr>
                        <a:t>£963,445</a:t>
                      </a:r>
                    </a:p>
                  </a:txBody>
                  <a:tcPr anchor="ctr">
                    <a:solidFill>
                      <a:srgbClr val="F6F8FA"/>
                    </a:solidFill>
                  </a:tcPr>
                </a:tc>
                <a:tc>
                  <a:txBody>
                    <a:bodyPr/>
                    <a:lstStyle/>
                    <a:p>
                      <a:pPr algn="r"/>
                      <a:r>
                        <a:rPr sz="1300" b="0">
                          <a:solidFill>
                            <a:srgbClr val="2C3E50"/>
                          </a:solidFill>
                          <a:latin typeface="Calibri"/>
                          <a:ea typeface="微软雅黑"/>
                          <a:cs typeface="Calibri"/>
                        </a:rPr>
                        <a:t>£749,600</a:t>
                      </a:r>
                    </a:p>
                  </a:txBody>
                  <a:tcPr anchor="ctr">
                    <a:solidFill>
                      <a:srgbClr val="F6F8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22 / 31</a:t>
            </a:r>
          </a:p>
        </p:txBody>
      </p:sp>
      <p:sp>
        <p:nvSpPr>
          <p:cNvPr id="10" name="Rectangle 9"/>
          <p:cNvSpPr/>
          <p:nvPr/>
        </p:nvSpPr>
        <p:spPr>
          <a:xfrm>
            <a:off x="384048" y="164592"/>
            <a:ext cx="82296" cy="71323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High-potency laboratory · investment (1/2)</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G-128 Concept Cost Plan · 2026-08-06 · GIFA 215 m²</a:t>
            </a:r>
          </a:p>
        </p:txBody>
      </p:sp>
      <p:sp>
        <p:nvSpPr>
          <p:cNvPr id="13" name="Rounded Rectangle 12"/>
          <p:cNvSpPr/>
          <p:nvPr/>
        </p:nvSpPr>
        <p:spPr>
          <a:xfrm>
            <a:off x="384048" y="1024128"/>
            <a:ext cx="11423599" cy="438912"/>
          </a:xfrm>
          <a:prstGeom prst="roundRect">
            <a:avLst>
              <a:gd name="adj" fmla="val 8000"/>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216" y="1060704"/>
            <a:ext cx="5943600" cy="347472"/>
          </a:xfrm>
          <a:prstGeom prst="rect">
            <a:avLst/>
          </a:prstGeom>
          <a:noFill/>
        </p:spPr>
        <p:txBody>
          <a:bodyPr wrap="square" anchor="t">
            <a:spAutoFit/>
          </a:bodyPr>
          <a:lstStyle/>
          <a:p>
            <a:pPr algn="l"/>
            <a:r>
              <a:rPr sz="1500" b="1">
                <a:solidFill>
                  <a:srgbClr val="FFFFFF"/>
                </a:solidFill>
                <a:latin typeface="Calibri"/>
                <a:ea typeface="微软雅黑"/>
                <a:cs typeface="Calibri"/>
              </a:rPr>
              <a:t>Phase 1 investment (incl. inflation)</a:t>
            </a:r>
          </a:p>
        </p:txBody>
      </p:sp>
      <p:sp>
        <p:nvSpPr>
          <p:cNvPr id="15" name="TextBox 14"/>
          <p:cNvSpPr txBox="1"/>
          <p:nvPr/>
        </p:nvSpPr>
        <p:spPr>
          <a:xfrm>
            <a:off x="6784848" y="1060704"/>
            <a:ext cx="4754880" cy="347472"/>
          </a:xfrm>
          <a:prstGeom prst="rect">
            <a:avLst/>
          </a:prstGeom>
          <a:noFill/>
        </p:spPr>
        <p:txBody>
          <a:bodyPr wrap="square" anchor="t">
            <a:spAutoFit/>
          </a:bodyPr>
          <a:lstStyle/>
          <a:p>
            <a:pPr algn="r"/>
            <a:r>
              <a:rPr sz="1700" b="1">
                <a:solidFill>
                  <a:srgbClr val="FFFFFF"/>
                </a:solidFill>
                <a:latin typeface="Calibri"/>
                <a:ea typeface="微软雅黑"/>
                <a:cs typeface="Calibri"/>
              </a:rPr>
              <a:t>£3,550,444</a:t>
            </a:r>
          </a:p>
        </p:txBody>
      </p:sp>
      <p:graphicFrame>
        <p:nvGraphicFramePr>
          <p:cNvPr id="16" name="Table 15"/>
          <p:cNvGraphicFramePr>
            <a:graphicFrameLocks noGrp="1"/>
          </p:cNvGraphicFramePr>
          <p:nvPr/>
        </p:nvGraphicFramePr>
        <p:xfrm>
          <a:off x="384048" y="1572768"/>
          <a:ext cx="5577839" cy="4773168"/>
        </p:xfrm>
        <a:graphic>
          <a:graphicData uri="http://schemas.openxmlformats.org/drawingml/2006/table">
            <a:tbl>
              <a:tblPr firstRow="1" bandRow="1">
                <a:tableStyleId>{5C22544A-7EE6-4342-B048-85BDC9FD1C3A}</a:tableStyleId>
              </a:tblPr>
              <a:tblGrid>
                <a:gridCol w="4016044">
                  <a:extLst>
                    <a:ext uri="{9D8B030D-6E8A-4147-A177-3AD203B41FA5}">
                      <a16:colId xmlns:a16="http://schemas.microsoft.com/office/drawing/2014/main" val="20000"/>
                    </a:ext>
                  </a:extLst>
                </a:gridCol>
                <a:gridCol w="1561795">
                  <a:extLst>
                    <a:ext uri="{9D8B030D-6E8A-4147-A177-3AD203B41FA5}">
                      <a16:colId xmlns:a16="http://schemas.microsoft.com/office/drawing/2014/main" val="20001"/>
                    </a:ext>
                  </a:extLst>
                </a:gridCol>
              </a:tblGrid>
              <a:tr h="433924">
                <a:tc>
                  <a:txBody>
                    <a:bodyPr/>
                    <a:lstStyle/>
                    <a:p>
                      <a:pPr algn="l"/>
                      <a:r>
                        <a:rPr sz="1100" b="1">
                          <a:solidFill>
                            <a:srgbClr val="FFFFFF"/>
                          </a:solidFill>
                          <a:latin typeface="Calibri"/>
                          <a:ea typeface="微软雅黑"/>
                          <a:cs typeface="Calibri"/>
                        </a:rPr>
                        <a:t>Total building works estimate</a:t>
                      </a:r>
                    </a:p>
                  </a:txBody>
                  <a:tcPr anchor="ctr">
                    <a:solidFill>
                      <a:srgbClr val="1A3A55"/>
                    </a:solidFill>
                  </a:tcPr>
                </a:tc>
                <a:tc>
                  <a:txBody>
                    <a:bodyPr/>
                    <a:lstStyle/>
                    <a:p>
                      <a:pPr algn="r"/>
                      <a:r>
                        <a:rPr sz="1100" b="1">
                          <a:solidFill>
                            <a:srgbClr val="FFFFFF"/>
                          </a:solidFill>
                          <a:latin typeface="Calibri"/>
                          <a:ea typeface="微软雅黑"/>
                          <a:cs typeface="Calibri"/>
                        </a:rPr>
                        <a:t>£1,951,140</a:t>
                      </a:r>
                    </a:p>
                  </a:txBody>
                  <a:tcPr anchor="ctr">
                    <a:solidFill>
                      <a:srgbClr val="1A3A55"/>
                    </a:solidFill>
                  </a:tcPr>
                </a:tc>
                <a:extLst>
                  <a:ext uri="{0D108BD9-81ED-4DB2-BD59-A6C34878D82A}">
                    <a16:rowId xmlns:a16="http://schemas.microsoft.com/office/drawing/2014/main" val="10000"/>
                  </a:ext>
                </a:extLst>
              </a:tr>
              <a:tr h="433924">
                <a:tc>
                  <a:txBody>
                    <a:bodyPr/>
                    <a:lstStyle/>
                    <a:p>
                      <a:pPr algn="l"/>
                      <a:r>
                        <a:rPr sz="1100" b="0">
                          <a:solidFill>
                            <a:srgbClr val="2C3E50"/>
                          </a:solidFill>
                          <a:latin typeface="Calibri"/>
                          <a:ea typeface="微软雅黑"/>
                          <a:cs typeface="Calibri"/>
                        </a:rPr>
                        <a:t>1 Facilitating works</a:t>
                      </a:r>
                    </a:p>
                  </a:txBody>
                  <a:tcPr anchor="ctr">
                    <a:solidFill>
                      <a:srgbClr val="FFFFFF"/>
                    </a:solidFill>
                  </a:tcPr>
                </a:tc>
                <a:tc>
                  <a:txBody>
                    <a:bodyPr/>
                    <a:lstStyle/>
                    <a:p>
                      <a:pPr algn="r"/>
                      <a:r>
                        <a:rPr sz="1100" b="0">
                          <a:solidFill>
                            <a:srgbClr val="2C3E50"/>
                          </a:solidFill>
                          <a:latin typeface="Calibri"/>
                          <a:ea typeface="微软雅黑"/>
                          <a:cs typeface="Calibri"/>
                        </a:rPr>
                        <a:t>£65,567</a:t>
                      </a:r>
                    </a:p>
                  </a:txBody>
                  <a:tcPr anchor="ctr">
                    <a:solidFill>
                      <a:srgbClr val="FFFFFF"/>
                    </a:solidFill>
                  </a:tcPr>
                </a:tc>
                <a:extLst>
                  <a:ext uri="{0D108BD9-81ED-4DB2-BD59-A6C34878D82A}">
                    <a16:rowId xmlns:a16="http://schemas.microsoft.com/office/drawing/2014/main" val="10001"/>
                  </a:ext>
                </a:extLst>
              </a:tr>
              <a:tr h="433924">
                <a:tc>
                  <a:txBody>
                    <a:bodyPr/>
                    <a:lstStyle/>
                    <a:p>
                      <a:pPr algn="l"/>
                      <a:r>
                        <a:rPr sz="1000" b="0">
                          <a:solidFill>
                            <a:srgbClr val="5A6A7A"/>
                          </a:solidFill>
                          <a:latin typeface="Calibri"/>
                          <a:ea typeface="微软雅黑"/>
                          <a:cs typeface="Calibri"/>
                        </a:rPr>
                        <a:t>1.1 Strip-out, alterations and demolition (partitions and the like)</a:t>
                      </a:r>
                    </a:p>
                  </a:txBody>
                  <a:tcPr anchor="ctr">
                    <a:solidFill>
                      <a:srgbClr val="F6F8FA"/>
                    </a:solidFill>
                  </a:tcPr>
                </a:tc>
                <a:tc>
                  <a:txBody>
                    <a:bodyPr/>
                    <a:lstStyle/>
                    <a:p>
                      <a:pPr algn="r"/>
                      <a:r>
                        <a:rPr sz="1000" b="0">
                          <a:solidFill>
                            <a:srgbClr val="5A6A7A"/>
                          </a:solidFill>
                          <a:latin typeface="Calibri"/>
                          <a:ea typeface="微软雅黑"/>
                          <a:cs typeface="Calibri"/>
                        </a:rPr>
                        <a:t>£46,967</a:t>
                      </a:r>
                    </a:p>
                  </a:txBody>
                  <a:tcPr anchor="ctr">
                    <a:solidFill>
                      <a:srgbClr val="F6F8FA"/>
                    </a:solidFill>
                  </a:tcPr>
                </a:tc>
                <a:extLst>
                  <a:ext uri="{0D108BD9-81ED-4DB2-BD59-A6C34878D82A}">
                    <a16:rowId xmlns:a16="http://schemas.microsoft.com/office/drawing/2014/main" val="10002"/>
                  </a:ext>
                </a:extLst>
              </a:tr>
              <a:tr h="433924">
                <a:tc>
                  <a:txBody>
                    <a:bodyPr/>
                    <a:lstStyle/>
                    <a:p>
                      <a:pPr algn="l"/>
                      <a:r>
                        <a:rPr sz="1000" b="0">
                          <a:solidFill>
                            <a:srgbClr val="5A6A7A"/>
                          </a:solidFill>
                          <a:latin typeface="Calibri"/>
                          <a:ea typeface="微软雅黑"/>
                          <a:cs typeface="Calibri"/>
                        </a:rPr>
                        <a:t>1.2 Services strip-out (gas, ductwork, electrical, detectors, Crowcon)</a:t>
                      </a:r>
                    </a:p>
                  </a:txBody>
                  <a:tcPr anchor="ctr">
                    <a:solidFill>
                      <a:srgbClr val="FFFFFF"/>
                    </a:solidFill>
                  </a:tcPr>
                </a:tc>
                <a:tc>
                  <a:txBody>
                    <a:bodyPr/>
                    <a:lstStyle/>
                    <a:p>
                      <a:pPr algn="r"/>
                      <a:r>
                        <a:rPr sz="1000" b="0">
                          <a:solidFill>
                            <a:srgbClr val="5A6A7A"/>
                          </a:solidFill>
                          <a:latin typeface="Calibri"/>
                          <a:ea typeface="微软雅黑"/>
                          <a:cs typeface="Calibri"/>
                        </a:rPr>
                        <a:t>£18,600</a:t>
                      </a:r>
                    </a:p>
                  </a:txBody>
                  <a:tcPr anchor="ctr">
                    <a:solidFill>
                      <a:srgbClr val="FFFFFF"/>
                    </a:solidFill>
                  </a:tcPr>
                </a:tc>
                <a:extLst>
                  <a:ext uri="{0D108BD9-81ED-4DB2-BD59-A6C34878D82A}">
                    <a16:rowId xmlns:a16="http://schemas.microsoft.com/office/drawing/2014/main" val="10003"/>
                  </a:ext>
                </a:extLst>
              </a:tr>
              <a:tr h="433924">
                <a:tc>
                  <a:txBody>
                    <a:bodyPr/>
                    <a:lstStyle/>
                    <a:p>
                      <a:pPr algn="l"/>
                      <a:r>
                        <a:rPr sz="1100" b="0">
                          <a:solidFill>
                            <a:srgbClr val="2C3E50"/>
                          </a:solidFill>
                          <a:latin typeface="Calibri"/>
                          <a:ea typeface="微软雅黑"/>
                          <a:cs typeface="Calibri"/>
                        </a:rPr>
                        <a:t>2 Superstructure</a:t>
                      </a:r>
                    </a:p>
                  </a:txBody>
                  <a:tcPr anchor="ctr">
                    <a:solidFill>
                      <a:srgbClr val="F6F8FA"/>
                    </a:solidFill>
                  </a:tcPr>
                </a:tc>
                <a:tc>
                  <a:txBody>
                    <a:bodyPr/>
                    <a:lstStyle/>
                    <a:p>
                      <a:pPr algn="r"/>
                      <a:r>
                        <a:rPr sz="1100" b="0">
                          <a:solidFill>
                            <a:srgbClr val="2C3E50"/>
                          </a:solidFill>
                          <a:latin typeface="Calibri"/>
                          <a:ea typeface="微软雅黑"/>
                          <a:cs typeface="Calibri"/>
                        </a:rPr>
                        <a:t>£68,690</a:t>
                      </a:r>
                    </a:p>
                  </a:txBody>
                  <a:tcPr anchor="ctr">
                    <a:solidFill>
                      <a:srgbClr val="F6F8FA"/>
                    </a:solidFill>
                  </a:tcPr>
                </a:tc>
                <a:extLst>
                  <a:ext uri="{0D108BD9-81ED-4DB2-BD59-A6C34878D82A}">
                    <a16:rowId xmlns:a16="http://schemas.microsoft.com/office/drawing/2014/main" val="10004"/>
                  </a:ext>
                </a:extLst>
              </a:tr>
              <a:tr h="433924">
                <a:tc>
                  <a:txBody>
                    <a:bodyPr/>
                    <a:lstStyle/>
                    <a:p>
                      <a:pPr algn="l"/>
                      <a:r>
                        <a:rPr sz="1000" b="0">
                          <a:solidFill>
                            <a:srgbClr val="5A6A7A"/>
                          </a:solidFill>
                          <a:latin typeface="Calibri"/>
                          <a:ea typeface="微软雅黑"/>
                          <a:cs typeface="Calibri"/>
                        </a:rPr>
                        <a:t>2.7 Internal walls and partitions (wall lining, new partitions, hydrogen pipework boxing)</a:t>
                      </a:r>
                    </a:p>
                  </a:txBody>
                  <a:tcPr anchor="ctr">
                    <a:solidFill>
                      <a:srgbClr val="FFFFFF"/>
                    </a:solidFill>
                  </a:tcPr>
                </a:tc>
                <a:tc>
                  <a:txBody>
                    <a:bodyPr/>
                    <a:lstStyle/>
                    <a:p>
                      <a:pPr algn="r"/>
                      <a:r>
                        <a:rPr sz="1000" b="0">
                          <a:solidFill>
                            <a:srgbClr val="5A6A7A"/>
                          </a:solidFill>
                          <a:latin typeface="Calibri"/>
                          <a:ea typeface="微软雅黑"/>
                          <a:cs typeface="Calibri"/>
                        </a:rPr>
                        <a:t>£42,440</a:t>
                      </a:r>
                    </a:p>
                  </a:txBody>
                  <a:tcPr anchor="ctr">
                    <a:solidFill>
                      <a:srgbClr val="FFFFFF"/>
                    </a:solidFill>
                  </a:tcPr>
                </a:tc>
                <a:extLst>
                  <a:ext uri="{0D108BD9-81ED-4DB2-BD59-A6C34878D82A}">
                    <a16:rowId xmlns:a16="http://schemas.microsoft.com/office/drawing/2014/main" val="10005"/>
                  </a:ext>
                </a:extLst>
              </a:tr>
              <a:tr h="433924">
                <a:tc>
                  <a:txBody>
                    <a:bodyPr/>
                    <a:lstStyle/>
                    <a:p>
                      <a:pPr algn="l"/>
                      <a:r>
                        <a:rPr sz="1000" b="0">
                          <a:solidFill>
                            <a:srgbClr val="5A6A7A"/>
                          </a:solidFill>
                          <a:latin typeface="Calibri"/>
                          <a:ea typeface="微软雅黑"/>
                          <a:cs typeface="Calibri"/>
                        </a:rPr>
                        <a:t>2.8 Internal doors (5 single-leaf + 1 leaf-and-a-half hygienic, 2 timber, 4 refurbished)</a:t>
                      </a:r>
                    </a:p>
                  </a:txBody>
                  <a:tcPr anchor="ctr">
                    <a:solidFill>
                      <a:srgbClr val="F6F8FA"/>
                    </a:solidFill>
                  </a:tcPr>
                </a:tc>
                <a:tc>
                  <a:txBody>
                    <a:bodyPr/>
                    <a:lstStyle/>
                    <a:p>
                      <a:pPr algn="r"/>
                      <a:r>
                        <a:rPr sz="1000" b="0">
                          <a:solidFill>
                            <a:srgbClr val="5A6A7A"/>
                          </a:solidFill>
                          <a:latin typeface="Calibri"/>
                          <a:ea typeface="微软雅黑"/>
                          <a:cs typeface="Calibri"/>
                        </a:rPr>
                        <a:t>£26,250</a:t>
                      </a:r>
                    </a:p>
                  </a:txBody>
                  <a:tcPr anchor="ctr">
                    <a:solidFill>
                      <a:srgbClr val="F6F8FA"/>
                    </a:solidFill>
                  </a:tcPr>
                </a:tc>
                <a:extLst>
                  <a:ext uri="{0D108BD9-81ED-4DB2-BD59-A6C34878D82A}">
                    <a16:rowId xmlns:a16="http://schemas.microsoft.com/office/drawing/2014/main" val="10006"/>
                  </a:ext>
                </a:extLst>
              </a:tr>
              <a:tr h="433924">
                <a:tc>
                  <a:txBody>
                    <a:bodyPr/>
                    <a:lstStyle/>
                    <a:p>
                      <a:pPr algn="l"/>
                      <a:r>
                        <a:rPr sz="1100" b="0">
                          <a:solidFill>
                            <a:srgbClr val="2C3E50"/>
                          </a:solidFill>
                          <a:latin typeface="Calibri"/>
                          <a:ea typeface="微软雅黑"/>
                          <a:cs typeface="Calibri"/>
                        </a:rPr>
                        <a:t>3 Finishes</a:t>
                      </a:r>
                    </a:p>
                  </a:txBody>
                  <a:tcPr anchor="ctr">
                    <a:solidFill>
                      <a:srgbClr val="FFFFFF"/>
                    </a:solidFill>
                  </a:tcPr>
                </a:tc>
                <a:tc>
                  <a:txBody>
                    <a:bodyPr/>
                    <a:lstStyle/>
                    <a:p>
                      <a:pPr algn="r"/>
                      <a:r>
                        <a:rPr sz="1100" b="0">
                          <a:solidFill>
                            <a:srgbClr val="2C3E50"/>
                          </a:solidFill>
                          <a:latin typeface="Calibri"/>
                          <a:ea typeface="微软雅黑"/>
                          <a:cs typeface="Calibri"/>
                        </a:rPr>
                        <a:t>£58,898</a:t>
                      </a:r>
                    </a:p>
                  </a:txBody>
                  <a:tcPr anchor="ctr">
                    <a:solidFill>
                      <a:srgbClr val="FFFFFF"/>
                    </a:solidFill>
                  </a:tcPr>
                </a:tc>
                <a:extLst>
                  <a:ext uri="{0D108BD9-81ED-4DB2-BD59-A6C34878D82A}">
                    <a16:rowId xmlns:a16="http://schemas.microsoft.com/office/drawing/2014/main" val="10007"/>
                  </a:ext>
                </a:extLst>
              </a:tr>
              <a:tr h="433924">
                <a:tc>
                  <a:txBody>
                    <a:bodyPr/>
                    <a:lstStyle/>
                    <a:p>
                      <a:pPr algn="l"/>
                      <a:r>
                        <a:rPr sz="1000" b="0">
                          <a:solidFill>
                            <a:srgbClr val="5A6A7A"/>
                          </a:solidFill>
                          <a:latin typeface="Calibri"/>
                          <a:ea typeface="微软雅黑"/>
                          <a:cs typeface="Calibri"/>
                        </a:rPr>
                        <a:t>3.1 Wall finishes (laboratory 475 m², write-up 70 m²)</a:t>
                      </a:r>
                    </a:p>
                  </a:txBody>
                  <a:tcPr anchor="ctr">
                    <a:solidFill>
                      <a:srgbClr val="F6F8FA"/>
                    </a:solidFill>
                  </a:tcPr>
                </a:tc>
                <a:tc>
                  <a:txBody>
                    <a:bodyPr/>
                    <a:lstStyle/>
                    <a:p>
                      <a:pPr algn="r"/>
                      <a:r>
                        <a:rPr sz="1000" b="0">
                          <a:solidFill>
                            <a:srgbClr val="5A6A7A"/>
                          </a:solidFill>
                          <a:latin typeface="Calibri"/>
                          <a:ea typeface="微软雅黑"/>
                          <a:cs typeface="Calibri"/>
                        </a:rPr>
                        <a:t>£9,810</a:t>
                      </a:r>
                    </a:p>
                  </a:txBody>
                  <a:tcPr anchor="ctr">
                    <a:solidFill>
                      <a:srgbClr val="F6F8FA"/>
                    </a:solidFill>
                  </a:tcPr>
                </a:tc>
                <a:extLst>
                  <a:ext uri="{0D108BD9-81ED-4DB2-BD59-A6C34878D82A}">
                    <a16:rowId xmlns:a16="http://schemas.microsoft.com/office/drawing/2014/main" val="10008"/>
                  </a:ext>
                </a:extLst>
              </a:tr>
              <a:tr h="433924">
                <a:tc>
                  <a:txBody>
                    <a:bodyPr/>
                    <a:lstStyle/>
                    <a:p>
                      <a:pPr algn="l"/>
                      <a:r>
                        <a:rPr sz="1000" b="0">
                          <a:solidFill>
                            <a:srgbClr val="5A6A7A"/>
                          </a:solidFill>
                          <a:latin typeface="Calibri"/>
                          <a:ea typeface="微软雅黑"/>
                          <a:cs typeface="Calibri"/>
                        </a:rPr>
                        <a:t>3.2 Floor finishes (sheet vinyl 173 m², coved skirting 136 m, carpet 33 m²)</a:t>
                      </a:r>
                    </a:p>
                  </a:txBody>
                  <a:tcPr anchor="ctr">
                    <a:solidFill>
                      <a:srgbClr val="FFFFFF"/>
                    </a:solidFill>
                  </a:tcPr>
                </a:tc>
                <a:tc>
                  <a:txBody>
                    <a:bodyPr/>
                    <a:lstStyle/>
                    <a:p>
                      <a:pPr algn="r"/>
                      <a:r>
                        <a:rPr sz="1000" b="0">
                          <a:solidFill>
                            <a:srgbClr val="5A6A7A"/>
                          </a:solidFill>
                          <a:latin typeface="Calibri"/>
                          <a:ea typeface="微软雅黑"/>
                          <a:cs typeface="Calibri"/>
                        </a:rPr>
                        <a:t>£23,631</a:t>
                      </a:r>
                    </a:p>
                  </a:txBody>
                  <a:tcPr anchor="ctr">
                    <a:solidFill>
                      <a:srgbClr val="FFFFFF"/>
                    </a:solidFill>
                  </a:tcPr>
                </a:tc>
                <a:extLst>
                  <a:ext uri="{0D108BD9-81ED-4DB2-BD59-A6C34878D82A}">
                    <a16:rowId xmlns:a16="http://schemas.microsoft.com/office/drawing/2014/main" val="10009"/>
                  </a:ext>
                </a:extLst>
              </a:tr>
              <a:tr h="433928">
                <a:tc>
                  <a:txBody>
                    <a:bodyPr/>
                    <a:lstStyle/>
                    <a:p>
                      <a:pPr algn="l"/>
                      <a:r>
                        <a:rPr sz="1000" b="0">
                          <a:solidFill>
                            <a:srgbClr val="5A6A7A"/>
                          </a:solidFill>
                          <a:latin typeface="Calibri"/>
                          <a:ea typeface="微软雅黑"/>
                          <a:cs typeface="Calibri"/>
                        </a:rPr>
                        <a:t>3.3 Ceiling finishes (metal ceiling 173 m², perimeter detail 136 m)</a:t>
                      </a:r>
                    </a:p>
                  </a:txBody>
                  <a:tcPr anchor="ctr">
                    <a:solidFill>
                      <a:srgbClr val="F6F8FA"/>
                    </a:solidFill>
                  </a:tcPr>
                </a:tc>
                <a:tc>
                  <a:txBody>
                    <a:bodyPr/>
                    <a:lstStyle/>
                    <a:p>
                      <a:pPr algn="r"/>
                      <a:r>
                        <a:rPr sz="1000" b="0">
                          <a:solidFill>
                            <a:srgbClr val="5A6A7A"/>
                          </a:solidFill>
                          <a:latin typeface="Calibri"/>
                          <a:ea typeface="微软雅黑"/>
                          <a:cs typeface="Calibri"/>
                        </a:rPr>
                        <a:t>£25,457</a:t>
                      </a:r>
                    </a:p>
                  </a:txBody>
                  <a:tcPr anchor="ctr">
                    <a:solidFill>
                      <a:srgbClr val="F6F8FA"/>
                    </a:solidFill>
                  </a:tcPr>
                </a:tc>
                <a:extLst>
                  <a:ext uri="{0D108BD9-81ED-4DB2-BD59-A6C34878D82A}">
                    <a16:rowId xmlns:a16="http://schemas.microsoft.com/office/drawing/2014/main" val="10010"/>
                  </a:ext>
                </a:extLst>
              </a:tr>
            </a:tbl>
          </a:graphicData>
        </a:graphic>
      </p:graphicFrame>
      <p:graphicFrame>
        <p:nvGraphicFramePr>
          <p:cNvPr id="17" name="Table 16"/>
          <p:cNvGraphicFramePr>
            <a:graphicFrameLocks noGrp="1"/>
          </p:cNvGraphicFramePr>
          <p:nvPr/>
        </p:nvGraphicFramePr>
        <p:xfrm>
          <a:off x="6126480" y="1572768"/>
          <a:ext cx="5626302" cy="4773168"/>
        </p:xfrm>
        <a:graphic>
          <a:graphicData uri="http://schemas.openxmlformats.org/drawingml/2006/table">
            <a:tbl>
              <a:tblPr firstRow="1" bandRow="1">
                <a:tableStyleId>{5C22544A-7EE6-4342-B048-85BDC9FD1C3A}</a:tableStyleId>
              </a:tblPr>
              <a:tblGrid>
                <a:gridCol w="4050938">
                  <a:extLst>
                    <a:ext uri="{9D8B030D-6E8A-4147-A177-3AD203B41FA5}">
                      <a16:colId xmlns:a16="http://schemas.microsoft.com/office/drawing/2014/main" val="20000"/>
                    </a:ext>
                  </a:extLst>
                </a:gridCol>
                <a:gridCol w="1575364">
                  <a:extLst>
                    <a:ext uri="{9D8B030D-6E8A-4147-A177-3AD203B41FA5}">
                      <a16:colId xmlns:a16="http://schemas.microsoft.com/office/drawing/2014/main" val="20001"/>
                    </a:ext>
                  </a:extLst>
                </a:gridCol>
              </a:tblGrid>
              <a:tr h="397764">
                <a:tc>
                  <a:txBody>
                    <a:bodyPr/>
                    <a:lstStyle/>
                    <a:p>
                      <a:pPr algn="l"/>
                      <a:r>
                        <a:rPr sz="1100" b="1">
                          <a:solidFill>
                            <a:srgbClr val="FFFFFF"/>
                          </a:solidFill>
                          <a:latin typeface="Calibri"/>
                          <a:ea typeface="微软雅黑"/>
                          <a:cs typeface="Calibri"/>
                        </a:rPr>
                        <a:t>4 Fittings, furnishings and equipment</a:t>
                      </a:r>
                    </a:p>
                  </a:txBody>
                  <a:tcPr anchor="ctr">
                    <a:solidFill>
                      <a:srgbClr val="1A3A55"/>
                    </a:solidFill>
                  </a:tcPr>
                </a:tc>
                <a:tc>
                  <a:txBody>
                    <a:bodyPr/>
                    <a:lstStyle/>
                    <a:p>
                      <a:pPr algn="r"/>
                      <a:r>
                        <a:rPr sz="1100" b="1">
                          <a:solidFill>
                            <a:srgbClr val="FFFFFF"/>
                          </a:solidFill>
                          <a:latin typeface="Calibri"/>
                          <a:ea typeface="微软雅黑"/>
                          <a:cs typeface="Calibri"/>
                        </a:rPr>
                        <a:t>£765,000</a:t>
                      </a:r>
                    </a:p>
                  </a:txBody>
                  <a:tcPr anchor="ctr">
                    <a:solidFill>
                      <a:srgbClr val="1A3A55"/>
                    </a:solidFill>
                  </a:tcPr>
                </a:tc>
                <a:extLst>
                  <a:ext uri="{0D108BD9-81ED-4DB2-BD59-A6C34878D82A}">
                    <a16:rowId xmlns:a16="http://schemas.microsoft.com/office/drawing/2014/main" val="10000"/>
                  </a:ext>
                </a:extLst>
              </a:tr>
              <a:tr h="397764">
                <a:tc>
                  <a:txBody>
                    <a:bodyPr/>
                    <a:lstStyle/>
                    <a:p>
                      <a:pPr algn="l"/>
                      <a:r>
                        <a:rPr sz="1000" b="0">
                          <a:solidFill>
                            <a:srgbClr val="5A6A7A"/>
                          </a:solidFill>
                          <a:latin typeface="Calibri"/>
                          <a:ea typeface="微软雅黑"/>
                          <a:cs typeface="Calibri"/>
                        </a:rPr>
                        <a:t>Isolators, 4 nr × £150,000</a:t>
                      </a:r>
                    </a:p>
                  </a:txBody>
                  <a:tcPr anchor="ctr">
                    <a:solidFill>
                      <a:srgbClr val="FFFFFF"/>
                    </a:solidFill>
                  </a:tcPr>
                </a:tc>
                <a:tc>
                  <a:txBody>
                    <a:bodyPr/>
                    <a:lstStyle/>
                    <a:p>
                      <a:pPr algn="r"/>
                      <a:r>
                        <a:rPr sz="1000" b="0">
                          <a:solidFill>
                            <a:srgbClr val="5A6A7A"/>
                          </a:solidFill>
                          <a:latin typeface="Calibri"/>
                          <a:ea typeface="微软雅黑"/>
                          <a:cs typeface="Calibri"/>
                        </a:rPr>
                        <a:t>£600,000</a:t>
                      </a:r>
                    </a:p>
                  </a:txBody>
                  <a:tcPr anchor="ctr">
                    <a:solidFill>
                      <a:srgbClr val="FFFFFF"/>
                    </a:solidFill>
                  </a:tcPr>
                </a:tc>
                <a:extLst>
                  <a:ext uri="{0D108BD9-81ED-4DB2-BD59-A6C34878D82A}">
                    <a16:rowId xmlns:a16="http://schemas.microsoft.com/office/drawing/2014/main" val="10001"/>
                  </a:ext>
                </a:extLst>
              </a:tr>
              <a:tr h="397764">
                <a:tc>
                  <a:txBody>
                    <a:bodyPr/>
                    <a:lstStyle/>
                    <a:p>
                      <a:pPr algn="l"/>
                      <a:r>
                        <a:rPr sz="1000" b="0">
                          <a:solidFill>
                            <a:srgbClr val="5A6A7A"/>
                          </a:solidFill>
                          <a:latin typeface="Calibri"/>
                          <a:ea typeface="微软雅黑"/>
                          <a:cs typeface="Calibri"/>
                        </a:rPr>
                        <a:t>Isolators, 1 nr × £100,000</a:t>
                      </a:r>
                    </a:p>
                  </a:txBody>
                  <a:tcPr anchor="ctr">
                    <a:solidFill>
                      <a:srgbClr val="F6F8FA"/>
                    </a:solidFill>
                  </a:tcPr>
                </a:tc>
                <a:tc>
                  <a:txBody>
                    <a:bodyPr/>
                    <a:lstStyle/>
                    <a:p>
                      <a:pPr algn="r"/>
                      <a:r>
                        <a:rPr sz="1000" b="0">
                          <a:solidFill>
                            <a:srgbClr val="5A6A7A"/>
                          </a:solidFill>
                          <a:latin typeface="Calibri"/>
                          <a:ea typeface="微软雅黑"/>
                          <a:cs typeface="Calibri"/>
                        </a:rPr>
                        <a:t>£100,000</a:t>
                      </a:r>
                    </a:p>
                  </a:txBody>
                  <a:tcPr anchor="ctr">
                    <a:solidFill>
                      <a:srgbClr val="F6F8FA"/>
                    </a:solidFill>
                  </a:tcPr>
                </a:tc>
                <a:extLst>
                  <a:ext uri="{0D108BD9-81ED-4DB2-BD59-A6C34878D82A}">
                    <a16:rowId xmlns:a16="http://schemas.microsoft.com/office/drawing/2014/main" val="10002"/>
                  </a:ext>
                </a:extLst>
              </a:tr>
              <a:tr h="397764">
                <a:tc>
                  <a:txBody>
                    <a:bodyPr/>
                    <a:lstStyle/>
                    <a:p>
                      <a:pPr algn="l"/>
                      <a:r>
                        <a:rPr sz="1000" b="0">
                          <a:solidFill>
                            <a:srgbClr val="5A6A7A"/>
                          </a:solidFill>
                          <a:latin typeface="Calibri"/>
                          <a:ea typeface="微软雅黑"/>
                          <a:cs typeface="Calibri"/>
                        </a:rPr>
                        <a:t>Fume cupboards (existing assumed serviceable; servicing allowance only)</a:t>
                      </a:r>
                    </a:p>
                  </a:txBody>
                  <a:tcPr anchor="ctr">
                    <a:solidFill>
                      <a:srgbClr val="FFFFFF"/>
                    </a:solidFill>
                  </a:tcPr>
                </a:tc>
                <a:tc>
                  <a:txBody>
                    <a:bodyPr/>
                    <a:lstStyle/>
                    <a:p>
                      <a:pPr algn="r"/>
                      <a:r>
                        <a:rPr sz="1000" b="0">
                          <a:solidFill>
                            <a:srgbClr val="5A6A7A"/>
                          </a:solidFill>
                          <a:latin typeface="Calibri"/>
                          <a:ea typeface="微软雅黑"/>
                          <a:cs typeface="Calibri"/>
                        </a:rPr>
                        <a:t>£20,000</a:t>
                      </a:r>
                    </a:p>
                  </a:txBody>
                  <a:tcPr anchor="ctr">
                    <a:solidFill>
                      <a:srgbClr val="FFFFFF"/>
                    </a:solidFill>
                  </a:tcPr>
                </a:tc>
                <a:extLst>
                  <a:ext uri="{0D108BD9-81ED-4DB2-BD59-A6C34878D82A}">
                    <a16:rowId xmlns:a16="http://schemas.microsoft.com/office/drawing/2014/main" val="10003"/>
                  </a:ext>
                </a:extLst>
              </a:tr>
              <a:tr h="397764">
                <a:tc>
                  <a:txBody>
                    <a:bodyPr/>
                    <a:lstStyle/>
                    <a:p>
                      <a:pPr algn="l"/>
                      <a:r>
                        <a:rPr sz="1000" b="0">
                          <a:solidFill>
                            <a:srgbClr val="5A6A7A"/>
                          </a:solidFill>
                          <a:latin typeface="Calibri"/>
                          <a:ea typeface="微软雅黑"/>
                          <a:cs typeface="Calibri"/>
                        </a:rPr>
                        <a:t>SF6 leak testing</a:t>
                      </a:r>
                    </a:p>
                  </a:txBody>
                  <a:tcPr anchor="ctr">
                    <a:solidFill>
                      <a:srgbClr val="F6F8FA"/>
                    </a:solidFill>
                  </a:tcPr>
                </a:tc>
                <a:tc>
                  <a:txBody>
                    <a:bodyPr/>
                    <a:lstStyle/>
                    <a:p>
                      <a:pPr algn="r"/>
                      <a:r>
                        <a:rPr sz="1000" b="0">
                          <a:solidFill>
                            <a:srgbClr val="5A6A7A"/>
                          </a:solidFill>
                          <a:latin typeface="Calibri"/>
                          <a:ea typeface="微软雅黑"/>
                          <a:cs typeface="Calibri"/>
                        </a:rPr>
                        <a:t>£20,000</a:t>
                      </a:r>
                    </a:p>
                  </a:txBody>
                  <a:tcPr anchor="ctr">
                    <a:solidFill>
                      <a:srgbClr val="F6F8FA"/>
                    </a:solidFill>
                  </a:tcPr>
                </a:tc>
                <a:extLst>
                  <a:ext uri="{0D108BD9-81ED-4DB2-BD59-A6C34878D82A}">
                    <a16:rowId xmlns:a16="http://schemas.microsoft.com/office/drawing/2014/main" val="10004"/>
                  </a:ext>
                </a:extLst>
              </a:tr>
              <a:tr h="397764">
                <a:tc>
                  <a:txBody>
                    <a:bodyPr/>
                    <a:lstStyle/>
                    <a:p>
                      <a:pPr algn="l"/>
                      <a:r>
                        <a:rPr sz="1000" b="0">
                          <a:solidFill>
                            <a:srgbClr val="5A6A7A"/>
                          </a:solidFill>
                          <a:latin typeface="Calibri"/>
                          <a:ea typeface="微软雅黑"/>
                          <a:cs typeface="Calibri"/>
                        </a:rPr>
                        <a:t>Furniture (lockers, step-over bench, mobile benches, BIBO bins)</a:t>
                      </a:r>
                    </a:p>
                  </a:txBody>
                  <a:tcPr anchor="ctr">
                    <a:solidFill>
                      <a:srgbClr val="FFFFFF"/>
                    </a:solidFill>
                  </a:tcPr>
                </a:tc>
                <a:tc>
                  <a:txBody>
                    <a:bodyPr/>
                    <a:lstStyle/>
                    <a:p>
                      <a:pPr algn="r"/>
                      <a:r>
                        <a:rPr sz="1000" b="0">
                          <a:solidFill>
                            <a:srgbClr val="5A6A7A"/>
                          </a:solidFill>
                          <a:latin typeface="Calibri"/>
                          <a:ea typeface="微软雅黑"/>
                          <a:cs typeface="Calibri"/>
                        </a:rPr>
                        <a:t>£20,000</a:t>
                      </a:r>
                    </a:p>
                  </a:txBody>
                  <a:tcPr anchor="ctr">
                    <a:solidFill>
                      <a:srgbClr val="FFFFFF"/>
                    </a:solidFill>
                  </a:tcPr>
                </a:tc>
                <a:extLst>
                  <a:ext uri="{0D108BD9-81ED-4DB2-BD59-A6C34878D82A}">
                    <a16:rowId xmlns:a16="http://schemas.microsoft.com/office/drawing/2014/main" val="10005"/>
                  </a:ext>
                </a:extLst>
              </a:tr>
              <a:tr h="397764">
                <a:tc>
                  <a:txBody>
                    <a:bodyPr/>
                    <a:lstStyle/>
                    <a:p>
                      <a:pPr algn="l"/>
                      <a:r>
                        <a:rPr sz="1000" b="0">
                          <a:solidFill>
                            <a:srgbClr val="5A6A7A"/>
                          </a:solidFill>
                          <a:latin typeface="Calibri"/>
                          <a:ea typeface="微软雅黑"/>
                          <a:cs typeface="Calibri"/>
                        </a:rPr>
                        <a:t>Write-up furniture</a:t>
                      </a:r>
                    </a:p>
                  </a:txBody>
                  <a:tcPr anchor="ctr">
                    <a:solidFill>
                      <a:srgbClr val="F6F8FA"/>
                    </a:solidFill>
                  </a:tcPr>
                </a:tc>
                <a:tc>
                  <a:txBody>
                    <a:bodyPr/>
                    <a:lstStyle/>
                    <a:p>
                      <a:pPr algn="r"/>
                      <a:r>
                        <a:rPr sz="1000" b="0">
                          <a:solidFill>
                            <a:srgbClr val="5A6A7A"/>
                          </a:solidFill>
                          <a:latin typeface="Calibri"/>
                          <a:ea typeface="微软雅黑"/>
                          <a:cs typeface="Calibri"/>
                        </a:rPr>
                        <a:t>£5,000</a:t>
                      </a:r>
                    </a:p>
                  </a:txBody>
                  <a:tcPr anchor="ctr">
                    <a:solidFill>
                      <a:srgbClr val="F6F8FA"/>
                    </a:solidFill>
                  </a:tcPr>
                </a:tc>
                <a:extLst>
                  <a:ext uri="{0D108BD9-81ED-4DB2-BD59-A6C34878D82A}">
                    <a16:rowId xmlns:a16="http://schemas.microsoft.com/office/drawing/2014/main" val="10006"/>
                  </a:ext>
                </a:extLst>
              </a:tr>
              <a:tr h="397764">
                <a:tc>
                  <a:txBody>
                    <a:bodyPr/>
                    <a:lstStyle/>
                    <a:p>
                      <a:pPr algn="l"/>
                      <a:r>
                        <a:rPr sz="1100" b="1">
                          <a:solidFill>
                            <a:srgbClr val="FFFFFF"/>
                          </a:solidFill>
                          <a:latin typeface="Calibri"/>
                          <a:ea typeface="微软雅黑"/>
                          <a:cs typeface="Calibri"/>
                        </a:rPr>
                        <a:t>5 Services</a:t>
                      </a:r>
                    </a:p>
                  </a:txBody>
                  <a:tcPr anchor="ctr">
                    <a:solidFill>
                      <a:srgbClr val="1A3A55"/>
                    </a:solidFill>
                  </a:tcPr>
                </a:tc>
                <a:tc>
                  <a:txBody>
                    <a:bodyPr/>
                    <a:lstStyle/>
                    <a:p>
                      <a:pPr algn="r"/>
                      <a:r>
                        <a:rPr sz="1100" b="1">
                          <a:solidFill>
                            <a:srgbClr val="FFFFFF"/>
                          </a:solidFill>
                          <a:latin typeface="Calibri"/>
                          <a:ea typeface="微软雅黑"/>
                          <a:cs typeface="Calibri"/>
                        </a:rPr>
                        <a:t>£537,574</a:t>
                      </a:r>
                    </a:p>
                  </a:txBody>
                  <a:tcPr anchor="ctr">
                    <a:solidFill>
                      <a:srgbClr val="1A3A55"/>
                    </a:solidFill>
                  </a:tcPr>
                </a:tc>
                <a:extLst>
                  <a:ext uri="{0D108BD9-81ED-4DB2-BD59-A6C34878D82A}">
                    <a16:rowId xmlns:a16="http://schemas.microsoft.com/office/drawing/2014/main" val="10007"/>
                  </a:ext>
                </a:extLst>
              </a:tr>
              <a:tr h="397764">
                <a:tc>
                  <a:txBody>
                    <a:bodyPr/>
                    <a:lstStyle/>
                    <a:p>
                      <a:pPr algn="l"/>
                      <a:r>
                        <a:rPr sz="1000" b="0">
                          <a:solidFill>
                            <a:srgbClr val="5A6A7A"/>
                          </a:solidFill>
                          <a:latin typeface="Calibri"/>
                          <a:ea typeface="微软雅黑"/>
                          <a:cs typeface="Calibri"/>
                        </a:rPr>
                        <a:t>5.6 HVAC (AHU back into service, full ductwork, bag-in/bag-out HEPA, BMS upgrade, balancing)</a:t>
                      </a:r>
                    </a:p>
                  </a:txBody>
                  <a:tcPr anchor="ctr">
                    <a:solidFill>
                      <a:srgbClr val="F6F8FA"/>
                    </a:solidFill>
                  </a:tcPr>
                </a:tc>
                <a:tc>
                  <a:txBody>
                    <a:bodyPr/>
                    <a:lstStyle/>
                    <a:p>
                      <a:pPr algn="r"/>
                      <a:r>
                        <a:rPr sz="1000" b="0">
                          <a:solidFill>
                            <a:srgbClr val="5A6A7A"/>
                          </a:solidFill>
                          <a:latin typeface="Calibri"/>
                          <a:ea typeface="微软雅黑"/>
                          <a:cs typeface="Calibri"/>
                        </a:rPr>
                        <a:t>£217,920</a:t>
                      </a:r>
                    </a:p>
                  </a:txBody>
                  <a:tcPr anchor="ctr">
                    <a:solidFill>
                      <a:srgbClr val="F6F8FA"/>
                    </a:solidFill>
                  </a:tcPr>
                </a:tc>
                <a:extLst>
                  <a:ext uri="{0D108BD9-81ED-4DB2-BD59-A6C34878D82A}">
                    <a16:rowId xmlns:a16="http://schemas.microsoft.com/office/drawing/2014/main" val="10008"/>
                  </a:ext>
                </a:extLst>
              </a:tr>
              <a:tr h="397764">
                <a:tc>
                  <a:txBody>
                    <a:bodyPr/>
                    <a:lstStyle/>
                    <a:p>
                      <a:pPr algn="l"/>
                      <a:r>
                        <a:rPr sz="1000" b="0">
                          <a:solidFill>
                            <a:srgbClr val="5A6A7A"/>
                          </a:solidFill>
                          <a:latin typeface="Calibri"/>
                          <a:ea typeface="微软雅黑"/>
                          <a:cs typeface="Calibri"/>
                        </a:rPr>
                        <a:t>5.8 Electrical (small power 182 m², lighting 182 m², including equipment connections)</a:t>
                      </a:r>
                    </a:p>
                  </a:txBody>
                  <a:tcPr anchor="ctr">
                    <a:solidFill>
                      <a:srgbClr val="FFFFFF"/>
                    </a:solidFill>
                  </a:tcPr>
                </a:tc>
                <a:tc>
                  <a:txBody>
                    <a:bodyPr/>
                    <a:lstStyle/>
                    <a:p>
                      <a:pPr algn="r"/>
                      <a:r>
                        <a:rPr sz="1000" b="0">
                          <a:solidFill>
                            <a:srgbClr val="5A6A7A"/>
                          </a:solidFill>
                          <a:latin typeface="Calibri"/>
                          <a:ea typeface="微软雅黑"/>
                          <a:cs typeface="Calibri"/>
                        </a:rPr>
                        <a:t>£107,380</a:t>
                      </a:r>
                    </a:p>
                  </a:txBody>
                  <a:tcPr anchor="ctr">
                    <a:solidFill>
                      <a:srgbClr val="FFFFFF"/>
                    </a:solidFill>
                  </a:tcPr>
                </a:tc>
                <a:extLst>
                  <a:ext uri="{0D108BD9-81ED-4DB2-BD59-A6C34878D82A}">
                    <a16:rowId xmlns:a16="http://schemas.microsoft.com/office/drawing/2014/main" val="10009"/>
                  </a:ext>
                </a:extLst>
              </a:tr>
              <a:tr h="397764">
                <a:tc>
                  <a:txBody>
                    <a:bodyPr/>
                    <a:lstStyle/>
                    <a:p>
                      <a:pPr algn="l"/>
                      <a:r>
                        <a:rPr sz="1000" b="0">
                          <a:solidFill>
                            <a:srgbClr val="5A6A7A"/>
                          </a:solidFill>
                          <a:latin typeface="Calibri"/>
                          <a:ea typeface="微软雅黑"/>
                          <a:cs typeface="Calibri"/>
                        </a:rPr>
                        <a:t>5.4 Water (hot and cold, sink reinstatement, mist shower £35,000)</a:t>
                      </a:r>
                    </a:p>
                  </a:txBody>
                  <a:tcPr anchor="ctr">
                    <a:solidFill>
                      <a:srgbClr val="F6F8FA"/>
                    </a:solidFill>
                  </a:tcPr>
                </a:tc>
                <a:tc>
                  <a:txBody>
                    <a:bodyPr/>
                    <a:lstStyle/>
                    <a:p>
                      <a:pPr algn="r"/>
                      <a:r>
                        <a:rPr sz="1000" b="0">
                          <a:solidFill>
                            <a:srgbClr val="5A6A7A"/>
                          </a:solidFill>
                          <a:latin typeface="Calibri"/>
                          <a:ea typeface="微软雅黑"/>
                          <a:cs typeface="Calibri"/>
                        </a:rPr>
                        <a:t>£38,600</a:t>
                      </a:r>
                    </a:p>
                  </a:txBody>
                  <a:tcPr anchor="ctr">
                    <a:solidFill>
                      <a:srgbClr val="F6F8FA"/>
                    </a:solidFill>
                  </a:tcPr>
                </a:tc>
                <a:extLst>
                  <a:ext uri="{0D108BD9-81ED-4DB2-BD59-A6C34878D82A}">
                    <a16:rowId xmlns:a16="http://schemas.microsoft.com/office/drawing/2014/main" val="10010"/>
                  </a:ext>
                </a:extLst>
              </a:tr>
              <a:tr h="397764">
                <a:tc>
                  <a:txBody>
                    <a:bodyPr/>
                    <a:lstStyle/>
                    <a:p>
                      <a:pPr algn="l"/>
                      <a:r>
                        <a:rPr sz="1100" b="1">
                          <a:solidFill>
                            <a:srgbClr val="0F2B46"/>
                          </a:solidFill>
                          <a:latin typeface="Calibri"/>
                          <a:ea typeface="微软雅黑"/>
                          <a:cs typeface="Calibri"/>
                        </a:rPr>
                        <a:t>Facilitating and building works subtotal</a:t>
                      </a:r>
                    </a:p>
                  </a:txBody>
                  <a:tcPr anchor="ctr">
                    <a:solidFill>
                      <a:srgbClr val="E8EEF4"/>
                    </a:solidFill>
                  </a:tcPr>
                </a:tc>
                <a:tc>
                  <a:txBody>
                    <a:bodyPr/>
                    <a:lstStyle/>
                    <a:p>
                      <a:pPr algn="r"/>
                      <a:r>
                        <a:rPr sz="1100" b="1">
                          <a:solidFill>
                            <a:srgbClr val="0F2B46"/>
                          </a:solidFill>
                          <a:latin typeface="Calibri"/>
                          <a:ea typeface="微软雅黑"/>
                          <a:cs typeface="Calibri"/>
                        </a:rPr>
                        <a:t>£1,495,729</a:t>
                      </a:r>
                    </a:p>
                  </a:txBody>
                  <a:tcPr anchor="ctr">
                    <a:solidFill>
                      <a:srgbClr val="E8EEF4"/>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23 / 31</a:t>
            </a:r>
          </a:p>
        </p:txBody>
      </p:sp>
      <p:sp>
        <p:nvSpPr>
          <p:cNvPr id="10" name="Rectangle 9"/>
          <p:cNvSpPr/>
          <p:nvPr/>
        </p:nvSpPr>
        <p:spPr>
          <a:xfrm>
            <a:off x="384048" y="164592"/>
            <a:ext cx="82296" cy="71323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High-potency laboratory · investment (2/2)</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G-128 concept cost plan · continued</a:t>
            </a:r>
          </a:p>
        </p:txBody>
      </p:sp>
      <p:graphicFrame>
        <p:nvGraphicFramePr>
          <p:cNvPr id="13" name="Table 12"/>
          <p:cNvGraphicFramePr>
            <a:graphicFrameLocks noGrp="1"/>
          </p:cNvGraphicFramePr>
          <p:nvPr/>
        </p:nvGraphicFramePr>
        <p:xfrm>
          <a:off x="384048" y="1051560"/>
          <a:ext cx="11423598" cy="5303520"/>
        </p:xfrm>
        <a:graphic>
          <a:graphicData uri="http://schemas.openxmlformats.org/drawingml/2006/table">
            <a:tbl>
              <a:tblPr firstRow="1" bandRow="1">
                <a:tableStyleId>{5C22544A-7EE6-4342-B048-85BDC9FD1C3A}</a:tableStyleId>
              </a:tblPr>
              <a:tblGrid>
                <a:gridCol w="8224991">
                  <a:extLst>
                    <a:ext uri="{9D8B030D-6E8A-4147-A177-3AD203B41FA5}">
                      <a16:colId xmlns:a16="http://schemas.microsoft.com/office/drawing/2014/main" val="20000"/>
                    </a:ext>
                  </a:extLst>
                </a:gridCol>
                <a:gridCol w="3198607">
                  <a:extLst>
                    <a:ext uri="{9D8B030D-6E8A-4147-A177-3AD203B41FA5}">
                      <a16:colId xmlns:a16="http://schemas.microsoft.com/office/drawing/2014/main" val="20001"/>
                    </a:ext>
                  </a:extLst>
                </a:gridCol>
              </a:tblGrid>
              <a:tr h="353568">
                <a:tc>
                  <a:txBody>
                    <a:bodyPr/>
                    <a:lstStyle/>
                    <a:p>
                      <a:pPr algn="l"/>
                      <a:r>
                        <a:rPr sz="1300" b="1">
                          <a:solidFill>
                            <a:srgbClr val="FFFFFF"/>
                          </a:solidFill>
                          <a:latin typeface="Calibri"/>
                          <a:ea typeface="微软雅黑"/>
                          <a:cs typeface="Calibri"/>
                        </a:rPr>
                        <a:t>6 Preliminaries, including contractor design</a:t>
                      </a:r>
                    </a:p>
                  </a:txBody>
                  <a:tcPr anchor="ctr">
                    <a:solidFill>
                      <a:srgbClr val="1A3A55"/>
                    </a:solidFill>
                  </a:tcPr>
                </a:tc>
                <a:tc>
                  <a:txBody>
                    <a:bodyPr/>
                    <a:lstStyle/>
                    <a:p>
                      <a:pPr algn="r"/>
                      <a:r>
                        <a:rPr sz="1300" b="1">
                          <a:solidFill>
                            <a:srgbClr val="FFFFFF"/>
                          </a:solidFill>
                          <a:latin typeface="Calibri"/>
                          <a:ea typeface="微软雅黑"/>
                          <a:cs typeface="Calibri"/>
                        </a:rPr>
                        <a:t>£362,500</a:t>
                      </a:r>
                    </a:p>
                  </a:txBody>
                  <a:tcPr anchor="ctr">
                    <a:solidFill>
                      <a:srgbClr val="1A3A55"/>
                    </a:solidFill>
                  </a:tcPr>
                </a:tc>
                <a:extLst>
                  <a:ext uri="{0D108BD9-81ED-4DB2-BD59-A6C34878D82A}">
                    <a16:rowId xmlns:a16="http://schemas.microsoft.com/office/drawing/2014/main" val="10000"/>
                  </a:ext>
                </a:extLst>
              </a:tr>
              <a:tr h="353568">
                <a:tc>
                  <a:txBody>
                    <a:bodyPr/>
                    <a:lstStyle/>
                    <a:p>
                      <a:pPr algn="l"/>
                      <a:r>
                        <a:rPr sz="1200" b="0">
                          <a:solidFill>
                            <a:srgbClr val="5A6A7A"/>
                          </a:solidFill>
                          <a:latin typeface="Calibri"/>
                          <a:ea typeface="微软雅黑"/>
                          <a:cs typeface="Calibri"/>
                        </a:rPr>
                        <a:t>6.1 Temporary works (protection of retained equipment and common areas, temporary lighting)</a:t>
                      </a:r>
                    </a:p>
                  </a:txBody>
                  <a:tcPr anchor="ctr">
                    <a:solidFill>
                      <a:srgbClr val="FFFFFF"/>
                    </a:solidFill>
                  </a:tcPr>
                </a:tc>
                <a:tc>
                  <a:txBody>
                    <a:bodyPr/>
                    <a:lstStyle/>
                    <a:p>
                      <a:pPr algn="r"/>
                      <a:r>
                        <a:rPr sz="1200" b="0">
                          <a:solidFill>
                            <a:srgbClr val="5A6A7A"/>
                          </a:solidFill>
                          <a:latin typeface="Calibri"/>
                          <a:ea typeface="微软雅黑"/>
                          <a:cs typeface="Calibri"/>
                        </a:rPr>
                        <a:t>£10,500</a:t>
                      </a:r>
                    </a:p>
                  </a:txBody>
                  <a:tcPr anchor="ctr">
                    <a:solidFill>
                      <a:srgbClr val="FFFFFF"/>
                    </a:solidFill>
                  </a:tcPr>
                </a:tc>
                <a:extLst>
                  <a:ext uri="{0D108BD9-81ED-4DB2-BD59-A6C34878D82A}">
                    <a16:rowId xmlns:a16="http://schemas.microsoft.com/office/drawing/2014/main" val="10001"/>
                  </a:ext>
                </a:extLst>
              </a:tr>
              <a:tr h="353568">
                <a:tc>
                  <a:txBody>
                    <a:bodyPr/>
                    <a:lstStyle/>
                    <a:p>
                      <a:pPr algn="l"/>
                      <a:r>
                        <a:rPr sz="1200" b="0">
                          <a:solidFill>
                            <a:srgbClr val="5A6A7A"/>
                          </a:solidFill>
                          <a:latin typeface="Calibri"/>
                          <a:ea typeface="微软雅黑"/>
                          <a:cs typeface="Calibri"/>
                        </a:rPr>
                        <a:t>6.2 Site welfare and accommodation (21 weeks)</a:t>
                      </a:r>
                    </a:p>
                  </a:txBody>
                  <a:tcPr anchor="ctr">
                    <a:solidFill>
                      <a:srgbClr val="F6F8FA"/>
                    </a:solidFill>
                  </a:tcPr>
                </a:tc>
                <a:tc>
                  <a:txBody>
                    <a:bodyPr/>
                    <a:lstStyle/>
                    <a:p>
                      <a:pPr algn="r"/>
                      <a:r>
                        <a:rPr sz="1200" b="0">
                          <a:solidFill>
                            <a:srgbClr val="5A6A7A"/>
                          </a:solidFill>
                          <a:latin typeface="Calibri"/>
                          <a:ea typeface="微软雅黑"/>
                          <a:cs typeface="Calibri"/>
                        </a:rPr>
                        <a:t>£21,000</a:t>
                      </a:r>
                    </a:p>
                  </a:txBody>
                  <a:tcPr anchor="ctr">
                    <a:solidFill>
                      <a:srgbClr val="F6F8FA"/>
                    </a:solidFill>
                  </a:tcPr>
                </a:tc>
                <a:extLst>
                  <a:ext uri="{0D108BD9-81ED-4DB2-BD59-A6C34878D82A}">
                    <a16:rowId xmlns:a16="http://schemas.microsoft.com/office/drawing/2014/main" val="10002"/>
                  </a:ext>
                </a:extLst>
              </a:tr>
              <a:tr h="353568">
                <a:tc>
                  <a:txBody>
                    <a:bodyPr/>
                    <a:lstStyle/>
                    <a:p>
                      <a:pPr algn="l"/>
                      <a:r>
                        <a:rPr sz="1100" b="0">
                          <a:solidFill>
                            <a:srgbClr val="5A6A7A"/>
                          </a:solidFill>
                          <a:latin typeface="Calibri"/>
                          <a:ea typeface="微软雅黑"/>
                          <a:cs typeface="Calibri"/>
                        </a:rPr>
                        <a:t>6.3 Design and construction management (surveys, RIBA 2/3 and RIBA 4 contractor design, RIBA 5 site resource for 22 weeks)</a:t>
                      </a:r>
                    </a:p>
                  </a:txBody>
                  <a:tcPr anchor="ctr">
                    <a:solidFill>
                      <a:srgbClr val="FFFFFF"/>
                    </a:solidFill>
                  </a:tcPr>
                </a:tc>
                <a:tc>
                  <a:txBody>
                    <a:bodyPr/>
                    <a:lstStyle/>
                    <a:p>
                      <a:pPr algn="r"/>
                      <a:r>
                        <a:rPr sz="1200" b="0">
                          <a:solidFill>
                            <a:srgbClr val="5A6A7A"/>
                          </a:solidFill>
                          <a:latin typeface="Calibri"/>
                          <a:ea typeface="微软雅黑"/>
                          <a:cs typeface="Calibri"/>
                        </a:rPr>
                        <a:t>£331,000</a:t>
                      </a:r>
                    </a:p>
                  </a:txBody>
                  <a:tcPr anchor="ctr">
                    <a:solidFill>
                      <a:srgbClr val="FFFFFF"/>
                    </a:solidFill>
                  </a:tcPr>
                </a:tc>
                <a:extLst>
                  <a:ext uri="{0D108BD9-81ED-4DB2-BD59-A6C34878D82A}">
                    <a16:rowId xmlns:a16="http://schemas.microsoft.com/office/drawing/2014/main" val="10003"/>
                  </a:ext>
                </a:extLst>
              </a:tr>
              <a:tr h="353568">
                <a:tc>
                  <a:txBody>
                    <a:bodyPr/>
                    <a:lstStyle/>
                    <a:p>
                      <a:pPr algn="l"/>
                      <a:r>
                        <a:rPr sz="1300" b="1">
                          <a:solidFill>
                            <a:srgbClr val="FFFFFF"/>
                          </a:solidFill>
                          <a:latin typeface="Calibri"/>
                          <a:ea typeface="微软雅黑"/>
                          <a:cs typeface="Calibri"/>
                        </a:rPr>
                        <a:t>7 Overheads and profit (5.00%)</a:t>
                      </a:r>
                    </a:p>
                  </a:txBody>
                  <a:tcPr anchor="ctr">
                    <a:solidFill>
                      <a:srgbClr val="1A3A55"/>
                    </a:solidFill>
                  </a:tcPr>
                </a:tc>
                <a:tc>
                  <a:txBody>
                    <a:bodyPr/>
                    <a:lstStyle/>
                    <a:p>
                      <a:pPr algn="r"/>
                      <a:r>
                        <a:rPr sz="1300" b="1">
                          <a:solidFill>
                            <a:srgbClr val="FFFFFF"/>
                          </a:solidFill>
                          <a:latin typeface="Calibri"/>
                          <a:ea typeface="微软雅黑"/>
                          <a:cs typeface="Calibri"/>
                        </a:rPr>
                        <a:t>£92,911</a:t>
                      </a:r>
                    </a:p>
                  </a:txBody>
                  <a:tcPr anchor="ctr">
                    <a:solidFill>
                      <a:srgbClr val="1A3A55"/>
                    </a:solidFill>
                  </a:tcPr>
                </a:tc>
                <a:extLst>
                  <a:ext uri="{0D108BD9-81ED-4DB2-BD59-A6C34878D82A}">
                    <a16:rowId xmlns:a16="http://schemas.microsoft.com/office/drawing/2014/main" val="10004"/>
                  </a:ext>
                </a:extLst>
              </a:tr>
              <a:tr h="353568">
                <a:tc>
                  <a:txBody>
                    <a:bodyPr/>
                    <a:lstStyle/>
                    <a:p>
                      <a:pPr algn="l"/>
                      <a:r>
                        <a:rPr sz="1300" b="1">
                          <a:solidFill>
                            <a:srgbClr val="FFFFFF"/>
                          </a:solidFill>
                          <a:latin typeface="Calibri"/>
                          <a:ea typeface="微软雅黑"/>
                          <a:cs typeface="Calibri"/>
                        </a:rPr>
                        <a:t>8 Professional services</a:t>
                      </a:r>
                    </a:p>
                  </a:txBody>
                  <a:tcPr anchor="ctr">
                    <a:solidFill>
                      <a:srgbClr val="1A3A55"/>
                    </a:solidFill>
                  </a:tcPr>
                </a:tc>
                <a:tc>
                  <a:txBody>
                    <a:bodyPr/>
                    <a:lstStyle/>
                    <a:p>
                      <a:pPr algn="r"/>
                      <a:r>
                        <a:rPr sz="1300" b="1">
                          <a:solidFill>
                            <a:srgbClr val="FFFFFF"/>
                          </a:solidFill>
                          <a:latin typeface="Calibri"/>
                          <a:ea typeface="微软雅黑"/>
                          <a:cs typeface="Calibri"/>
                        </a:rPr>
                        <a:t>£141,800</a:t>
                      </a:r>
                    </a:p>
                  </a:txBody>
                  <a:tcPr anchor="ctr">
                    <a:solidFill>
                      <a:srgbClr val="1A3A55"/>
                    </a:solidFill>
                  </a:tcPr>
                </a:tc>
                <a:extLst>
                  <a:ext uri="{0D108BD9-81ED-4DB2-BD59-A6C34878D82A}">
                    <a16:rowId xmlns:a16="http://schemas.microsoft.com/office/drawing/2014/main" val="10005"/>
                  </a:ext>
                </a:extLst>
              </a:tr>
              <a:tr h="353568">
                <a:tc>
                  <a:txBody>
                    <a:bodyPr/>
                    <a:lstStyle/>
                    <a:p>
                      <a:pPr algn="l"/>
                      <a:r>
                        <a:rPr sz="1100" b="0">
                          <a:solidFill>
                            <a:srgbClr val="5A6A7A"/>
                          </a:solidFill>
                          <a:latin typeface="Calibri"/>
                          <a:ea typeface="微软雅黑"/>
                          <a:cs typeface="Calibri"/>
                        </a:rPr>
                        <a:t>Project management (33 weeks pre-contract / 22 weeks post-contract / defects), design support, commercial support and contract administration</a:t>
                      </a:r>
                    </a:p>
                  </a:txBody>
                  <a:tcPr anchor="ctr">
                    <a:solidFill>
                      <a:srgbClr val="F6F8FA"/>
                    </a:solidFill>
                  </a:tcPr>
                </a:tc>
                <a:tc>
                  <a:txBody>
                    <a:bodyPr/>
                    <a:lstStyle/>
                    <a:p>
                      <a:pPr algn="r"/>
                      <a:r>
                        <a:rPr sz="1200" b="0">
                          <a:solidFill>
                            <a:srgbClr val="5A6A7A"/>
                          </a:solidFill>
                          <a:latin typeface="Calibri"/>
                          <a:ea typeface="微软雅黑"/>
                          <a:cs typeface="Calibri"/>
                        </a:rPr>
                        <a:t>£141,800</a:t>
                      </a:r>
                    </a:p>
                  </a:txBody>
                  <a:tcPr anchor="ctr">
                    <a:solidFill>
                      <a:srgbClr val="F6F8FA"/>
                    </a:solidFill>
                  </a:tcPr>
                </a:tc>
                <a:extLst>
                  <a:ext uri="{0D108BD9-81ED-4DB2-BD59-A6C34878D82A}">
                    <a16:rowId xmlns:a16="http://schemas.microsoft.com/office/drawing/2014/main" val="10006"/>
                  </a:ext>
                </a:extLst>
              </a:tr>
              <a:tr h="353568">
                <a:tc>
                  <a:txBody>
                    <a:bodyPr/>
                    <a:lstStyle/>
                    <a:p>
                      <a:pPr algn="l"/>
                      <a:r>
                        <a:rPr sz="1300" b="1">
                          <a:solidFill>
                            <a:srgbClr val="FFFFFF"/>
                          </a:solidFill>
                          <a:latin typeface="Calibri"/>
                          <a:ea typeface="微软雅黑"/>
                          <a:cs typeface="Calibri"/>
                        </a:rPr>
                        <a:t>9 Equipment supplied and installed by the owner (Asymchem)</a:t>
                      </a:r>
                    </a:p>
                  </a:txBody>
                  <a:tcPr anchor="ctr">
                    <a:solidFill>
                      <a:srgbClr val="1A3A55"/>
                    </a:solidFill>
                  </a:tcPr>
                </a:tc>
                <a:tc>
                  <a:txBody>
                    <a:bodyPr/>
                    <a:lstStyle/>
                    <a:p>
                      <a:pPr algn="r"/>
                      <a:r>
                        <a:rPr sz="1300" b="1">
                          <a:solidFill>
                            <a:srgbClr val="FFFFFF"/>
                          </a:solidFill>
                          <a:latin typeface="Calibri"/>
                          <a:ea typeface="微软雅黑"/>
                          <a:cs typeface="Calibri"/>
                        </a:rPr>
                        <a:t>£963,445</a:t>
                      </a:r>
                    </a:p>
                  </a:txBody>
                  <a:tcPr anchor="ctr">
                    <a:solidFill>
                      <a:srgbClr val="1A3A55"/>
                    </a:solidFill>
                  </a:tcPr>
                </a:tc>
                <a:extLst>
                  <a:ext uri="{0D108BD9-81ED-4DB2-BD59-A6C34878D82A}">
                    <a16:rowId xmlns:a16="http://schemas.microsoft.com/office/drawing/2014/main" val="10007"/>
                  </a:ext>
                </a:extLst>
              </a:tr>
              <a:tr h="353568">
                <a:tc>
                  <a:txBody>
                    <a:bodyPr/>
                    <a:lstStyle/>
                    <a:p>
                      <a:pPr algn="l"/>
                      <a:r>
                        <a:rPr sz="1300" b="0">
                          <a:solidFill>
                            <a:srgbClr val="2C3E50"/>
                          </a:solidFill>
                          <a:latin typeface="Calibri"/>
                          <a:ea typeface="微软雅黑"/>
                          <a:cs typeface="Calibri"/>
                        </a:rPr>
                        <a:t>Phase 1 equipment (phased list, included now)</a:t>
                      </a:r>
                    </a:p>
                  </a:txBody>
                  <a:tcPr anchor="ctr">
                    <a:solidFill>
                      <a:srgbClr val="F6F8FA"/>
                    </a:solidFill>
                  </a:tcPr>
                </a:tc>
                <a:tc>
                  <a:txBody>
                    <a:bodyPr/>
                    <a:lstStyle/>
                    <a:p>
                      <a:pPr algn="r"/>
                      <a:r>
                        <a:rPr sz="1300" b="0">
                          <a:solidFill>
                            <a:srgbClr val="2C3E50"/>
                          </a:solidFill>
                          <a:latin typeface="Calibri"/>
                          <a:ea typeface="微软雅黑"/>
                          <a:cs typeface="Calibri"/>
                        </a:rPr>
                        <a:t>£963,445</a:t>
                      </a:r>
                    </a:p>
                  </a:txBody>
                  <a:tcPr anchor="ctr">
                    <a:solidFill>
                      <a:srgbClr val="F6F8FA"/>
                    </a:solidFill>
                  </a:tcPr>
                </a:tc>
                <a:extLst>
                  <a:ext uri="{0D108BD9-81ED-4DB2-BD59-A6C34878D82A}">
                    <a16:rowId xmlns:a16="http://schemas.microsoft.com/office/drawing/2014/main" val="10008"/>
                  </a:ext>
                </a:extLst>
              </a:tr>
              <a:tr h="353568">
                <a:tc>
                  <a:txBody>
                    <a:bodyPr/>
                    <a:lstStyle/>
                    <a:p>
                      <a:pPr algn="l"/>
                      <a:r>
                        <a:rPr sz="1200" b="0">
                          <a:solidFill>
                            <a:srgbClr val="5A6A7A"/>
                          </a:solidFill>
                          <a:latin typeface="Calibri"/>
                          <a:ea typeface="微软雅黑"/>
                          <a:cs typeface="Calibri"/>
                        </a:rPr>
                        <a:t>Phase 2 and later equipment £749,600 (not included now)</a:t>
                      </a:r>
                    </a:p>
                  </a:txBody>
                  <a:tcPr anchor="ctr">
                    <a:solidFill>
                      <a:srgbClr val="FFFFFF"/>
                    </a:solidFill>
                  </a:tcPr>
                </a:tc>
                <a:tc>
                  <a:txBody>
                    <a:bodyPr/>
                    <a:lstStyle/>
                    <a:p>
                      <a:pPr algn="r"/>
                      <a:r>
                        <a:rPr sz="1200" b="0">
                          <a:solidFill>
                            <a:srgbClr val="5A6A7A"/>
                          </a:solidFill>
                          <a:latin typeface="Calibri"/>
                          <a:ea typeface="微软雅黑"/>
                          <a:cs typeface="Calibri"/>
                        </a:rPr>
                        <a:t>—</a:t>
                      </a:r>
                    </a:p>
                  </a:txBody>
                  <a:tcPr anchor="ctr">
                    <a:solidFill>
                      <a:srgbClr val="FFFFFF"/>
                    </a:solidFill>
                  </a:tcPr>
                </a:tc>
                <a:extLst>
                  <a:ext uri="{0D108BD9-81ED-4DB2-BD59-A6C34878D82A}">
                    <a16:rowId xmlns:a16="http://schemas.microsoft.com/office/drawing/2014/main" val="10009"/>
                  </a:ext>
                </a:extLst>
              </a:tr>
              <a:tr h="353568">
                <a:tc>
                  <a:txBody>
                    <a:bodyPr/>
                    <a:lstStyle/>
                    <a:p>
                      <a:pPr algn="l"/>
                      <a:r>
                        <a:rPr sz="1300" b="1">
                          <a:solidFill>
                            <a:srgbClr val="FFFFFF"/>
                          </a:solidFill>
                          <a:latin typeface="Calibri"/>
                          <a:ea typeface="微软雅黑"/>
                          <a:cs typeface="Calibri"/>
                        </a:rPr>
                        <a:t>10 Risk allowance</a:t>
                      </a:r>
                    </a:p>
                  </a:txBody>
                  <a:tcPr anchor="ctr">
                    <a:solidFill>
                      <a:srgbClr val="1A3A55"/>
                    </a:solidFill>
                  </a:tcPr>
                </a:tc>
                <a:tc>
                  <a:txBody>
                    <a:bodyPr/>
                    <a:lstStyle/>
                    <a:p>
                      <a:pPr algn="r"/>
                      <a:r>
                        <a:rPr sz="1300" b="1">
                          <a:solidFill>
                            <a:srgbClr val="FFFFFF"/>
                          </a:solidFill>
                          <a:latin typeface="Calibri"/>
                          <a:ea typeface="微软雅黑"/>
                          <a:cs typeface="Calibri"/>
                        </a:rPr>
                        <a:t>£397,875</a:t>
                      </a:r>
                    </a:p>
                  </a:txBody>
                  <a:tcPr anchor="ctr">
                    <a:solidFill>
                      <a:srgbClr val="1A3A55"/>
                    </a:solidFill>
                  </a:tcPr>
                </a:tc>
                <a:extLst>
                  <a:ext uri="{0D108BD9-81ED-4DB2-BD59-A6C34878D82A}">
                    <a16:rowId xmlns:a16="http://schemas.microsoft.com/office/drawing/2014/main" val="10010"/>
                  </a:ext>
                </a:extLst>
              </a:tr>
              <a:tr h="353568">
                <a:tc>
                  <a:txBody>
                    <a:bodyPr/>
                    <a:lstStyle/>
                    <a:p>
                      <a:pPr algn="l"/>
                      <a:r>
                        <a:rPr sz="1200" b="0">
                          <a:solidFill>
                            <a:srgbClr val="5A6A7A"/>
                          </a:solidFill>
                          <a:latin typeface="Calibri"/>
                          <a:ea typeface="微软雅黑"/>
                          <a:cs typeface="Calibri"/>
                        </a:rPr>
                        <a:t>10.1 Design-development risk (per the risk register)</a:t>
                      </a:r>
                    </a:p>
                  </a:txBody>
                  <a:tcPr anchor="ctr">
                    <a:solidFill>
                      <a:srgbClr val="FFFFFF"/>
                    </a:solidFill>
                  </a:tcPr>
                </a:tc>
                <a:tc>
                  <a:txBody>
                    <a:bodyPr/>
                    <a:lstStyle/>
                    <a:p>
                      <a:pPr algn="r"/>
                      <a:r>
                        <a:rPr sz="1200" b="0">
                          <a:solidFill>
                            <a:srgbClr val="5A6A7A"/>
                          </a:solidFill>
                          <a:latin typeface="Calibri"/>
                          <a:ea typeface="微软雅黑"/>
                          <a:cs typeface="Calibri"/>
                        </a:rPr>
                        <a:t>£397,875</a:t>
                      </a:r>
                    </a:p>
                  </a:txBody>
                  <a:tcPr anchor="ctr">
                    <a:solidFill>
                      <a:srgbClr val="FFFFFF"/>
                    </a:solidFill>
                  </a:tcPr>
                </a:tc>
                <a:extLst>
                  <a:ext uri="{0D108BD9-81ED-4DB2-BD59-A6C34878D82A}">
                    <a16:rowId xmlns:a16="http://schemas.microsoft.com/office/drawing/2014/main" val="10011"/>
                  </a:ext>
                </a:extLst>
              </a:tr>
              <a:tr h="353568">
                <a:tc>
                  <a:txBody>
                    <a:bodyPr/>
                    <a:lstStyle/>
                    <a:p>
                      <a:pPr algn="l"/>
                      <a:r>
                        <a:rPr sz="1300" b="1">
                          <a:solidFill>
                            <a:srgbClr val="FFFFFF"/>
                          </a:solidFill>
                          <a:latin typeface="Calibri"/>
                          <a:ea typeface="微软雅黑"/>
                          <a:cs typeface="Calibri"/>
                        </a:rPr>
                        <a:t>11 Inflation (2.15%)</a:t>
                      </a:r>
                    </a:p>
                  </a:txBody>
                  <a:tcPr anchor="ctr">
                    <a:solidFill>
                      <a:srgbClr val="1A3A55"/>
                    </a:solidFill>
                  </a:tcPr>
                </a:tc>
                <a:tc>
                  <a:txBody>
                    <a:bodyPr/>
                    <a:lstStyle/>
                    <a:p>
                      <a:pPr algn="r"/>
                      <a:r>
                        <a:rPr sz="1300" b="1">
                          <a:solidFill>
                            <a:srgbClr val="FFFFFF"/>
                          </a:solidFill>
                          <a:latin typeface="Calibri"/>
                          <a:ea typeface="微软雅黑"/>
                          <a:cs typeface="Calibri"/>
                        </a:rPr>
                        <a:t>£96,184</a:t>
                      </a:r>
                    </a:p>
                  </a:txBody>
                  <a:tcPr anchor="ctr">
                    <a:solidFill>
                      <a:srgbClr val="1A3A55"/>
                    </a:solidFill>
                  </a:tcPr>
                </a:tc>
                <a:extLst>
                  <a:ext uri="{0D108BD9-81ED-4DB2-BD59-A6C34878D82A}">
                    <a16:rowId xmlns:a16="http://schemas.microsoft.com/office/drawing/2014/main" val="10012"/>
                  </a:ext>
                </a:extLst>
              </a:tr>
              <a:tr h="353568">
                <a:tc>
                  <a:txBody>
                    <a:bodyPr/>
                    <a:lstStyle/>
                    <a:p>
                      <a:pPr algn="l"/>
                      <a:r>
                        <a:rPr sz="1200" b="0">
                          <a:solidFill>
                            <a:srgbClr val="5A6A7A"/>
                          </a:solidFill>
                          <a:latin typeface="Calibri"/>
                          <a:ea typeface="微软雅黑"/>
                          <a:cs typeface="Calibri"/>
                        </a:rPr>
                        <a:t>Inflation from the base date through construction</a:t>
                      </a:r>
                    </a:p>
                  </a:txBody>
                  <a:tcPr anchor="ctr">
                    <a:solidFill>
                      <a:srgbClr val="FFFFFF"/>
                    </a:solidFill>
                  </a:tcPr>
                </a:tc>
                <a:tc>
                  <a:txBody>
                    <a:bodyPr/>
                    <a:lstStyle/>
                    <a:p>
                      <a:pPr algn="r"/>
                      <a:r>
                        <a:rPr sz="1200" b="0">
                          <a:solidFill>
                            <a:srgbClr val="5A6A7A"/>
                          </a:solidFill>
                          <a:latin typeface="Calibri"/>
                          <a:ea typeface="微软雅黑"/>
                          <a:cs typeface="Calibri"/>
                        </a:rPr>
                        <a:t>£96,184</a:t>
                      </a:r>
                    </a:p>
                  </a:txBody>
                  <a:tcPr anchor="ctr">
                    <a:solidFill>
                      <a:srgbClr val="FFFFFF"/>
                    </a:solidFill>
                  </a:tcPr>
                </a:tc>
                <a:extLst>
                  <a:ext uri="{0D108BD9-81ED-4DB2-BD59-A6C34878D82A}">
                    <a16:rowId xmlns:a16="http://schemas.microsoft.com/office/drawing/2014/main" val="10013"/>
                  </a:ext>
                </a:extLst>
              </a:tr>
              <a:tr h="353568">
                <a:tc>
                  <a:txBody>
                    <a:bodyPr/>
                    <a:lstStyle/>
                    <a:p>
                      <a:pPr algn="l"/>
                      <a:r>
                        <a:rPr sz="1300" b="1">
                          <a:solidFill>
                            <a:srgbClr val="0F2B46"/>
                          </a:solidFill>
                          <a:latin typeface="Calibri"/>
                          <a:ea typeface="微软雅黑"/>
                          <a:cs typeface="Calibri"/>
                        </a:rPr>
                        <a:t>Phase 1 investment (incl. inflation)</a:t>
                      </a:r>
                    </a:p>
                  </a:txBody>
                  <a:tcPr anchor="ctr">
                    <a:solidFill>
                      <a:srgbClr val="E8EEF4"/>
                    </a:solidFill>
                  </a:tcPr>
                </a:tc>
                <a:tc>
                  <a:txBody>
                    <a:bodyPr/>
                    <a:lstStyle/>
                    <a:p>
                      <a:pPr algn="r"/>
                      <a:r>
                        <a:rPr sz="1300" b="1">
                          <a:solidFill>
                            <a:srgbClr val="0F2B46"/>
                          </a:solidFill>
                          <a:latin typeface="Calibri"/>
                          <a:ea typeface="微软雅黑"/>
                          <a:cs typeface="Calibri"/>
                        </a:rPr>
                        <a:t>£3,550,444</a:t>
                      </a:r>
                    </a:p>
                  </a:txBody>
                  <a:tcPr anchor="ctr">
                    <a:solidFill>
                      <a:srgbClr val="E8EEF4"/>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24 / 31</a:t>
            </a:r>
          </a:p>
        </p:txBody>
      </p:sp>
      <p:sp>
        <p:nvSpPr>
          <p:cNvPr id="10" name="Rectangle 9"/>
          <p:cNvSpPr/>
          <p:nvPr/>
        </p:nvSpPr>
        <p:spPr>
          <a:xfrm>
            <a:off x="384048" y="164592"/>
            <a:ext cx="82296" cy="71323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Equipment supplied and installed by the owner (Asymchem)</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ARD / QC</a:t>
            </a:r>
          </a:p>
        </p:txBody>
      </p:sp>
      <p:sp>
        <p:nvSpPr>
          <p:cNvPr id="13" name="Rounded Rectangle 12"/>
          <p:cNvSpPr/>
          <p:nvPr/>
        </p:nvSpPr>
        <p:spPr>
          <a:xfrm>
            <a:off x="384048" y="1005840"/>
            <a:ext cx="11423599" cy="420624"/>
          </a:xfrm>
          <a:prstGeom prst="roundRect">
            <a:avLst>
              <a:gd name="adj" fmla="val 8000"/>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216" y="1060704"/>
            <a:ext cx="6766560" cy="310896"/>
          </a:xfrm>
          <a:prstGeom prst="rect">
            <a:avLst/>
          </a:prstGeom>
          <a:noFill/>
        </p:spPr>
        <p:txBody>
          <a:bodyPr wrap="square" anchor="t">
            <a:spAutoFit/>
          </a:bodyPr>
          <a:lstStyle/>
          <a:p>
            <a:pPr algn="l"/>
            <a:r>
              <a:rPr sz="1400" b="1">
                <a:solidFill>
                  <a:srgbClr val="FFFFFF"/>
                </a:solidFill>
                <a:latin typeface="Calibri"/>
                <a:ea typeface="微软雅黑"/>
                <a:cs typeface="Calibri"/>
              </a:rPr>
              <a:t>This group, to purchase £832,600  ·  Phase 1 £662,600</a:t>
            </a:r>
          </a:p>
        </p:txBody>
      </p:sp>
      <p:sp>
        <p:nvSpPr>
          <p:cNvPr id="15" name="TextBox 14"/>
          <p:cNvSpPr txBox="1"/>
          <p:nvPr/>
        </p:nvSpPr>
        <p:spPr>
          <a:xfrm>
            <a:off x="7333488" y="1060704"/>
            <a:ext cx="4206240" cy="310896"/>
          </a:xfrm>
          <a:prstGeom prst="rect">
            <a:avLst/>
          </a:prstGeom>
          <a:noFill/>
        </p:spPr>
        <p:txBody>
          <a:bodyPr wrap="square" anchor="t">
            <a:spAutoFit/>
          </a:bodyPr>
          <a:lstStyle/>
          <a:p>
            <a:pPr algn="r"/>
            <a:r>
              <a:rPr sz="1500" b="1">
                <a:solidFill>
                  <a:srgbClr val="FFFFFF"/>
                </a:solidFill>
                <a:latin typeface="Calibri"/>
                <a:ea typeface="微软雅黑"/>
                <a:cs typeface="Calibri"/>
              </a:rPr>
              <a:t>Phase 1 total £963,445</a:t>
            </a:r>
          </a:p>
        </p:txBody>
      </p:sp>
      <p:graphicFrame>
        <p:nvGraphicFramePr>
          <p:cNvPr id="16" name="Table 15"/>
          <p:cNvGraphicFramePr>
            <a:graphicFrameLocks noGrp="1"/>
          </p:cNvGraphicFramePr>
          <p:nvPr/>
        </p:nvGraphicFramePr>
        <p:xfrm>
          <a:off x="384048" y="1536192"/>
          <a:ext cx="11368735" cy="4864608"/>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gridCol w="1630375">
                  <a:extLst>
                    <a:ext uri="{9D8B030D-6E8A-4147-A177-3AD203B41FA5}">
                      <a16:colId xmlns:a16="http://schemas.microsoft.com/office/drawing/2014/main" val="20006"/>
                    </a:ext>
                  </a:extLst>
                </a:gridCol>
              </a:tblGrid>
              <a:tr h="347472">
                <a:tc>
                  <a:txBody>
                    <a:bodyPr/>
                    <a:lstStyle/>
                    <a:p>
                      <a:pPr algn="l"/>
                      <a:r>
                        <a:rPr sz="1100" b="1">
                          <a:solidFill>
                            <a:srgbClr val="FFFFFF"/>
                          </a:solidFill>
                          <a:latin typeface="Calibri"/>
                          <a:ea typeface="微软雅黑"/>
                          <a:cs typeface="Calibri"/>
                        </a:rPr>
                        <a:t>Item</a:t>
                      </a:r>
                    </a:p>
                  </a:txBody>
                  <a:tcPr anchor="ctr">
                    <a:solidFill>
                      <a:srgbClr val="0F2B46"/>
                    </a:solidFill>
                  </a:tcPr>
                </a:tc>
                <a:tc>
                  <a:txBody>
                    <a:bodyPr/>
                    <a:lstStyle/>
                    <a:p>
                      <a:pPr algn="l"/>
                      <a:r>
                        <a:rPr sz="1100" b="1">
                          <a:solidFill>
                            <a:srgbClr val="FFFFFF"/>
                          </a:solidFill>
                          <a:latin typeface="Calibri"/>
                          <a:ea typeface="微软雅黑"/>
                          <a:cs typeface="Calibri"/>
                        </a:rPr>
                        <a:t>Location</a:t>
                      </a:r>
                    </a:p>
                  </a:txBody>
                  <a:tcPr anchor="ctr">
                    <a:solidFill>
                      <a:srgbClr val="0F2B46"/>
                    </a:solidFill>
                  </a:tcPr>
                </a:tc>
                <a:tc>
                  <a:txBody>
                    <a:bodyPr/>
                    <a:lstStyle/>
                    <a:p>
                      <a:pPr algn="l"/>
                      <a:r>
                        <a:rPr sz="1100" b="1">
                          <a:solidFill>
                            <a:srgbClr val="FFFFFF"/>
                          </a:solidFill>
                          <a:latin typeface="Calibri"/>
                          <a:ea typeface="微软雅黑"/>
                          <a:cs typeface="Calibri"/>
                        </a:rPr>
                        <a:t>Manufacturer</a:t>
                      </a:r>
                    </a:p>
                  </a:txBody>
                  <a:tcPr anchor="ctr">
                    <a:solidFill>
                      <a:srgbClr val="0F2B46"/>
                    </a:solidFill>
                  </a:tcPr>
                </a:tc>
                <a:tc>
                  <a:txBody>
                    <a:bodyPr/>
                    <a:lstStyle/>
                    <a:p>
                      <a:pPr algn="ctr"/>
                      <a:r>
                        <a:rPr sz="1100" b="1">
                          <a:solidFill>
                            <a:srgbClr val="FFFFFF"/>
                          </a:solidFill>
                          <a:latin typeface="Calibri"/>
                          <a:ea typeface="微软雅黑"/>
                          <a:cs typeface="Calibri"/>
                        </a:rPr>
                        <a:t>New / existing</a:t>
                      </a:r>
                    </a:p>
                  </a:txBody>
                  <a:tcPr anchor="ctr">
                    <a:solidFill>
                      <a:srgbClr val="0F2B46"/>
                    </a:solidFill>
                  </a:tcPr>
                </a:tc>
                <a:tc>
                  <a:txBody>
                    <a:bodyPr/>
                    <a:lstStyle/>
                    <a:p>
                      <a:pPr algn="ctr"/>
                      <a:r>
                        <a:rPr sz="1100" b="1">
                          <a:solidFill>
                            <a:srgbClr val="FFFFFF"/>
                          </a:solidFill>
                          <a:latin typeface="Calibri"/>
                          <a:ea typeface="微软雅黑"/>
                          <a:cs typeface="Calibri"/>
                        </a:rPr>
                        <a:t>Phase</a:t>
                      </a:r>
                    </a:p>
                  </a:txBody>
                  <a:tcPr anchor="ctr">
                    <a:solidFill>
                      <a:srgbClr val="0F2B46"/>
                    </a:solidFill>
                  </a:tcPr>
                </a:tc>
                <a:tc>
                  <a:txBody>
                    <a:bodyPr/>
                    <a:lstStyle/>
                    <a:p>
                      <a:pPr algn="r"/>
                      <a:r>
                        <a:rPr sz="1100" b="1">
                          <a:solidFill>
                            <a:srgbClr val="FFFFFF"/>
                          </a:solidFill>
                          <a:latin typeface="Calibri"/>
                          <a:ea typeface="微软雅黑"/>
                          <a:cs typeface="Calibri"/>
                        </a:rPr>
                        <a:t>To purchase</a:t>
                      </a:r>
                    </a:p>
                  </a:txBody>
                  <a:tcPr anchor="ctr">
                    <a:solidFill>
                      <a:srgbClr val="0F2B46"/>
                    </a:solidFill>
                  </a:tcPr>
                </a:tc>
                <a:tc>
                  <a:txBody>
                    <a:bodyPr/>
                    <a:lstStyle/>
                    <a:p>
                      <a:pPr algn="r"/>
                      <a:r>
                        <a:rPr sz="1100" b="1">
                          <a:solidFill>
                            <a:srgbClr val="FFFFFF"/>
                          </a:solidFill>
                          <a:latin typeface="Calibri"/>
                          <a:ea typeface="微软雅黑"/>
                          <a:cs typeface="Calibri"/>
                        </a:rPr>
                        <a:t>Phase 1</a:t>
                      </a:r>
                    </a:p>
                  </a:txBody>
                  <a:tcPr anchor="ctr">
                    <a:solidFill>
                      <a:srgbClr val="0F2B46"/>
                    </a:solidFill>
                  </a:tcPr>
                </a:tc>
                <a:extLst>
                  <a:ext uri="{0D108BD9-81ED-4DB2-BD59-A6C34878D82A}">
                    <a16:rowId xmlns:a16="http://schemas.microsoft.com/office/drawing/2014/main" val="10000"/>
                  </a:ext>
                </a:extLst>
              </a:tr>
              <a:tr h="347472">
                <a:tc>
                  <a:txBody>
                    <a:bodyPr/>
                    <a:lstStyle/>
                    <a:p>
                      <a:pPr algn="l"/>
                      <a:r>
                        <a:rPr sz="1200" b="0">
                          <a:solidFill>
                            <a:srgbClr val="2C3E50"/>
                          </a:solidFill>
                          <a:latin typeface="Calibri"/>
                          <a:ea typeface="微软雅黑"/>
                          <a:cs typeface="Calibri"/>
                        </a:rPr>
                        <a:t>HPLC system</a:t>
                      </a:r>
                    </a:p>
                  </a:txBody>
                  <a:tcPr anchor="ctr">
                    <a:solidFill>
                      <a:srgbClr val="FFFFFF"/>
                    </a:solidFill>
                  </a:tcPr>
                </a:tc>
                <a:tc>
                  <a:txBody>
                    <a:bodyPr/>
                    <a:lstStyle/>
                    <a:p>
                      <a:pPr algn="l"/>
                      <a:r>
                        <a:rPr sz="1200" b="0">
                          <a:solidFill>
                            <a:srgbClr val="2C3E50"/>
                          </a:solidFill>
                          <a:latin typeface="Calibri"/>
                          <a:ea typeface="微软雅黑"/>
                          <a:cs typeface="Calibri"/>
                        </a:rPr>
                        <a:t>Room 2</a:t>
                      </a:r>
                    </a:p>
                  </a:txBody>
                  <a:tcPr anchor="ctr">
                    <a:solidFill>
                      <a:srgbClr val="FFFFFF"/>
                    </a:solidFill>
                  </a:tcPr>
                </a:tc>
                <a:tc>
                  <a:txBody>
                    <a:bodyPr/>
                    <a:lstStyle/>
                    <a:p>
                      <a:pPr algn="l"/>
                      <a:r>
                        <a:rPr sz="1200" b="0">
                          <a:solidFill>
                            <a:srgbClr val="2C3E50"/>
                          </a:solidFill>
                          <a:latin typeface="Calibri"/>
                          <a:ea typeface="微软雅黑"/>
                          <a:cs typeface="Calibri"/>
                        </a:rPr>
                        <a:t>Aglient Technologies</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£200,000</a:t>
                      </a:r>
                    </a:p>
                  </a:txBody>
                  <a:tcPr anchor="ctr">
                    <a:solidFill>
                      <a:srgbClr val="FFFFFF"/>
                    </a:solidFill>
                  </a:tcPr>
                </a:tc>
                <a:tc>
                  <a:txBody>
                    <a:bodyPr/>
                    <a:lstStyle/>
                    <a:p>
                      <a:pPr algn="r"/>
                      <a:r>
                        <a:rPr sz="1200" b="1">
                          <a:solidFill>
                            <a:srgbClr val="2C3E50"/>
                          </a:solidFill>
                          <a:latin typeface="Calibri"/>
                          <a:ea typeface="微软雅黑"/>
                          <a:cs typeface="Calibri"/>
                        </a:rPr>
                        <a:t>£100,000</a:t>
                      </a:r>
                    </a:p>
                  </a:txBody>
                  <a:tcPr anchor="ctr">
                    <a:solidFill>
                      <a:srgbClr val="FFFFFF"/>
                    </a:solidFill>
                  </a:tcPr>
                </a:tc>
                <a:extLst>
                  <a:ext uri="{0D108BD9-81ED-4DB2-BD59-A6C34878D82A}">
                    <a16:rowId xmlns:a16="http://schemas.microsoft.com/office/drawing/2014/main" val="10001"/>
                  </a:ext>
                </a:extLst>
              </a:tr>
              <a:tr h="347472">
                <a:tc>
                  <a:txBody>
                    <a:bodyPr/>
                    <a:lstStyle/>
                    <a:p>
                      <a:pPr algn="l"/>
                      <a:r>
                        <a:rPr sz="1200" b="0">
                          <a:solidFill>
                            <a:srgbClr val="2C3E50"/>
                          </a:solidFill>
                          <a:latin typeface="Calibri"/>
                          <a:ea typeface="微软雅黑"/>
                          <a:cs typeface="Calibri"/>
                        </a:rPr>
                        <a:t>HPLC/MS system</a:t>
                      </a:r>
                    </a:p>
                  </a:txBody>
                  <a:tcPr anchor="ctr">
                    <a:solidFill>
                      <a:srgbClr val="F6F8FA"/>
                    </a:solidFill>
                  </a:tcPr>
                </a:tc>
                <a:tc>
                  <a:txBody>
                    <a:bodyPr/>
                    <a:lstStyle/>
                    <a:p>
                      <a:pPr algn="l"/>
                      <a:r>
                        <a:rPr sz="1200" b="0">
                          <a:solidFill>
                            <a:srgbClr val="2C3E50"/>
                          </a:solidFill>
                          <a:latin typeface="Calibri"/>
                          <a:ea typeface="微软雅黑"/>
                          <a:cs typeface="Calibri"/>
                        </a:rPr>
                        <a:t>Bench top</a:t>
                      </a:r>
                    </a:p>
                  </a:txBody>
                  <a:tcPr anchor="ctr">
                    <a:solidFill>
                      <a:srgbClr val="F6F8FA"/>
                    </a:solidFill>
                  </a:tcPr>
                </a:tc>
                <a:tc>
                  <a:txBody>
                    <a:bodyPr/>
                    <a:lstStyle/>
                    <a:p>
                      <a:pPr algn="l"/>
                      <a:r>
                        <a:rPr sz="1200" b="0">
                          <a:solidFill>
                            <a:srgbClr val="2C3E50"/>
                          </a:solidFill>
                          <a:latin typeface="Calibri"/>
                          <a:ea typeface="微软雅黑"/>
                          <a:cs typeface="Calibri"/>
                        </a:rPr>
                        <a:t>Agilent Technologies</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1F7A6F"/>
                          </a:solidFill>
                          <a:latin typeface="Calibri"/>
                          <a:ea typeface="微软雅黑"/>
                          <a:cs typeface="Calibri"/>
                        </a:rPr>
                        <a:t>Phase 1</a:t>
                      </a:r>
                    </a:p>
                  </a:txBody>
                  <a:tcPr anchor="ctr">
                    <a:solidFill>
                      <a:srgbClr val="F6F8FA"/>
                    </a:solidFill>
                  </a:tcPr>
                </a:tc>
                <a:tc>
                  <a:txBody>
                    <a:bodyPr/>
                    <a:lstStyle/>
                    <a:p>
                      <a:pPr algn="r"/>
                      <a:r>
                        <a:rPr sz="1200" b="1">
                          <a:solidFill>
                            <a:srgbClr val="2C3E50"/>
                          </a:solidFill>
                          <a:latin typeface="Calibri"/>
                          <a:ea typeface="微软雅黑"/>
                          <a:cs typeface="Calibri"/>
                        </a:rPr>
                        <a:t>£200,000</a:t>
                      </a:r>
                    </a:p>
                  </a:txBody>
                  <a:tcPr anchor="ctr">
                    <a:solidFill>
                      <a:srgbClr val="F6F8FA"/>
                    </a:solidFill>
                  </a:tcPr>
                </a:tc>
                <a:tc>
                  <a:txBody>
                    <a:bodyPr/>
                    <a:lstStyle/>
                    <a:p>
                      <a:pPr algn="r"/>
                      <a:r>
                        <a:rPr sz="1200" b="1">
                          <a:solidFill>
                            <a:srgbClr val="2C3E50"/>
                          </a:solidFill>
                          <a:latin typeface="Calibri"/>
                          <a:ea typeface="微软雅黑"/>
                          <a:cs typeface="Calibri"/>
                        </a:rPr>
                        <a:t>£200,000</a:t>
                      </a:r>
                    </a:p>
                  </a:txBody>
                  <a:tcPr anchor="ctr">
                    <a:solidFill>
                      <a:srgbClr val="F6F8FA"/>
                    </a:solidFill>
                  </a:tcPr>
                </a:tc>
                <a:extLst>
                  <a:ext uri="{0D108BD9-81ED-4DB2-BD59-A6C34878D82A}">
                    <a16:rowId xmlns:a16="http://schemas.microsoft.com/office/drawing/2014/main" val="10002"/>
                  </a:ext>
                </a:extLst>
              </a:tr>
              <a:tr h="347472">
                <a:tc>
                  <a:txBody>
                    <a:bodyPr/>
                    <a:lstStyle/>
                    <a:p>
                      <a:pPr algn="l"/>
                      <a:r>
                        <a:rPr sz="1200" b="0">
                          <a:solidFill>
                            <a:srgbClr val="2C3E50"/>
                          </a:solidFill>
                          <a:latin typeface="Calibri"/>
                          <a:ea typeface="微软雅黑"/>
                          <a:cs typeface="Calibri"/>
                        </a:rPr>
                        <a:t>GCMS</a:t>
                      </a:r>
                    </a:p>
                  </a:txBody>
                  <a:tcPr anchor="ctr">
                    <a:solidFill>
                      <a:srgbClr val="FFFFFF"/>
                    </a:solidFill>
                  </a:tcPr>
                </a:tc>
                <a:tc>
                  <a:txBody>
                    <a:bodyPr/>
                    <a:lstStyle/>
                    <a:p>
                      <a:pPr algn="l"/>
                      <a:r>
                        <a:rPr sz="1200" b="0">
                          <a:solidFill>
                            <a:srgbClr val="2C3E50"/>
                          </a:solidFill>
                          <a:latin typeface="Calibri"/>
                          <a:ea typeface="微软雅黑"/>
                          <a:cs typeface="Calibri"/>
                        </a:rPr>
                        <a:t>or GCMS</a:t>
                      </a:r>
                    </a:p>
                  </a:txBody>
                  <a:tcPr anchor="ctr">
                    <a:solidFill>
                      <a:srgbClr val="FFFFFF"/>
                    </a:solidFill>
                  </a:tcPr>
                </a:tc>
                <a:tc>
                  <a:txBody>
                    <a:bodyPr/>
                    <a:lstStyle/>
                    <a:p>
                      <a:pPr algn="l"/>
                      <a:r>
                        <a:rPr sz="1200" b="0">
                          <a:solidFill>
                            <a:srgbClr val="2C3E50"/>
                          </a:solidFill>
                          <a:latin typeface="Calibri"/>
                          <a:ea typeface="微软雅黑"/>
                          <a:cs typeface="Calibri"/>
                        </a:rPr>
                        <a:t>—</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£120,000</a:t>
                      </a:r>
                    </a:p>
                  </a:txBody>
                  <a:tcPr anchor="ctr">
                    <a:solidFill>
                      <a:srgbClr val="FFFFFF"/>
                    </a:solidFill>
                  </a:tcPr>
                </a:tc>
                <a:tc>
                  <a:txBody>
                    <a:bodyPr/>
                    <a:lstStyle/>
                    <a:p>
                      <a:pPr algn="r"/>
                      <a:r>
                        <a:rPr sz="1200" b="1">
                          <a:solidFill>
                            <a:srgbClr val="2C3E50"/>
                          </a:solidFill>
                          <a:latin typeface="Calibri"/>
                          <a:ea typeface="微软雅黑"/>
                          <a:cs typeface="Calibri"/>
                        </a:rPr>
                        <a:t>£120,000</a:t>
                      </a:r>
                    </a:p>
                  </a:txBody>
                  <a:tcPr anchor="ctr">
                    <a:solidFill>
                      <a:srgbClr val="FFFFFF"/>
                    </a:solidFill>
                  </a:tcPr>
                </a:tc>
                <a:extLst>
                  <a:ext uri="{0D108BD9-81ED-4DB2-BD59-A6C34878D82A}">
                    <a16:rowId xmlns:a16="http://schemas.microsoft.com/office/drawing/2014/main" val="10003"/>
                  </a:ext>
                </a:extLst>
              </a:tr>
              <a:tr h="347472">
                <a:tc>
                  <a:txBody>
                    <a:bodyPr/>
                    <a:lstStyle/>
                    <a:p>
                      <a:pPr algn="l"/>
                      <a:r>
                        <a:rPr sz="1200" b="0">
                          <a:solidFill>
                            <a:srgbClr val="2C3E50"/>
                          </a:solidFill>
                          <a:latin typeface="Calibri"/>
                          <a:ea typeface="微软雅黑"/>
                          <a:cs typeface="Calibri"/>
                        </a:rPr>
                        <a:t>Nitrogen generator</a:t>
                      </a:r>
                    </a:p>
                  </a:txBody>
                  <a:tcPr anchor="ctr">
                    <a:solidFill>
                      <a:srgbClr val="F6F8FA"/>
                    </a:solidFill>
                  </a:tcPr>
                </a:tc>
                <a:tc>
                  <a:txBody>
                    <a:bodyPr/>
                    <a:lstStyle/>
                    <a:p>
                      <a:pPr algn="l"/>
                      <a:r>
                        <a:rPr sz="1200" b="0">
                          <a:solidFill>
                            <a:srgbClr val="2C3E50"/>
                          </a:solidFill>
                          <a:latin typeface="Calibri"/>
                          <a:ea typeface="微软雅黑"/>
                          <a:cs typeface="Calibri"/>
                        </a:rPr>
                        <a:t>or GCMS</a:t>
                      </a:r>
                    </a:p>
                  </a:txBody>
                  <a:tcPr anchor="ctr">
                    <a:solidFill>
                      <a:srgbClr val="F6F8FA"/>
                    </a:solidFill>
                  </a:tcPr>
                </a:tc>
                <a:tc>
                  <a:txBody>
                    <a:bodyPr/>
                    <a:lstStyle/>
                    <a:p>
                      <a:pPr algn="l"/>
                      <a:r>
                        <a:rPr sz="1200" b="0">
                          <a:solidFill>
                            <a:srgbClr val="2C3E50"/>
                          </a:solidFill>
                          <a:latin typeface="Calibri"/>
                          <a:ea typeface="微软雅黑"/>
                          <a:cs typeface="Calibri"/>
                        </a:rPr>
                        <a:t>—</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1F7A6F"/>
                          </a:solidFill>
                          <a:latin typeface="Calibri"/>
                          <a:ea typeface="微软雅黑"/>
                          <a:cs typeface="Calibri"/>
                        </a:rPr>
                        <a:t>Phase 1</a:t>
                      </a:r>
                    </a:p>
                  </a:txBody>
                  <a:tcPr anchor="ctr">
                    <a:solidFill>
                      <a:srgbClr val="F6F8FA"/>
                    </a:solidFill>
                  </a:tcPr>
                </a:tc>
                <a:tc>
                  <a:txBody>
                    <a:bodyPr/>
                    <a:lstStyle/>
                    <a:p>
                      <a:pPr algn="r"/>
                      <a:r>
                        <a:rPr sz="1200" b="1">
                          <a:solidFill>
                            <a:srgbClr val="2C3E50"/>
                          </a:solidFill>
                          <a:latin typeface="Calibri"/>
                          <a:ea typeface="微软雅黑"/>
                          <a:cs typeface="Calibri"/>
                        </a:rPr>
                        <a:t>£8,000</a:t>
                      </a:r>
                    </a:p>
                  </a:txBody>
                  <a:tcPr anchor="ctr">
                    <a:solidFill>
                      <a:srgbClr val="F6F8FA"/>
                    </a:solidFill>
                  </a:tcPr>
                </a:tc>
                <a:tc>
                  <a:txBody>
                    <a:bodyPr/>
                    <a:lstStyle/>
                    <a:p>
                      <a:pPr algn="r"/>
                      <a:r>
                        <a:rPr sz="1200" b="1">
                          <a:solidFill>
                            <a:srgbClr val="2C3E50"/>
                          </a:solidFill>
                          <a:latin typeface="Calibri"/>
                          <a:ea typeface="微软雅黑"/>
                          <a:cs typeface="Calibri"/>
                        </a:rPr>
                        <a:t>£8,000</a:t>
                      </a:r>
                    </a:p>
                  </a:txBody>
                  <a:tcPr anchor="ctr">
                    <a:solidFill>
                      <a:srgbClr val="F6F8FA"/>
                    </a:solidFill>
                  </a:tcPr>
                </a:tc>
                <a:extLst>
                  <a:ext uri="{0D108BD9-81ED-4DB2-BD59-A6C34878D82A}">
                    <a16:rowId xmlns:a16="http://schemas.microsoft.com/office/drawing/2014/main" val="10004"/>
                  </a:ext>
                </a:extLst>
              </a:tr>
              <a:tr h="347472">
                <a:tc>
                  <a:txBody>
                    <a:bodyPr/>
                    <a:lstStyle/>
                    <a:p>
                      <a:pPr algn="l"/>
                      <a:r>
                        <a:rPr sz="1200" b="0">
                          <a:solidFill>
                            <a:srgbClr val="2C3E50"/>
                          </a:solidFill>
                          <a:latin typeface="Calibri"/>
                          <a:ea typeface="微软雅黑"/>
                          <a:cs typeface="Calibri"/>
                        </a:rPr>
                        <a:t>Hydrogen generator</a:t>
                      </a:r>
                    </a:p>
                  </a:txBody>
                  <a:tcPr anchor="ctr">
                    <a:solidFill>
                      <a:srgbClr val="FFFFFF"/>
                    </a:solidFill>
                  </a:tcPr>
                </a:tc>
                <a:tc>
                  <a:txBody>
                    <a:bodyPr/>
                    <a:lstStyle/>
                    <a:p>
                      <a:pPr algn="l"/>
                      <a:r>
                        <a:rPr sz="1200" b="0">
                          <a:solidFill>
                            <a:srgbClr val="2C3E50"/>
                          </a:solidFill>
                          <a:latin typeface="Calibri"/>
                          <a:ea typeface="微软雅黑"/>
                          <a:cs typeface="Calibri"/>
                        </a:rPr>
                        <a:t>or GCMS</a:t>
                      </a:r>
                    </a:p>
                  </a:txBody>
                  <a:tcPr anchor="ctr">
                    <a:solidFill>
                      <a:srgbClr val="FFFFFF"/>
                    </a:solidFill>
                  </a:tcPr>
                </a:tc>
                <a:tc>
                  <a:txBody>
                    <a:bodyPr/>
                    <a:lstStyle/>
                    <a:p>
                      <a:pPr algn="l"/>
                      <a:r>
                        <a:rPr sz="1200" b="0">
                          <a:solidFill>
                            <a:srgbClr val="2C3E50"/>
                          </a:solidFill>
                          <a:latin typeface="Calibri"/>
                          <a:ea typeface="微软雅黑"/>
                          <a:cs typeface="Calibri"/>
                        </a:rPr>
                        <a:t>—</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£8,000</a:t>
                      </a:r>
                    </a:p>
                  </a:txBody>
                  <a:tcPr anchor="ctr">
                    <a:solidFill>
                      <a:srgbClr val="FFFFFF"/>
                    </a:solidFill>
                  </a:tcPr>
                </a:tc>
                <a:tc>
                  <a:txBody>
                    <a:bodyPr/>
                    <a:lstStyle/>
                    <a:p>
                      <a:pPr algn="r"/>
                      <a:r>
                        <a:rPr sz="1200" b="1">
                          <a:solidFill>
                            <a:srgbClr val="2C3E50"/>
                          </a:solidFill>
                          <a:latin typeface="Calibri"/>
                          <a:ea typeface="微软雅黑"/>
                          <a:cs typeface="Calibri"/>
                        </a:rPr>
                        <a:t>£8,000</a:t>
                      </a:r>
                    </a:p>
                  </a:txBody>
                  <a:tcPr anchor="ctr">
                    <a:solidFill>
                      <a:srgbClr val="FFFFFF"/>
                    </a:solidFill>
                  </a:tcPr>
                </a:tc>
                <a:extLst>
                  <a:ext uri="{0D108BD9-81ED-4DB2-BD59-A6C34878D82A}">
                    <a16:rowId xmlns:a16="http://schemas.microsoft.com/office/drawing/2014/main" val="10005"/>
                  </a:ext>
                </a:extLst>
              </a:tr>
              <a:tr h="347472">
                <a:tc>
                  <a:txBody>
                    <a:bodyPr/>
                    <a:lstStyle/>
                    <a:p>
                      <a:pPr algn="l"/>
                      <a:r>
                        <a:rPr sz="1200" b="0">
                          <a:solidFill>
                            <a:srgbClr val="2C3E50"/>
                          </a:solidFill>
                          <a:latin typeface="Calibri"/>
                          <a:ea typeface="微软雅黑"/>
                          <a:cs typeface="Calibri"/>
                        </a:rPr>
                        <a:t>Electronic pipette</a:t>
                      </a:r>
                    </a:p>
                  </a:txBody>
                  <a:tcPr anchor="ctr">
                    <a:solidFill>
                      <a:srgbClr val="F6F8FA"/>
                    </a:solidFill>
                  </a:tcPr>
                </a:tc>
                <a:tc>
                  <a:txBody>
                    <a:bodyPr/>
                    <a:lstStyle/>
                    <a:p>
                      <a:pPr algn="l"/>
                      <a:r>
                        <a:rPr sz="1200" b="0">
                          <a:solidFill>
                            <a:srgbClr val="2C3E50"/>
                          </a:solidFill>
                          <a:latin typeface="Calibri"/>
                          <a:ea typeface="微软雅黑"/>
                          <a:cs typeface="Calibri"/>
                        </a:rPr>
                        <a:t>Benchtop</a:t>
                      </a:r>
                    </a:p>
                  </a:txBody>
                  <a:tcPr anchor="ctr">
                    <a:solidFill>
                      <a:srgbClr val="F6F8FA"/>
                    </a:solidFill>
                  </a:tcPr>
                </a:tc>
                <a:tc>
                  <a:txBody>
                    <a:bodyPr/>
                    <a:lstStyle/>
                    <a:p>
                      <a:pPr algn="l"/>
                      <a:r>
                        <a:rPr sz="1200" b="0">
                          <a:solidFill>
                            <a:srgbClr val="2C3E50"/>
                          </a:solidFill>
                          <a:latin typeface="Calibri"/>
                          <a:ea typeface="微软雅黑"/>
                          <a:cs typeface="Calibri"/>
                        </a:rPr>
                        <a:t>Handystep</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1F7A6F"/>
                          </a:solidFill>
                          <a:latin typeface="Calibri"/>
                          <a:ea typeface="微软雅黑"/>
                          <a:cs typeface="Calibri"/>
                        </a:rPr>
                        <a:t>Phase 1</a:t>
                      </a:r>
                    </a:p>
                  </a:txBody>
                  <a:tcPr anchor="ctr">
                    <a:solidFill>
                      <a:srgbClr val="F6F8FA"/>
                    </a:solidFill>
                  </a:tcPr>
                </a:tc>
                <a:tc>
                  <a:txBody>
                    <a:bodyPr/>
                    <a:lstStyle/>
                    <a:p>
                      <a:pPr algn="r"/>
                      <a:r>
                        <a:rPr sz="1200" b="1">
                          <a:solidFill>
                            <a:srgbClr val="2C3E50"/>
                          </a:solidFill>
                          <a:latin typeface="Calibri"/>
                          <a:ea typeface="微软雅黑"/>
                          <a:cs typeface="Calibri"/>
                        </a:rPr>
                        <a:t>£1,600</a:t>
                      </a:r>
                    </a:p>
                  </a:txBody>
                  <a:tcPr anchor="ctr">
                    <a:solidFill>
                      <a:srgbClr val="F6F8FA"/>
                    </a:solidFill>
                  </a:tcPr>
                </a:tc>
                <a:tc>
                  <a:txBody>
                    <a:bodyPr/>
                    <a:lstStyle/>
                    <a:p>
                      <a:pPr algn="r"/>
                      <a:r>
                        <a:rPr sz="1200" b="1">
                          <a:solidFill>
                            <a:srgbClr val="2C3E50"/>
                          </a:solidFill>
                          <a:latin typeface="Calibri"/>
                          <a:ea typeface="微软雅黑"/>
                          <a:cs typeface="Calibri"/>
                        </a:rPr>
                        <a:t>£1,600</a:t>
                      </a:r>
                    </a:p>
                  </a:txBody>
                  <a:tcPr anchor="ctr">
                    <a:solidFill>
                      <a:srgbClr val="F6F8FA"/>
                    </a:solidFill>
                  </a:tcPr>
                </a:tc>
                <a:extLst>
                  <a:ext uri="{0D108BD9-81ED-4DB2-BD59-A6C34878D82A}">
                    <a16:rowId xmlns:a16="http://schemas.microsoft.com/office/drawing/2014/main" val="10006"/>
                  </a:ext>
                </a:extLst>
              </a:tr>
              <a:tr h="347472">
                <a:tc>
                  <a:txBody>
                    <a:bodyPr/>
                    <a:lstStyle/>
                    <a:p>
                      <a:pPr algn="l"/>
                      <a:r>
                        <a:rPr sz="1200" b="0">
                          <a:solidFill>
                            <a:srgbClr val="2C3E50"/>
                          </a:solidFill>
                          <a:latin typeface="Calibri"/>
                          <a:ea typeface="微软雅黑"/>
                          <a:cs typeface="Calibri"/>
                        </a:rPr>
                        <a:t>Milli-Q</a:t>
                      </a:r>
                    </a:p>
                  </a:txBody>
                  <a:tcPr anchor="ctr">
                    <a:solidFill>
                      <a:srgbClr val="FFFFFF"/>
                    </a:solidFill>
                  </a:tcPr>
                </a:tc>
                <a:tc>
                  <a:txBody>
                    <a:bodyPr/>
                    <a:lstStyle/>
                    <a:p>
                      <a:pPr algn="l"/>
                      <a:r>
                        <a:rPr sz="1200" b="0">
                          <a:solidFill>
                            <a:srgbClr val="2C3E50"/>
                          </a:solidFill>
                          <a:latin typeface="Calibri"/>
                          <a:ea typeface="微软雅黑"/>
                          <a:cs typeface="Calibri"/>
                        </a:rPr>
                        <a:t>Undersink</a:t>
                      </a:r>
                    </a:p>
                  </a:txBody>
                  <a:tcPr anchor="ctr">
                    <a:solidFill>
                      <a:srgbClr val="FFFFFF"/>
                    </a:solidFill>
                  </a:tcPr>
                </a:tc>
                <a:tc>
                  <a:txBody>
                    <a:bodyPr/>
                    <a:lstStyle/>
                    <a:p>
                      <a:pPr algn="l"/>
                      <a:r>
                        <a:rPr sz="1200" b="0">
                          <a:solidFill>
                            <a:srgbClr val="2C3E50"/>
                          </a:solidFill>
                          <a:latin typeface="Calibri"/>
                          <a:ea typeface="微软雅黑"/>
                          <a:cs typeface="Calibri"/>
                        </a:rPr>
                        <a:t>Millipore</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£20,000</a:t>
                      </a:r>
                    </a:p>
                  </a:txBody>
                  <a:tcPr anchor="ctr">
                    <a:solidFill>
                      <a:srgbClr val="FFFFFF"/>
                    </a:solidFill>
                  </a:tcPr>
                </a:tc>
                <a:tc>
                  <a:txBody>
                    <a:bodyPr/>
                    <a:lstStyle/>
                    <a:p>
                      <a:pPr algn="r"/>
                      <a:r>
                        <a:rPr sz="1200" b="1">
                          <a:solidFill>
                            <a:srgbClr val="2C3E50"/>
                          </a:solidFill>
                          <a:latin typeface="Calibri"/>
                          <a:ea typeface="微软雅黑"/>
                          <a:cs typeface="Calibri"/>
                        </a:rPr>
                        <a:t>£20,000</a:t>
                      </a:r>
                    </a:p>
                  </a:txBody>
                  <a:tcPr anchor="ctr">
                    <a:solidFill>
                      <a:srgbClr val="FFFFFF"/>
                    </a:solidFill>
                  </a:tcPr>
                </a:tc>
                <a:extLst>
                  <a:ext uri="{0D108BD9-81ED-4DB2-BD59-A6C34878D82A}">
                    <a16:rowId xmlns:a16="http://schemas.microsoft.com/office/drawing/2014/main" val="10007"/>
                  </a:ext>
                </a:extLst>
              </a:tr>
              <a:tr h="347472">
                <a:tc>
                  <a:txBody>
                    <a:bodyPr/>
                    <a:lstStyle/>
                    <a:p>
                      <a:pPr algn="l"/>
                      <a:r>
                        <a:rPr sz="1200" b="0">
                          <a:solidFill>
                            <a:srgbClr val="2C3E50"/>
                          </a:solidFill>
                          <a:latin typeface="Calibri"/>
                          <a:ea typeface="微软雅黑"/>
                          <a:cs typeface="Calibri"/>
                        </a:rPr>
                        <a:t>Preparative HPLC</a:t>
                      </a:r>
                    </a:p>
                  </a:txBody>
                  <a:tcPr anchor="ctr">
                    <a:solidFill>
                      <a:srgbClr val="F6F8FA"/>
                    </a:solidFill>
                  </a:tcPr>
                </a:tc>
                <a:tc>
                  <a:txBody>
                    <a:bodyPr/>
                    <a:lstStyle/>
                    <a:p>
                      <a:pPr algn="l"/>
                      <a:r>
                        <a:rPr sz="1200" b="0">
                          <a:solidFill>
                            <a:srgbClr val="2C3E50"/>
                          </a:solidFill>
                          <a:latin typeface="Calibri"/>
                          <a:ea typeface="微软雅黑"/>
                          <a:cs typeface="Calibri"/>
                        </a:rPr>
                        <a:t>Large Fumehood</a:t>
                      </a:r>
                    </a:p>
                  </a:txBody>
                  <a:tcPr anchor="ctr">
                    <a:solidFill>
                      <a:srgbClr val="F6F8FA"/>
                    </a:solidFill>
                  </a:tcPr>
                </a:tc>
                <a:tc>
                  <a:txBody>
                    <a:bodyPr/>
                    <a:lstStyle/>
                    <a:p>
                      <a:pPr algn="l"/>
                      <a:r>
                        <a:rPr sz="1200" b="0">
                          <a:solidFill>
                            <a:srgbClr val="2C3E50"/>
                          </a:solidFill>
                          <a:latin typeface="Calibri"/>
                          <a:ea typeface="微软雅黑"/>
                          <a:cs typeface="Calibri"/>
                        </a:rPr>
                        <a:t>Hanbon (China)</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C9A227"/>
                          </a:solidFill>
                          <a:latin typeface="Calibri"/>
                          <a:ea typeface="微软雅黑"/>
                          <a:cs typeface="Calibri"/>
                        </a:rPr>
                        <a:t>Phase 2</a:t>
                      </a:r>
                    </a:p>
                  </a:txBody>
                  <a:tcPr anchor="ctr">
                    <a:solidFill>
                      <a:srgbClr val="F6F8FA"/>
                    </a:solidFill>
                  </a:tcPr>
                </a:tc>
                <a:tc>
                  <a:txBody>
                    <a:bodyPr/>
                    <a:lstStyle/>
                    <a:p>
                      <a:pPr algn="r"/>
                      <a:r>
                        <a:rPr sz="1200" b="1">
                          <a:solidFill>
                            <a:srgbClr val="2C3E50"/>
                          </a:solidFill>
                          <a:latin typeface="Calibri"/>
                          <a:ea typeface="微软雅黑"/>
                          <a:cs typeface="Calibri"/>
                        </a:rPr>
                        <a:t>£70,000</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extLst>
                  <a:ext uri="{0D108BD9-81ED-4DB2-BD59-A6C34878D82A}">
                    <a16:rowId xmlns:a16="http://schemas.microsoft.com/office/drawing/2014/main" val="10008"/>
                  </a:ext>
                </a:extLst>
              </a:tr>
              <a:tr h="347472">
                <a:tc>
                  <a:txBody>
                    <a:bodyPr/>
                    <a:lstStyle/>
                    <a:p>
                      <a:pPr algn="l"/>
                      <a:r>
                        <a:rPr sz="1200" b="0">
                          <a:solidFill>
                            <a:srgbClr val="2C3E50"/>
                          </a:solidFill>
                          <a:latin typeface="Calibri"/>
                          <a:ea typeface="微软雅黑"/>
                          <a:cs typeface="Calibri"/>
                        </a:rPr>
                        <a:t>pH meter</a:t>
                      </a:r>
                    </a:p>
                  </a:txBody>
                  <a:tcPr anchor="ctr">
                    <a:solidFill>
                      <a:srgbClr val="FFFFFF"/>
                    </a:solidFill>
                  </a:tcPr>
                </a:tc>
                <a:tc>
                  <a:txBody>
                    <a:bodyPr/>
                    <a:lstStyle/>
                    <a:p>
                      <a:pPr algn="l"/>
                      <a:r>
                        <a:rPr sz="1200" b="0">
                          <a:solidFill>
                            <a:srgbClr val="2C3E50"/>
                          </a:solidFill>
                          <a:latin typeface="Calibri"/>
                          <a:ea typeface="微软雅黑"/>
                          <a:cs typeface="Calibri"/>
                        </a:rPr>
                        <a:t>Fumhood</a:t>
                      </a:r>
                    </a:p>
                  </a:txBody>
                  <a:tcPr anchor="ctr">
                    <a:solidFill>
                      <a:srgbClr val="FFFFFF"/>
                    </a:solidFill>
                  </a:tcPr>
                </a:tc>
                <a:tc>
                  <a:txBody>
                    <a:bodyPr/>
                    <a:lstStyle/>
                    <a:p>
                      <a:pPr algn="l"/>
                      <a:r>
                        <a:rPr sz="1200" b="0">
                          <a:solidFill>
                            <a:srgbClr val="2C3E50"/>
                          </a:solidFill>
                          <a:latin typeface="Calibri"/>
                          <a:ea typeface="微软雅黑"/>
                          <a:cs typeface="Calibri"/>
                        </a:rPr>
                        <a:t>Mettler Toledo</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£20,000</a:t>
                      </a:r>
                    </a:p>
                  </a:txBody>
                  <a:tcPr anchor="ctr">
                    <a:solidFill>
                      <a:srgbClr val="FFFFFF"/>
                    </a:solidFill>
                  </a:tcPr>
                </a:tc>
                <a:tc>
                  <a:txBody>
                    <a:bodyPr/>
                    <a:lstStyle/>
                    <a:p>
                      <a:pPr algn="r"/>
                      <a:r>
                        <a:rPr sz="1200" b="1">
                          <a:solidFill>
                            <a:srgbClr val="2C3E50"/>
                          </a:solidFill>
                          <a:latin typeface="Calibri"/>
                          <a:ea typeface="微软雅黑"/>
                          <a:cs typeface="Calibri"/>
                        </a:rPr>
                        <a:t>£20,000</a:t>
                      </a:r>
                    </a:p>
                  </a:txBody>
                  <a:tcPr anchor="ctr">
                    <a:solidFill>
                      <a:srgbClr val="FFFFFF"/>
                    </a:solidFill>
                  </a:tcPr>
                </a:tc>
                <a:extLst>
                  <a:ext uri="{0D108BD9-81ED-4DB2-BD59-A6C34878D82A}">
                    <a16:rowId xmlns:a16="http://schemas.microsoft.com/office/drawing/2014/main" val="10009"/>
                  </a:ext>
                </a:extLst>
              </a:tr>
              <a:tr h="347472">
                <a:tc>
                  <a:txBody>
                    <a:bodyPr/>
                    <a:lstStyle/>
                    <a:p>
                      <a:pPr algn="l"/>
                      <a:r>
                        <a:rPr sz="1200" b="0">
                          <a:solidFill>
                            <a:srgbClr val="2C3E50"/>
                          </a:solidFill>
                          <a:latin typeface="Calibri"/>
                          <a:ea typeface="微软雅黑"/>
                          <a:cs typeface="Calibri"/>
                        </a:rPr>
                        <a:t>SFC</a:t>
                      </a:r>
                    </a:p>
                  </a:txBody>
                  <a:tcPr anchor="ctr">
                    <a:solidFill>
                      <a:srgbClr val="F6F8FA"/>
                    </a:solidFill>
                  </a:tcPr>
                </a:tc>
                <a:tc>
                  <a:txBody>
                    <a:bodyPr/>
                    <a:lstStyle/>
                    <a:p>
                      <a:pPr algn="l"/>
                      <a:r>
                        <a:rPr sz="1200" b="0">
                          <a:solidFill>
                            <a:srgbClr val="2C3E50"/>
                          </a:solidFill>
                          <a:latin typeface="Calibri"/>
                          <a:ea typeface="微软雅黑"/>
                          <a:cs typeface="Calibri"/>
                        </a:rPr>
                        <a:t>Bench top</a:t>
                      </a:r>
                    </a:p>
                  </a:txBody>
                  <a:tcPr anchor="ctr">
                    <a:solidFill>
                      <a:srgbClr val="F6F8FA"/>
                    </a:solidFill>
                  </a:tcPr>
                </a:tc>
                <a:tc>
                  <a:txBody>
                    <a:bodyPr/>
                    <a:lstStyle/>
                    <a:p>
                      <a:pPr algn="l"/>
                      <a:r>
                        <a:rPr sz="1200" b="0">
                          <a:solidFill>
                            <a:srgbClr val="2C3E50"/>
                          </a:solidFill>
                          <a:latin typeface="Calibri"/>
                          <a:ea typeface="微软雅黑"/>
                          <a:cs typeface="Calibri"/>
                        </a:rPr>
                        <a:t>Waters</a:t>
                      </a:r>
                    </a:p>
                  </a:txBody>
                  <a:tcPr anchor="ctr">
                    <a:solidFill>
                      <a:srgbClr val="F6F8FA"/>
                    </a:solidFill>
                  </a:tcPr>
                </a:tc>
                <a:tc>
                  <a:txBody>
                    <a:bodyPr/>
                    <a:lstStyle/>
                    <a:p>
                      <a:pPr algn="ctr"/>
                      <a:r>
                        <a:rPr sz="1200" b="1">
                          <a:solidFill>
                            <a:srgbClr val="5A6A7A"/>
                          </a:solidFill>
                          <a:latin typeface="Calibri"/>
                          <a:ea typeface="微软雅黑"/>
                          <a:cs typeface="Calibri"/>
                        </a:rPr>
                        <a:t>Existing</a:t>
                      </a:r>
                    </a:p>
                  </a:txBody>
                  <a:tcPr anchor="ctr">
                    <a:solidFill>
                      <a:srgbClr val="F6F8FA"/>
                    </a:solidFill>
                  </a:tcPr>
                </a:tc>
                <a:tc>
                  <a:txBody>
                    <a:bodyPr/>
                    <a:lstStyle/>
                    <a:p>
                      <a:pPr algn="ctr"/>
                      <a:r>
                        <a:rPr sz="1200" b="1">
                          <a:solidFill>
                            <a:srgbClr val="C9A227"/>
                          </a:solidFill>
                          <a:latin typeface="Calibri"/>
                          <a:ea typeface="微软雅黑"/>
                          <a:cs typeface="Calibri"/>
                        </a:rPr>
                        <a:t>Phase 2</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extLst>
                  <a:ext uri="{0D108BD9-81ED-4DB2-BD59-A6C34878D82A}">
                    <a16:rowId xmlns:a16="http://schemas.microsoft.com/office/drawing/2014/main" val="10010"/>
                  </a:ext>
                </a:extLst>
              </a:tr>
              <a:tr h="347472">
                <a:tc>
                  <a:txBody>
                    <a:bodyPr/>
                    <a:lstStyle/>
                    <a:p>
                      <a:pPr algn="l"/>
                      <a:r>
                        <a:rPr sz="1200" b="0">
                          <a:solidFill>
                            <a:srgbClr val="2C3E50"/>
                          </a:solidFill>
                          <a:latin typeface="Calibri"/>
                          <a:ea typeface="微软雅黑"/>
                          <a:cs typeface="Calibri"/>
                        </a:rPr>
                        <a:t>GC</a:t>
                      </a:r>
                    </a:p>
                  </a:txBody>
                  <a:tcPr anchor="ctr">
                    <a:solidFill>
                      <a:srgbClr val="FFFFFF"/>
                    </a:solidFill>
                  </a:tcPr>
                </a:tc>
                <a:tc>
                  <a:txBody>
                    <a:bodyPr/>
                    <a:lstStyle/>
                    <a:p>
                      <a:pPr algn="l"/>
                      <a:r>
                        <a:rPr sz="1200" b="0">
                          <a:solidFill>
                            <a:srgbClr val="2C3E50"/>
                          </a:solidFill>
                          <a:latin typeface="Calibri"/>
                          <a:ea typeface="微软雅黑"/>
                          <a:cs typeface="Calibri"/>
                        </a:rPr>
                        <a:t>Bench top</a:t>
                      </a:r>
                    </a:p>
                  </a:txBody>
                  <a:tcPr anchor="ctr">
                    <a:solidFill>
                      <a:srgbClr val="FFFFFF"/>
                    </a:solidFill>
                  </a:tcPr>
                </a:tc>
                <a:tc>
                  <a:txBody>
                    <a:bodyPr/>
                    <a:lstStyle/>
                    <a:p>
                      <a:pPr algn="l"/>
                      <a:r>
                        <a:rPr sz="1200" b="0">
                          <a:solidFill>
                            <a:srgbClr val="2C3E50"/>
                          </a:solidFill>
                          <a:latin typeface="Calibri"/>
                          <a:ea typeface="微软雅黑"/>
                          <a:cs typeface="Calibri"/>
                        </a:rPr>
                        <a:t>Aglient</a:t>
                      </a:r>
                    </a:p>
                  </a:txBody>
                  <a:tcPr anchor="ctr">
                    <a:solidFill>
                      <a:srgbClr val="FFFFFF"/>
                    </a:solidFill>
                  </a:tcPr>
                </a:tc>
                <a:tc>
                  <a:txBody>
                    <a:bodyPr/>
                    <a:lstStyle/>
                    <a:p>
                      <a:pPr algn="ctr"/>
                      <a:r>
                        <a:rPr sz="1200" b="1">
                          <a:solidFill>
                            <a:srgbClr val="5A6A7A"/>
                          </a:solidFill>
                          <a:latin typeface="Calibri"/>
                          <a:ea typeface="微软雅黑"/>
                          <a:cs typeface="Calibri"/>
                        </a:rPr>
                        <a:t>Existing</a:t>
                      </a:r>
                    </a:p>
                  </a:txBody>
                  <a:tcPr anchor="ctr">
                    <a:solidFill>
                      <a:srgbClr val="FFFFFF"/>
                    </a:solidFill>
                  </a:tcPr>
                </a:tc>
                <a:tc>
                  <a:txBody>
                    <a:bodyPr/>
                    <a:lstStyle/>
                    <a:p>
                      <a:pPr algn="ctr"/>
                      <a:r>
                        <a:rPr sz="1200" b="1">
                          <a:solidFill>
                            <a:srgbClr val="C9A227"/>
                          </a:solidFill>
                          <a:latin typeface="Calibri"/>
                          <a:ea typeface="微软雅黑"/>
                          <a:cs typeface="Calibri"/>
                        </a:rPr>
                        <a:t>Phase 2</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extLst>
                  <a:ext uri="{0D108BD9-81ED-4DB2-BD59-A6C34878D82A}">
                    <a16:rowId xmlns:a16="http://schemas.microsoft.com/office/drawing/2014/main" val="10011"/>
                  </a:ext>
                </a:extLst>
              </a:tr>
              <a:tr h="347472">
                <a:tc>
                  <a:txBody>
                    <a:bodyPr/>
                    <a:lstStyle/>
                    <a:p>
                      <a:pPr algn="l"/>
                      <a:r>
                        <a:rPr sz="1200" b="0">
                          <a:solidFill>
                            <a:srgbClr val="2C3E50"/>
                          </a:solidFill>
                          <a:latin typeface="Calibri"/>
                          <a:ea typeface="微软雅黑"/>
                          <a:cs typeface="Calibri"/>
                        </a:rPr>
                        <a:t>Mass spectrometer</a:t>
                      </a:r>
                    </a:p>
                  </a:txBody>
                  <a:tcPr anchor="ctr">
                    <a:solidFill>
                      <a:srgbClr val="F6F8FA"/>
                    </a:solidFill>
                  </a:tcPr>
                </a:tc>
                <a:tc>
                  <a:txBody>
                    <a:bodyPr/>
                    <a:lstStyle/>
                    <a:p>
                      <a:pPr algn="l"/>
                      <a:r>
                        <a:rPr sz="1200" b="0">
                          <a:solidFill>
                            <a:srgbClr val="2C3E50"/>
                          </a:solidFill>
                          <a:latin typeface="Calibri"/>
                          <a:ea typeface="微软雅黑"/>
                          <a:cs typeface="Calibri"/>
                        </a:rPr>
                        <a:t>Bench top</a:t>
                      </a:r>
                    </a:p>
                  </a:txBody>
                  <a:tcPr anchor="ctr">
                    <a:solidFill>
                      <a:srgbClr val="F6F8FA"/>
                    </a:solidFill>
                  </a:tcPr>
                </a:tc>
                <a:tc>
                  <a:txBody>
                    <a:bodyPr/>
                    <a:lstStyle/>
                    <a:p>
                      <a:pPr algn="l"/>
                      <a:r>
                        <a:rPr sz="1200" b="0">
                          <a:solidFill>
                            <a:srgbClr val="2C3E50"/>
                          </a:solidFill>
                          <a:latin typeface="Calibri"/>
                          <a:ea typeface="微软雅黑"/>
                          <a:cs typeface="Calibri"/>
                        </a:rPr>
                        <a:t>Aglient</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1F7A6F"/>
                          </a:solidFill>
                          <a:latin typeface="Calibri"/>
                          <a:ea typeface="微软雅黑"/>
                          <a:cs typeface="Calibri"/>
                        </a:rPr>
                        <a:t>Phase 1</a:t>
                      </a:r>
                    </a:p>
                  </a:txBody>
                  <a:tcPr anchor="ctr">
                    <a:solidFill>
                      <a:srgbClr val="F6F8FA"/>
                    </a:solidFill>
                  </a:tcPr>
                </a:tc>
                <a:tc>
                  <a:txBody>
                    <a:bodyPr/>
                    <a:lstStyle/>
                    <a:p>
                      <a:pPr algn="r"/>
                      <a:r>
                        <a:rPr sz="1200" b="1">
                          <a:solidFill>
                            <a:srgbClr val="2C3E50"/>
                          </a:solidFill>
                          <a:latin typeface="Calibri"/>
                          <a:ea typeface="微软雅黑"/>
                          <a:cs typeface="Calibri"/>
                        </a:rPr>
                        <a:t>£140,000</a:t>
                      </a:r>
                    </a:p>
                  </a:txBody>
                  <a:tcPr anchor="ctr">
                    <a:solidFill>
                      <a:srgbClr val="F6F8FA"/>
                    </a:solidFill>
                  </a:tcPr>
                </a:tc>
                <a:tc>
                  <a:txBody>
                    <a:bodyPr/>
                    <a:lstStyle/>
                    <a:p>
                      <a:pPr algn="r"/>
                      <a:r>
                        <a:rPr sz="1200" b="1">
                          <a:solidFill>
                            <a:srgbClr val="2C3E50"/>
                          </a:solidFill>
                          <a:latin typeface="Calibri"/>
                          <a:ea typeface="微软雅黑"/>
                          <a:cs typeface="Calibri"/>
                        </a:rPr>
                        <a:t>£140,000</a:t>
                      </a:r>
                    </a:p>
                  </a:txBody>
                  <a:tcPr anchor="ctr">
                    <a:solidFill>
                      <a:srgbClr val="F6F8FA"/>
                    </a:solidFill>
                  </a:tcPr>
                </a:tc>
                <a:extLst>
                  <a:ext uri="{0D108BD9-81ED-4DB2-BD59-A6C34878D82A}">
                    <a16:rowId xmlns:a16="http://schemas.microsoft.com/office/drawing/2014/main" val="10012"/>
                  </a:ext>
                </a:extLst>
              </a:tr>
              <a:tr h="347472">
                <a:tc>
                  <a:txBody>
                    <a:bodyPr/>
                    <a:lstStyle/>
                    <a:p>
                      <a:pPr algn="l"/>
                      <a:r>
                        <a:rPr sz="1200" b="0">
                          <a:solidFill>
                            <a:srgbClr val="2C3E50"/>
                          </a:solidFill>
                          <a:latin typeface="Calibri"/>
                          <a:ea typeface="微软雅黑"/>
                          <a:cs typeface="Calibri"/>
                        </a:rPr>
                        <a:t>Coulometric KF</a:t>
                      </a:r>
                    </a:p>
                  </a:txBody>
                  <a:tcPr anchor="ctr">
                    <a:solidFill>
                      <a:srgbClr val="FFFFFF"/>
                    </a:solidFill>
                  </a:tcPr>
                </a:tc>
                <a:tc>
                  <a:txBody>
                    <a:bodyPr/>
                    <a:lstStyle/>
                    <a:p>
                      <a:pPr algn="l"/>
                      <a:r>
                        <a:rPr sz="1200" b="0">
                          <a:solidFill>
                            <a:srgbClr val="2C3E50"/>
                          </a:solidFill>
                          <a:latin typeface="Calibri"/>
                          <a:ea typeface="微软雅黑"/>
                          <a:cs typeface="Calibri"/>
                        </a:rPr>
                        <a:t>Fumehood</a:t>
                      </a:r>
                    </a:p>
                  </a:txBody>
                  <a:tcPr anchor="ctr">
                    <a:solidFill>
                      <a:srgbClr val="FFFFFF"/>
                    </a:solidFill>
                  </a:tcPr>
                </a:tc>
                <a:tc>
                  <a:txBody>
                    <a:bodyPr/>
                    <a:lstStyle/>
                    <a:p>
                      <a:pPr algn="l"/>
                      <a:r>
                        <a:rPr sz="1200" b="0">
                          <a:solidFill>
                            <a:srgbClr val="2C3E50"/>
                          </a:solidFill>
                          <a:latin typeface="Calibri"/>
                          <a:ea typeface="微软雅黑"/>
                          <a:cs typeface="Calibri"/>
                        </a:rPr>
                        <a:t>Metrohm</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£45,000</a:t>
                      </a:r>
                    </a:p>
                  </a:txBody>
                  <a:tcPr anchor="ctr">
                    <a:solidFill>
                      <a:srgbClr val="FFFFFF"/>
                    </a:solidFill>
                  </a:tcPr>
                </a:tc>
                <a:tc>
                  <a:txBody>
                    <a:bodyPr/>
                    <a:lstStyle/>
                    <a:p>
                      <a:pPr algn="r"/>
                      <a:r>
                        <a:rPr sz="1200" b="1">
                          <a:solidFill>
                            <a:srgbClr val="2C3E50"/>
                          </a:solidFill>
                          <a:latin typeface="Calibri"/>
                          <a:ea typeface="微软雅黑"/>
                          <a:cs typeface="Calibri"/>
                        </a:rPr>
                        <a:t>£45,000</a:t>
                      </a:r>
                    </a:p>
                  </a:txBody>
                  <a:tcPr anchor="ctr">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25 / 31</a:t>
            </a:r>
          </a:p>
        </p:txBody>
      </p:sp>
      <p:sp>
        <p:nvSpPr>
          <p:cNvPr id="10" name="Rectangle 9"/>
          <p:cNvSpPr/>
          <p:nvPr/>
        </p:nvSpPr>
        <p:spPr>
          <a:xfrm>
            <a:off x="384048" y="164592"/>
            <a:ext cx="82296" cy="71323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Equipment supplied and installed by the owner (Asymchem)</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Instruments inside isolators</a:t>
            </a:r>
          </a:p>
        </p:txBody>
      </p:sp>
      <p:sp>
        <p:nvSpPr>
          <p:cNvPr id="13" name="Rounded Rectangle 12"/>
          <p:cNvSpPr/>
          <p:nvPr/>
        </p:nvSpPr>
        <p:spPr>
          <a:xfrm>
            <a:off x="384048" y="1005840"/>
            <a:ext cx="11423599" cy="420624"/>
          </a:xfrm>
          <a:prstGeom prst="roundRect">
            <a:avLst>
              <a:gd name="adj" fmla="val 8000"/>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216" y="1060704"/>
            <a:ext cx="6766560" cy="310896"/>
          </a:xfrm>
          <a:prstGeom prst="rect">
            <a:avLst/>
          </a:prstGeom>
          <a:noFill/>
        </p:spPr>
        <p:txBody>
          <a:bodyPr wrap="square" anchor="t">
            <a:spAutoFit/>
          </a:bodyPr>
          <a:lstStyle/>
          <a:p>
            <a:pPr algn="l"/>
            <a:r>
              <a:rPr sz="1400" b="1">
                <a:solidFill>
                  <a:srgbClr val="FFFFFF"/>
                </a:solidFill>
                <a:latin typeface="Calibri"/>
                <a:ea typeface="微软雅黑"/>
                <a:cs typeface="Calibri"/>
              </a:rPr>
              <a:t>This group, to purchase £383,345  ·  Phase 1 £175,345</a:t>
            </a:r>
          </a:p>
        </p:txBody>
      </p:sp>
      <p:sp>
        <p:nvSpPr>
          <p:cNvPr id="15" name="TextBox 14"/>
          <p:cNvSpPr txBox="1"/>
          <p:nvPr/>
        </p:nvSpPr>
        <p:spPr>
          <a:xfrm>
            <a:off x="7333488" y="1060704"/>
            <a:ext cx="4206240" cy="310896"/>
          </a:xfrm>
          <a:prstGeom prst="rect">
            <a:avLst/>
          </a:prstGeom>
          <a:noFill/>
        </p:spPr>
        <p:txBody>
          <a:bodyPr wrap="square" anchor="t">
            <a:spAutoFit/>
          </a:bodyPr>
          <a:lstStyle/>
          <a:p>
            <a:pPr algn="r"/>
            <a:r>
              <a:rPr sz="1500" b="1">
                <a:solidFill>
                  <a:srgbClr val="FFFFFF"/>
                </a:solidFill>
                <a:latin typeface="Calibri"/>
                <a:ea typeface="微软雅黑"/>
                <a:cs typeface="Calibri"/>
              </a:rPr>
              <a:t>Phase 1 total £963,445</a:t>
            </a:r>
          </a:p>
        </p:txBody>
      </p:sp>
      <p:graphicFrame>
        <p:nvGraphicFramePr>
          <p:cNvPr id="16" name="Table 15"/>
          <p:cNvGraphicFramePr>
            <a:graphicFrameLocks noGrp="1"/>
          </p:cNvGraphicFramePr>
          <p:nvPr/>
        </p:nvGraphicFramePr>
        <p:xfrm>
          <a:off x="384048" y="1536192"/>
          <a:ext cx="11368735" cy="3822192"/>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gridCol w="1630375">
                  <a:extLst>
                    <a:ext uri="{9D8B030D-6E8A-4147-A177-3AD203B41FA5}">
                      <a16:colId xmlns:a16="http://schemas.microsoft.com/office/drawing/2014/main" val="20006"/>
                    </a:ext>
                  </a:extLst>
                </a:gridCol>
              </a:tblGrid>
              <a:tr h="347472">
                <a:tc>
                  <a:txBody>
                    <a:bodyPr/>
                    <a:lstStyle/>
                    <a:p>
                      <a:pPr algn="l"/>
                      <a:r>
                        <a:rPr sz="1100" b="1">
                          <a:solidFill>
                            <a:srgbClr val="FFFFFF"/>
                          </a:solidFill>
                          <a:latin typeface="Calibri"/>
                          <a:ea typeface="微软雅黑"/>
                          <a:cs typeface="Calibri"/>
                        </a:rPr>
                        <a:t>Item</a:t>
                      </a:r>
                    </a:p>
                  </a:txBody>
                  <a:tcPr anchor="ctr">
                    <a:solidFill>
                      <a:srgbClr val="0F2B46"/>
                    </a:solidFill>
                  </a:tcPr>
                </a:tc>
                <a:tc>
                  <a:txBody>
                    <a:bodyPr/>
                    <a:lstStyle/>
                    <a:p>
                      <a:pPr algn="l"/>
                      <a:r>
                        <a:rPr sz="1100" b="1">
                          <a:solidFill>
                            <a:srgbClr val="FFFFFF"/>
                          </a:solidFill>
                          <a:latin typeface="Calibri"/>
                          <a:ea typeface="微软雅黑"/>
                          <a:cs typeface="Calibri"/>
                        </a:rPr>
                        <a:t>Location</a:t>
                      </a:r>
                    </a:p>
                  </a:txBody>
                  <a:tcPr anchor="ctr">
                    <a:solidFill>
                      <a:srgbClr val="0F2B46"/>
                    </a:solidFill>
                  </a:tcPr>
                </a:tc>
                <a:tc>
                  <a:txBody>
                    <a:bodyPr/>
                    <a:lstStyle/>
                    <a:p>
                      <a:pPr algn="l"/>
                      <a:r>
                        <a:rPr sz="1100" b="1">
                          <a:solidFill>
                            <a:srgbClr val="FFFFFF"/>
                          </a:solidFill>
                          <a:latin typeface="Calibri"/>
                          <a:ea typeface="微软雅黑"/>
                          <a:cs typeface="Calibri"/>
                        </a:rPr>
                        <a:t>Manufacturer</a:t>
                      </a:r>
                    </a:p>
                  </a:txBody>
                  <a:tcPr anchor="ctr">
                    <a:solidFill>
                      <a:srgbClr val="0F2B46"/>
                    </a:solidFill>
                  </a:tcPr>
                </a:tc>
                <a:tc>
                  <a:txBody>
                    <a:bodyPr/>
                    <a:lstStyle/>
                    <a:p>
                      <a:pPr algn="ctr"/>
                      <a:r>
                        <a:rPr sz="1100" b="1">
                          <a:solidFill>
                            <a:srgbClr val="FFFFFF"/>
                          </a:solidFill>
                          <a:latin typeface="Calibri"/>
                          <a:ea typeface="微软雅黑"/>
                          <a:cs typeface="Calibri"/>
                        </a:rPr>
                        <a:t>New / existing</a:t>
                      </a:r>
                    </a:p>
                  </a:txBody>
                  <a:tcPr anchor="ctr">
                    <a:solidFill>
                      <a:srgbClr val="0F2B46"/>
                    </a:solidFill>
                  </a:tcPr>
                </a:tc>
                <a:tc>
                  <a:txBody>
                    <a:bodyPr/>
                    <a:lstStyle/>
                    <a:p>
                      <a:pPr algn="ctr"/>
                      <a:r>
                        <a:rPr sz="1100" b="1">
                          <a:solidFill>
                            <a:srgbClr val="FFFFFF"/>
                          </a:solidFill>
                          <a:latin typeface="Calibri"/>
                          <a:ea typeface="微软雅黑"/>
                          <a:cs typeface="Calibri"/>
                        </a:rPr>
                        <a:t>Phase</a:t>
                      </a:r>
                    </a:p>
                  </a:txBody>
                  <a:tcPr anchor="ctr">
                    <a:solidFill>
                      <a:srgbClr val="0F2B46"/>
                    </a:solidFill>
                  </a:tcPr>
                </a:tc>
                <a:tc>
                  <a:txBody>
                    <a:bodyPr/>
                    <a:lstStyle/>
                    <a:p>
                      <a:pPr algn="r"/>
                      <a:r>
                        <a:rPr sz="1100" b="1">
                          <a:solidFill>
                            <a:srgbClr val="FFFFFF"/>
                          </a:solidFill>
                          <a:latin typeface="Calibri"/>
                          <a:ea typeface="微软雅黑"/>
                          <a:cs typeface="Calibri"/>
                        </a:rPr>
                        <a:t>To purchase</a:t>
                      </a:r>
                    </a:p>
                  </a:txBody>
                  <a:tcPr anchor="ctr">
                    <a:solidFill>
                      <a:srgbClr val="0F2B46"/>
                    </a:solidFill>
                  </a:tcPr>
                </a:tc>
                <a:tc>
                  <a:txBody>
                    <a:bodyPr/>
                    <a:lstStyle/>
                    <a:p>
                      <a:pPr algn="r"/>
                      <a:r>
                        <a:rPr sz="1100" b="1">
                          <a:solidFill>
                            <a:srgbClr val="FFFFFF"/>
                          </a:solidFill>
                          <a:latin typeface="Calibri"/>
                          <a:ea typeface="微软雅黑"/>
                          <a:cs typeface="Calibri"/>
                        </a:rPr>
                        <a:t>Phase 1</a:t>
                      </a:r>
                    </a:p>
                  </a:txBody>
                  <a:tcPr anchor="ctr">
                    <a:solidFill>
                      <a:srgbClr val="0F2B46"/>
                    </a:solidFill>
                  </a:tcPr>
                </a:tc>
                <a:extLst>
                  <a:ext uri="{0D108BD9-81ED-4DB2-BD59-A6C34878D82A}">
                    <a16:rowId xmlns:a16="http://schemas.microsoft.com/office/drawing/2014/main" val="10000"/>
                  </a:ext>
                </a:extLst>
              </a:tr>
              <a:tr h="347472">
                <a:tc>
                  <a:txBody>
                    <a:bodyPr/>
                    <a:lstStyle/>
                    <a:p>
                      <a:pPr algn="l"/>
                      <a:r>
                        <a:rPr sz="1200" b="0">
                          <a:solidFill>
                            <a:srgbClr val="2C3E50"/>
                          </a:solidFill>
                          <a:latin typeface="Calibri"/>
                          <a:ea typeface="微软雅黑"/>
                          <a:cs typeface="Calibri"/>
                        </a:rPr>
                        <a:t>Huber TC45 with immersion cooler</a:t>
                      </a:r>
                    </a:p>
                  </a:txBody>
                  <a:tcPr anchor="ctr">
                    <a:solidFill>
                      <a:srgbClr val="FFFFFF"/>
                    </a:solidFill>
                  </a:tcPr>
                </a:tc>
                <a:tc>
                  <a:txBody>
                    <a:bodyPr/>
                    <a:lstStyle/>
                    <a:p>
                      <a:pPr algn="l"/>
                      <a:r>
                        <a:rPr sz="1200" b="0">
                          <a:solidFill>
                            <a:srgbClr val="2C3E50"/>
                          </a:solidFill>
                          <a:latin typeface="Calibri"/>
                          <a:ea typeface="微软雅黑"/>
                          <a:cs typeface="Calibri"/>
                        </a:rPr>
                        <a:t>Under isolator 2</a:t>
                      </a:r>
                    </a:p>
                  </a:txBody>
                  <a:tcPr anchor="ctr">
                    <a:solidFill>
                      <a:srgbClr val="FFFFFF"/>
                    </a:solidFill>
                  </a:tcPr>
                </a:tc>
                <a:tc>
                  <a:txBody>
                    <a:bodyPr/>
                    <a:lstStyle/>
                    <a:p>
                      <a:pPr algn="l"/>
                      <a:r>
                        <a:rPr sz="1200" b="0">
                          <a:solidFill>
                            <a:srgbClr val="2C3E50"/>
                          </a:solidFill>
                          <a:latin typeface="Calibri"/>
                          <a:ea typeface="微软雅黑"/>
                          <a:cs typeface="Calibri"/>
                        </a:rPr>
                        <a:t>Huber</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£4,345</a:t>
                      </a:r>
                    </a:p>
                  </a:txBody>
                  <a:tcPr anchor="ctr">
                    <a:solidFill>
                      <a:srgbClr val="FFFFFF"/>
                    </a:solidFill>
                  </a:tcPr>
                </a:tc>
                <a:tc>
                  <a:txBody>
                    <a:bodyPr/>
                    <a:lstStyle/>
                    <a:p>
                      <a:pPr algn="r"/>
                      <a:r>
                        <a:rPr sz="1200" b="1">
                          <a:solidFill>
                            <a:srgbClr val="2C3E50"/>
                          </a:solidFill>
                          <a:latin typeface="Calibri"/>
                          <a:ea typeface="微软雅黑"/>
                          <a:cs typeface="Calibri"/>
                        </a:rPr>
                        <a:t>£4,345</a:t>
                      </a:r>
                    </a:p>
                  </a:txBody>
                  <a:tcPr anchor="ctr">
                    <a:solidFill>
                      <a:srgbClr val="FFFFFF"/>
                    </a:solidFill>
                  </a:tcPr>
                </a:tc>
                <a:extLst>
                  <a:ext uri="{0D108BD9-81ED-4DB2-BD59-A6C34878D82A}">
                    <a16:rowId xmlns:a16="http://schemas.microsoft.com/office/drawing/2014/main" val="10001"/>
                  </a:ext>
                </a:extLst>
              </a:tr>
              <a:tr h="347472">
                <a:tc>
                  <a:txBody>
                    <a:bodyPr/>
                    <a:lstStyle/>
                    <a:p>
                      <a:pPr algn="l"/>
                      <a:r>
                        <a:rPr sz="1200" b="0">
                          <a:solidFill>
                            <a:srgbClr val="2C3E50"/>
                          </a:solidFill>
                          <a:latin typeface="Calibri"/>
                          <a:ea typeface="微软雅黑"/>
                          <a:cs typeface="Calibri"/>
                        </a:rPr>
                        <a:t>Auto titrator</a:t>
                      </a:r>
                    </a:p>
                  </a:txBody>
                  <a:tcPr anchor="ctr">
                    <a:solidFill>
                      <a:srgbClr val="F6F8FA"/>
                    </a:solidFill>
                  </a:tcPr>
                </a:tc>
                <a:tc>
                  <a:txBody>
                    <a:bodyPr/>
                    <a:lstStyle/>
                    <a:p>
                      <a:pPr algn="l"/>
                      <a:r>
                        <a:rPr sz="1200" b="0">
                          <a:solidFill>
                            <a:srgbClr val="2C3E50"/>
                          </a:solidFill>
                          <a:latin typeface="Calibri"/>
                          <a:ea typeface="微软雅黑"/>
                          <a:cs typeface="Calibri"/>
                        </a:rPr>
                        <a:t>Isolator 1</a:t>
                      </a:r>
                    </a:p>
                  </a:txBody>
                  <a:tcPr anchor="ctr">
                    <a:solidFill>
                      <a:srgbClr val="F6F8FA"/>
                    </a:solidFill>
                  </a:tcPr>
                </a:tc>
                <a:tc>
                  <a:txBody>
                    <a:bodyPr/>
                    <a:lstStyle/>
                    <a:p>
                      <a:pPr algn="l"/>
                      <a:r>
                        <a:rPr sz="1200" b="0">
                          <a:solidFill>
                            <a:srgbClr val="2C3E50"/>
                          </a:solidFill>
                          <a:latin typeface="Calibri"/>
                          <a:ea typeface="微软雅黑"/>
                          <a:cs typeface="Calibri"/>
                        </a:rPr>
                        <a:t>Mettler Toledo</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C9A227"/>
                          </a:solidFill>
                          <a:latin typeface="Calibri"/>
                          <a:ea typeface="微软雅黑"/>
                          <a:cs typeface="Calibri"/>
                        </a:rPr>
                        <a:t>Phase 2</a:t>
                      </a:r>
                    </a:p>
                  </a:txBody>
                  <a:tcPr anchor="ctr">
                    <a:solidFill>
                      <a:srgbClr val="F6F8FA"/>
                    </a:solidFill>
                  </a:tcPr>
                </a:tc>
                <a:tc>
                  <a:txBody>
                    <a:bodyPr/>
                    <a:lstStyle/>
                    <a:p>
                      <a:pPr algn="r"/>
                      <a:r>
                        <a:rPr sz="1200" b="1">
                          <a:solidFill>
                            <a:srgbClr val="2C3E50"/>
                          </a:solidFill>
                          <a:latin typeface="Calibri"/>
                          <a:ea typeface="微软雅黑"/>
                          <a:cs typeface="Calibri"/>
                        </a:rPr>
                        <a:t>£30,000</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extLst>
                  <a:ext uri="{0D108BD9-81ED-4DB2-BD59-A6C34878D82A}">
                    <a16:rowId xmlns:a16="http://schemas.microsoft.com/office/drawing/2014/main" val="10002"/>
                  </a:ext>
                </a:extLst>
              </a:tr>
              <a:tr h="347472">
                <a:tc>
                  <a:txBody>
                    <a:bodyPr/>
                    <a:lstStyle/>
                    <a:p>
                      <a:pPr algn="l"/>
                      <a:r>
                        <a:rPr sz="1200" b="0">
                          <a:solidFill>
                            <a:srgbClr val="2C3E50"/>
                          </a:solidFill>
                          <a:latin typeface="Calibri"/>
                          <a:ea typeface="微软雅黑"/>
                          <a:cs typeface="Calibri"/>
                        </a:rPr>
                        <a:t>Benchtop powder X-ray diffractometer</a:t>
                      </a:r>
                    </a:p>
                  </a:txBody>
                  <a:tcPr anchor="ctr">
                    <a:solidFill>
                      <a:srgbClr val="FFFFFF"/>
                    </a:solidFill>
                  </a:tcPr>
                </a:tc>
                <a:tc>
                  <a:txBody>
                    <a:bodyPr/>
                    <a:lstStyle/>
                    <a:p>
                      <a:pPr algn="l"/>
                      <a:r>
                        <a:rPr sz="1200" b="0">
                          <a:solidFill>
                            <a:srgbClr val="2C3E50"/>
                          </a:solidFill>
                          <a:latin typeface="Calibri"/>
                          <a:ea typeface="微软雅黑"/>
                          <a:cs typeface="Calibri"/>
                        </a:rPr>
                        <a:t>Bench top</a:t>
                      </a:r>
                    </a:p>
                  </a:txBody>
                  <a:tcPr anchor="ctr">
                    <a:solidFill>
                      <a:srgbClr val="FFFFFF"/>
                    </a:solidFill>
                  </a:tcPr>
                </a:tc>
                <a:tc>
                  <a:txBody>
                    <a:bodyPr/>
                    <a:lstStyle/>
                    <a:p>
                      <a:pPr algn="l"/>
                      <a:r>
                        <a:rPr sz="1200" b="0">
                          <a:solidFill>
                            <a:srgbClr val="2C3E50"/>
                          </a:solidFill>
                          <a:latin typeface="Calibri"/>
                          <a:ea typeface="微软雅黑"/>
                          <a:cs typeface="Calibri"/>
                        </a:rPr>
                        <a:t>D2</a:t>
                      </a:r>
                    </a:p>
                  </a:txBody>
                  <a:tcPr anchor="ctr">
                    <a:solidFill>
                      <a:srgbClr val="FFFFFF"/>
                    </a:solidFill>
                  </a:tcPr>
                </a:tc>
                <a:tc>
                  <a:txBody>
                    <a:bodyPr/>
                    <a:lstStyle/>
                    <a:p>
                      <a:pPr algn="ctr"/>
                      <a:r>
                        <a:rPr sz="1200" b="1">
                          <a:solidFill>
                            <a:srgbClr val="5A6A7A"/>
                          </a:solidFill>
                          <a:latin typeface="Calibri"/>
                          <a:ea typeface="微软雅黑"/>
                          <a:cs typeface="Calibri"/>
                        </a:rPr>
                        <a:t>Existing</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extLst>
                  <a:ext uri="{0D108BD9-81ED-4DB2-BD59-A6C34878D82A}">
                    <a16:rowId xmlns:a16="http://schemas.microsoft.com/office/drawing/2014/main" val="10003"/>
                  </a:ext>
                </a:extLst>
              </a:tr>
              <a:tr h="347472">
                <a:tc>
                  <a:txBody>
                    <a:bodyPr/>
                    <a:lstStyle/>
                    <a:p>
                      <a:pPr algn="l"/>
                      <a:r>
                        <a:rPr sz="1200" b="0">
                          <a:solidFill>
                            <a:srgbClr val="2C3E50"/>
                          </a:solidFill>
                          <a:latin typeface="Calibri"/>
                          <a:ea typeface="微软雅黑"/>
                          <a:cs typeface="Calibri"/>
                        </a:rPr>
                        <a:t>Particle sizer</a:t>
                      </a:r>
                    </a:p>
                  </a:txBody>
                  <a:tcPr anchor="ctr">
                    <a:solidFill>
                      <a:srgbClr val="F6F8FA"/>
                    </a:solidFill>
                  </a:tcPr>
                </a:tc>
                <a:tc>
                  <a:txBody>
                    <a:bodyPr/>
                    <a:lstStyle/>
                    <a:p>
                      <a:pPr algn="l"/>
                      <a:r>
                        <a:rPr sz="1200" b="0">
                          <a:solidFill>
                            <a:srgbClr val="2C3E50"/>
                          </a:solidFill>
                          <a:latin typeface="Calibri"/>
                          <a:ea typeface="微软雅黑"/>
                          <a:cs typeface="Calibri"/>
                        </a:rPr>
                        <a:t>Isolator 5</a:t>
                      </a:r>
                    </a:p>
                  </a:txBody>
                  <a:tcPr anchor="ctr">
                    <a:solidFill>
                      <a:srgbClr val="F6F8FA"/>
                    </a:solidFill>
                  </a:tcPr>
                </a:tc>
                <a:tc>
                  <a:txBody>
                    <a:bodyPr/>
                    <a:lstStyle/>
                    <a:p>
                      <a:pPr algn="l"/>
                      <a:r>
                        <a:rPr sz="1200" b="0">
                          <a:solidFill>
                            <a:srgbClr val="2C3E50"/>
                          </a:solidFill>
                          <a:latin typeface="Calibri"/>
                          <a:ea typeface="微软雅黑"/>
                          <a:cs typeface="Calibri"/>
                        </a:rPr>
                        <a:t>Malvern</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C9A227"/>
                          </a:solidFill>
                          <a:latin typeface="Calibri"/>
                          <a:ea typeface="微软雅黑"/>
                          <a:cs typeface="Calibri"/>
                        </a:rPr>
                        <a:t>Phase 2</a:t>
                      </a:r>
                    </a:p>
                  </a:txBody>
                  <a:tcPr anchor="ctr">
                    <a:solidFill>
                      <a:srgbClr val="F6F8FA"/>
                    </a:solidFill>
                  </a:tcPr>
                </a:tc>
                <a:tc>
                  <a:txBody>
                    <a:bodyPr/>
                    <a:lstStyle/>
                    <a:p>
                      <a:pPr algn="r"/>
                      <a:r>
                        <a:rPr sz="1200" b="1">
                          <a:solidFill>
                            <a:srgbClr val="2C3E50"/>
                          </a:solidFill>
                          <a:latin typeface="Calibri"/>
                          <a:ea typeface="微软雅黑"/>
                          <a:cs typeface="Calibri"/>
                        </a:rPr>
                        <a:t>£160,000</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extLst>
                  <a:ext uri="{0D108BD9-81ED-4DB2-BD59-A6C34878D82A}">
                    <a16:rowId xmlns:a16="http://schemas.microsoft.com/office/drawing/2014/main" val="10004"/>
                  </a:ext>
                </a:extLst>
              </a:tr>
              <a:tr h="347472">
                <a:tc>
                  <a:txBody>
                    <a:bodyPr/>
                    <a:lstStyle/>
                    <a:p>
                      <a:pPr algn="l"/>
                      <a:r>
                        <a:rPr sz="1200" b="0">
                          <a:solidFill>
                            <a:srgbClr val="2C3E50"/>
                          </a:solidFill>
                          <a:latin typeface="Calibri"/>
                          <a:ea typeface="微软雅黑"/>
                          <a:cs typeface="Calibri"/>
                        </a:rPr>
                        <a:t>Analytical balance</a:t>
                      </a:r>
                    </a:p>
                  </a:txBody>
                  <a:tcPr anchor="ctr">
                    <a:solidFill>
                      <a:srgbClr val="FFFFFF"/>
                    </a:solidFill>
                  </a:tcPr>
                </a:tc>
                <a:tc>
                  <a:txBody>
                    <a:bodyPr/>
                    <a:lstStyle/>
                    <a:p>
                      <a:pPr algn="l"/>
                      <a:r>
                        <a:rPr sz="1200" b="0">
                          <a:solidFill>
                            <a:srgbClr val="2C3E50"/>
                          </a:solidFill>
                          <a:latin typeface="Calibri"/>
                          <a:ea typeface="微软雅黑"/>
                          <a:cs typeface="Calibri"/>
                        </a:rPr>
                        <a:t>Isolator 1</a:t>
                      </a:r>
                    </a:p>
                  </a:txBody>
                  <a:tcPr anchor="ctr">
                    <a:solidFill>
                      <a:srgbClr val="FFFFFF"/>
                    </a:solidFill>
                  </a:tcPr>
                </a:tc>
                <a:tc>
                  <a:txBody>
                    <a:bodyPr/>
                    <a:lstStyle/>
                    <a:p>
                      <a:pPr algn="l"/>
                      <a:r>
                        <a:rPr sz="1200" b="0">
                          <a:solidFill>
                            <a:srgbClr val="2C3E50"/>
                          </a:solidFill>
                          <a:latin typeface="Calibri"/>
                          <a:ea typeface="微软雅黑"/>
                          <a:cs typeface="Calibri"/>
                        </a:rPr>
                        <a:t>Mettler Toledo</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£20,000</a:t>
                      </a:r>
                    </a:p>
                  </a:txBody>
                  <a:tcPr anchor="ctr">
                    <a:solidFill>
                      <a:srgbClr val="FFFFFF"/>
                    </a:solidFill>
                  </a:tcPr>
                </a:tc>
                <a:tc>
                  <a:txBody>
                    <a:bodyPr/>
                    <a:lstStyle/>
                    <a:p>
                      <a:pPr algn="r"/>
                      <a:r>
                        <a:rPr sz="1200" b="1">
                          <a:solidFill>
                            <a:srgbClr val="2C3E50"/>
                          </a:solidFill>
                          <a:latin typeface="Calibri"/>
                          <a:ea typeface="微软雅黑"/>
                          <a:cs typeface="Calibri"/>
                        </a:rPr>
                        <a:t>£20,000</a:t>
                      </a:r>
                    </a:p>
                  </a:txBody>
                  <a:tcPr anchor="ctr">
                    <a:solidFill>
                      <a:srgbClr val="FFFFFF"/>
                    </a:solidFill>
                  </a:tcPr>
                </a:tc>
                <a:extLst>
                  <a:ext uri="{0D108BD9-81ED-4DB2-BD59-A6C34878D82A}">
                    <a16:rowId xmlns:a16="http://schemas.microsoft.com/office/drawing/2014/main" val="10005"/>
                  </a:ext>
                </a:extLst>
              </a:tr>
              <a:tr h="347472">
                <a:tc>
                  <a:txBody>
                    <a:bodyPr/>
                    <a:lstStyle/>
                    <a:p>
                      <a:pPr algn="l"/>
                      <a:r>
                        <a:rPr sz="1200" b="0">
                          <a:solidFill>
                            <a:srgbClr val="2C3E50"/>
                          </a:solidFill>
                          <a:latin typeface="Calibri"/>
                          <a:ea typeface="微软雅黑"/>
                          <a:cs typeface="Calibri"/>
                        </a:rPr>
                        <a:t>Microbalance</a:t>
                      </a:r>
                    </a:p>
                  </a:txBody>
                  <a:tcPr anchor="ctr">
                    <a:solidFill>
                      <a:srgbClr val="F6F8FA"/>
                    </a:solidFill>
                  </a:tcPr>
                </a:tc>
                <a:tc>
                  <a:txBody>
                    <a:bodyPr/>
                    <a:lstStyle/>
                    <a:p>
                      <a:pPr algn="l"/>
                      <a:r>
                        <a:rPr sz="1200" b="0">
                          <a:solidFill>
                            <a:srgbClr val="2C3E50"/>
                          </a:solidFill>
                          <a:latin typeface="Calibri"/>
                          <a:ea typeface="微软雅黑"/>
                          <a:cs typeface="Calibri"/>
                        </a:rPr>
                        <a:t>isolator 1</a:t>
                      </a:r>
                    </a:p>
                  </a:txBody>
                  <a:tcPr anchor="ctr">
                    <a:solidFill>
                      <a:srgbClr val="F6F8FA"/>
                    </a:solidFill>
                  </a:tcPr>
                </a:tc>
                <a:tc>
                  <a:txBody>
                    <a:bodyPr/>
                    <a:lstStyle/>
                    <a:p>
                      <a:pPr algn="l"/>
                      <a:r>
                        <a:rPr sz="1200" b="0">
                          <a:solidFill>
                            <a:srgbClr val="2C3E50"/>
                          </a:solidFill>
                          <a:latin typeface="Calibri"/>
                          <a:ea typeface="微软雅黑"/>
                          <a:cs typeface="Calibri"/>
                        </a:rPr>
                        <a:t>—</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1F7A6F"/>
                          </a:solidFill>
                          <a:latin typeface="Calibri"/>
                          <a:ea typeface="微软雅黑"/>
                          <a:cs typeface="Calibri"/>
                        </a:rPr>
                        <a:t>Phase 1</a:t>
                      </a:r>
                    </a:p>
                  </a:txBody>
                  <a:tcPr anchor="ctr">
                    <a:solidFill>
                      <a:srgbClr val="F6F8FA"/>
                    </a:solidFill>
                  </a:tcPr>
                </a:tc>
                <a:tc>
                  <a:txBody>
                    <a:bodyPr/>
                    <a:lstStyle/>
                    <a:p>
                      <a:pPr algn="r"/>
                      <a:r>
                        <a:rPr sz="1200" b="1">
                          <a:solidFill>
                            <a:srgbClr val="2C3E50"/>
                          </a:solidFill>
                          <a:latin typeface="Calibri"/>
                          <a:ea typeface="微软雅黑"/>
                          <a:cs typeface="Calibri"/>
                        </a:rPr>
                        <a:t>£25,000</a:t>
                      </a:r>
                    </a:p>
                  </a:txBody>
                  <a:tcPr anchor="ctr">
                    <a:solidFill>
                      <a:srgbClr val="F6F8FA"/>
                    </a:solidFill>
                  </a:tcPr>
                </a:tc>
                <a:tc>
                  <a:txBody>
                    <a:bodyPr/>
                    <a:lstStyle/>
                    <a:p>
                      <a:pPr algn="r"/>
                      <a:r>
                        <a:rPr sz="1200" b="1">
                          <a:solidFill>
                            <a:srgbClr val="2C3E50"/>
                          </a:solidFill>
                          <a:latin typeface="Calibri"/>
                          <a:ea typeface="微软雅黑"/>
                          <a:cs typeface="Calibri"/>
                        </a:rPr>
                        <a:t>£25,000</a:t>
                      </a:r>
                    </a:p>
                  </a:txBody>
                  <a:tcPr anchor="ctr">
                    <a:solidFill>
                      <a:srgbClr val="F6F8FA"/>
                    </a:solidFill>
                  </a:tcPr>
                </a:tc>
                <a:extLst>
                  <a:ext uri="{0D108BD9-81ED-4DB2-BD59-A6C34878D82A}">
                    <a16:rowId xmlns:a16="http://schemas.microsoft.com/office/drawing/2014/main" val="10006"/>
                  </a:ext>
                </a:extLst>
              </a:tr>
              <a:tr h="347472">
                <a:tc>
                  <a:txBody>
                    <a:bodyPr/>
                    <a:lstStyle/>
                    <a:p>
                      <a:pPr algn="l"/>
                      <a:r>
                        <a:rPr sz="1200" b="0">
                          <a:solidFill>
                            <a:srgbClr val="2C3E50"/>
                          </a:solidFill>
                          <a:latin typeface="Calibri"/>
                          <a:ea typeface="微软雅黑"/>
                          <a:cs typeface="Calibri"/>
                        </a:rPr>
                        <a:t>EasyMax reactor system</a:t>
                      </a:r>
                    </a:p>
                  </a:txBody>
                  <a:tcPr anchor="ctr">
                    <a:solidFill>
                      <a:srgbClr val="FFFFFF"/>
                    </a:solidFill>
                  </a:tcPr>
                </a:tc>
                <a:tc>
                  <a:txBody>
                    <a:bodyPr/>
                    <a:lstStyle/>
                    <a:p>
                      <a:pPr algn="l"/>
                      <a:r>
                        <a:rPr sz="1200" b="0">
                          <a:solidFill>
                            <a:srgbClr val="2C3E50"/>
                          </a:solidFill>
                          <a:latin typeface="Calibri"/>
                          <a:ea typeface="微软雅黑"/>
                          <a:cs typeface="Calibri"/>
                        </a:rPr>
                        <a:t>isolator 3</a:t>
                      </a:r>
                    </a:p>
                  </a:txBody>
                  <a:tcPr anchor="ctr">
                    <a:solidFill>
                      <a:srgbClr val="FFFFFF"/>
                    </a:solidFill>
                  </a:tcPr>
                </a:tc>
                <a:tc>
                  <a:txBody>
                    <a:bodyPr/>
                    <a:lstStyle/>
                    <a:p>
                      <a:pPr algn="l"/>
                      <a:r>
                        <a:rPr sz="1200" b="0">
                          <a:solidFill>
                            <a:srgbClr val="2C3E50"/>
                          </a:solidFill>
                          <a:latin typeface="Calibri"/>
                          <a:ea typeface="微软雅黑"/>
                          <a:cs typeface="Calibri"/>
                        </a:rPr>
                        <a:t>Mettler Toledo</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£80,000</a:t>
                      </a:r>
                    </a:p>
                  </a:txBody>
                  <a:tcPr anchor="ctr">
                    <a:solidFill>
                      <a:srgbClr val="FFFFFF"/>
                    </a:solidFill>
                  </a:tcPr>
                </a:tc>
                <a:tc>
                  <a:txBody>
                    <a:bodyPr/>
                    <a:lstStyle/>
                    <a:p>
                      <a:pPr algn="r"/>
                      <a:r>
                        <a:rPr sz="1200" b="1">
                          <a:solidFill>
                            <a:srgbClr val="2C3E50"/>
                          </a:solidFill>
                          <a:latin typeface="Calibri"/>
                          <a:ea typeface="微软雅黑"/>
                          <a:cs typeface="Calibri"/>
                        </a:rPr>
                        <a:t>£80,000</a:t>
                      </a:r>
                    </a:p>
                  </a:txBody>
                  <a:tcPr anchor="ctr">
                    <a:solidFill>
                      <a:srgbClr val="FFFFFF"/>
                    </a:solidFill>
                  </a:tcPr>
                </a:tc>
                <a:extLst>
                  <a:ext uri="{0D108BD9-81ED-4DB2-BD59-A6C34878D82A}">
                    <a16:rowId xmlns:a16="http://schemas.microsoft.com/office/drawing/2014/main" val="10007"/>
                  </a:ext>
                </a:extLst>
              </a:tr>
              <a:tr h="347472">
                <a:tc>
                  <a:txBody>
                    <a:bodyPr/>
                    <a:lstStyle/>
                    <a:p>
                      <a:pPr algn="l"/>
                      <a:r>
                        <a:rPr sz="1200" b="0">
                          <a:solidFill>
                            <a:srgbClr val="2C3E50"/>
                          </a:solidFill>
                          <a:latin typeface="Calibri"/>
                          <a:ea typeface="微软雅黑"/>
                          <a:cs typeface="Calibri"/>
                        </a:rPr>
                        <a:t>Chiller</a:t>
                      </a:r>
                    </a:p>
                  </a:txBody>
                  <a:tcPr anchor="ctr">
                    <a:solidFill>
                      <a:srgbClr val="F6F8FA"/>
                    </a:solidFill>
                  </a:tcPr>
                </a:tc>
                <a:tc>
                  <a:txBody>
                    <a:bodyPr/>
                    <a:lstStyle/>
                    <a:p>
                      <a:pPr algn="l"/>
                      <a:r>
                        <a:rPr sz="1200" b="0">
                          <a:solidFill>
                            <a:srgbClr val="2C3E50"/>
                          </a:solidFill>
                          <a:latin typeface="Calibri"/>
                          <a:ea typeface="微软雅黑"/>
                          <a:cs typeface="Calibri"/>
                        </a:rPr>
                        <a:t>under isolator 3</a:t>
                      </a:r>
                    </a:p>
                  </a:txBody>
                  <a:tcPr anchor="ctr">
                    <a:solidFill>
                      <a:srgbClr val="F6F8FA"/>
                    </a:solidFill>
                  </a:tcPr>
                </a:tc>
                <a:tc>
                  <a:txBody>
                    <a:bodyPr/>
                    <a:lstStyle/>
                    <a:p>
                      <a:pPr algn="l"/>
                      <a:r>
                        <a:rPr sz="1200" b="0">
                          <a:solidFill>
                            <a:srgbClr val="2C3E50"/>
                          </a:solidFill>
                          <a:latin typeface="Calibri"/>
                          <a:ea typeface="微软雅黑"/>
                          <a:cs typeface="Calibri"/>
                        </a:rPr>
                        <a:t>Julabo</a:t>
                      </a:r>
                    </a:p>
                  </a:txBody>
                  <a:tcPr anchor="ctr">
                    <a:solidFill>
                      <a:srgbClr val="F6F8FA"/>
                    </a:solidFill>
                  </a:tcPr>
                </a:tc>
                <a:tc>
                  <a:txBody>
                    <a:bodyPr/>
                    <a:lstStyle/>
                    <a:p>
                      <a:pPr algn="ctr"/>
                      <a:r>
                        <a:rPr sz="1200" b="1">
                          <a:solidFill>
                            <a:srgbClr val="5A6A7A"/>
                          </a:solidFill>
                          <a:latin typeface="Calibri"/>
                          <a:ea typeface="微软雅黑"/>
                          <a:cs typeface="Calibri"/>
                        </a:rPr>
                        <a:t>Existing</a:t>
                      </a:r>
                    </a:p>
                  </a:txBody>
                  <a:tcPr anchor="ctr">
                    <a:solidFill>
                      <a:srgbClr val="F6F8FA"/>
                    </a:solidFill>
                  </a:tcPr>
                </a:tc>
                <a:tc>
                  <a:txBody>
                    <a:bodyPr/>
                    <a:lstStyle/>
                    <a:p>
                      <a:pPr algn="ctr"/>
                      <a:r>
                        <a:rPr sz="1200" b="1">
                          <a:solidFill>
                            <a:srgbClr val="1F7A6F"/>
                          </a:solidFill>
                          <a:latin typeface="Calibri"/>
                          <a:ea typeface="微软雅黑"/>
                          <a:cs typeface="Calibri"/>
                        </a:rPr>
                        <a:t>Phase 1</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extLst>
                  <a:ext uri="{0D108BD9-81ED-4DB2-BD59-A6C34878D82A}">
                    <a16:rowId xmlns:a16="http://schemas.microsoft.com/office/drawing/2014/main" val="10008"/>
                  </a:ext>
                </a:extLst>
              </a:tr>
              <a:tr h="347472">
                <a:tc>
                  <a:txBody>
                    <a:bodyPr/>
                    <a:lstStyle/>
                    <a:p>
                      <a:pPr algn="l"/>
                      <a:r>
                        <a:rPr sz="1200" b="0">
                          <a:solidFill>
                            <a:srgbClr val="2C3E50"/>
                          </a:solidFill>
                          <a:latin typeface="Calibri"/>
                          <a:ea typeface="微软雅黑"/>
                          <a:cs typeface="Calibri"/>
                        </a:rPr>
                        <a:t>Drying oven</a:t>
                      </a:r>
                    </a:p>
                  </a:txBody>
                  <a:tcPr anchor="ctr">
                    <a:solidFill>
                      <a:srgbClr val="FFFFFF"/>
                    </a:solidFill>
                  </a:tcPr>
                </a:tc>
                <a:tc>
                  <a:txBody>
                    <a:bodyPr/>
                    <a:lstStyle/>
                    <a:p>
                      <a:pPr algn="l"/>
                      <a:r>
                        <a:rPr sz="1200" b="0">
                          <a:solidFill>
                            <a:srgbClr val="2C3E50"/>
                          </a:solidFill>
                          <a:latin typeface="Calibri"/>
                          <a:ea typeface="微软雅黑"/>
                          <a:cs typeface="Calibri"/>
                        </a:rPr>
                        <a:t>Isolator 4</a:t>
                      </a:r>
                    </a:p>
                  </a:txBody>
                  <a:tcPr anchor="ctr">
                    <a:solidFill>
                      <a:srgbClr val="FFFFFF"/>
                    </a:solidFill>
                  </a:tcPr>
                </a:tc>
                <a:tc>
                  <a:txBody>
                    <a:bodyPr/>
                    <a:lstStyle/>
                    <a:p>
                      <a:pPr algn="l"/>
                      <a:r>
                        <a:rPr sz="1200" b="0">
                          <a:solidFill>
                            <a:srgbClr val="2C3E50"/>
                          </a:solidFill>
                          <a:latin typeface="Calibri"/>
                          <a:ea typeface="微软雅黑"/>
                          <a:cs typeface="Calibri"/>
                        </a:rPr>
                        <a:t>Salvis</a:t>
                      </a:r>
                    </a:p>
                  </a:txBody>
                  <a:tcPr anchor="ctr">
                    <a:solidFill>
                      <a:srgbClr val="FFFFFF"/>
                    </a:solidFill>
                  </a:tcPr>
                </a:tc>
                <a:tc>
                  <a:txBody>
                    <a:bodyPr/>
                    <a:lstStyle/>
                    <a:p>
                      <a:pPr algn="ctr"/>
                      <a:r>
                        <a:rPr sz="1200" b="1">
                          <a:solidFill>
                            <a:srgbClr val="1F7A6F"/>
                          </a:solidFill>
                          <a:latin typeface="Calibri"/>
                          <a:ea typeface="微软雅黑"/>
                          <a:cs typeface="Calibri"/>
                        </a:rPr>
                        <a:t>New / existing</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£36,000</a:t>
                      </a:r>
                    </a:p>
                  </a:txBody>
                  <a:tcPr anchor="ctr">
                    <a:solidFill>
                      <a:srgbClr val="FFFFFF"/>
                    </a:solidFill>
                  </a:tcPr>
                </a:tc>
                <a:tc>
                  <a:txBody>
                    <a:bodyPr/>
                    <a:lstStyle/>
                    <a:p>
                      <a:pPr algn="r"/>
                      <a:r>
                        <a:rPr sz="1200" b="1">
                          <a:solidFill>
                            <a:srgbClr val="2C3E50"/>
                          </a:solidFill>
                          <a:latin typeface="Calibri"/>
                          <a:ea typeface="微软雅黑"/>
                          <a:cs typeface="Calibri"/>
                        </a:rPr>
                        <a:t>£18,000</a:t>
                      </a:r>
                    </a:p>
                  </a:txBody>
                  <a:tcPr anchor="ctr">
                    <a:solidFill>
                      <a:srgbClr val="FFFFFF"/>
                    </a:solidFill>
                  </a:tcPr>
                </a:tc>
                <a:extLst>
                  <a:ext uri="{0D108BD9-81ED-4DB2-BD59-A6C34878D82A}">
                    <a16:rowId xmlns:a16="http://schemas.microsoft.com/office/drawing/2014/main" val="10009"/>
                  </a:ext>
                </a:extLst>
              </a:tr>
              <a:tr h="347472">
                <a:tc>
                  <a:txBody>
                    <a:bodyPr/>
                    <a:lstStyle/>
                    <a:p>
                      <a:pPr algn="l"/>
                      <a:r>
                        <a:rPr sz="1200" b="0">
                          <a:solidFill>
                            <a:srgbClr val="2C3E50"/>
                          </a:solidFill>
                          <a:latin typeface="Calibri"/>
                          <a:ea typeface="微软雅黑"/>
                          <a:cs typeface="Calibri"/>
                        </a:rPr>
                        <a:t>FTIR</a:t>
                      </a:r>
                    </a:p>
                  </a:txBody>
                  <a:tcPr anchor="ctr">
                    <a:solidFill>
                      <a:srgbClr val="F6F8FA"/>
                    </a:solidFill>
                  </a:tcPr>
                </a:tc>
                <a:tc>
                  <a:txBody>
                    <a:bodyPr/>
                    <a:lstStyle/>
                    <a:p>
                      <a:pPr algn="l"/>
                      <a:r>
                        <a:rPr sz="1200" b="0">
                          <a:solidFill>
                            <a:srgbClr val="2C3E50"/>
                          </a:solidFill>
                          <a:latin typeface="Calibri"/>
                          <a:ea typeface="微软雅黑"/>
                          <a:cs typeface="Calibri"/>
                        </a:rPr>
                        <a:t>Isolator 2</a:t>
                      </a:r>
                    </a:p>
                  </a:txBody>
                  <a:tcPr anchor="ctr">
                    <a:solidFill>
                      <a:srgbClr val="F6F8FA"/>
                    </a:solidFill>
                  </a:tcPr>
                </a:tc>
                <a:tc>
                  <a:txBody>
                    <a:bodyPr/>
                    <a:lstStyle/>
                    <a:p>
                      <a:pPr algn="l"/>
                      <a:r>
                        <a:rPr sz="1200" b="0">
                          <a:solidFill>
                            <a:srgbClr val="2C3E50"/>
                          </a:solidFill>
                          <a:latin typeface="Calibri"/>
                          <a:ea typeface="微软雅黑"/>
                          <a:cs typeface="Calibri"/>
                        </a:rPr>
                        <a:t>Thermo</a:t>
                      </a:r>
                    </a:p>
                  </a:txBody>
                  <a:tcPr anchor="ctr">
                    <a:solidFill>
                      <a:srgbClr val="F6F8FA"/>
                    </a:solidFill>
                  </a:tcPr>
                </a:tc>
                <a:tc>
                  <a:txBody>
                    <a:bodyPr/>
                    <a:lstStyle/>
                    <a:p>
                      <a:pPr algn="ctr"/>
                      <a:r>
                        <a:rPr sz="1200" b="1">
                          <a:solidFill>
                            <a:srgbClr val="5A6A7A"/>
                          </a:solidFill>
                          <a:latin typeface="Calibri"/>
                          <a:ea typeface="微软雅黑"/>
                          <a:cs typeface="Calibri"/>
                        </a:rPr>
                        <a:t>Existing</a:t>
                      </a:r>
                    </a:p>
                  </a:txBody>
                  <a:tcPr anchor="ctr">
                    <a:solidFill>
                      <a:srgbClr val="F6F8FA"/>
                    </a:solidFill>
                  </a:tcPr>
                </a:tc>
                <a:tc>
                  <a:txBody>
                    <a:bodyPr/>
                    <a:lstStyle/>
                    <a:p>
                      <a:pPr algn="ctr"/>
                      <a:r>
                        <a:rPr sz="1200" b="1">
                          <a:solidFill>
                            <a:srgbClr val="1F7A6F"/>
                          </a:solidFill>
                          <a:latin typeface="Calibri"/>
                          <a:ea typeface="微软雅黑"/>
                          <a:cs typeface="Calibri"/>
                        </a:rPr>
                        <a:t>Phase 1</a:t>
                      </a:r>
                    </a:p>
                  </a:txBody>
                  <a:tcPr anchor="ctr">
                    <a:solidFill>
                      <a:srgbClr val="F6F8FA"/>
                    </a:solidFill>
                  </a:tcPr>
                </a:tc>
                <a:tc>
                  <a:txBody>
                    <a:bodyPr/>
                    <a:lstStyle/>
                    <a:p>
                      <a:pPr algn="r"/>
                      <a:r>
                        <a:rPr sz="1200" b="1">
                          <a:solidFill>
                            <a:srgbClr val="2C3E50"/>
                          </a:solidFill>
                          <a:latin typeface="Calibri"/>
                          <a:ea typeface="微软雅黑"/>
                          <a:cs typeface="Calibri"/>
                        </a:rPr>
                        <a:t>£28,000</a:t>
                      </a:r>
                    </a:p>
                  </a:txBody>
                  <a:tcPr anchor="ctr">
                    <a:solidFill>
                      <a:srgbClr val="F6F8FA"/>
                    </a:solidFill>
                  </a:tcPr>
                </a:tc>
                <a:tc>
                  <a:txBody>
                    <a:bodyPr/>
                    <a:lstStyle/>
                    <a:p>
                      <a:pPr algn="r"/>
                      <a:r>
                        <a:rPr sz="1200" b="1">
                          <a:solidFill>
                            <a:srgbClr val="2C3E50"/>
                          </a:solidFill>
                          <a:latin typeface="Calibri"/>
                          <a:ea typeface="微软雅黑"/>
                          <a:cs typeface="Calibri"/>
                        </a:rPr>
                        <a:t>£28,000</a:t>
                      </a:r>
                    </a:p>
                  </a:txBody>
                  <a:tcPr anchor="ctr">
                    <a:solidFill>
                      <a:srgbClr val="F6F8FA"/>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26 / 31</a:t>
            </a:r>
          </a:p>
        </p:txBody>
      </p:sp>
      <p:sp>
        <p:nvSpPr>
          <p:cNvPr id="10" name="Rectangle 9"/>
          <p:cNvSpPr/>
          <p:nvPr/>
        </p:nvSpPr>
        <p:spPr>
          <a:xfrm>
            <a:off x="384048" y="164592"/>
            <a:ext cx="82296" cy="71323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Equipment supplied and installed by the owner (Asymchem)</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CRD（1/2）</a:t>
            </a:r>
          </a:p>
        </p:txBody>
      </p:sp>
      <p:sp>
        <p:nvSpPr>
          <p:cNvPr id="13" name="Rounded Rectangle 12"/>
          <p:cNvSpPr/>
          <p:nvPr/>
        </p:nvSpPr>
        <p:spPr>
          <a:xfrm>
            <a:off x="384048" y="1005840"/>
            <a:ext cx="11423599" cy="420624"/>
          </a:xfrm>
          <a:prstGeom prst="roundRect">
            <a:avLst>
              <a:gd name="adj" fmla="val 8000"/>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216" y="1060704"/>
            <a:ext cx="6766560" cy="310896"/>
          </a:xfrm>
          <a:prstGeom prst="rect">
            <a:avLst/>
          </a:prstGeom>
          <a:noFill/>
        </p:spPr>
        <p:txBody>
          <a:bodyPr wrap="square" anchor="t">
            <a:spAutoFit/>
          </a:bodyPr>
          <a:lstStyle/>
          <a:p>
            <a:pPr algn="l"/>
            <a:r>
              <a:rPr sz="1400" b="1">
                <a:solidFill>
                  <a:srgbClr val="FFFFFF"/>
                </a:solidFill>
                <a:latin typeface="Calibri"/>
                <a:ea typeface="微软雅黑"/>
                <a:cs typeface="Calibri"/>
              </a:rPr>
              <a:t>This group, to purchase £497,100  ·  Phase 1 £125,500</a:t>
            </a:r>
          </a:p>
        </p:txBody>
      </p:sp>
      <p:sp>
        <p:nvSpPr>
          <p:cNvPr id="15" name="TextBox 14"/>
          <p:cNvSpPr txBox="1"/>
          <p:nvPr/>
        </p:nvSpPr>
        <p:spPr>
          <a:xfrm>
            <a:off x="7333488" y="1060704"/>
            <a:ext cx="4206240" cy="310896"/>
          </a:xfrm>
          <a:prstGeom prst="rect">
            <a:avLst/>
          </a:prstGeom>
          <a:noFill/>
        </p:spPr>
        <p:txBody>
          <a:bodyPr wrap="square" anchor="t">
            <a:spAutoFit/>
          </a:bodyPr>
          <a:lstStyle/>
          <a:p>
            <a:pPr algn="r"/>
            <a:r>
              <a:rPr sz="1500" b="1">
                <a:solidFill>
                  <a:srgbClr val="FFFFFF"/>
                </a:solidFill>
                <a:latin typeface="Calibri"/>
                <a:ea typeface="微软雅黑"/>
                <a:cs typeface="Calibri"/>
              </a:rPr>
              <a:t>Phase 1 total £963,445</a:t>
            </a:r>
          </a:p>
        </p:txBody>
      </p:sp>
      <p:graphicFrame>
        <p:nvGraphicFramePr>
          <p:cNvPr id="16" name="Table 15"/>
          <p:cNvGraphicFramePr>
            <a:graphicFrameLocks noGrp="1"/>
          </p:cNvGraphicFramePr>
          <p:nvPr/>
        </p:nvGraphicFramePr>
        <p:xfrm>
          <a:off x="384048" y="1536192"/>
          <a:ext cx="11368735" cy="4626864"/>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gridCol w="1630375">
                  <a:extLst>
                    <a:ext uri="{9D8B030D-6E8A-4147-A177-3AD203B41FA5}">
                      <a16:colId xmlns:a16="http://schemas.microsoft.com/office/drawing/2014/main" val="20006"/>
                    </a:ext>
                  </a:extLst>
                </a:gridCol>
              </a:tblGrid>
              <a:tr h="347472">
                <a:tc>
                  <a:txBody>
                    <a:bodyPr/>
                    <a:lstStyle/>
                    <a:p>
                      <a:pPr algn="l"/>
                      <a:r>
                        <a:rPr sz="1100" b="1">
                          <a:solidFill>
                            <a:srgbClr val="FFFFFF"/>
                          </a:solidFill>
                          <a:latin typeface="Calibri"/>
                          <a:ea typeface="微软雅黑"/>
                          <a:cs typeface="Calibri"/>
                        </a:rPr>
                        <a:t>Item</a:t>
                      </a:r>
                    </a:p>
                  </a:txBody>
                  <a:tcPr anchor="ctr">
                    <a:solidFill>
                      <a:srgbClr val="0F2B46"/>
                    </a:solidFill>
                  </a:tcPr>
                </a:tc>
                <a:tc>
                  <a:txBody>
                    <a:bodyPr/>
                    <a:lstStyle/>
                    <a:p>
                      <a:pPr algn="l"/>
                      <a:r>
                        <a:rPr sz="1100" b="1">
                          <a:solidFill>
                            <a:srgbClr val="FFFFFF"/>
                          </a:solidFill>
                          <a:latin typeface="Calibri"/>
                          <a:ea typeface="微软雅黑"/>
                          <a:cs typeface="Calibri"/>
                        </a:rPr>
                        <a:t>Location</a:t>
                      </a:r>
                    </a:p>
                  </a:txBody>
                  <a:tcPr anchor="ctr">
                    <a:solidFill>
                      <a:srgbClr val="0F2B46"/>
                    </a:solidFill>
                  </a:tcPr>
                </a:tc>
                <a:tc>
                  <a:txBody>
                    <a:bodyPr/>
                    <a:lstStyle/>
                    <a:p>
                      <a:pPr algn="l"/>
                      <a:r>
                        <a:rPr sz="1100" b="1">
                          <a:solidFill>
                            <a:srgbClr val="FFFFFF"/>
                          </a:solidFill>
                          <a:latin typeface="Calibri"/>
                          <a:ea typeface="微软雅黑"/>
                          <a:cs typeface="Calibri"/>
                        </a:rPr>
                        <a:t>Manufacturer</a:t>
                      </a:r>
                    </a:p>
                  </a:txBody>
                  <a:tcPr anchor="ctr">
                    <a:solidFill>
                      <a:srgbClr val="0F2B46"/>
                    </a:solidFill>
                  </a:tcPr>
                </a:tc>
                <a:tc>
                  <a:txBody>
                    <a:bodyPr/>
                    <a:lstStyle/>
                    <a:p>
                      <a:pPr algn="ctr"/>
                      <a:r>
                        <a:rPr sz="1100" b="1">
                          <a:solidFill>
                            <a:srgbClr val="FFFFFF"/>
                          </a:solidFill>
                          <a:latin typeface="Calibri"/>
                          <a:ea typeface="微软雅黑"/>
                          <a:cs typeface="Calibri"/>
                        </a:rPr>
                        <a:t>New / existing</a:t>
                      </a:r>
                    </a:p>
                  </a:txBody>
                  <a:tcPr anchor="ctr">
                    <a:solidFill>
                      <a:srgbClr val="0F2B46"/>
                    </a:solidFill>
                  </a:tcPr>
                </a:tc>
                <a:tc>
                  <a:txBody>
                    <a:bodyPr/>
                    <a:lstStyle/>
                    <a:p>
                      <a:pPr algn="ctr"/>
                      <a:r>
                        <a:rPr sz="1100" b="1">
                          <a:solidFill>
                            <a:srgbClr val="FFFFFF"/>
                          </a:solidFill>
                          <a:latin typeface="Calibri"/>
                          <a:ea typeface="微软雅黑"/>
                          <a:cs typeface="Calibri"/>
                        </a:rPr>
                        <a:t>Phase</a:t>
                      </a:r>
                    </a:p>
                  </a:txBody>
                  <a:tcPr anchor="ctr">
                    <a:solidFill>
                      <a:srgbClr val="0F2B46"/>
                    </a:solidFill>
                  </a:tcPr>
                </a:tc>
                <a:tc>
                  <a:txBody>
                    <a:bodyPr/>
                    <a:lstStyle/>
                    <a:p>
                      <a:pPr algn="r"/>
                      <a:r>
                        <a:rPr sz="1100" b="1">
                          <a:solidFill>
                            <a:srgbClr val="FFFFFF"/>
                          </a:solidFill>
                          <a:latin typeface="Calibri"/>
                          <a:ea typeface="微软雅黑"/>
                          <a:cs typeface="Calibri"/>
                        </a:rPr>
                        <a:t>To purchase</a:t>
                      </a:r>
                    </a:p>
                  </a:txBody>
                  <a:tcPr anchor="ctr">
                    <a:solidFill>
                      <a:srgbClr val="0F2B46"/>
                    </a:solidFill>
                  </a:tcPr>
                </a:tc>
                <a:tc>
                  <a:txBody>
                    <a:bodyPr/>
                    <a:lstStyle/>
                    <a:p>
                      <a:pPr algn="r"/>
                      <a:r>
                        <a:rPr sz="1100" b="1">
                          <a:solidFill>
                            <a:srgbClr val="FFFFFF"/>
                          </a:solidFill>
                          <a:latin typeface="Calibri"/>
                          <a:ea typeface="微软雅黑"/>
                          <a:cs typeface="Calibri"/>
                        </a:rPr>
                        <a:t>Phase 1</a:t>
                      </a:r>
                    </a:p>
                  </a:txBody>
                  <a:tcPr anchor="ctr">
                    <a:solidFill>
                      <a:srgbClr val="0F2B46"/>
                    </a:solidFill>
                  </a:tcPr>
                </a:tc>
                <a:extLst>
                  <a:ext uri="{0D108BD9-81ED-4DB2-BD59-A6C34878D82A}">
                    <a16:rowId xmlns:a16="http://schemas.microsoft.com/office/drawing/2014/main" val="10000"/>
                  </a:ext>
                </a:extLst>
              </a:tr>
              <a:tr h="347472">
                <a:tc>
                  <a:txBody>
                    <a:bodyPr/>
                    <a:lstStyle/>
                    <a:p>
                      <a:pPr algn="l"/>
                      <a:r>
                        <a:rPr sz="1200" b="0">
                          <a:solidFill>
                            <a:srgbClr val="2C3E50"/>
                          </a:solidFill>
                          <a:latin typeface="Calibri"/>
                          <a:ea typeface="微软雅黑"/>
                          <a:cs typeface="Calibri"/>
                        </a:rPr>
                        <a:t>Laboratory fridge</a:t>
                      </a:r>
                    </a:p>
                  </a:txBody>
                  <a:tcPr anchor="ctr">
                    <a:solidFill>
                      <a:srgbClr val="FFFFFF"/>
                    </a:solidFill>
                  </a:tcPr>
                </a:tc>
                <a:tc>
                  <a:txBody>
                    <a:bodyPr/>
                    <a:lstStyle/>
                    <a:p>
                      <a:pPr algn="l"/>
                      <a:r>
                        <a:rPr sz="1200" b="0">
                          <a:solidFill>
                            <a:srgbClr val="2C3E50"/>
                          </a:solidFill>
                          <a:latin typeface="Calibri"/>
                          <a:ea typeface="微软雅黑"/>
                          <a:cs typeface="Calibri"/>
                        </a:rPr>
                        <a:t>Room 4</a:t>
                      </a:r>
                    </a:p>
                  </a:txBody>
                  <a:tcPr anchor="ctr">
                    <a:solidFill>
                      <a:srgbClr val="FFFFFF"/>
                    </a:solidFill>
                  </a:tcPr>
                </a:tc>
                <a:tc>
                  <a:txBody>
                    <a:bodyPr/>
                    <a:lstStyle/>
                    <a:p>
                      <a:pPr algn="l"/>
                      <a:r>
                        <a:rPr sz="1200" b="0">
                          <a:solidFill>
                            <a:srgbClr val="2C3E50"/>
                          </a:solidFill>
                          <a:latin typeface="Calibri"/>
                          <a:ea typeface="微软雅黑"/>
                          <a:cs typeface="Calibri"/>
                        </a:rPr>
                        <a:t>Lec</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£750</a:t>
                      </a:r>
                    </a:p>
                  </a:txBody>
                  <a:tcPr anchor="ctr">
                    <a:solidFill>
                      <a:srgbClr val="FFFFFF"/>
                    </a:solidFill>
                  </a:tcPr>
                </a:tc>
                <a:tc>
                  <a:txBody>
                    <a:bodyPr/>
                    <a:lstStyle/>
                    <a:p>
                      <a:pPr algn="r"/>
                      <a:r>
                        <a:rPr sz="1200" b="1">
                          <a:solidFill>
                            <a:srgbClr val="2C3E50"/>
                          </a:solidFill>
                          <a:latin typeface="Calibri"/>
                          <a:ea typeface="微软雅黑"/>
                          <a:cs typeface="Calibri"/>
                        </a:rPr>
                        <a:t>£750</a:t>
                      </a:r>
                    </a:p>
                  </a:txBody>
                  <a:tcPr anchor="ctr">
                    <a:solidFill>
                      <a:srgbClr val="FFFFFF"/>
                    </a:solidFill>
                  </a:tcPr>
                </a:tc>
                <a:extLst>
                  <a:ext uri="{0D108BD9-81ED-4DB2-BD59-A6C34878D82A}">
                    <a16:rowId xmlns:a16="http://schemas.microsoft.com/office/drawing/2014/main" val="10001"/>
                  </a:ext>
                </a:extLst>
              </a:tr>
              <a:tr h="347472">
                <a:tc>
                  <a:txBody>
                    <a:bodyPr/>
                    <a:lstStyle/>
                    <a:p>
                      <a:pPr algn="l"/>
                      <a:r>
                        <a:rPr sz="1200" b="0">
                          <a:solidFill>
                            <a:srgbClr val="2C3E50"/>
                          </a:solidFill>
                          <a:latin typeface="Calibri"/>
                          <a:ea typeface="微软雅黑"/>
                          <a:cs typeface="Calibri"/>
                        </a:rPr>
                        <a:t>Laboratory freezer</a:t>
                      </a:r>
                    </a:p>
                  </a:txBody>
                  <a:tcPr anchor="ctr">
                    <a:solidFill>
                      <a:srgbClr val="F6F8FA"/>
                    </a:solidFill>
                  </a:tcPr>
                </a:tc>
                <a:tc>
                  <a:txBody>
                    <a:bodyPr/>
                    <a:lstStyle/>
                    <a:p>
                      <a:pPr algn="l"/>
                      <a:r>
                        <a:rPr sz="1200" b="0">
                          <a:solidFill>
                            <a:srgbClr val="2C3E50"/>
                          </a:solidFill>
                          <a:latin typeface="Calibri"/>
                          <a:ea typeface="微软雅黑"/>
                          <a:cs typeface="Calibri"/>
                        </a:rPr>
                        <a:t>Room 4</a:t>
                      </a:r>
                    </a:p>
                  </a:txBody>
                  <a:tcPr anchor="ctr">
                    <a:solidFill>
                      <a:srgbClr val="F6F8FA"/>
                    </a:solidFill>
                  </a:tcPr>
                </a:tc>
                <a:tc>
                  <a:txBody>
                    <a:bodyPr/>
                    <a:lstStyle/>
                    <a:p>
                      <a:pPr algn="l"/>
                      <a:r>
                        <a:rPr sz="1200" b="0">
                          <a:solidFill>
                            <a:srgbClr val="2C3E50"/>
                          </a:solidFill>
                          <a:latin typeface="Calibri"/>
                          <a:ea typeface="微软雅黑"/>
                          <a:cs typeface="Calibri"/>
                        </a:rPr>
                        <a:t>Lec</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1F7A6F"/>
                          </a:solidFill>
                          <a:latin typeface="Calibri"/>
                          <a:ea typeface="微软雅黑"/>
                          <a:cs typeface="Calibri"/>
                        </a:rPr>
                        <a:t>Phase 1</a:t>
                      </a:r>
                    </a:p>
                  </a:txBody>
                  <a:tcPr anchor="ctr">
                    <a:solidFill>
                      <a:srgbClr val="F6F8FA"/>
                    </a:solidFill>
                  </a:tcPr>
                </a:tc>
                <a:tc>
                  <a:txBody>
                    <a:bodyPr/>
                    <a:lstStyle/>
                    <a:p>
                      <a:pPr algn="r"/>
                      <a:r>
                        <a:rPr sz="1200" b="1">
                          <a:solidFill>
                            <a:srgbClr val="2C3E50"/>
                          </a:solidFill>
                          <a:latin typeface="Calibri"/>
                          <a:ea typeface="微软雅黑"/>
                          <a:cs typeface="Calibri"/>
                        </a:rPr>
                        <a:t>£750</a:t>
                      </a:r>
                    </a:p>
                  </a:txBody>
                  <a:tcPr anchor="ctr">
                    <a:solidFill>
                      <a:srgbClr val="F6F8FA"/>
                    </a:solidFill>
                  </a:tcPr>
                </a:tc>
                <a:tc>
                  <a:txBody>
                    <a:bodyPr/>
                    <a:lstStyle/>
                    <a:p>
                      <a:pPr algn="r"/>
                      <a:r>
                        <a:rPr sz="1200" b="1">
                          <a:solidFill>
                            <a:srgbClr val="2C3E50"/>
                          </a:solidFill>
                          <a:latin typeface="Calibri"/>
                          <a:ea typeface="微软雅黑"/>
                          <a:cs typeface="Calibri"/>
                        </a:rPr>
                        <a:t>£750</a:t>
                      </a:r>
                    </a:p>
                  </a:txBody>
                  <a:tcPr anchor="ctr">
                    <a:solidFill>
                      <a:srgbClr val="F6F8FA"/>
                    </a:solidFill>
                  </a:tcPr>
                </a:tc>
                <a:extLst>
                  <a:ext uri="{0D108BD9-81ED-4DB2-BD59-A6C34878D82A}">
                    <a16:rowId xmlns:a16="http://schemas.microsoft.com/office/drawing/2014/main" val="10002"/>
                  </a:ext>
                </a:extLst>
              </a:tr>
              <a:tr h="347472">
                <a:tc>
                  <a:txBody>
                    <a:bodyPr/>
                    <a:lstStyle/>
                    <a:p>
                      <a:pPr algn="l"/>
                      <a:r>
                        <a:rPr sz="1200" b="0">
                          <a:solidFill>
                            <a:srgbClr val="2C3E50"/>
                          </a:solidFill>
                          <a:latin typeface="Calibri"/>
                          <a:ea typeface="微软雅黑"/>
                          <a:cs typeface="Calibri"/>
                        </a:rPr>
                        <a:t>Reactor Ready twin reactor</a:t>
                      </a:r>
                    </a:p>
                  </a:txBody>
                  <a:tcPr anchor="ctr">
                    <a:solidFill>
                      <a:srgbClr val="FFFFFF"/>
                    </a:solidFill>
                  </a:tcPr>
                </a:tc>
                <a:tc>
                  <a:txBody>
                    <a:bodyPr/>
                    <a:lstStyle/>
                    <a:p>
                      <a:pPr algn="l"/>
                      <a:r>
                        <a:rPr sz="1200" b="0">
                          <a:solidFill>
                            <a:srgbClr val="2C3E50"/>
                          </a:solidFill>
                          <a:latin typeface="Calibri"/>
                          <a:ea typeface="微软雅黑"/>
                          <a:cs typeface="Calibri"/>
                        </a:rPr>
                        <a:t>FH1</a:t>
                      </a:r>
                    </a:p>
                  </a:txBody>
                  <a:tcPr anchor="ctr">
                    <a:solidFill>
                      <a:srgbClr val="FFFFFF"/>
                    </a:solidFill>
                  </a:tcPr>
                </a:tc>
                <a:tc>
                  <a:txBody>
                    <a:bodyPr/>
                    <a:lstStyle/>
                    <a:p>
                      <a:pPr algn="l"/>
                      <a:r>
                        <a:rPr sz="1200" b="0">
                          <a:solidFill>
                            <a:srgbClr val="2C3E50"/>
                          </a:solidFill>
                          <a:latin typeface="Calibri"/>
                          <a:ea typeface="微软雅黑"/>
                          <a:cs typeface="Calibri"/>
                        </a:rPr>
                        <a:t>Reactor Ready vessels</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C9A227"/>
                          </a:solidFill>
                          <a:latin typeface="Calibri"/>
                          <a:ea typeface="微软雅黑"/>
                          <a:cs typeface="Calibri"/>
                        </a:rPr>
                        <a:t>Phase 2</a:t>
                      </a:r>
                    </a:p>
                  </a:txBody>
                  <a:tcPr anchor="ctr">
                    <a:solidFill>
                      <a:srgbClr val="FFFFFF"/>
                    </a:solidFill>
                  </a:tcPr>
                </a:tc>
                <a:tc>
                  <a:txBody>
                    <a:bodyPr/>
                    <a:lstStyle/>
                    <a:p>
                      <a:pPr algn="r"/>
                      <a:r>
                        <a:rPr sz="1200" b="1">
                          <a:solidFill>
                            <a:srgbClr val="2C3E50"/>
                          </a:solidFill>
                          <a:latin typeface="Calibri"/>
                          <a:ea typeface="微软雅黑"/>
                          <a:cs typeface="Calibri"/>
                        </a:rPr>
                        <a:t>£20,000</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extLst>
                  <a:ext uri="{0D108BD9-81ED-4DB2-BD59-A6C34878D82A}">
                    <a16:rowId xmlns:a16="http://schemas.microsoft.com/office/drawing/2014/main" val="10003"/>
                  </a:ext>
                </a:extLst>
              </a:tr>
              <a:tr h="347472">
                <a:tc>
                  <a:txBody>
                    <a:bodyPr/>
                    <a:lstStyle/>
                    <a:p>
                      <a:pPr algn="l"/>
                      <a:r>
                        <a:rPr sz="1200" b="0">
                          <a:solidFill>
                            <a:srgbClr val="2C3E50"/>
                          </a:solidFill>
                          <a:latin typeface="Calibri"/>
                          <a:ea typeface="微软雅黑"/>
                          <a:cs typeface="Calibri"/>
                        </a:rPr>
                        <a:t>Mettler Toledo SP-50 dosing unit</a:t>
                      </a:r>
                    </a:p>
                  </a:txBody>
                  <a:tcPr anchor="ctr">
                    <a:solidFill>
                      <a:srgbClr val="F6F8FA"/>
                    </a:solidFill>
                  </a:tcPr>
                </a:tc>
                <a:tc>
                  <a:txBody>
                    <a:bodyPr/>
                    <a:lstStyle/>
                    <a:p>
                      <a:pPr algn="l"/>
                      <a:r>
                        <a:rPr sz="1200" b="0">
                          <a:solidFill>
                            <a:srgbClr val="2C3E50"/>
                          </a:solidFill>
                          <a:latin typeface="Calibri"/>
                          <a:ea typeface="微软雅黑"/>
                          <a:cs typeface="Calibri"/>
                        </a:rPr>
                        <a:t>FH1</a:t>
                      </a:r>
                    </a:p>
                  </a:txBody>
                  <a:tcPr anchor="ctr">
                    <a:solidFill>
                      <a:srgbClr val="F6F8FA"/>
                    </a:solidFill>
                  </a:tcPr>
                </a:tc>
                <a:tc>
                  <a:txBody>
                    <a:bodyPr/>
                    <a:lstStyle/>
                    <a:p>
                      <a:pPr algn="l"/>
                      <a:r>
                        <a:rPr sz="1200" b="0">
                          <a:solidFill>
                            <a:srgbClr val="2C3E50"/>
                          </a:solidFill>
                          <a:latin typeface="Calibri"/>
                          <a:ea typeface="微软雅黑"/>
                          <a:cs typeface="Calibri"/>
                        </a:rPr>
                        <a:t>Mettler Toledo SP-50 Dosing units</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C9A227"/>
                          </a:solidFill>
                          <a:latin typeface="Calibri"/>
                          <a:ea typeface="微软雅黑"/>
                          <a:cs typeface="Calibri"/>
                        </a:rPr>
                        <a:t>Phase 2</a:t>
                      </a:r>
                    </a:p>
                  </a:txBody>
                  <a:tcPr anchor="ctr">
                    <a:solidFill>
                      <a:srgbClr val="F6F8FA"/>
                    </a:solidFill>
                  </a:tcPr>
                </a:tc>
                <a:tc>
                  <a:txBody>
                    <a:bodyPr/>
                    <a:lstStyle/>
                    <a:p>
                      <a:pPr algn="r"/>
                      <a:r>
                        <a:rPr sz="1200" b="1">
                          <a:solidFill>
                            <a:srgbClr val="2C3E50"/>
                          </a:solidFill>
                          <a:latin typeface="Calibri"/>
                          <a:ea typeface="微软雅黑"/>
                          <a:cs typeface="Calibri"/>
                        </a:rPr>
                        <a:t>£1,600</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extLst>
                  <a:ext uri="{0D108BD9-81ED-4DB2-BD59-A6C34878D82A}">
                    <a16:rowId xmlns:a16="http://schemas.microsoft.com/office/drawing/2014/main" val="10004"/>
                  </a:ext>
                </a:extLst>
              </a:tr>
              <a:tr h="347472">
                <a:tc>
                  <a:txBody>
                    <a:bodyPr/>
                    <a:lstStyle/>
                    <a:p>
                      <a:pPr algn="l"/>
                      <a:r>
                        <a:rPr sz="1200" b="0">
                          <a:solidFill>
                            <a:srgbClr val="2C3E50"/>
                          </a:solidFill>
                          <a:latin typeface="Calibri"/>
                          <a:ea typeface="微软雅黑"/>
                          <a:cs typeface="Calibri"/>
                        </a:rPr>
                        <a:t>RX10 controller</a:t>
                      </a:r>
                    </a:p>
                  </a:txBody>
                  <a:tcPr anchor="ctr">
                    <a:solidFill>
                      <a:srgbClr val="FFFFFF"/>
                    </a:solidFill>
                  </a:tcPr>
                </a:tc>
                <a:tc>
                  <a:txBody>
                    <a:bodyPr/>
                    <a:lstStyle/>
                    <a:p>
                      <a:pPr algn="l"/>
                      <a:r>
                        <a:rPr sz="1200" b="0">
                          <a:solidFill>
                            <a:srgbClr val="2C3E50"/>
                          </a:solidFill>
                          <a:latin typeface="Calibri"/>
                          <a:ea typeface="微软雅黑"/>
                          <a:cs typeface="Calibri"/>
                        </a:rPr>
                        <a:t>FH1</a:t>
                      </a:r>
                    </a:p>
                  </a:txBody>
                  <a:tcPr anchor="ctr">
                    <a:solidFill>
                      <a:srgbClr val="FFFFFF"/>
                    </a:solidFill>
                  </a:tcPr>
                </a:tc>
                <a:tc>
                  <a:txBody>
                    <a:bodyPr/>
                    <a:lstStyle/>
                    <a:p>
                      <a:pPr algn="l"/>
                      <a:r>
                        <a:rPr sz="1200" b="0">
                          <a:solidFill>
                            <a:srgbClr val="2C3E50"/>
                          </a:solidFill>
                          <a:latin typeface="Calibri"/>
                          <a:ea typeface="微软雅黑"/>
                          <a:cs typeface="Calibri"/>
                        </a:rPr>
                        <a:t>RX10 Controller</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C9A227"/>
                          </a:solidFill>
                          <a:latin typeface="Calibri"/>
                          <a:ea typeface="微软雅黑"/>
                          <a:cs typeface="Calibri"/>
                        </a:rPr>
                        <a:t>Phase 2</a:t>
                      </a:r>
                    </a:p>
                  </a:txBody>
                  <a:tcPr anchor="ctr">
                    <a:solidFill>
                      <a:srgbClr val="FFFFFF"/>
                    </a:solidFill>
                  </a:tcPr>
                </a:tc>
                <a:tc>
                  <a:txBody>
                    <a:bodyPr/>
                    <a:lstStyle/>
                    <a:p>
                      <a:pPr algn="r"/>
                      <a:r>
                        <a:rPr sz="1200" b="1">
                          <a:solidFill>
                            <a:srgbClr val="2C3E50"/>
                          </a:solidFill>
                          <a:latin typeface="Calibri"/>
                          <a:ea typeface="微软雅黑"/>
                          <a:cs typeface="Calibri"/>
                        </a:rPr>
                        <a:t>£2,400</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extLst>
                  <a:ext uri="{0D108BD9-81ED-4DB2-BD59-A6C34878D82A}">
                    <a16:rowId xmlns:a16="http://schemas.microsoft.com/office/drawing/2014/main" val="10005"/>
                  </a:ext>
                </a:extLst>
              </a:tr>
              <a:tr h="347472">
                <a:tc>
                  <a:txBody>
                    <a:bodyPr/>
                    <a:lstStyle/>
                    <a:p>
                      <a:pPr algn="l"/>
                      <a:r>
                        <a:rPr sz="1200" b="0">
                          <a:solidFill>
                            <a:srgbClr val="2C3E50"/>
                          </a:solidFill>
                          <a:latin typeface="Calibri"/>
                          <a:ea typeface="微软雅黑"/>
                          <a:cs typeface="Calibri"/>
                        </a:rPr>
                        <a:t>Heidolph motor</a:t>
                      </a:r>
                    </a:p>
                  </a:txBody>
                  <a:tcPr anchor="ctr">
                    <a:solidFill>
                      <a:srgbClr val="F6F8FA"/>
                    </a:solidFill>
                  </a:tcPr>
                </a:tc>
                <a:tc>
                  <a:txBody>
                    <a:bodyPr/>
                    <a:lstStyle/>
                    <a:p>
                      <a:pPr algn="l"/>
                      <a:r>
                        <a:rPr sz="1200" b="0">
                          <a:solidFill>
                            <a:srgbClr val="2C3E50"/>
                          </a:solidFill>
                          <a:latin typeface="Calibri"/>
                          <a:ea typeface="微软雅黑"/>
                          <a:cs typeface="Calibri"/>
                        </a:rPr>
                        <a:t>FH1</a:t>
                      </a:r>
                    </a:p>
                  </a:txBody>
                  <a:tcPr anchor="ctr">
                    <a:solidFill>
                      <a:srgbClr val="F6F8FA"/>
                    </a:solidFill>
                  </a:tcPr>
                </a:tc>
                <a:tc>
                  <a:txBody>
                    <a:bodyPr/>
                    <a:lstStyle/>
                    <a:p>
                      <a:pPr algn="l"/>
                      <a:r>
                        <a:rPr sz="1200" b="0">
                          <a:solidFill>
                            <a:srgbClr val="2C3E50"/>
                          </a:solidFill>
                          <a:latin typeface="Calibri"/>
                          <a:ea typeface="微软雅黑"/>
                          <a:cs typeface="Calibri"/>
                        </a:rPr>
                        <a:t>Heidolph Motors</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C9A227"/>
                          </a:solidFill>
                          <a:latin typeface="Calibri"/>
                          <a:ea typeface="微软雅黑"/>
                          <a:cs typeface="Calibri"/>
                        </a:rPr>
                        <a:t>Phase 2</a:t>
                      </a:r>
                    </a:p>
                  </a:txBody>
                  <a:tcPr anchor="ctr">
                    <a:solidFill>
                      <a:srgbClr val="F6F8FA"/>
                    </a:solidFill>
                  </a:tcPr>
                </a:tc>
                <a:tc>
                  <a:txBody>
                    <a:bodyPr/>
                    <a:lstStyle/>
                    <a:p>
                      <a:pPr algn="r"/>
                      <a:r>
                        <a:rPr sz="1200" b="1">
                          <a:solidFill>
                            <a:srgbClr val="2C3E50"/>
                          </a:solidFill>
                          <a:latin typeface="Calibri"/>
                          <a:ea typeface="微软雅黑"/>
                          <a:cs typeface="Calibri"/>
                        </a:rPr>
                        <a:t>£1,600</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extLst>
                  <a:ext uri="{0D108BD9-81ED-4DB2-BD59-A6C34878D82A}">
                    <a16:rowId xmlns:a16="http://schemas.microsoft.com/office/drawing/2014/main" val="10006"/>
                  </a:ext>
                </a:extLst>
              </a:tr>
              <a:tr h="347472">
                <a:tc>
                  <a:txBody>
                    <a:bodyPr/>
                    <a:lstStyle/>
                    <a:p>
                      <a:pPr algn="l"/>
                      <a:r>
                        <a:rPr sz="1200" b="0">
                          <a:solidFill>
                            <a:srgbClr val="2C3E50"/>
                          </a:solidFill>
                          <a:latin typeface="Calibri"/>
                          <a:ea typeface="微软雅黑"/>
                          <a:cs typeface="Calibri"/>
                        </a:rPr>
                        <a:t>Reactor Ready stand</a:t>
                      </a:r>
                    </a:p>
                  </a:txBody>
                  <a:tcPr anchor="ctr">
                    <a:solidFill>
                      <a:srgbClr val="FFFFFF"/>
                    </a:solidFill>
                  </a:tcPr>
                </a:tc>
                <a:tc>
                  <a:txBody>
                    <a:bodyPr/>
                    <a:lstStyle/>
                    <a:p>
                      <a:pPr algn="l"/>
                      <a:r>
                        <a:rPr sz="1200" b="0">
                          <a:solidFill>
                            <a:srgbClr val="2C3E50"/>
                          </a:solidFill>
                          <a:latin typeface="Calibri"/>
                          <a:ea typeface="微软雅黑"/>
                          <a:cs typeface="Calibri"/>
                        </a:rPr>
                        <a:t>FH1</a:t>
                      </a:r>
                    </a:p>
                  </a:txBody>
                  <a:tcPr anchor="ctr">
                    <a:solidFill>
                      <a:srgbClr val="FFFFFF"/>
                    </a:solidFill>
                  </a:tcPr>
                </a:tc>
                <a:tc>
                  <a:txBody>
                    <a:bodyPr/>
                    <a:lstStyle/>
                    <a:p>
                      <a:pPr algn="l"/>
                      <a:r>
                        <a:rPr sz="1200" b="0">
                          <a:solidFill>
                            <a:srgbClr val="2C3E50"/>
                          </a:solidFill>
                          <a:latin typeface="Calibri"/>
                          <a:ea typeface="微软雅黑"/>
                          <a:cs typeface="Calibri"/>
                        </a:rPr>
                        <a:t>Reactor Ready Stand</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C9A227"/>
                          </a:solidFill>
                          <a:latin typeface="Calibri"/>
                          <a:ea typeface="微软雅黑"/>
                          <a:cs typeface="Calibri"/>
                        </a:rPr>
                        <a:t>Phase 2</a:t>
                      </a:r>
                    </a:p>
                  </a:txBody>
                  <a:tcPr anchor="ctr">
                    <a:solidFill>
                      <a:srgbClr val="FFFFFF"/>
                    </a:solidFill>
                  </a:tcPr>
                </a:tc>
                <a:tc>
                  <a:txBody>
                    <a:bodyPr/>
                    <a:lstStyle/>
                    <a:p>
                      <a:pPr algn="r"/>
                      <a:r>
                        <a:rPr sz="1200" b="1">
                          <a:solidFill>
                            <a:srgbClr val="2C3E50"/>
                          </a:solidFill>
                          <a:latin typeface="Calibri"/>
                          <a:ea typeface="微软雅黑"/>
                          <a:cs typeface="Calibri"/>
                        </a:rPr>
                        <a:t>£1,000</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extLst>
                  <a:ext uri="{0D108BD9-81ED-4DB2-BD59-A6C34878D82A}">
                    <a16:rowId xmlns:a16="http://schemas.microsoft.com/office/drawing/2014/main" val="10007"/>
                  </a:ext>
                </a:extLst>
              </a:tr>
              <a:tr h="347472">
                <a:tc>
                  <a:txBody>
                    <a:bodyPr/>
                    <a:lstStyle/>
                    <a:p>
                      <a:pPr algn="l"/>
                      <a:r>
                        <a:rPr sz="1200" b="0">
                          <a:solidFill>
                            <a:srgbClr val="2C3E50"/>
                          </a:solidFill>
                          <a:latin typeface="Calibri"/>
                          <a:ea typeface="微软雅黑"/>
                          <a:cs typeface="Calibri"/>
                        </a:rPr>
                        <a:t>Vacuum pump</a:t>
                      </a:r>
                    </a:p>
                  </a:txBody>
                  <a:tcPr anchor="ctr">
                    <a:solidFill>
                      <a:srgbClr val="F6F8FA"/>
                    </a:solidFill>
                  </a:tcPr>
                </a:tc>
                <a:tc>
                  <a:txBody>
                    <a:bodyPr/>
                    <a:lstStyle/>
                    <a:p>
                      <a:pPr algn="l"/>
                      <a:r>
                        <a:rPr sz="1200" b="0">
                          <a:solidFill>
                            <a:srgbClr val="2C3E50"/>
                          </a:solidFill>
                          <a:latin typeface="Calibri"/>
                          <a:ea typeface="微软雅黑"/>
                          <a:cs typeface="Calibri"/>
                        </a:rPr>
                        <a:t>FH1</a:t>
                      </a:r>
                    </a:p>
                  </a:txBody>
                  <a:tcPr anchor="ctr">
                    <a:solidFill>
                      <a:srgbClr val="F6F8FA"/>
                    </a:solidFill>
                  </a:tcPr>
                </a:tc>
                <a:tc>
                  <a:txBody>
                    <a:bodyPr/>
                    <a:lstStyle/>
                    <a:p>
                      <a:pPr algn="l"/>
                      <a:r>
                        <a:rPr sz="1200" b="0">
                          <a:solidFill>
                            <a:srgbClr val="2C3E50"/>
                          </a:solidFill>
                          <a:latin typeface="Calibri"/>
                          <a:ea typeface="微软雅黑"/>
                          <a:cs typeface="Calibri"/>
                        </a:rPr>
                        <a:t>Vacuubrand</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C9A227"/>
                          </a:solidFill>
                          <a:latin typeface="Calibri"/>
                          <a:ea typeface="微软雅黑"/>
                          <a:cs typeface="Calibri"/>
                        </a:rPr>
                        <a:t>Phase 2</a:t>
                      </a:r>
                    </a:p>
                  </a:txBody>
                  <a:tcPr anchor="ctr">
                    <a:solidFill>
                      <a:srgbClr val="F6F8FA"/>
                    </a:solidFill>
                  </a:tcPr>
                </a:tc>
                <a:tc>
                  <a:txBody>
                    <a:bodyPr/>
                    <a:lstStyle/>
                    <a:p>
                      <a:pPr algn="r"/>
                      <a:r>
                        <a:rPr sz="1200" b="1">
                          <a:solidFill>
                            <a:srgbClr val="2C3E50"/>
                          </a:solidFill>
                          <a:latin typeface="Calibri"/>
                          <a:ea typeface="微软雅黑"/>
                          <a:cs typeface="Calibri"/>
                        </a:rPr>
                        <a:t>£5,000</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extLst>
                  <a:ext uri="{0D108BD9-81ED-4DB2-BD59-A6C34878D82A}">
                    <a16:rowId xmlns:a16="http://schemas.microsoft.com/office/drawing/2014/main" val="10008"/>
                  </a:ext>
                </a:extLst>
              </a:tr>
              <a:tr h="347472">
                <a:tc>
                  <a:txBody>
                    <a:bodyPr/>
                    <a:lstStyle/>
                    <a:p>
                      <a:pPr algn="l"/>
                      <a:r>
                        <a:rPr sz="1200" b="0">
                          <a:solidFill>
                            <a:srgbClr val="2C3E50"/>
                          </a:solidFill>
                          <a:latin typeface="Calibri"/>
                          <a:ea typeface="微软雅黑"/>
                          <a:cs typeface="Calibri"/>
                        </a:rPr>
                        <a:t>Recirculating chiller</a:t>
                      </a:r>
                    </a:p>
                  </a:txBody>
                  <a:tcPr anchor="ctr">
                    <a:solidFill>
                      <a:srgbClr val="FFFFFF"/>
                    </a:solidFill>
                  </a:tcPr>
                </a:tc>
                <a:tc>
                  <a:txBody>
                    <a:bodyPr/>
                    <a:lstStyle/>
                    <a:p>
                      <a:pPr algn="l"/>
                      <a:r>
                        <a:rPr sz="1200" b="0">
                          <a:solidFill>
                            <a:srgbClr val="2C3E50"/>
                          </a:solidFill>
                          <a:latin typeface="Calibri"/>
                          <a:ea typeface="微软雅黑"/>
                          <a:cs typeface="Calibri"/>
                        </a:rPr>
                        <a:t>FH1</a:t>
                      </a:r>
                    </a:p>
                  </a:txBody>
                  <a:tcPr anchor="ctr">
                    <a:solidFill>
                      <a:srgbClr val="FFFFFF"/>
                    </a:solidFill>
                  </a:tcPr>
                </a:tc>
                <a:tc>
                  <a:txBody>
                    <a:bodyPr/>
                    <a:lstStyle/>
                    <a:p>
                      <a:pPr algn="l"/>
                      <a:r>
                        <a:rPr sz="1200" b="0">
                          <a:solidFill>
                            <a:srgbClr val="2C3E50"/>
                          </a:solidFill>
                          <a:latin typeface="Calibri"/>
                          <a:ea typeface="微软雅黑"/>
                          <a:cs typeface="Calibri"/>
                        </a:rPr>
                        <a:t>Huber</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C9A227"/>
                          </a:solidFill>
                          <a:latin typeface="Calibri"/>
                          <a:ea typeface="微软雅黑"/>
                          <a:cs typeface="Calibri"/>
                        </a:rPr>
                        <a:t>Phase 2</a:t>
                      </a:r>
                    </a:p>
                  </a:txBody>
                  <a:tcPr anchor="ctr">
                    <a:solidFill>
                      <a:srgbClr val="FFFFFF"/>
                    </a:solidFill>
                  </a:tcPr>
                </a:tc>
                <a:tc>
                  <a:txBody>
                    <a:bodyPr/>
                    <a:lstStyle/>
                    <a:p>
                      <a:pPr algn="r"/>
                      <a:r>
                        <a:rPr sz="1200" b="1">
                          <a:solidFill>
                            <a:srgbClr val="2C3E50"/>
                          </a:solidFill>
                          <a:latin typeface="Calibri"/>
                          <a:ea typeface="微软雅黑"/>
                          <a:cs typeface="Calibri"/>
                        </a:rPr>
                        <a:t>£23,000</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extLst>
                  <a:ext uri="{0D108BD9-81ED-4DB2-BD59-A6C34878D82A}">
                    <a16:rowId xmlns:a16="http://schemas.microsoft.com/office/drawing/2014/main" val="10009"/>
                  </a:ext>
                </a:extLst>
              </a:tr>
              <a:tr h="347472">
                <a:tc>
                  <a:txBody>
                    <a:bodyPr/>
                    <a:lstStyle/>
                    <a:p>
                      <a:pPr algn="l"/>
                      <a:r>
                        <a:rPr sz="1200" b="0">
                          <a:solidFill>
                            <a:srgbClr val="2C3E50"/>
                          </a:solidFill>
                          <a:latin typeface="Calibri"/>
                          <a:ea typeface="微软雅黑"/>
                          <a:cs typeface="Calibri"/>
                        </a:rPr>
                        <a:t>Analytical balance</a:t>
                      </a:r>
                    </a:p>
                  </a:txBody>
                  <a:tcPr anchor="ctr">
                    <a:solidFill>
                      <a:srgbClr val="F6F8FA"/>
                    </a:solidFill>
                  </a:tcPr>
                </a:tc>
                <a:tc>
                  <a:txBody>
                    <a:bodyPr/>
                    <a:lstStyle/>
                    <a:p>
                      <a:pPr algn="l"/>
                      <a:r>
                        <a:rPr sz="1200" b="0">
                          <a:solidFill>
                            <a:srgbClr val="2C3E50"/>
                          </a:solidFill>
                          <a:latin typeface="Calibri"/>
                          <a:ea typeface="微软雅黑"/>
                          <a:cs typeface="Calibri"/>
                        </a:rPr>
                        <a:t>Either/or</a:t>
                      </a:r>
                    </a:p>
                  </a:txBody>
                  <a:tcPr anchor="ctr">
                    <a:solidFill>
                      <a:srgbClr val="F6F8FA"/>
                    </a:solidFill>
                  </a:tcPr>
                </a:tc>
                <a:tc>
                  <a:txBody>
                    <a:bodyPr/>
                    <a:lstStyle/>
                    <a:p>
                      <a:pPr algn="l"/>
                      <a:r>
                        <a:rPr sz="1200" b="0">
                          <a:solidFill>
                            <a:srgbClr val="2C3E50"/>
                          </a:solidFill>
                          <a:latin typeface="Calibri"/>
                          <a:ea typeface="微软雅黑"/>
                          <a:cs typeface="Calibri"/>
                        </a:rPr>
                        <a:t>Mettler Toledo</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1F7A6F"/>
                          </a:solidFill>
                          <a:latin typeface="Calibri"/>
                          <a:ea typeface="微软雅黑"/>
                          <a:cs typeface="Calibri"/>
                        </a:rPr>
                        <a:t>Phase 1</a:t>
                      </a:r>
                    </a:p>
                  </a:txBody>
                  <a:tcPr anchor="ctr">
                    <a:solidFill>
                      <a:srgbClr val="F6F8FA"/>
                    </a:solidFill>
                  </a:tcPr>
                </a:tc>
                <a:tc>
                  <a:txBody>
                    <a:bodyPr/>
                    <a:lstStyle/>
                    <a:p>
                      <a:pPr algn="r"/>
                      <a:r>
                        <a:rPr sz="1200" b="1">
                          <a:solidFill>
                            <a:srgbClr val="2C3E50"/>
                          </a:solidFill>
                          <a:latin typeface="Calibri"/>
                          <a:ea typeface="微软雅黑"/>
                          <a:cs typeface="Calibri"/>
                        </a:rPr>
                        <a:t>£20,000</a:t>
                      </a:r>
                    </a:p>
                  </a:txBody>
                  <a:tcPr anchor="ctr">
                    <a:solidFill>
                      <a:srgbClr val="F6F8FA"/>
                    </a:solidFill>
                  </a:tcPr>
                </a:tc>
                <a:tc>
                  <a:txBody>
                    <a:bodyPr/>
                    <a:lstStyle/>
                    <a:p>
                      <a:pPr algn="r"/>
                      <a:r>
                        <a:rPr sz="1200" b="1">
                          <a:solidFill>
                            <a:srgbClr val="2C3E50"/>
                          </a:solidFill>
                          <a:latin typeface="Calibri"/>
                          <a:ea typeface="微软雅黑"/>
                          <a:cs typeface="Calibri"/>
                        </a:rPr>
                        <a:t>£20,000</a:t>
                      </a:r>
                    </a:p>
                  </a:txBody>
                  <a:tcPr anchor="ctr">
                    <a:solidFill>
                      <a:srgbClr val="F6F8FA"/>
                    </a:solidFill>
                  </a:tcPr>
                </a:tc>
                <a:extLst>
                  <a:ext uri="{0D108BD9-81ED-4DB2-BD59-A6C34878D82A}">
                    <a16:rowId xmlns:a16="http://schemas.microsoft.com/office/drawing/2014/main" val="10010"/>
                  </a:ext>
                </a:extLst>
              </a:tr>
              <a:tr h="347472">
                <a:tc>
                  <a:txBody>
                    <a:bodyPr/>
                    <a:lstStyle/>
                    <a:p>
                      <a:pPr algn="l"/>
                      <a:r>
                        <a:rPr sz="1200" b="0">
                          <a:solidFill>
                            <a:srgbClr val="2C3E50"/>
                          </a:solidFill>
                          <a:latin typeface="Calibri"/>
                          <a:ea typeface="微软雅黑"/>
                          <a:cs typeface="Calibri"/>
                        </a:rPr>
                        <a:t>Large-scale balance</a:t>
                      </a:r>
                    </a:p>
                  </a:txBody>
                  <a:tcPr anchor="ctr">
                    <a:solidFill>
                      <a:srgbClr val="FFFFFF"/>
                    </a:solidFill>
                  </a:tcPr>
                </a:tc>
                <a:tc>
                  <a:txBody>
                    <a:bodyPr/>
                    <a:lstStyle/>
                    <a:p>
                      <a:pPr algn="l"/>
                      <a:r>
                        <a:rPr sz="1200" b="0">
                          <a:solidFill>
                            <a:srgbClr val="2C3E50"/>
                          </a:solidFill>
                          <a:latin typeface="Calibri"/>
                          <a:ea typeface="微软雅黑"/>
                          <a:cs typeface="Calibri"/>
                        </a:rPr>
                        <a:t>Either/or</a:t>
                      </a:r>
                    </a:p>
                  </a:txBody>
                  <a:tcPr anchor="ctr">
                    <a:solidFill>
                      <a:srgbClr val="FFFFFF"/>
                    </a:solidFill>
                  </a:tcPr>
                </a:tc>
                <a:tc>
                  <a:txBody>
                    <a:bodyPr/>
                    <a:lstStyle/>
                    <a:p>
                      <a:pPr algn="l"/>
                      <a:r>
                        <a:rPr sz="1200" b="0">
                          <a:solidFill>
                            <a:srgbClr val="2C3E50"/>
                          </a:solidFill>
                          <a:latin typeface="Calibri"/>
                          <a:ea typeface="微软雅黑"/>
                          <a:cs typeface="Calibri"/>
                        </a:rPr>
                        <a:t>Sartorius</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£1,000</a:t>
                      </a:r>
                    </a:p>
                  </a:txBody>
                  <a:tcPr anchor="ctr">
                    <a:solidFill>
                      <a:srgbClr val="FFFFFF"/>
                    </a:solidFill>
                  </a:tcPr>
                </a:tc>
                <a:tc>
                  <a:txBody>
                    <a:bodyPr/>
                    <a:lstStyle/>
                    <a:p>
                      <a:pPr algn="r"/>
                      <a:r>
                        <a:rPr sz="1200" b="1">
                          <a:solidFill>
                            <a:srgbClr val="2C3E50"/>
                          </a:solidFill>
                          <a:latin typeface="Calibri"/>
                          <a:ea typeface="微软雅黑"/>
                          <a:cs typeface="Calibri"/>
                        </a:rPr>
                        <a:t>£1,000</a:t>
                      </a:r>
                    </a:p>
                  </a:txBody>
                  <a:tcPr anchor="ctr">
                    <a:solidFill>
                      <a:srgbClr val="FFFFFF"/>
                    </a:solidFill>
                  </a:tcPr>
                </a:tc>
                <a:extLst>
                  <a:ext uri="{0D108BD9-81ED-4DB2-BD59-A6C34878D82A}">
                    <a16:rowId xmlns:a16="http://schemas.microsoft.com/office/drawing/2014/main" val="10011"/>
                  </a:ext>
                </a:extLst>
              </a:tr>
              <a:tr h="347472">
                <a:tc>
                  <a:txBody>
                    <a:bodyPr/>
                    <a:lstStyle/>
                    <a:p>
                      <a:pPr algn="l"/>
                      <a:r>
                        <a:rPr sz="1200" b="0">
                          <a:solidFill>
                            <a:srgbClr val="2C3E50"/>
                          </a:solidFill>
                          <a:latin typeface="Calibri"/>
                          <a:ea typeface="微软雅黑"/>
                          <a:cs typeface="Calibri"/>
                        </a:rPr>
                        <a:t>EasyMax reactor system</a:t>
                      </a:r>
                    </a:p>
                  </a:txBody>
                  <a:tcPr anchor="ctr">
                    <a:solidFill>
                      <a:srgbClr val="F6F8FA"/>
                    </a:solidFill>
                  </a:tcPr>
                </a:tc>
                <a:tc>
                  <a:txBody>
                    <a:bodyPr/>
                    <a:lstStyle/>
                    <a:p>
                      <a:pPr algn="l"/>
                      <a:r>
                        <a:rPr sz="1200" b="0">
                          <a:solidFill>
                            <a:srgbClr val="2C3E50"/>
                          </a:solidFill>
                          <a:latin typeface="Calibri"/>
                          <a:ea typeface="微软雅黑"/>
                          <a:cs typeface="Calibri"/>
                        </a:rPr>
                        <a:t>FH2</a:t>
                      </a:r>
                    </a:p>
                  </a:txBody>
                  <a:tcPr anchor="ctr">
                    <a:solidFill>
                      <a:srgbClr val="F6F8FA"/>
                    </a:solidFill>
                  </a:tcPr>
                </a:tc>
                <a:tc>
                  <a:txBody>
                    <a:bodyPr/>
                    <a:lstStyle/>
                    <a:p>
                      <a:pPr algn="l"/>
                      <a:r>
                        <a:rPr sz="1200" b="0">
                          <a:solidFill>
                            <a:srgbClr val="2C3E50"/>
                          </a:solidFill>
                          <a:latin typeface="Calibri"/>
                          <a:ea typeface="微软雅黑"/>
                          <a:cs typeface="Calibri"/>
                        </a:rPr>
                        <a:t>Mettler Toledo</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1F7A6F"/>
                          </a:solidFill>
                          <a:latin typeface="Calibri"/>
                          <a:ea typeface="微软雅黑"/>
                          <a:cs typeface="Calibri"/>
                        </a:rPr>
                        <a:t>Phase 1</a:t>
                      </a:r>
                    </a:p>
                  </a:txBody>
                  <a:tcPr anchor="ctr">
                    <a:solidFill>
                      <a:srgbClr val="F6F8FA"/>
                    </a:solidFill>
                  </a:tcPr>
                </a:tc>
                <a:tc>
                  <a:txBody>
                    <a:bodyPr/>
                    <a:lstStyle/>
                    <a:p>
                      <a:pPr algn="r"/>
                      <a:r>
                        <a:rPr sz="1200" b="1">
                          <a:solidFill>
                            <a:srgbClr val="2C3E50"/>
                          </a:solidFill>
                          <a:latin typeface="Calibri"/>
                          <a:ea typeface="微软雅黑"/>
                          <a:cs typeface="Calibri"/>
                        </a:rPr>
                        <a:t>£160,000</a:t>
                      </a:r>
                    </a:p>
                  </a:txBody>
                  <a:tcPr anchor="ctr">
                    <a:solidFill>
                      <a:srgbClr val="F6F8FA"/>
                    </a:solidFill>
                  </a:tcPr>
                </a:tc>
                <a:tc>
                  <a:txBody>
                    <a:bodyPr/>
                    <a:lstStyle/>
                    <a:p>
                      <a:pPr algn="r"/>
                      <a:r>
                        <a:rPr sz="1200" b="1">
                          <a:solidFill>
                            <a:srgbClr val="2C3E50"/>
                          </a:solidFill>
                          <a:latin typeface="Calibri"/>
                          <a:ea typeface="微软雅黑"/>
                          <a:cs typeface="Calibri"/>
                        </a:rPr>
                        <a:t>£80,000</a:t>
                      </a:r>
                    </a:p>
                  </a:txBody>
                  <a:tcPr anchor="ctr">
                    <a:solidFill>
                      <a:srgbClr val="F6F8FA"/>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27 / 31</a:t>
            </a:r>
          </a:p>
        </p:txBody>
      </p:sp>
      <p:sp>
        <p:nvSpPr>
          <p:cNvPr id="10" name="Rectangle 9"/>
          <p:cNvSpPr/>
          <p:nvPr/>
        </p:nvSpPr>
        <p:spPr>
          <a:xfrm>
            <a:off x="384048" y="164592"/>
            <a:ext cx="82296" cy="71323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Equipment supplied and installed by the owner (Asymchem)</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CRD（2/2）</a:t>
            </a:r>
          </a:p>
        </p:txBody>
      </p:sp>
      <p:sp>
        <p:nvSpPr>
          <p:cNvPr id="13" name="Rounded Rectangle 12"/>
          <p:cNvSpPr/>
          <p:nvPr/>
        </p:nvSpPr>
        <p:spPr>
          <a:xfrm>
            <a:off x="384048" y="1005840"/>
            <a:ext cx="11423599" cy="420624"/>
          </a:xfrm>
          <a:prstGeom prst="roundRect">
            <a:avLst>
              <a:gd name="adj" fmla="val 8000"/>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216" y="1060704"/>
            <a:ext cx="6766560" cy="310896"/>
          </a:xfrm>
          <a:prstGeom prst="rect">
            <a:avLst/>
          </a:prstGeom>
          <a:noFill/>
        </p:spPr>
        <p:txBody>
          <a:bodyPr wrap="square" anchor="t">
            <a:spAutoFit/>
          </a:bodyPr>
          <a:lstStyle/>
          <a:p>
            <a:pPr algn="l"/>
            <a:r>
              <a:rPr sz="1400" b="1">
                <a:solidFill>
                  <a:srgbClr val="FFFFFF"/>
                </a:solidFill>
                <a:latin typeface="Calibri"/>
                <a:ea typeface="微软雅黑"/>
                <a:cs typeface="Calibri"/>
              </a:rPr>
              <a:t>This group, to purchase £497,100  ·  Phase 1 £125,500</a:t>
            </a:r>
          </a:p>
        </p:txBody>
      </p:sp>
      <p:sp>
        <p:nvSpPr>
          <p:cNvPr id="15" name="TextBox 14"/>
          <p:cNvSpPr txBox="1"/>
          <p:nvPr/>
        </p:nvSpPr>
        <p:spPr>
          <a:xfrm>
            <a:off x="7333488" y="1060704"/>
            <a:ext cx="4206240" cy="310896"/>
          </a:xfrm>
          <a:prstGeom prst="rect">
            <a:avLst/>
          </a:prstGeom>
          <a:noFill/>
        </p:spPr>
        <p:txBody>
          <a:bodyPr wrap="square" anchor="t">
            <a:spAutoFit/>
          </a:bodyPr>
          <a:lstStyle/>
          <a:p>
            <a:pPr algn="r"/>
            <a:r>
              <a:rPr sz="1500" b="1">
                <a:solidFill>
                  <a:srgbClr val="FFFFFF"/>
                </a:solidFill>
                <a:latin typeface="Calibri"/>
                <a:ea typeface="微软雅黑"/>
                <a:cs typeface="Calibri"/>
              </a:rPr>
              <a:t>Phase 1 total £963,445</a:t>
            </a:r>
          </a:p>
        </p:txBody>
      </p:sp>
      <p:graphicFrame>
        <p:nvGraphicFramePr>
          <p:cNvPr id="16" name="Table 15"/>
          <p:cNvGraphicFramePr>
            <a:graphicFrameLocks noGrp="1"/>
          </p:cNvGraphicFramePr>
          <p:nvPr/>
        </p:nvGraphicFramePr>
        <p:xfrm>
          <a:off x="384048" y="1536192"/>
          <a:ext cx="11368735" cy="347472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gridCol w="1630375">
                  <a:extLst>
                    <a:ext uri="{9D8B030D-6E8A-4147-A177-3AD203B41FA5}">
                      <a16:colId xmlns:a16="http://schemas.microsoft.com/office/drawing/2014/main" val="20006"/>
                    </a:ext>
                  </a:extLst>
                </a:gridCol>
              </a:tblGrid>
              <a:tr h="347472">
                <a:tc>
                  <a:txBody>
                    <a:bodyPr/>
                    <a:lstStyle/>
                    <a:p>
                      <a:pPr algn="l"/>
                      <a:r>
                        <a:rPr sz="1100" b="1">
                          <a:solidFill>
                            <a:srgbClr val="FFFFFF"/>
                          </a:solidFill>
                          <a:latin typeface="Calibri"/>
                          <a:ea typeface="微软雅黑"/>
                          <a:cs typeface="Calibri"/>
                        </a:rPr>
                        <a:t>Item</a:t>
                      </a:r>
                    </a:p>
                  </a:txBody>
                  <a:tcPr anchor="ctr">
                    <a:solidFill>
                      <a:srgbClr val="0F2B46"/>
                    </a:solidFill>
                  </a:tcPr>
                </a:tc>
                <a:tc>
                  <a:txBody>
                    <a:bodyPr/>
                    <a:lstStyle/>
                    <a:p>
                      <a:pPr algn="l"/>
                      <a:r>
                        <a:rPr sz="1100" b="1">
                          <a:solidFill>
                            <a:srgbClr val="FFFFFF"/>
                          </a:solidFill>
                          <a:latin typeface="Calibri"/>
                          <a:ea typeface="微软雅黑"/>
                          <a:cs typeface="Calibri"/>
                        </a:rPr>
                        <a:t>Location</a:t>
                      </a:r>
                    </a:p>
                  </a:txBody>
                  <a:tcPr anchor="ctr">
                    <a:solidFill>
                      <a:srgbClr val="0F2B46"/>
                    </a:solidFill>
                  </a:tcPr>
                </a:tc>
                <a:tc>
                  <a:txBody>
                    <a:bodyPr/>
                    <a:lstStyle/>
                    <a:p>
                      <a:pPr algn="l"/>
                      <a:r>
                        <a:rPr sz="1100" b="1">
                          <a:solidFill>
                            <a:srgbClr val="FFFFFF"/>
                          </a:solidFill>
                          <a:latin typeface="Calibri"/>
                          <a:ea typeface="微软雅黑"/>
                          <a:cs typeface="Calibri"/>
                        </a:rPr>
                        <a:t>Manufacturer</a:t>
                      </a:r>
                    </a:p>
                  </a:txBody>
                  <a:tcPr anchor="ctr">
                    <a:solidFill>
                      <a:srgbClr val="0F2B46"/>
                    </a:solidFill>
                  </a:tcPr>
                </a:tc>
                <a:tc>
                  <a:txBody>
                    <a:bodyPr/>
                    <a:lstStyle/>
                    <a:p>
                      <a:pPr algn="ctr"/>
                      <a:r>
                        <a:rPr sz="1100" b="1">
                          <a:solidFill>
                            <a:srgbClr val="FFFFFF"/>
                          </a:solidFill>
                          <a:latin typeface="Calibri"/>
                          <a:ea typeface="微软雅黑"/>
                          <a:cs typeface="Calibri"/>
                        </a:rPr>
                        <a:t>New / existing</a:t>
                      </a:r>
                    </a:p>
                  </a:txBody>
                  <a:tcPr anchor="ctr">
                    <a:solidFill>
                      <a:srgbClr val="0F2B46"/>
                    </a:solidFill>
                  </a:tcPr>
                </a:tc>
                <a:tc>
                  <a:txBody>
                    <a:bodyPr/>
                    <a:lstStyle/>
                    <a:p>
                      <a:pPr algn="ctr"/>
                      <a:r>
                        <a:rPr sz="1100" b="1">
                          <a:solidFill>
                            <a:srgbClr val="FFFFFF"/>
                          </a:solidFill>
                          <a:latin typeface="Calibri"/>
                          <a:ea typeface="微软雅黑"/>
                          <a:cs typeface="Calibri"/>
                        </a:rPr>
                        <a:t>Phase</a:t>
                      </a:r>
                    </a:p>
                  </a:txBody>
                  <a:tcPr anchor="ctr">
                    <a:solidFill>
                      <a:srgbClr val="0F2B46"/>
                    </a:solidFill>
                  </a:tcPr>
                </a:tc>
                <a:tc>
                  <a:txBody>
                    <a:bodyPr/>
                    <a:lstStyle/>
                    <a:p>
                      <a:pPr algn="r"/>
                      <a:r>
                        <a:rPr sz="1100" b="1">
                          <a:solidFill>
                            <a:srgbClr val="FFFFFF"/>
                          </a:solidFill>
                          <a:latin typeface="Calibri"/>
                          <a:ea typeface="微软雅黑"/>
                          <a:cs typeface="Calibri"/>
                        </a:rPr>
                        <a:t>To purchase</a:t>
                      </a:r>
                    </a:p>
                  </a:txBody>
                  <a:tcPr anchor="ctr">
                    <a:solidFill>
                      <a:srgbClr val="0F2B46"/>
                    </a:solidFill>
                  </a:tcPr>
                </a:tc>
                <a:tc>
                  <a:txBody>
                    <a:bodyPr/>
                    <a:lstStyle/>
                    <a:p>
                      <a:pPr algn="r"/>
                      <a:r>
                        <a:rPr sz="1100" b="1">
                          <a:solidFill>
                            <a:srgbClr val="FFFFFF"/>
                          </a:solidFill>
                          <a:latin typeface="Calibri"/>
                          <a:ea typeface="微软雅黑"/>
                          <a:cs typeface="Calibri"/>
                        </a:rPr>
                        <a:t>Phase 1</a:t>
                      </a:r>
                    </a:p>
                  </a:txBody>
                  <a:tcPr anchor="ctr">
                    <a:solidFill>
                      <a:srgbClr val="0F2B46"/>
                    </a:solidFill>
                  </a:tcPr>
                </a:tc>
                <a:extLst>
                  <a:ext uri="{0D108BD9-81ED-4DB2-BD59-A6C34878D82A}">
                    <a16:rowId xmlns:a16="http://schemas.microsoft.com/office/drawing/2014/main" val="10000"/>
                  </a:ext>
                </a:extLst>
              </a:tr>
              <a:tr h="347472">
                <a:tc>
                  <a:txBody>
                    <a:bodyPr/>
                    <a:lstStyle/>
                    <a:p>
                      <a:pPr algn="l"/>
                      <a:r>
                        <a:rPr sz="1200" b="0">
                          <a:solidFill>
                            <a:srgbClr val="2C3E50"/>
                          </a:solidFill>
                          <a:latin typeface="Calibri"/>
                          <a:ea typeface="微软雅黑"/>
                          <a:cs typeface="Calibri"/>
                        </a:rPr>
                        <a:t>Chiller</a:t>
                      </a:r>
                    </a:p>
                  </a:txBody>
                  <a:tcPr anchor="ctr">
                    <a:solidFill>
                      <a:srgbClr val="FFFFFF"/>
                    </a:solidFill>
                  </a:tcPr>
                </a:tc>
                <a:tc>
                  <a:txBody>
                    <a:bodyPr/>
                    <a:lstStyle/>
                    <a:p>
                      <a:pPr algn="l"/>
                      <a:r>
                        <a:rPr sz="1200" b="0">
                          <a:solidFill>
                            <a:srgbClr val="2C3E50"/>
                          </a:solidFill>
                          <a:latin typeface="Calibri"/>
                          <a:ea typeface="微软雅黑"/>
                          <a:cs typeface="Calibri"/>
                        </a:rPr>
                        <a:t>FH2</a:t>
                      </a:r>
                    </a:p>
                  </a:txBody>
                  <a:tcPr anchor="ctr">
                    <a:solidFill>
                      <a:srgbClr val="FFFFFF"/>
                    </a:solidFill>
                  </a:tcPr>
                </a:tc>
                <a:tc>
                  <a:txBody>
                    <a:bodyPr/>
                    <a:lstStyle/>
                    <a:p>
                      <a:pPr algn="l"/>
                      <a:r>
                        <a:rPr sz="1200" b="0">
                          <a:solidFill>
                            <a:srgbClr val="2C3E50"/>
                          </a:solidFill>
                          <a:latin typeface="Calibri"/>
                          <a:ea typeface="微软雅黑"/>
                          <a:cs typeface="Calibri"/>
                        </a:rPr>
                        <a:t>Julabo</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£24,000</a:t>
                      </a:r>
                    </a:p>
                  </a:txBody>
                  <a:tcPr anchor="ctr">
                    <a:solidFill>
                      <a:srgbClr val="FFFFFF"/>
                    </a:solidFill>
                  </a:tcPr>
                </a:tc>
                <a:tc>
                  <a:txBody>
                    <a:bodyPr/>
                    <a:lstStyle/>
                    <a:p>
                      <a:pPr algn="r"/>
                      <a:r>
                        <a:rPr sz="1200" b="1">
                          <a:solidFill>
                            <a:srgbClr val="2C3E50"/>
                          </a:solidFill>
                          <a:latin typeface="Calibri"/>
                          <a:ea typeface="微软雅黑"/>
                          <a:cs typeface="Calibri"/>
                        </a:rPr>
                        <a:t>£12,000</a:t>
                      </a:r>
                    </a:p>
                  </a:txBody>
                  <a:tcPr anchor="ctr">
                    <a:solidFill>
                      <a:srgbClr val="FFFFFF"/>
                    </a:solidFill>
                  </a:tcPr>
                </a:tc>
                <a:extLst>
                  <a:ext uri="{0D108BD9-81ED-4DB2-BD59-A6C34878D82A}">
                    <a16:rowId xmlns:a16="http://schemas.microsoft.com/office/drawing/2014/main" val="10001"/>
                  </a:ext>
                </a:extLst>
              </a:tr>
              <a:tr h="347472">
                <a:tc>
                  <a:txBody>
                    <a:bodyPr/>
                    <a:lstStyle/>
                    <a:p>
                      <a:pPr algn="l"/>
                      <a:r>
                        <a:rPr sz="1200" b="0">
                          <a:solidFill>
                            <a:srgbClr val="2C3E50"/>
                          </a:solidFill>
                          <a:latin typeface="Calibri"/>
                          <a:ea typeface="微软雅黑"/>
                          <a:cs typeface="Calibri"/>
                        </a:rPr>
                        <a:t>Stem heating blocks</a:t>
                      </a:r>
                    </a:p>
                  </a:txBody>
                  <a:tcPr anchor="ctr">
                    <a:solidFill>
                      <a:srgbClr val="F6F8FA"/>
                    </a:solidFill>
                  </a:tcPr>
                </a:tc>
                <a:tc>
                  <a:txBody>
                    <a:bodyPr/>
                    <a:lstStyle/>
                    <a:p>
                      <a:pPr algn="l"/>
                      <a:r>
                        <a:rPr sz="1200" b="0">
                          <a:solidFill>
                            <a:srgbClr val="2C3E50"/>
                          </a:solidFill>
                          <a:latin typeface="Calibri"/>
                          <a:ea typeface="微软雅黑"/>
                          <a:cs typeface="Calibri"/>
                        </a:rPr>
                        <a:t>FH3</a:t>
                      </a:r>
                    </a:p>
                  </a:txBody>
                  <a:tcPr anchor="ctr">
                    <a:solidFill>
                      <a:srgbClr val="F6F8FA"/>
                    </a:solidFill>
                  </a:tcPr>
                </a:tc>
                <a:tc>
                  <a:txBody>
                    <a:bodyPr/>
                    <a:lstStyle/>
                    <a:p>
                      <a:pPr algn="l"/>
                      <a:r>
                        <a:rPr sz="1200" b="0">
                          <a:solidFill>
                            <a:srgbClr val="2C3E50"/>
                          </a:solidFill>
                          <a:latin typeface="Calibri"/>
                          <a:ea typeface="微软雅黑"/>
                          <a:cs typeface="Calibri"/>
                        </a:rPr>
                        <a:t>Electrothermal</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C9A227"/>
                          </a:solidFill>
                          <a:latin typeface="Calibri"/>
                          <a:ea typeface="微软雅黑"/>
                          <a:cs typeface="Calibri"/>
                        </a:rPr>
                        <a:t>Phase 2</a:t>
                      </a:r>
                    </a:p>
                  </a:txBody>
                  <a:tcPr anchor="ctr">
                    <a:solidFill>
                      <a:srgbClr val="F6F8FA"/>
                    </a:solidFill>
                  </a:tcPr>
                </a:tc>
                <a:tc>
                  <a:txBody>
                    <a:bodyPr/>
                    <a:lstStyle/>
                    <a:p>
                      <a:pPr algn="r"/>
                      <a:r>
                        <a:rPr sz="1200" b="1">
                          <a:solidFill>
                            <a:srgbClr val="2C3E50"/>
                          </a:solidFill>
                          <a:latin typeface="Calibri"/>
                          <a:ea typeface="微软雅黑"/>
                          <a:cs typeface="Calibri"/>
                        </a:rPr>
                        <a:t>£2,000</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extLst>
                  <a:ext uri="{0D108BD9-81ED-4DB2-BD59-A6C34878D82A}">
                    <a16:rowId xmlns:a16="http://schemas.microsoft.com/office/drawing/2014/main" val="10002"/>
                  </a:ext>
                </a:extLst>
              </a:tr>
              <a:tr h="347472">
                <a:tc>
                  <a:txBody>
                    <a:bodyPr/>
                    <a:lstStyle/>
                    <a:p>
                      <a:pPr algn="l"/>
                      <a:r>
                        <a:rPr sz="1200" b="0">
                          <a:solidFill>
                            <a:srgbClr val="2C3E50"/>
                          </a:solidFill>
                          <a:latin typeface="Calibri"/>
                          <a:ea typeface="微软雅黑"/>
                          <a:cs typeface="Calibri"/>
                        </a:rPr>
                        <a:t>Stirrer hotplate</a:t>
                      </a:r>
                    </a:p>
                  </a:txBody>
                  <a:tcPr anchor="ctr">
                    <a:solidFill>
                      <a:srgbClr val="FFFFFF"/>
                    </a:solidFill>
                  </a:tcPr>
                </a:tc>
                <a:tc>
                  <a:txBody>
                    <a:bodyPr/>
                    <a:lstStyle/>
                    <a:p>
                      <a:pPr algn="l"/>
                      <a:r>
                        <a:rPr sz="1200" b="0">
                          <a:solidFill>
                            <a:srgbClr val="2C3E50"/>
                          </a:solidFill>
                          <a:latin typeface="Calibri"/>
                          <a:ea typeface="微软雅黑"/>
                          <a:cs typeface="Calibri"/>
                        </a:rPr>
                        <a:t>FH3</a:t>
                      </a:r>
                    </a:p>
                  </a:txBody>
                  <a:tcPr anchor="ctr">
                    <a:solidFill>
                      <a:srgbClr val="FFFFFF"/>
                    </a:solidFill>
                  </a:tcPr>
                </a:tc>
                <a:tc>
                  <a:txBody>
                    <a:bodyPr/>
                    <a:lstStyle/>
                    <a:p>
                      <a:pPr algn="l"/>
                      <a:r>
                        <a:rPr sz="1200" b="0">
                          <a:solidFill>
                            <a:srgbClr val="2C3E50"/>
                          </a:solidFill>
                          <a:latin typeface="Calibri"/>
                          <a:ea typeface="微软雅黑"/>
                          <a:cs typeface="Calibri"/>
                        </a:rPr>
                        <a:t>IKA</a:t>
                      </a:r>
                    </a:p>
                  </a:txBody>
                  <a:tcPr anchor="ctr">
                    <a:solidFill>
                      <a:srgbClr val="FFFFFF"/>
                    </a:solidFill>
                  </a:tcPr>
                </a:tc>
                <a:tc>
                  <a:txBody>
                    <a:bodyPr/>
                    <a:lstStyle/>
                    <a:p>
                      <a:pPr algn="ctr"/>
                      <a:r>
                        <a:rPr sz="1200" b="1">
                          <a:solidFill>
                            <a:srgbClr val="5A6A7A"/>
                          </a:solidFill>
                          <a:latin typeface="Calibri"/>
                          <a:ea typeface="微软雅黑"/>
                          <a:cs typeface="Calibri"/>
                        </a:rPr>
                        <a:t>Existing</a:t>
                      </a:r>
                    </a:p>
                  </a:txBody>
                  <a:tcPr anchor="ctr">
                    <a:solidFill>
                      <a:srgbClr val="FFFFFF"/>
                    </a:solidFill>
                  </a:tcPr>
                </a:tc>
                <a:tc>
                  <a:txBody>
                    <a:bodyPr/>
                    <a:lstStyle/>
                    <a:p>
                      <a:pPr algn="ctr"/>
                      <a:r>
                        <a:rPr sz="1200" b="1">
                          <a:solidFill>
                            <a:srgbClr val="C9A227"/>
                          </a:solidFill>
                          <a:latin typeface="Calibri"/>
                          <a:ea typeface="微软雅黑"/>
                          <a:cs typeface="Calibri"/>
                        </a:rPr>
                        <a:t>Phase 2</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extLst>
                  <a:ext uri="{0D108BD9-81ED-4DB2-BD59-A6C34878D82A}">
                    <a16:rowId xmlns:a16="http://schemas.microsoft.com/office/drawing/2014/main" val="10003"/>
                  </a:ext>
                </a:extLst>
              </a:tr>
              <a:tr h="347472">
                <a:tc>
                  <a:txBody>
                    <a:bodyPr/>
                    <a:lstStyle/>
                    <a:p>
                      <a:pPr algn="l"/>
                      <a:r>
                        <a:rPr sz="1200" b="0">
                          <a:solidFill>
                            <a:srgbClr val="2C3E50"/>
                          </a:solidFill>
                          <a:latin typeface="Calibri"/>
                          <a:ea typeface="微软雅黑"/>
                          <a:cs typeface="Calibri"/>
                        </a:rPr>
                        <a:t>Biotage</a:t>
                      </a:r>
                    </a:p>
                  </a:txBody>
                  <a:tcPr anchor="ctr">
                    <a:solidFill>
                      <a:srgbClr val="F6F8FA"/>
                    </a:solidFill>
                  </a:tcPr>
                </a:tc>
                <a:tc>
                  <a:txBody>
                    <a:bodyPr/>
                    <a:lstStyle/>
                    <a:p>
                      <a:pPr algn="l"/>
                      <a:r>
                        <a:rPr sz="1200" b="0">
                          <a:solidFill>
                            <a:srgbClr val="2C3E50"/>
                          </a:solidFill>
                          <a:latin typeface="Calibri"/>
                          <a:ea typeface="微软雅黑"/>
                          <a:cs typeface="Calibri"/>
                        </a:rPr>
                        <a:t>FH4 - Flexible</a:t>
                      </a:r>
                    </a:p>
                  </a:txBody>
                  <a:tcPr anchor="ctr">
                    <a:solidFill>
                      <a:srgbClr val="F6F8FA"/>
                    </a:solidFill>
                  </a:tcPr>
                </a:tc>
                <a:tc>
                  <a:txBody>
                    <a:bodyPr/>
                    <a:lstStyle/>
                    <a:p>
                      <a:pPr algn="l"/>
                      <a:r>
                        <a:rPr sz="1200" b="0">
                          <a:solidFill>
                            <a:srgbClr val="2C3E50"/>
                          </a:solidFill>
                          <a:latin typeface="Calibri"/>
                          <a:ea typeface="微软雅黑"/>
                          <a:cs typeface="Calibri"/>
                        </a:rPr>
                        <a:t>Biotage</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C9A227"/>
                          </a:solidFill>
                          <a:latin typeface="Calibri"/>
                          <a:ea typeface="微软雅黑"/>
                          <a:cs typeface="Calibri"/>
                        </a:rPr>
                        <a:t>Phase 2</a:t>
                      </a:r>
                    </a:p>
                  </a:txBody>
                  <a:tcPr anchor="ctr">
                    <a:solidFill>
                      <a:srgbClr val="F6F8FA"/>
                    </a:solidFill>
                  </a:tcPr>
                </a:tc>
                <a:tc>
                  <a:txBody>
                    <a:bodyPr/>
                    <a:lstStyle/>
                    <a:p>
                      <a:pPr algn="r"/>
                      <a:r>
                        <a:rPr sz="1200" b="1">
                          <a:solidFill>
                            <a:srgbClr val="2C3E50"/>
                          </a:solidFill>
                          <a:latin typeface="Calibri"/>
                          <a:ea typeface="微软雅黑"/>
                          <a:cs typeface="Calibri"/>
                        </a:rPr>
                        <a:t>£12,000</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extLst>
                  <a:ext uri="{0D108BD9-81ED-4DB2-BD59-A6C34878D82A}">
                    <a16:rowId xmlns:a16="http://schemas.microsoft.com/office/drawing/2014/main" val="10004"/>
                  </a:ext>
                </a:extLst>
              </a:tr>
              <a:tr h="347472">
                <a:tc>
                  <a:txBody>
                    <a:bodyPr/>
                    <a:lstStyle/>
                    <a:p>
                      <a:pPr algn="l"/>
                      <a:r>
                        <a:rPr sz="1200" b="0">
                          <a:solidFill>
                            <a:srgbClr val="2C3E50"/>
                          </a:solidFill>
                          <a:latin typeface="Calibri"/>
                          <a:ea typeface="微软雅黑"/>
                          <a:cs typeface="Calibri"/>
                        </a:rPr>
                        <a:t>Rotary evaporator</a:t>
                      </a:r>
                    </a:p>
                  </a:txBody>
                  <a:tcPr anchor="ctr">
                    <a:solidFill>
                      <a:srgbClr val="FFFFFF"/>
                    </a:solidFill>
                  </a:tcPr>
                </a:tc>
                <a:tc>
                  <a:txBody>
                    <a:bodyPr/>
                    <a:lstStyle/>
                    <a:p>
                      <a:pPr algn="l"/>
                      <a:r>
                        <a:rPr sz="1200" b="0">
                          <a:solidFill>
                            <a:srgbClr val="2C3E50"/>
                          </a:solidFill>
                          <a:latin typeface="Calibri"/>
                          <a:ea typeface="微软雅黑"/>
                          <a:cs typeface="Calibri"/>
                        </a:rPr>
                        <a:t>FH4 - Flexible</a:t>
                      </a:r>
                    </a:p>
                  </a:txBody>
                  <a:tcPr anchor="ctr">
                    <a:solidFill>
                      <a:srgbClr val="FFFFFF"/>
                    </a:solidFill>
                  </a:tcPr>
                </a:tc>
                <a:tc>
                  <a:txBody>
                    <a:bodyPr/>
                    <a:lstStyle/>
                    <a:p>
                      <a:pPr algn="l"/>
                      <a:r>
                        <a:rPr sz="1200" b="0">
                          <a:solidFill>
                            <a:srgbClr val="2C3E50"/>
                          </a:solidFill>
                          <a:latin typeface="Calibri"/>
                          <a:ea typeface="微软雅黑"/>
                          <a:cs typeface="Calibri"/>
                        </a:rPr>
                        <a:t>Heidolph</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1F7A6F"/>
                          </a:solidFill>
                          <a:latin typeface="Calibri"/>
                          <a:ea typeface="微软雅黑"/>
                          <a:cs typeface="Calibri"/>
                        </a:rPr>
                        <a:t>Phase 1</a:t>
                      </a:r>
                    </a:p>
                  </a:txBody>
                  <a:tcPr anchor="ctr">
                    <a:solidFill>
                      <a:srgbClr val="FFFFFF"/>
                    </a:solidFill>
                  </a:tcPr>
                </a:tc>
                <a:tc>
                  <a:txBody>
                    <a:bodyPr/>
                    <a:lstStyle/>
                    <a:p>
                      <a:pPr algn="r"/>
                      <a:r>
                        <a:rPr sz="1200" b="1">
                          <a:solidFill>
                            <a:srgbClr val="2C3E50"/>
                          </a:solidFill>
                          <a:latin typeface="Calibri"/>
                          <a:ea typeface="微软雅黑"/>
                          <a:cs typeface="Calibri"/>
                        </a:rPr>
                        <a:t>£6,000</a:t>
                      </a:r>
                    </a:p>
                  </a:txBody>
                  <a:tcPr anchor="ctr">
                    <a:solidFill>
                      <a:srgbClr val="FFFFFF"/>
                    </a:solidFill>
                  </a:tcPr>
                </a:tc>
                <a:tc>
                  <a:txBody>
                    <a:bodyPr/>
                    <a:lstStyle/>
                    <a:p>
                      <a:pPr algn="r"/>
                      <a:r>
                        <a:rPr sz="1200" b="1">
                          <a:solidFill>
                            <a:srgbClr val="2C3E50"/>
                          </a:solidFill>
                          <a:latin typeface="Calibri"/>
                          <a:ea typeface="微软雅黑"/>
                          <a:cs typeface="Calibri"/>
                        </a:rPr>
                        <a:t>£6,000</a:t>
                      </a:r>
                    </a:p>
                  </a:txBody>
                  <a:tcPr anchor="ctr">
                    <a:solidFill>
                      <a:srgbClr val="FFFFFF"/>
                    </a:solidFill>
                  </a:tcPr>
                </a:tc>
                <a:extLst>
                  <a:ext uri="{0D108BD9-81ED-4DB2-BD59-A6C34878D82A}">
                    <a16:rowId xmlns:a16="http://schemas.microsoft.com/office/drawing/2014/main" val="10005"/>
                  </a:ext>
                </a:extLst>
              </a:tr>
              <a:tr h="347472">
                <a:tc>
                  <a:txBody>
                    <a:bodyPr/>
                    <a:lstStyle/>
                    <a:p>
                      <a:pPr algn="l"/>
                      <a:r>
                        <a:rPr sz="1200" b="0">
                          <a:solidFill>
                            <a:srgbClr val="2C3E50"/>
                          </a:solidFill>
                          <a:latin typeface="Calibri"/>
                          <a:ea typeface="微软雅黑"/>
                          <a:cs typeface="Calibri"/>
                        </a:rPr>
                        <a:t>Vacuum pump</a:t>
                      </a:r>
                    </a:p>
                  </a:txBody>
                  <a:tcPr anchor="ctr">
                    <a:solidFill>
                      <a:srgbClr val="F6F8FA"/>
                    </a:solidFill>
                  </a:tcPr>
                </a:tc>
                <a:tc>
                  <a:txBody>
                    <a:bodyPr/>
                    <a:lstStyle/>
                    <a:p>
                      <a:pPr algn="l"/>
                      <a:r>
                        <a:rPr sz="1200" b="0">
                          <a:solidFill>
                            <a:srgbClr val="2C3E50"/>
                          </a:solidFill>
                          <a:latin typeface="Calibri"/>
                          <a:ea typeface="微软雅黑"/>
                          <a:cs typeface="Calibri"/>
                        </a:rPr>
                        <a:t>FH4 - Flexible</a:t>
                      </a:r>
                    </a:p>
                  </a:txBody>
                  <a:tcPr anchor="ctr">
                    <a:solidFill>
                      <a:srgbClr val="F6F8FA"/>
                    </a:solidFill>
                  </a:tcPr>
                </a:tc>
                <a:tc>
                  <a:txBody>
                    <a:bodyPr/>
                    <a:lstStyle/>
                    <a:p>
                      <a:pPr algn="l"/>
                      <a:r>
                        <a:rPr sz="1200" b="0">
                          <a:solidFill>
                            <a:srgbClr val="2C3E50"/>
                          </a:solidFill>
                          <a:latin typeface="Calibri"/>
                          <a:ea typeface="微软雅黑"/>
                          <a:cs typeface="Calibri"/>
                        </a:rPr>
                        <a:t>Vacuubrand</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1F7A6F"/>
                          </a:solidFill>
                          <a:latin typeface="Calibri"/>
                          <a:ea typeface="微软雅黑"/>
                          <a:cs typeface="Calibri"/>
                        </a:rPr>
                        <a:t>Phase 1</a:t>
                      </a:r>
                    </a:p>
                  </a:txBody>
                  <a:tcPr anchor="ctr">
                    <a:solidFill>
                      <a:srgbClr val="F6F8FA"/>
                    </a:solidFill>
                  </a:tcPr>
                </a:tc>
                <a:tc>
                  <a:txBody>
                    <a:bodyPr/>
                    <a:lstStyle/>
                    <a:p>
                      <a:pPr algn="r"/>
                      <a:r>
                        <a:rPr sz="1200" b="1">
                          <a:solidFill>
                            <a:srgbClr val="2C3E50"/>
                          </a:solidFill>
                          <a:latin typeface="Calibri"/>
                          <a:ea typeface="微软雅黑"/>
                          <a:cs typeface="Calibri"/>
                        </a:rPr>
                        <a:t>£5,000</a:t>
                      </a:r>
                    </a:p>
                  </a:txBody>
                  <a:tcPr anchor="ctr">
                    <a:solidFill>
                      <a:srgbClr val="F6F8FA"/>
                    </a:solidFill>
                  </a:tcPr>
                </a:tc>
                <a:tc>
                  <a:txBody>
                    <a:bodyPr/>
                    <a:lstStyle/>
                    <a:p>
                      <a:pPr algn="r"/>
                      <a:r>
                        <a:rPr sz="1200" b="1">
                          <a:solidFill>
                            <a:srgbClr val="2C3E50"/>
                          </a:solidFill>
                          <a:latin typeface="Calibri"/>
                          <a:ea typeface="微软雅黑"/>
                          <a:cs typeface="Calibri"/>
                        </a:rPr>
                        <a:t>£5,000</a:t>
                      </a:r>
                    </a:p>
                  </a:txBody>
                  <a:tcPr anchor="ctr">
                    <a:solidFill>
                      <a:srgbClr val="F6F8FA"/>
                    </a:solidFill>
                  </a:tcPr>
                </a:tc>
                <a:extLst>
                  <a:ext uri="{0D108BD9-81ED-4DB2-BD59-A6C34878D82A}">
                    <a16:rowId xmlns:a16="http://schemas.microsoft.com/office/drawing/2014/main" val="10006"/>
                  </a:ext>
                </a:extLst>
              </a:tr>
              <a:tr h="347472">
                <a:tc>
                  <a:txBody>
                    <a:bodyPr/>
                    <a:lstStyle/>
                    <a:p>
                      <a:pPr algn="l"/>
                      <a:r>
                        <a:rPr sz="1200" b="0">
                          <a:solidFill>
                            <a:srgbClr val="2C3E50"/>
                          </a:solidFill>
                          <a:latin typeface="Calibri"/>
                          <a:ea typeface="微软雅黑"/>
                          <a:cs typeface="Calibri"/>
                        </a:rPr>
                        <a:t>Overhead stirrer</a:t>
                      </a:r>
                    </a:p>
                  </a:txBody>
                  <a:tcPr anchor="ctr">
                    <a:solidFill>
                      <a:srgbClr val="FFFFFF"/>
                    </a:solidFill>
                  </a:tcPr>
                </a:tc>
                <a:tc>
                  <a:txBody>
                    <a:bodyPr/>
                    <a:lstStyle/>
                    <a:p>
                      <a:pPr algn="l"/>
                      <a:r>
                        <a:rPr sz="1200" b="0">
                          <a:solidFill>
                            <a:srgbClr val="2C3E50"/>
                          </a:solidFill>
                          <a:latin typeface="Calibri"/>
                          <a:ea typeface="微软雅黑"/>
                          <a:cs typeface="Calibri"/>
                        </a:rPr>
                        <a:t>FH4 - Flexible</a:t>
                      </a:r>
                    </a:p>
                  </a:txBody>
                  <a:tcPr anchor="ctr">
                    <a:solidFill>
                      <a:srgbClr val="FFFFFF"/>
                    </a:solidFill>
                  </a:tcPr>
                </a:tc>
                <a:tc>
                  <a:txBody>
                    <a:bodyPr/>
                    <a:lstStyle/>
                    <a:p>
                      <a:pPr algn="l"/>
                      <a:r>
                        <a:rPr sz="1200" b="0">
                          <a:solidFill>
                            <a:srgbClr val="2C3E50"/>
                          </a:solidFill>
                          <a:latin typeface="Calibri"/>
                          <a:ea typeface="微软雅黑"/>
                          <a:cs typeface="Calibri"/>
                        </a:rPr>
                        <a:t>—</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C9A227"/>
                          </a:solidFill>
                          <a:latin typeface="Calibri"/>
                          <a:ea typeface="微软雅黑"/>
                          <a:cs typeface="Calibri"/>
                        </a:rPr>
                        <a:t>Phase 2</a:t>
                      </a:r>
                    </a:p>
                  </a:txBody>
                  <a:tcPr anchor="ctr">
                    <a:solidFill>
                      <a:srgbClr val="FFFFFF"/>
                    </a:solidFill>
                  </a:tcPr>
                </a:tc>
                <a:tc>
                  <a:txBody>
                    <a:bodyPr/>
                    <a:lstStyle/>
                    <a:p>
                      <a:pPr algn="r"/>
                      <a:r>
                        <a:rPr sz="1200" b="1">
                          <a:solidFill>
                            <a:srgbClr val="2C3E50"/>
                          </a:solidFill>
                          <a:latin typeface="Calibri"/>
                          <a:ea typeface="微软雅黑"/>
                          <a:cs typeface="Calibri"/>
                        </a:rPr>
                        <a:t>£1,000</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extLst>
                  <a:ext uri="{0D108BD9-81ED-4DB2-BD59-A6C34878D82A}">
                    <a16:rowId xmlns:a16="http://schemas.microsoft.com/office/drawing/2014/main" val="10007"/>
                  </a:ext>
                </a:extLst>
              </a:tr>
              <a:tr h="347472">
                <a:tc>
                  <a:txBody>
                    <a:bodyPr/>
                    <a:lstStyle/>
                    <a:p>
                      <a:pPr algn="l"/>
                      <a:r>
                        <a:rPr sz="1200" b="0">
                          <a:solidFill>
                            <a:srgbClr val="2C3E50"/>
                          </a:solidFill>
                          <a:latin typeface="Calibri"/>
                          <a:ea typeface="微软雅黑"/>
                          <a:cs typeface="Calibri"/>
                        </a:rPr>
                        <a:t>Software (TBC)</a:t>
                      </a:r>
                    </a:p>
                  </a:txBody>
                  <a:tcPr anchor="ctr">
                    <a:solidFill>
                      <a:srgbClr val="F6F8FA"/>
                    </a:solidFill>
                  </a:tcPr>
                </a:tc>
                <a:tc>
                  <a:txBody>
                    <a:bodyPr/>
                    <a:lstStyle/>
                    <a:p>
                      <a:pPr algn="l"/>
                      <a:r>
                        <a:rPr sz="1200" b="0">
                          <a:solidFill>
                            <a:srgbClr val="2C3E50"/>
                          </a:solidFill>
                          <a:latin typeface="Calibri"/>
                          <a:ea typeface="微软雅黑"/>
                          <a:cs typeface="Calibri"/>
                        </a:rPr>
                        <a:t>Software</a:t>
                      </a:r>
                    </a:p>
                  </a:txBody>
                  <a:tcPr anchor="ctr">
                    <a:solidFill>
                      <a:srgbClr val="F6F8FA"/>
                    </a:solidFill>
                  </a:tcPr>
                </a:tc>
                <a:tc>
                  <a:txBody>
                    <a:bodyPr/>
                    <a:lstStyle/>
                    <a:p>
                      <a:pPr algn="l"/>
                      <a:r>
                        <a:rPr sz="1200" b="0">
                          <a:solidFill>
                            <a:srgbClr val="2C3E50"/>
                          </a:solidFill>
                          <a:latin typeface="Calibri"/>
                          <a:ea typeface="微软雅黑"/>
                          <a:cs typeface="Calibri"/>
                        </a:rPr>
                        <a:t>—</a:t>
                      </a:r>
                    </a:p>
                  </a:txBody>
                  <a:tcPr anchor="ctr">
                    <a:solidFill>
                      <a:srgbClr val="F6F8FA"/>
                    </a:solidFill>
                  </a:tcPr>
                </a:tc>
                <a:tc>
                  <a:txBody>
                    <a:bodyPr/>
                    <a:lstStyle/>
                    <a:p>
                      <a:pPr algn="ctr"/>
                      <a:r>
                        <a:rPr sz="1200" b="1">
                          <a:solidFill>
                            <a:srgbClr val="1F7A6F"/>
                          </a:solidFill>
                          <a:latin typeface="Calibri"/>
                          <a:ea typeface="微软雅黑"/>
                          <a:cs typeface="Calibri"/>
                        </a:rPr>
                        <a:t>New</a:t>
                      </a:r>
                    </a:p>
                  </a:txBody>
                  <a:tcPr anchor="ctr">
                    <a:solidFill>
                      <a:srgbClr val="F6F8FA"/>
                    </a:solidFill>
                  </a:tcPr>
                </a:tc>
                <a:tc>
                  <a:txBody>
                    <a:bodyPr/>
                    <a:lstStyle/>
                    <a:p>
                      <a:pPr algn="ctr"/>
                      <a:r>
                        <a:rPr sz="1200" b="1">
                          <a:solidFill>
                            <a:srgbClr val="5A6A7A"/>
                          </a:solidFill>
                          <a:latin typeface="Calibri"/>
                          <a:ea typeface="微软雅黑"/>
                          <a:cs typeface="Calibri"/>
                        </a:rPr>
                        <a:t>Later</a:t>
                      </a:r>
                    </a:p>
                  </a:txBody>
                  <a:tcPr anchor="ctr">
                    <a:solidFill>
                      <a:srgbClr val="F6F8FA"/>
                    </a:solidFill>
                  </a:tcPr>
                </a:tc>
                <a:tc>
                  <a:txBody>
                    <a:bodyPr/>
                    <a:lstStyle/>
                    <a:p>
                      <a:pPr algn="r"/>
                      <a:r>
                        <a:rPr sz="1200" b="1">
                          <a:solidFill>
                            <a:srgbClr val="2C3E50"/>
                          </a:solidFill>
                          <a:latin typeface="Calibri"/>
                          <a:ea typeface="微软雅黑"/>
                          <a:cs typeface="Calibri"/>
                        </a:rPr>
                        <a:t>£200,000</a:t>
                      </a:r>
                    </a:p>
                  </a:txBody>
                  <a:tcPr anchor="ctr">
                    <a:solidFill>
                      <a:srgbClr val="F6F8FA"/>
                    </a:solidFill>
                  </a:tcPr>
                </a:tc>
                <a:tc>
                  <a:txBody>
                    <a:bodyPr/>
                    <a:lstStyle/>
                    <a:p>
                      <a:pPr algn="r"/>
                      <a:r>
                        <a:rPr sz="1200" b="1">
                          <a:solidFill>
                            <a:srgbClr val="2C3E50"/>
                          </a:solidFill>
                          <a:latin typeface="Calibri"/>
                          <a:ea typeface="微软雅黑"/>
                          <a:cs typeface="Calibri"/>
                        </a:rPr>
                        <a:t>—</a:t>
                      </a:r>
                    </a:p>
                  </a:txBody>
                  <a:tcPr anchor="ctr">
                    <a:solidFill>
                      <a:srgbClr val="F6F8FA"/>
                    </a:solidFill>
                  </a:tcPr>
                </a:tc>
                <a:extLst>
                  <a:ext uri="{0D108BD9-81ED-4DB2-BD59-A6C34878D82A}">
                    <a16:rowId xmlns:a16="http://schemas.microsoft.com/office/drawing/2014/main" val="10008"/>
                  </a:ext>
                </a:extLst>
              </a:tr>
              <a:tr h="347472">
                <a:tc>
                  <a:txBody>
                    <a:bodyPr/>
                    <a:lstStyle/>
                    <a:p>
                      <a:pPr algn="l"/>
                      <a:r>
                        <a:rPr sz="1200" b="0">
                          <a:solidFill>
                            <a:srgbClr val="2C3E50"/>
                          </a:solidFill>
                          <a:latin typeface="Calibri"/>
                          <a:ea typeface="微软雅黑"/>
                          <a:cs typeface="Calibri"/>
                        </a:rPr>
                        <a:t>Glasswash</a:t>
                      </a:r>
                    </a:p>
                  </a:txBody>
                  <a:tcPr anchor="ctr">
                    <a:solidFill>
                      <a:srgbClr val="FFFFFF"/>
                    </a:solidFill>
                  </a:tcPr>
                </a:tc>
                <a:tc>
                  <a:txBody>
                    <a:bodyPr/>
                    <a:lstStyle/>
                    <a:p>
                      <a:pPr algn="l"/>
                      <a:r>
                        <a:rPr sz="1200" b="0">
                          <a:solidFill>
                            <a:srgbClr val="2C3E50"/>
                          </a:solidFill>
                          <a:latin typeface="Calibri"/>
                          <a:ea typeface="微软雅黑"/>
                          <a:cs typeface="Calibri"/>
                        </a:rPr>
                        <a:t>Miscellaneous</a:t>
                      </a:r>
                    </a:p>
                  </a:txBody>
                  <a:tcPr anchor="ctr">
                    <a:solidFill>
                      <a:srgbClr val="FFFFFF"/>
                    </a:solidFill>
                  </a:tcPr>
                </a:tc>
                <a:tc>
                  <a:txBody>
                    <a:bodyPr/>
                    <a:lstStyle/>
                    <a:p>
                      <a:pPr algn="l"/>
                      <a:r>
                        <a:rPr sz="1200" b="0">
                          <a:solidFill>
                            <a:srgbClr val="2C3E50"/>
                          </a:solidFill>
                          <a:latin typeface="Calibri"/>
                          <a:ea typeface="微软雅黑"/>
                          <a:cs typeface="Calibri"/>
                        </a:rPr>
                        <a:t>Miele</a:t>
                      </a:r>
                    </a:p>
                  </a:txBody>
                  <a:tcPr anchor="ctr">
                    <a:solidFill>
                      <a:srgbClr val="FFFFFF"/>
                    </a:solidFill>
                  </a:tcPr>
                </a:tc>
                <a:tc>
                  <a:txBody>
                    <a:bodyPr/>
                    <a:lstStyle/>
                    <a:p>
                      <a:pPr algn="ctr"/>
                      <a:r>
                        <a:rPr sz="1200" b="1">
                          <a:solidFill>
                            <a:srgbClr val="1F7A6F"/>
                          </a:solidFill>
                          <a:latin typeface="Calibri"/>
                          <a:ea typeface="微软雅黑"/>
                          <a:cs typeface="Calibri"/>
                        </a:rPr>
                        <a:t>New</a:t>
                      </a:r>
                    </a:p>
                  </a:txBody>
                  <a:tcPr anchor="ctr">
                    <a:solidFill>
                      <a:srgbClr val="FFFFFF"/>
                    </a:solidFill>
                  </a:tcPr>
                </a:tc>
                <a:tc>
                  <a:txBody>
                    <a:bodyPr/>
                    <a:lstStyle/>
                    <a:p>
                      <a:pPr algn="ctr"/>
                      <a:r>
                        <a:rPr sz="1200" b="1">
                          <a:solidFill>
                            <a:srgbClr val="C9A227"/>
                          </a:solidFill>
                          <a:latin typeface="Calibri"/>
                          <a:ea typeface="微软雅黑"/>
                          <a:cs typeface="Calibri"/>
                        </a:rPr>
                        <a:t>Phase 2</a:t>
                      </a:r>
                    </a:p>
                  </a:txBody>
                  <a:tcPr anchor="ctr">
                    <a:solidFill>
                      <a:srgbClr val="FFFFFF"/>
                    </a:solidFill>
                  </a:tcPr>
                </a:tc>
                <a:tc>
                  <a:txBody>
                    <a:bodyPr/>
                    <a:lstStyle/>
                    <a:p>
                      <a:pPr algn="r"/>
                      <a:r>
                        <a:rPr sz="1200" b="1">
                          <a:solidFill>
                            <a:srgbClr val="2C3E50"/>
                          </a:solidFill>
                          <a:latin typeface="Calibri"/>
                          <a:ea typeface="微软雅黑"/>
                          <a:cs typeface="Calibri"/>
                        </a:rPr>
                        <a:t>£10,000</a:t>
                      </a:r>
                    </a:p>
                  </a:txBody>
                  <a:tcPr anchor="ctr">
                    <a:solidFill>
                      <a:srgbClr val="FFFFFF"/>
                    </a:solidFill>
                  </a:tcPr>
                </a:tc>
                <a:tc>
                  <a:txBody>
                    <a:bodyPr/>
                    <a:lstStyle/>
                    <a:p>
                      <a:pPr algn="r"/>
                      <a:r>
                        <a:rPr sz="1200" b="1">
                          <a:solidFill>
                            <a:srgbClr val="2C3E50"/>
                          </a:solidFill>
                          <a:latin typeface="Calibri"/>
                          <a:ea typeface="微软雅黑"/>
                          <a:cs typeface="Calibri"/>
                        </a:rPr>
                        <a:t>—</a:t>
                      </a:r>
                    </a:p>
                  </a:txBody>
                  <a:tcPr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28 / 31</a:t>
            </a:r>
          </a:p>
        </p:txBody>
      </p:sp>
      <p:sp>
        <p:nvSpPr>
          <p:cNvPr id="10" name="Rectangle 9"/>
          <p:cNvSpPr/>
          <p:nvPr/>
        </p:nvSpPr>
        <p:spPr>
          <a:xfrm>
            <a:off x="384048" y="164592"/>
            <a:ext cx="82296" cy="71323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High-potency laboratory · programme</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Asymchem Concept Programme_260727（DRAFT CONCEPT PROGRAMME）</a:t>
            </a:r>
          </a:p>
        </p:txBody>
      </p:sp>
      <p:sp>
        <p:nvSpPr>
          <p:cNvPr id="13" name="Rounded Rectangle 12"/>
          <p:cNvSpPr/>
          <p:nvPr/>
        </p:nvSpPr>
        <p:spPr>
          <a:xfrm>
            <a:off x="384048"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987552"/>
            <a:ext cx="82296" cy="80467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132392"/>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262 days</a:t>
            </a:r>
          </a:p>
        </p:txBody>
      </p:sp>
      <p:sp>
        <p:nvSpPr>
          <p:cNvPr id="16" name="TextBox 15"/>
          <p:cNvSpPr txBox="1"/>
          <p:nvPr/>
        </p:nvSpPr>
        <p:spPr>
          <a:xfrm>
            <a:off x="566928" y="1554480"/>
            <a:ext cx="2471851" cy="321868"/>
          </a:xfrm>
          <a:prstGeom prst="rect">
            <a:avLst/>
          </a:prstGeom>
          <a:noFill/>
        </p:spPr>
        <p:txBody>
          <a:bodyPr wrap="square" anchor="t">
            <a:spAutoFit/>
          </a:bodyPr>
          <a:lstStyle/>
          <a:p>
            <a:pPr algn="l"/>
            <a:r>
              <a:rPr sz="1200" b="0">
                <a:solidFill>
                  <a:srgbClr val="5A6A7A"/>
                </a:solidFill>
                <a:latin typeface="Calibri"/>
                <a:ea typeface="微软雅黑"/>
                <a:cs typeface="Calibri"/>
              </a:rPr>
              <a:t>Duration (working days)</a:t>
            </a:r>
          </a:p>
        </p:txBody>
      </p:sp>
      <p:sp>
        <p:nvSpPr>
          <p:cNvPr id="17" name="Rounded Rectangle 16"/>
          <p:cNvSpPr/>
          <p:nvPr/>
        </p:nvSpPr>
        <p:spPr>
          <a:xfrm>
            <a:off x="3276523"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76523" y="987552"/>
            <a:ext cx="82296" cy="80467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9403" y="1132392"/>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2026-10-13</a:t>
            </a:r>
          </a:p>
        </p:txBody>
      </p:sp>
      <p:sp>
        <p:nvSpPr>
          <p:cNvPr id="20" name="TextBox 19"/>
          <p:cNvSpPr txBox="1"/>
          <p:nvPr/>
        </p:nvSpPr>
        <p:spPr>
          <a:xfrm>
            <a:off x="3459403" y="1554480"/>
            <a:ext cx="2471851" cy="321868"/>
          </a:xfrm>
          <a:prstGeom prst="rect">
            <a:avLst/>
          </a:prstGeom>
          <a:noFill/>
        </p:spPr>
        <p:txBody>
          <a:bodyPr wrap="square" anchor="t">
            <a:spAutoFit/>
          </a:bodyPr>
          <a:lstStyle/>
          <a:p>
            <a:pPr algn="l"/>
            <a:r>
              <a:rPr sz="1000" b="0">
                <a:solidFill>
                  <a:srgbClr val="5A6A7A"/>
                </a:solidFill>
                <a:latin typeface="Calibri"/>
                <a:ea typeface="微软雅黑"/>
                <a:cs typeface="Calibri"/>
              </a:rPr>
              <a:t>Funding approval and decision to proceed</a:t>
            </a:r>
          </a:p>
        </p:txBody>
      </p:sp>
      <p:sp>
        <p:nvSpPr>
          <p:cNvPr id="21" name="Rounded Rectangle 20"/>
          <p:cNvSpPr/>
          <p:nvPr/>
        </p:nvSpPr>
        <p:spPr>
          <a:xfrm>
            <a:off x="6168999"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68999" y="987552"/>
            <a:ext cx="82296" cy="80467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1879" y="1132392"/>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2027-07-14</a:t>
            </a:r>
          </a:p>
        </p:txBody>
      </p:sp>
      <p:sp>
        <p:nvSpPr>
          <p:cNvPr id="24" name="TextBox 23"/>
          <p:cNvSpPr txBox="1"/>
          <p:nvPr/>
        </p:nvSpPr>
        <p:spPr>
          <a:xfrm>
            <a:off x="6351879" y="1554480"/>
            <a:ext cx="2471851" cy="321868"/>
          </a:xfrm>
          <a:prstGeom prst="rect">
            <a:avLst/>
          </a:prstGeom>
          <a:noFill/>
        </p:spPr>
        <p:txBody>
          <a:bodyPr wrap="square" anchor="t">
            <a:spAutoFit/>
          </a:bodyPr>
          <a:lstStyle/>
          <a:p>
            <a:pPr algn="l"/>
            <a:r>
              <a:rPr sz="1200" b="0">
                <a:solidFill>
                  <a:srgbClr val="5A6A7A"/>
                </a:solidFill>
                <a:latin typeface="Calibri"/>
                <a:ea typeface="微软雅黑"/>
                <a:cs typeface="Calibri"/>
              </a:rPr>
              <a:t>Isolators on site</a:t>
            </a:r>
          </a:p>
        </p:txBody>
      </p:sp>
      <p:sp>
        <p:nvSpPr>
          <p:cNvPr id="25" name="Rounded Rectangle 24"/>
          <p:cNvSpPr/>
          <p:nvPr/>
        </p:nvSpPr>
        <p:spPr>
          <a:xfrm>
            <a:off x="9061475" y="987552"/>
            <a:ext cx="2746171" cy="8046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61475" y="987552"/>
            <a:ext cx="82296" cy="804672"/>
          </a:xfrm>
          <a:prstGeom prst="rect">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44355" y="1132392"/>
            <a:ext cx="2471851" cy="457200"/>
          </a:xfrm>
          <a:prstGeom prst="rect">
            <a:avLst/>
          </a:prstGeom>
          <a:noFill/>
        </p:spPr>
        <p:txBody>
          <a:bodyPr wrap="square" anchor="t">
            <a:spAutoFit/>
          </a:bodyPr>
          <a:lstStyle/>
          <a:p>
            <a:pPr algn="l"/>
            <a:r>
              <a:rPr sz="2000" b="1">
                <a:solidFill>
                  <a:srgbClr val="0F2B46"/>
                </a:solidFill>
                <a:latin typeface="Calibri"/>
                <a:ea typeface="微软雅黑"/>
                <a:cs typeface="Calibri"/>
              </a:rPr>
              <a:t>2027-11-12</a:t>
            </a:r>
          </a:p>
        </p:txBody>
      </p:sp>
      <p:sp>
        <p:nvSpPr>
          <p:cNvPr id="28" name="TextBox 27"/>
          <p:cNvSpPr txBox="1"/>
          <p:nvPr/>
        </p:nvSpPr>
        <p:spPr>
          <a:xfrm>
            <a:off x="9244355" y="1554480"/>
            <a:ext cx="2471851" cy="321868"/>
          </a:xfrm>
          <a:prstGeom prst="rect">
            <a:avLst/>
          </a:prstGeom>
          <a:noFill/>
        </p:spPr>
        <p:txBody>
          <a:bodyPr wrap="square" anchor="t">
            <a:spAutoFit/>
          </a:bodyPr>
          <a:lstStyle/>
          <a:p>
            <a:pPr algn="l"/>
            <a:r>
              <a:rPr sz="1000" b="0">
                <a:solidFill>
                  <a:srgbClr val="5A6A7A"/>
                </a:solidFill>
                <a:latin typeface="Calibri"/>
                <a:ea typeface="微软雅黑"/>
                <a:cs typeface="Calibri"/>
              </a:rPr>
              <a:t>Target delivery (including programme risk)</a:t>
            </a:r>
          </a:p>
        </p:txBody>
      </p:sp>
      <p:sp>
        <p:nvSpPr>
          <p:cNvPr id="29" name="Rounded Rectangle 28"/>
          <p:cNvSpPr/>
          <p:nvPr/>
        </p:nvSpPr>
        <p:spPr>
          <a:xfrm>
            <a:off x="384048" y="1865376"/>
            <a:ext cx="11423599" cy="409651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384048" y="1865376"/>
            <a:ext cx="11423599" cy="4096512"/>
          </a:xfrm>
          <a:prstGeom prst="roundRect">
            <a:avLst>
              <a:gd name="adj" fmla="val 4000"/>
            </a:avLst>
          </a:prstGeom>
          <a:no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60320" y="2167128"/>
            <a:ext cx="7674559" cy="10972"/>
          </a:xfrm>
          <a:prstGeom prst="rect">
            <a:avLst/>
          </a:prstGeom>
          <a:solidFill>
            <a:srgbClr val="DD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60320" y="2139696"/>
            <a:ext cx="10972" cy="3419856"/>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148839" y="1920240"/>
            <a:ext cx="822960" cy="219456"/>
          </a:xfrm>
          <a:prstGeom prst="rect">
            <a:avLst/>
          </a:prstGeom>
          <a:noFill/>
        </p:spPr>
        <p:txBody>
          <a:bodyPr wrap="none" anchor="ctr"/>
          <a:lstStyle/>
          <a:p>
            <a:pPr algn="l"/>
            <a:r>
              <a:rPr sz="1000" b="1">
                <a:solidFill>
                  <a:srgbClr val="5A6A7A"/>
                </a:solidFill>
                <a:latin typeface="Calibri"/>
                <a:ea typeface="微软雅黑"/>
                <a:cs typeface="Calibri"/>
              </a:rPr>
              <a:t>2026 H2</a:t>
            </a:r>
          </a:p>
        </p:txBody>
      </p:sp>
      <p:sp>
        <p:nvSpPr>
          <p:cNvPr id="34" name="Rectangle 33"/>
          <p:cNvSpPr/>
          <p:nvPr/>
        </p:nvSpPr>
        <p:spPr>
          <a:xfrm>
            <a:off x="4552439" y="2139696"/>
            <a:ext cx="10972" cy="3419856"/>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40959" y="1920240"/>
            <a:ext cx="822960" cy="219456"/>
          </a:xfrm>
          <a:prstGeom prst="rect">
            <a:avLst/>
          </a:prstGeom>
          <a:noFill/>
        </p:spPr>
        <p:txBody>
          <a:bodyPr wrap="none" anchor="ctr"/>
          <a:lstStyle/>
          <a:p>
            <a:pPr algn="ctr"/>
            <a:r>
              <a:rPr sz="1000" b="1">
                <a:solidFill>
                  <a:srgbClr val="5A6A7A"/>
                </a:solidFill>
                <a:latin typeface="Calibri"/>
                <a:ea typeface="微软雅黑"/>
                <a:cs typeface="Calibri"/>
              </a:rPr>
              <a:t>2027 H1</a:t>
            </a:r>
          </a:p>
        </p:txBody>
      </p:sp>
      <p:sp>
        <p:nvSpPr>
          <p:cNvPr id="36" name="Rectangle 35"/>
          <p:cNvSpPr/>
          <p:nvPr/>
        </p:nvSpPr>
        <p:spPr>
          <a:xfrm>
            <a:off x="7507961" y="2139696"/>
            <a:ext cx="10972" cy="3419856"/>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096481" y="1920240"/>
            <a:ext cx="822960" cy="219456"/>
          </a:xfrm>
          <a:prstGeom prst="rect">
            <a:avLst/>
          </a:prstGeom>
          <a:noFill/>
        </p:spPr>
        <p:txBody>
          <a:bodyPr wrap="none" anchor="ctr"/>
          <a:lstStyle/>
          <a:p>
            <a:pPr algn="ctr"/>
            <a:r>
              <a:rPr sz="1000" b="1">
                <a:solidFill>
                  <a:srgbClr val="5A6A7A"/>
                </a:solidFill>
                <a:latin typeface="Calibri"/>
                <a:ea typeface="微软雅黑"/>
                <a:cs typeface="Calibri"/>
              </a:rPr>
              <a:t>2027 H2</a:t>
            </a:r>
          </a:p>
        </p:txBody>
      </p:sp>
      <p:sp>
        <p:nvSpPr>
          <p:cNvPr id="38" name="TextBox 37"/>
          <p:cNvSpPr txBox="1"/>
          <p:nvPr/>
        </p:nvSpPr>
        <p:spPr>
          <a:xfrm>
            <a:off x="475488" y="2139696"/>
            <a:ext cx="2029967" cy="244275"/>
          </a:xfrm>
          <a:prstGeom prst="rect">
            <a:avLst/>
          </a:prstGeom>
          <a:noFill/>
        </p:spPr>
        <p:txBody>
          <a:bodyPr wrap="none" anchor="ctr"/>
          <a:lstStyle/>
          <a:p>
            <a:pPr algn="r"/>
            <a:r>
              <a:rPr sz="1000" b="1">
                <a:solidFill>
                  <a:srgbClr val="0F2B46"/>
                </a:solidFill>
                <a:latin typeface="Calibri"/>
                <a:ea typeface="微软雅黑"/>
                <a:cs typeface="Calibri"/>
              </a:rPr>
              <a:t>Funding approval</a:t>
            </a:r>
          </a:p>
        </p:txBody>
      </p:sp>
      <p:sp>
        <p:nvSpPr>
          <p:cNvPr id="39" name="Rounded Rectangle 38"/>
          <p:cNvSpPr/>
          <p:nvPr/>
        </p:nvSpPr>
        <p:spPr>
          <a:xfrm>
            <a:off x="2560320" y="2179537"/>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3246131" y="2197825"/>
            <a:ext cx="146304" cy="128016"/>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308031" y="2139696"/>
            <a:ext cx="1426464" cy="244275"/>
          </a:xfrm>
          <a:prstGeom prst="rect">
            <a:avLst/>
          </a:prstGeom>
          <a:noFill/>
        </p:spPr>
        <p:txBody>
          <a:bodyPr wrap="none" anchor="ctr"/>
          <a:lstStyle/>
          <a:p>
            <a:pPr algn="l"/>
            <a:r>
              <a:rPr sz="900" b="0">
                <a:solidFill>
                  <a:srgbClr val="5A6A7A"/>
                </a:solidFill>
                <a:latin typeface="Calibri"/>
                <a:ea typeface="微软雅黑"/>
                <a:cs typeface="Calibri"/>
              </a:rPr>
              <a:t>2026/10 – 2026/10</a:t>
            </a:r>
          </a:p>
        </p:txBody>
      </p:sp>
      <p:sp>
        <p:nvSpPr>
          <p:cNvPr id="42" name="Rectangle 41"/>
          <p:cNvSpPr/>
          <p:nvPr/>
        </p:nvSpPr>
        <p:spPr>
          <a:xfrm>
            <a:off x="457200" y="2383971"/>
            <a:ext cx="11277295" cy="24427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75488" y="2383971"/>
            <a:ext cx="2029967" cy="244275"/>
          </a:xfrm>
          <a:prstGeom prst="rect">
            <a:avLst/>
          </a:prstGeom>
          <a:noFill/>
        </p:spPr>
        <p:txBody>
          <a:bodyPr wrap="none" anchor="ctr"/>
          <a:lstStyle/>
          <a:p>
            <a:pPr algn="r"/>
            <a:r>
              <a:rPr sz="800" b="1">
                <a:solidFill>
                  <a:srgbClr val="0F2B46"/>
                </a:solidFill>
                <a:latin typeface="Calibri"/>
                <a:ea typeface="微软雅黑"/>
                <a:cs typeface="Calibri"/>
              </a:rPr>
              <a:t>Appoint consultants + BoD</a:t>
            </a:r>
          </a:p>
        </p:txBody>
      </p:sp>
      <p:sp>
        <p:nvSpPr>
          <p:cNvPr id="44" name="Rounded Rectangle 43"/>
          <p:cNvSpPr/>
          <p:nvPr/>
        </p:nvSpPr>
        <p:spPr>
          <a:xfrm>
            <a:off x="2560320" y="2423813"/>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3246131" y="2442101"/>
            <a:ext cx="212275"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308031" y="2383971"/>
            <a:ext cx="1426464" cy="244275"/>
          </a:xfrm>
          <a:prstGeom prst="rect">
            <a:avLst/>
          </a:prstGeom>
          <a:noFill/>
        </p:spPr>
        <p:txBody>
          <a:bodyPr wrap="none" anchor="ctr"/>
          <a:lstStyle/>
          <a:p>
            <a:pPr algn="l"/>
            <a:r>
              <a:rPr sz="900" b="0">
                <a:solidFill>
                  <a:srgbClr val="5A6A7A"/>
                </a:solidFill>
                <a:latin typeface="Calibri"/>
                <a:ea typeface="微软雅黑"/>
                <a:cs typeface="Calibri"/>
              </a:rPr>
              <a:t>2026/10 – 2026/10</a:t>
            </a:r>
          </a:p>
        </p:txBody>
      </p:sp>
      <p:sp>
        <p:nvSpPr>
          <p:cNvPr id="47" name="TextBox 46"/>
          <p:cNvSpPr txBox="1"/>
          <p:nvPr/>
        </p:nvSpPr>
        <p:spPr>
          <a:xfrm>
            <a:off x="475488" y="2628246"/>
            <a:ext cx="2029967" cy="244275"/>
          </a:xfrm>
          <a:prstGeom prst="rect">
            <a:avLst/>
          </a:prstGeom>
          <a:noFill/>
        </p:spPr>
        <p:txBody>
          <a:bodyPr wrap="none" anchor="ctr"/>
          <a:lstStyle/>
          <a:p>
            <a:pPr algn="r"/>
            <a:r>
              <a:rPr sz="800" b="1">
                <a:solidFill>
                  <a:srgbClr val="0F2B46"/>
                </a:solidFill>
                <a:latin typeface="Calibri"/>
                <a:ea typeface="微软雅黑"/>
                <a:cs typeface="Calibri"/>
              </a:rPr>
              <a:t>Principal contractor tender and appointment</a:t>
            </a:r>
          </a:p>
        </p:txBody>
      </p:sp>
      <p:sp>
        <p:nvSpPr>
          <p:cNvPr id="48" name="Rounded Rectangle 47"/>
          <p:cNvSpPr/>
          <p:nvPr/>
        </p:nvSpPr>
        <p:spPr>
          <a:xfrm>
            <a:off x="2560320" y="2668088"/>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3474735" y="2686376"/>
            <a:ext cx="555180"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308031" y="2628246"/>
            <a:ext cx="1426464" cy="244275"/>
          </a:xfrm>
          <a:prstGeom prst="rect">
            <a:avLst/>
          </a:prstGeom>
          <a:noFill/>
        </p:spPr>
        <p:txBody>
          <a:bodyPr wrap="none" anchor="ctr"/>
          <a:lstStyle/>
          <a:p>
            <a:pPr algn="l"/>
            <a:r>
              <a:rPr sz="900" b="0">
                <a:solidFill>
                  <a:srgbClr val="5A6A7A"/>
                </a:solidFill>
                <a:latin typeface="Calibri"/>
                <a:ea typeface="微软雅黑"/>
                <a:cs typeface="Calibri"/>
              </a:rPr>
              <a:t>2026/10 – 2026/11</a:t>
            </a:r>
          </a:p>
        </p:txBody>
      </p:sp>
      <p:sp>
        <p:nvSpPr>
          <p:cNvPr id="51" name="Rectangle 50"/>
          <p:cNvSpPr/>
          <p:nvPr/>
        </p:nvSpPr>
        <p:spPr>
          <a:xfrm>
            <a:off x="457200" y="2872522"/>
            <a:ext cx="11277295" cy="24427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75488" y="2872522"/>
            <a:ext cx="2029967" cy="244275"/>
          </a:xfrm>
          <a:prstGeom prst="rect">
            <a:avLst/>
          </a:prstGeom>
          <a:noFill/>
        </p:spPr>
        <p:txBody>
          <a:bodyPr wrap="none" anchor="ctr"/>
          <a:lstStyle/>
          <a:p>
            <a:pPr algn="r"/>
            <a:r>
              <a:rPr sz="800" b="1">
                <a:solidFill>
                  <a:srgbClr val="0F2B46"/>
                </a:solidFill>
                <a:latin typeface="Calibri"/>
                <a:ea typeface="微软雅黑"/>
                <a:cs typeface="Calibri"/>
              </a:rPr>
              <a:t>Contract award and mobilisation</a:t>
            </a:r>
          </a:p>
        </p:txBody>
      </p:sp>
      <p:sp>
        <p:nvSpPr>
          <p:cNvPr id="53" name="Rounded Rectangle 52"/>
          <p:cNvSpPr/>
          <p:nvPr/>
        </p:nvSpPr>
        <p:spPr>
          <a:xfrm>
            <a:off x="2560320" y="2912364"/>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4029916" y="2930652"/>
            <a:ext cx="457207"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308031" y="2872522"/>
            <a:ext cx="1426464" cy="244275"/>
          </a:xfrm>
          <a:prstGeom prst="rect">
            <a:avLst/>
          </a:prstGeom>
          <a:noFill/>
        </p:spPr>
        <p:txBody>
          <a:bodyPr wrap="none" anchor="ctr"/>
          <a:lstStyle/>
          <a:p>
            <a:pPr algn="l"/>
            <a:r>
              <a:rPr sz="900" b="0">
                <a:solidFill>
                  <a:srgbClr val="5A6A7A"/>
                </a:solidFill>
                <a:latin typeface="Calibri"/>
                <a:ea typeface="微软雅黑"/>
                <a:cs typeface="Calibri"/>
              </a:rPr>
              <a:t>2026/11 – 2026/12</a:t>
            </a:r>
          </a:p>
        </p:txBody>
      </p:sp>
      <p:sp>
        <p:nvSpPr>
          <p:cNvPr id="56" name="TextBox 55"/>
          <p:cNvSpPr txBox="1"/>
          <p:nvPr/>
        </p:nvSpPr>
        <p:spPr>
          <a:xfrm>
            <a:off x="475488" y="3116797"/>
            <a:ext cx="2029967" cy="244275"/>
          </a:xfrm>
          <a:prstGeom prst="rect">
            <a:avLst/>
          </a:prstGeom>
          <a:noFill/>
        </p:spPr>
        <p:txBody>
          <a:bodyPr wrap="none" anchor="ctr"/>
          <a:lstStyle/>
          <a:p>
            <a:pPr algn="r"/>
            <a:r>
              <a:rPr sz="800" b="1">
                <a:solidFill>
                  <a:srgbClr val="0F2B46"/>
                </a:solidFill>
                <a:latin typeface="Calibri"/>
                <a:ea typeface="微软雅黑"/>
                <a:cs typeface="Calibri"/>
              </a:rPr>
              <a:t>Surveys and project controls</a:t>
            </a:r>
          </a:p>
        </p:txBody>
      </p:sp>
      <p:sp>
        <p:nvSpPr>
          <p:cNvPr id="57" name="Rounded Rectangle 56"/>
          <p:cNvSpPr/>
          <p:nvPr/>
        </p:nvSpPr>
        <p:spPr>
          <a:xfrm>
            <a:off x="2560320" y="3156639"/>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4503453" y="3174927"/>
            <a:ext cx="930744"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308031" y="3116797"/>
            <a:ext cx="1426464" cy="244275"/>
          </a:xfrm>
          <a:prstGeom prst="rect">
            <a:avLst/>
          </a:prstGeom>
          <a:noFill/>
        </p:spPr>
        <p:txBody>
          <a:bodyPr wrap="none" anchor="ctr"/>
          <a:lstStyle/>
          <a:p>
            <a:pPr algn="l"/>
            <a:r>
              <a:rPr sz="900" b="0">
                <a:solidFill>
                  <a:srgbClr val="5A6A7A"/>
                </a:solidFill>
                <a:latin typeface="Calibri"/>
                <a:ea typeface="微软雅黑"/>
                <a:cs typeface="Calibri"/>
              </a:rPr>
              <a:t>2026/12 – 2027/02</a:t>
            </a:r>
          </a:p>
        </p:txBody>
      </p:sp>
      <p:sp>
        <p:nvSpPr>
          <p:cNvPr id="60" name="Rectangle 59"/>
          <p:cNvSpPr/>
          <p:nvPr/>
        </p:nvSpPr>
        <p:spPr>
          <a:xfrm>
            <a:off x="457200" y="3361073"/>
            <a:ext cx="11277295" cy="24427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75488" y="3361073"/>
            <a:ext cx="2029967" cy="244275"/>
          </a:xfrm>
          <a:prstGeom prst="rect">
            <a:avLst/>
          </a:prstGeom>
          <a:noFill/>
        </p:spPr>
        <p:txBody>
          <a:bodyPr wrap="none" anchor="ctr"/>
          <a:lstStyle/>
          <a:p>
            <a:pPr algn="r"/>
            <a:r>
              <a:rPr sz="1000" b="1">
                <a:solidFill>
                  <a:srgbClr val="0F2B46"/>
                </a:solidFill>
                <a:latin typeface="Calibri"/>
                <a:ea typeface="微软雅黑"/>
                <a:cs typeface="Calibri"/>
              </a:rPr>
              <a:t>Laboratory design</a:t>
            </a:r>
          </a:p>
        </p:txBody>
      </p:sp>
      <p:sp>
        <p:nvSpPr>
          <p:cNvPr id="62" name="Rounded Rectangle 61"/>
          <p:cNvSpPr/>
          <p:nvPr/>
        </p:nvSpPr>
        <p:spPr>
          <a:xfrm>
            <a:off x="2560320" y="3400914"/>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4503453" y="3419202"/>
            <a:ext cx="1730858"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308031" y="3361073"/>
            <a:ext cx="1426464" cy="244275"/>
          </a:xfrm>
          <a:prstGeom prst="rect">
            <a:avLst/>
          </a:prstGeom>
          <a:noFill/>
        </p:spPr>
        <p:txBody>
          <a:bodyPr wrap="none" anchor="ctr"/>
          <a:lstStyle/>
          <a:p>
            <a:pPr algn="l"/>
            <a:r>
              <a:rPr sz="900" b="0">
                <a:solidFill>
                  <a:srgbClr val="5A6A7A"/>
                </a:solidFill>
                <a:latin typeface="Calibri"/>
                <a:ea typeface="微软雅黑"/>
                <a:cs typeface="Calibri"/>
              </a:rPr>
              <a:t>2026/12 – 2027/04</a:t>
            </a:r>
          </a:p>
        </p:txBody>
      </p:sp>
      <p:sp>
        <p:nvSpPr>
          <p:cNvPr id="65" name="TextBox 64"/>
          <p:cNvSpPr txBox="1"/>
          <p:nvPr/>
        </p:nvSpPr>
        <p:spPr>
          <a:xfrm>
            <a:off x="475488" y="3605348"/>
            <a:ext cx="2029967" cy="244275"/>
          </a:xfrm>
          <a:prstGeom prst="rect">
            <a:avLst/>
          </a:prstGeom>
          <a:noFill/>
        </p:spPr>
        <p:txBody>
          <a:bodyPr wrap="none" anchor="ctr"/>
          <a:lstStyle/>
          <a:p>
            <a:pPr algn="r"/>
            <a:r>
              <a:rPr sz="1000" b="1">
                <a:solidFill>
                  <a:srgbClr val="0F2B46"/>
                </a:solidFill>
                <a:latin typeface="Calibri"/>
                <a:ea typeface="微软雅黑"/>
                <a:cs typeface="Calibri"/>
              </a:rPr>
              <a:t>CDM</a:t>
            </a:r>
          </a:p>
        </p:txBody>
      </p:sp>
      <p:sp>
        <p:nvSpPr>
          <p:cNvPr id="66" name="Rounded Rectangle 65"/>
          <p:cNvSpPr/>
          <p:nvPr/>
        </p:nvSpPr>
        <p:spPr>
          <a:xfrm>
            <a:off x="2560320" y="3645190"/>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4503453" y="3663478"/>
            <a:ext cx="4490433" cy="128016"/>
          </a:xfrm>
          <a:prstGeom prst="roundRect">
            <a:avLst>
              <a:gd name="adj" fmla="val 42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308031" y="3605348"/>
            <a:ext cx="1426464" cy="244275"/>
          </a:xfrm>
          <a:prstGeom prst="rect">
            <a:avLst/>
          </a:prstGeom>
          <a:noFill/>
        </p:spPr>
        <p:txBody>
          <a:bodyPr wrap="none" anchor="ctr"/>
          <a:lstStyle/>
          <a:p>
            <a:pPr algn="l"/>
            <a:r>
              <a:rPr sz="900" b="0">
                <a:solidFill>
                  <a:srgbClr val="5A6A7A"/>
                </a:solidFill>
                <a:latin typeface="Calibri"/>
                <a:ea typeface="微软雅黑"/>
                <a:cs typeface="Calibri"/>
              </a:rPr>
              <a:t>2026/12 – 2027/09</a:t>
            </a:r>
          </a:p>
        </p:txBody>
      </p:sp>
      <p:sp>
        <p:nvSpPr>
          <p:cNvPr id="69" name="Rectangle 68"/>
          <p:cNvSpPr/>
          <p:nvPr/>
        </p:nvSpPr>
        <p:spPr>
          <a:xfrm>
            <a:off x="457200" y="3849624"/>
            <a:ext cx="11277295" cy="24427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75488" y="3849624"/>
            <a:ext cx="2029967" cy="244275"/>
          </a:xfrm>
          <a:prstGeom prst="rect">
            <a:avLst/>
          </a:prstGeom>
          <a:noFill/>
        </p:spPr>
        <p:txBody>
          <a:bodyPr wrap="none" anchor="ctr"/>
          <a:lstStyle/>
          <a:p>
            <a:pPr algn="r"/>
            <a:r>
              <a:rPr sz="800" b="1">
                <a:solidFill>
                  <a:srgbClr val="0F2B46"/>
                </a:solidFill>
                <a:latin typeface="Calibri"/>
                <a:ea typeface="微软雅黑"/>
                <a:cs typeface="Calibri"/>
              </a:rPr>
              <a:t>Isolator procurement and manufacture</a:t>
            </a:r>
          </a:p>
        </p:txBody>
      </p:sp>
      <p:sp>
        <p:nvSpPr>
          <p:cNvPr id="71" name="Rounded Rectangle 70"/>
          <p:cNvSpPr/>
          <p:nvPr/>
        </p:nvSpPr>
        <p:spPr>
          <a:xfrm>
            <a:off x="2560320" y="3889465"/>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4732056" y="3907753"/>
            <a:ext cx="2988179" cy="128016"/>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0308031" y="3849624"/>
            <a:ext cx="1426464" cy="244275"/>
          </a:xfrm>
          <a:prstGeom prst="rect">
            <a:avLst/>
          </a:prstGeom>
          <a:noFill/>
        </p:spPr>
        <p:txBody>
          <a:bodyPr wrap="none" anchor="ctr"/>
          <a:lstStyle/>
          <a:p>
            <a:pPr algn="l"/>
            <a:r>
              <a:rPr sz="900" b="0">
                <a:solidFill>
                  <a:srgbClr val="5A6A7A"/>
                </a:solidFill>
                <a:latin typeface="Calibri"/>
                <a:ea typeface="微软雅黑"/>
                <a:cs typeface="Calibri"/>
              </a:rPr>
              <a:t>2027/01 – 2027/07</a:t>
            </a:r>
          </a:p>
        </p:txBody>
      </p:sp>
      <p:sp>
        <p:nvSpPr>
          <p:cNvPr id="74" name="TextBox 73"/>
          <p:cNvSpPr txBox="1"/>
          <p:nvPr/>
        </p:nvSpPr>
        <p:spPr>
          <a:xfrm>
            <a:off x="475488" y="4093899"/>
            <a:ext cx="2029967" cy="244275"/>
          </a:xfrm>
          <a:prstGeom prst="rect">
            <a:avLst/>
          </a:prstGeom>
          <a:noFill/>
        </p:spPr>
        <p:txBody>
          <a:bodyPr wrap="none" anchor="ctr"/>
          <a:lstStyle/>
          <a:p>
            <a:pPr algn="r"/>
            <a:r>
              <a:rPr sz="800" b="1">
                <a:solidFill>
                  <a:srgbClr val="0F2B46"/>
                </a:solidFill>
                <a:latin typeface="Calibri"/>
                <a:ea typeface="微软雅黑"/>
                <a:cs typeface="Calibri"/>
              </a:rPr>
              <a:t>Fume cupboard procurement (TBC)</a:t>
            </a:r>
          </a:p>
        </p:txBody>
      </p:sp>
      <p:sp>
        <p:nvSpPr>
          <p:cNvPr id="75" name="Rounded Rectangle 74"/>
          <p:cNvSpPr/>
          <p:nvPr/>
        </p:nvSpPr>
        <p:spPr>
          <a:xfrm>
            <a:off x="2560320" y="4133741"/>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p:cNvSpPr/>
          <p:nvPr/>
        </p:nvSpPr>
        <p:spPr>
          <a:xfrm>
            <a:off x="4732056" y="4152029"/>
            <a:ext cx="2988179" cy="128016"/>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0308031" y="4093899"/>
            <a:ext cx="1426464" cy="244275"/>
          </a:xfrm>
          <a:prstGeom prst="rect">
            <a:avLst/>
          </a:prstGeom>
          <a:noFill/>
        </p:spPr>
        <p:txBody>
          <a:bodyPr wrap="none" anchor="ctr"/>
          <a:lstStyle/>
          <a:p>
            <a:pPr algn="l"/>
            <a:r>
              <a:rPr sz="900" b="0">
                <a:solidFill>
                  <a:srgbClr val="5A6A7A"/>
                </a:solidFill>
                <a:latin typeface="Calibri"/>
                <a:ea typeface="微软雅黑"/>
                <a:cs typeface="Calibri"/>
              </a:rPr>
              <a:t>2027/01 – 2027/07</a:t>
            </a:r>
          </a:p>
        </p:txBody>
      </p:sp>
      <p:sp>
        <p:nvSpPr>
          <p:cNvPr id="78" name="Rectangle 77"/>
          <p:cNvSpPr/>
          <p:nvPr/>
        </p:nvSpPr>
        <p:spPr>
          <a:xfrm>
            <a:off x="457200" y="4338174"/>
            <a:ext cx="11277295" cy="24427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75488" y="4338174"/>
            <a:ext cx="2029967" cy="244275"/>
          </a:xfrm>
          <a:prstGeom prst="rect">
            <a:avLst/>
          </a:prstGeom>
          <a:noFill/>
        </p:spPr>
        <p:txBody>
          <a:bodyPr wrap="none" anchor="ctr"/>
          <a:lstStyle/>
          <a:p>
            <a:pPr algn="r"/>
            <a:r>
              <a:rPr sz="800" b="1">
                <a:solidFill>
                  <a:srgbClr val="0F2B46"/>
                </a:solidFill>
                <a:latin typeface="Calibri"/>
                <a:ea typeface="微软雅黑"/>
                <a:cs typeface="Calibri"/>
              </a:rPr>
              <a:t>Laboratory furniture procurement</a:t>
            </a:r>
          </a:p>
        </p:txBody>
      </p:sp>
      <p:sp>
        <p:nvSpPr>
          <p:cNvPr id="80" name="Rounded Rectangle 79"/>
          <p:cNvSpPr/>
          <p:nvPr/>
        </p:nvSpPr>
        <p:spPr>
          <a:xfrm>
            <a:off x="2560320" y="4378016"/>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4732056" y="4396304"/>
            <a:ext cx="2449327" cy="128016"/>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0308031" y="4338174"/>
            <a:ext cx="1426464" cy="244275"/>
          </a:xfrm>
          <a:prstGeom prst="rect">
            <a:avLst/>
          </a:prstGeom>
          <a:noFill/>
        </p:spPr>
        <p:txBody>
          <a:bodyPr wrap="none" anchor="ctr"/>
          <a:lstStyle/>
          <a:p>
            <a:pPr algn="l"/>
            <a:r>
              <a:rPr sz="900" b="0">
                <a:solidFill>
                  <a:srgbClr val="5A6A7A"/>
                </a:solidFill>
                <a:latin typeface="Calibri"/>
                <a:ea typeface="微软雅黑"/>
                <a:cs typeface="Calibri"/>
              </a:rPr>
              <a:t>2027/01 – 2027/06</a:t>
            </a:r>
          </a:p>
        </p:txBody>
      </p:sp>
      <p:sp>
        <p:nvSpPr>
          <p:cNvPr id="83" name="TextBox 82"/>
          <p:cNvSpPr txBox="1"/>
          <p:nvPr/>
        </p:nvSpPr>
        <p:spPr>
          <a:xfrm>
            <a:off x="475488" y="4582450"/>
            <a:ext cx="2029967" cy="244275"/>
          </a:xfrm>
          <a:prstGeom prst="rect">
            <a:avLst/>
          </a:prstGeom>
          <a:noFill/>
        </p:spPr>
        <p:txBody>
          <a:bodyPr wrap="none" anchor="ctr"/>
          <a:lstStyle/>
          <a:p>
            <a:pPr algn="r"/>
            <a:r>
              <a:rPr sz="800" b="1">
                <a:solidFill>
                  <a:srgbClr val="0F2B46"/>
                </a:solidFill>
                <a:latin typeface="Calibri"/>
                <a:ea typeface="微软雅黑"/>
                <a:cs typeface="Calibri"/>
              </a:rPr>
              <a:t>Trade contractor tender</a:t>
            </a:r>
          </a:p>
        </p:txBody>
      </p:sp>
      <p:sp>
        <p:nvSpPr>
          <p:cNvPr id="84" name="Rounded Rectangle 83"/>
          <p:cNvSpPr/>
          <p:nvPr/>
        </p:nvSpPr>
        <p:spPr>
          <a:xfrm>
            <a:off x="2560320" y="4622292"/>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4732056" y="4640579"/>
            <a:ext cx="2220723" cy="128016"/>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0308031" y="4582450"/>
            <a:ext cx="1426464" cy="244275"/>
          </a:xfrm>
          <a:prstGeom prst="rect">
            <a:avLst/>
          </a:prstGeom>
          <a:noFill/>
        </p:spPr>
        <p:txBody>
          <a:bodyPr wrap="none" anchor="ctr"/>
          <a:lstStyle/>
          <a:p>
            <a:pPr algn="l"/>
            <a:r>
              <a:rPr sz="900" b="0">
                <a:solidFill>
                  <a:srgbClr val="5A6A7A"/>
                </a:solidFill>
                <a:latin typeface="Calibri"/>
                <a:ea typeface="微软雅黑"/>
                <a:cs typeface="Calibri"/>
              </a:rPr>
              <a:t>2027/01 – 2027/05</a:t>
            </a:r>
          </a:p>
        </p:txBody>
      </p:sp>
      <p:sp>
        <p:nvSpPr>
          <p:cNvPr id="87" name="Rectangle 86"/>
          <p:cNvSpPr/>
          <p:nvPr/>
        </p:nvSpPr>
        <p:spPr>
          <a:xfrm>
            <a:off x="457200" y="4826725"/>
            <a:ext cx="11277295" cy="24427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475488" y="4826725"/>
            <a:ext cx="2029967" cy="244275"/>
          </a:xfrm>
          <a:prstGeom prst="rect">
            <a:avLst/>
          </a:prstGeom>
          <a:noFill/>
        </p:spPr>
        <p:txBody>
          <a:bodyPr wrap="none" anchor="ctr"/>
          <a:lstStyle/>
          <a:p>
            <a:pPr algn="r"/>
            <a:r>
              <a:rPr sz="1000" b="1">
                <a:solidFill>
                  <a:srgbClr val="0F2B46"/>
                </a:solidFill>
                <a:latin typeface="Calibri"/>
                <a:ea typeface="微软雅黑"/>
                <a:cs typeface="Calibri"/>
              </a:rPr>
              <a:t>Construction</a:t>
            </a:r>
          </a:p>
        </p:txBody>
      </p:sp>
      <p:sp>
        <p:nvSpPr>
          <p:cNvPr id="89" name="Rounded Rectangle 88"/>
          <p:cNvSpPr/>
          <p:nvPr/>
        </p:nvSpPr>
        <p:spPr>
          <a:xfrm>
            <a:off x="2560320" y="4866567"/>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ounded Rectangle 89"/>
          <p:cNvSpPr/>
          <p:nvPr/>
        </p:nvSpPr>
        <p:spPr>
          <a:xfrm>
            <a:off x="7001767" y="4884855"/>
            <a:ext cx="1763515" cy="128016"/>
          </a:xfrm>
          <a:prstGeom prst="roundRect">
            <a:avLst>
              <a:gd name="adj" fmla="val 42000"/>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0308031" y="4826725"/>
            <a:ext cx="1426464" cy="244275"/>
          </a:xfrm>
          <a:prstGeom prst="rect">
            <a:avLst/>
          </a:prstGeom>
          <a:noFill/>
        </p:spPr>
        <p:txBody>
          <a:bodyPr wrap="none" anchor="ctr"/>
          <a:lstStyle/>
          <a:p>
            <a:pPr algn="l"/>
            <a:r>
              <a:rPr sz="900" b="0">
                <a:solidFill>
                  <a:srgbClr val="5A6A7A"/>
                </a:solidFill>
                <a:latin typeface="Calibri"/>
                <a:ea typeface="微软雅黑"/>
                <a:cs typeface="Calibri"/>
              </a:rPr>
              <a:t>2027/05 – 2027/09</a:t>
            </a:r>
          </a:p>
        </p:txBody>
      </p:sp>
      <p:sp>
        <p:nvSpPr>
          <p:cNvPr id="92" name="TextBox 91"/>
          <p:cNvSpPr txBox="1"/>
          <p:nvPr/>
        </p:nvSpPr>
        <p:spPr>
          <a:xfrm>
            <a:off x="475488" y="5071001"/>
            <a:ext cx="2029967" cy="244275"/>
          </a:xfrm>
          <a:prstGeom prst="rect">
            <a:avLst/>
          </a:prstGeom>
          <a:noFill/>
        </p:spPr>
        <p:txBody>
          <a:bodyPr wrap="none" anchor="ctr"/>
          <a:lstStyle/>
          <a:p>
            <a:pPr algn="r"/>
            <a:r>
              <a:rPr sz="800" b="1">
                <a:solidFill>
                  <a:srgbClr val="0F2B46"/>
                </a:solidFill>
                <a:latin typeface="Calibri"/>
                <a:ea typeface="微软雅黑"/>
                <a:cs typeface="Calibri"/>
              </a:rPr>
              <a:t>Commissioning and handover</a:t>
            </a:r>
          </a:p>
        </p:txBody>
      </p:sp>
      <p:sp>
        <p:nvSpPr>
          <p:cNvPr id="93" name="Rounded Rectangle 92"/>
          <p:cNvSpPr/>
          <p:nvPr/>
        </p:nvSpPr>
        <p:spPr>
          <a:xfrm>
            <a:off x="2560320" y="5110842"/>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ounded Rectangle 93"/>
          <p:cNvSpPr/>
          <p:nvPr/>
        </p:nvSpPr>
        <p:spPr>
          <a:xfrm>
            <a:off x="8781611" y="5129130"/>
            <a:ext cx="326576" cy="128016"/>
          </a:xfrm>
          <a:prstGeom prst="roundRect">
            <a:avLst>
              <a:gd name="adj" fmla="val 42000"/>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0308031" y="5071001"/>
            <a:ext cx="1426464" cy="244275"/>
          </a:xfrm>
          <a:prstGeom prst="rect">
            <a:avLst/>
          </a:prstGeom>
          <a:noFill/>
        </p:spPr>
        <p:txBody>
          <a:bodyPr wrap="none" anchor="ctr"/>
          <a:lstStyle/>
          <a:p>
            <a:pPr algn="l"/>
            <a:r>
              <a:rPr sz="900" b="0">
                <a:solidFill>
                  <a:srgbClr val="5A6A7A"/>
                </a:solidFill>
                <a:latin typeface="Calibri"/>
                <a:ea typeface="微软雅黑"/>
                <a:cs typeface="Calibri"/>
              </a:rPr>
              <a:t>2027/09 – 2027/10</a:t>
            </a:r>
          </a:p>
        </p:txBody>
      </p:sp>
      <p:sp>
        <p:nvSpPr>
          <p:cNvPr id="96" name="Rectangle 95"/>
          <p:cNvSpPr/>
          <p:nvPr/>
        </p:nvSpPr>
        <p:spPr>
          <a:xfrm>
            <a:off x="457200" y="5315276"/>
            <a:ext cx="11277295" cy="244275"/>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475488" y="5315276"/>
            <a:ext cx="2029967" cy="244275"/>
          </a:xfrm>
          <a:prstGeom prst="rect">
            <a:avLst/>
          </a:prstGeom>
          <a:noFill/>
        </p:spPr>
        <p:txBody>
          <a:bodyPr wrap="none" anchor="ctr"/>
          <a:lstStyle/>
          <a:p>
            <a:pPr algn="r"/>
            <a:r>
              <a:rPr sz="800" b="1">
                <a:solidFill>
                  <a:srgbClr val="0F2B46"/>
                </a:solidFill>
                <a:latin typeface="Calibri"/>
                <a:ea typeface="微软雅黑"/>
                <a:cs typeface="Calibri"/>
              </a:rPr>
              <a:t>Programme risk allowance to delivery</a:t>
            </a:r>
          </a:p>
        </p:txBody>
      </p:sp>
      <p:sp>
        <p:nvSpPr>
          <p:cNvPr id="98" name="Rounded Rectangle 97"/>
          <p:cNvSpPr/>
          <p:nvPr/>
        </p:nvSpPr>
        <p:spPr>
          <a:xfrm>
            <a:off x="2560320" y="5355118"/>
            <a:ext cx="7674559" cy="164592"/>
          </a:xfrm>
          <a:prstGeom prst="roundRect">
            <a:avLst>
              <a:gd name="adj" fmla="val 35000"/>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9124517" y="5373406"/>
            <a:ext cx="571509" cy="128016"/>
          </a:xfrm>
          <a:prstGeom prst="roundRect">
            <a:avLst>
              <a:gd name="adj" fmla="val 42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10308031" y="5315276"/>
            <a:ext cx="1426464" cy="244275"/>
          </a:xfrm>
          <a:prstGeom prst="rect">
            <a:avLst/>
          </a:prstGeom>
          <a:noFill/>
        </p:spPr>
        <p:txBody>
          <a:bodyPr wrap="none" anchor="ctr"/>
          <a:lstStyle/>
          <a:p>
            <a:pPr algn="l"/>
            <a:r>
              <a:rPr sz="900" b="0">
                <a:solidFill>
                  <a:srgbClr val="5A6A7A"/>
                </a:solidFill>
                <a:latin typeface="Calibri"/>
                <a:ea typeface="微软雅黑"/>
                <a:cs typeface="Calibri"/>
              </a:rPr>
              <a:t>2027/10 – 2027/11</a:t>
            </a:r>
          </a:p>
        </p:txBody>
      </p:sp>
      <p:sp>
        <p:nvSpPr>
          <p:cNvPr id="101" name="Rectangle 100"/>
          <p:cNvSpPr/>
          <p:nvPr/>
        </p:nvSpPr>
        <p:spPr>
          <a:xfrm>
            <a:off x="3229802" y="2139696"/>
            <a:ext cx="16459" cy="3419856"/>
          </a:xfrm>
          <a:prstGeom prst="rect">
            <a:avLst/>
          </a:prstGeom>
          <a:solidFill>
            <a:srgbClr val="B4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3275522" y="1920240"/>
            <a:ext cx="438912" cy="201168"/>
          </a:xfrm>
          <a:prstGeom prst="rect">
            <a:avLst/>
          </a:prstGeom>
          <a:noFill/>
        </p:spPr>
        <p:txBody>
          <a:bodyPr wrap="none" anchor="ctr"/>
          <a:lstStyle/>
          <a:p>
            <a:pPr algn="l"/>
            <a:r>
              <a:rPr sz="900" b="1">
                <a:solidFill>
                  <a:srgbClr val="B43A2A"/>
                </a:solidFill>
                <a:latin typeface="Calibri"/>
                <a:ea typeface="微软雅黑"/>
                <a:cs typeface="Calibri"/>
              </a:rPr>
              <a:t>Today</a:t>
            </a:r>
          </a:p>
        </p:txBody>
      </p:sp>
      <p:sp>
        <p:nvSpPr>
          <p:cNvPr id="103" name="Rounded Rectangle 102"/>
          <p:cNvSpPr/>
          <p:nvPr/>
        </p:nvSpPr>
        <p:spPr>
          <a:xfrm>
            <a:off x="3622395" y="5751576"/>
            <a:ext cx="109728" cy="109728"/>
          </a:xfrm>
          <a:prstGeom prst="roundRect">
            <a:avLst>
              <a:gd name="adj" fmla="val 35000"/>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3786987" y="5669280"/>
            <a:ext cx="1028700" cy="274320"/>
          </a:xfrm>
          <a:prstGeom prst="rect">
            <a:avLst/>
          </a:prstGeom>
          <a:noFill/>
        </p:spPr>
        <p:txBody>
          <a:bodyPr wrap="none" anchor="ctr"/>
          <a:lstStyle/>
          <a:p>
            <a:pPr algn="l"/>
            <a:r>
              <a:rPr sz="1000" b="0">
                <a:solidFill>
                  <a:srgbClr val="5A6A7A"/>
                </a:solidFill>
                <a:latin typeface="Calibri"/>
                <a:ea typeface="微软雅黑"/>
                <a:cs typeface="Calibri"/>
              </a:rPr>
              <a:t>Design / contracts</a:t>
            </a:r>
          </a:p>
        </p:txBody>
      </p:sp>
      <p:sp>
        <p:nvSpPr>
          <p:cNvPr id="105" name="Rounded Rectangle 104"/>
          <p:cNvSpPr/>
          <p:nvPr/>
        </p:nvSpPr>
        <p:spPr>
          <a:xfrm>
            <a:off x="5144871" y="5751576"/>
            <a:ext cx="109728" cy="109728"/>
          </a:xfrm>
          <a:prstGeom prst="roundRect">
            <a:avLst>
              <a:gd name="adj" fmla="val 35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5309463" y="5669280"/>
            <a:ext cx="1737360" cy="342900"/>
          </a:xfrm>
          <a:prstGeom prst="rect">
            <a:avLst/>
          </a:prstGeom>
          <a:noFill/>
        </p:spPr>
        <p:txBody>
          <a:bodyPr wrap="none" anchor="ctr"/>
          <a:lstStyle/>
          <a:p>
            <a:pPr algn="l"/>
            <a:r>
              <a:rPr sz="1000" b="0">
                <a:solidFill>
                  <a:srgbClr val="5A6A7A"/>
                </a:solidFill>
                <a:latin typeface="Calibri"/>
                <a:ea typeface="微软雅黑"/>
                <a:cs typeface="Calibri"/>
              </a:rPr>
              <a:t>Procurement / manufacture / allowance</a:t>
            </a:r>
          </a:p>
        </p:txBody>
      </p:sp>
      <p:sp>
        <p:nvSpPr>
          <p:cNvPr id="107" name="Rounded Rectangle 106"/>
          <p:cNvSpPr/>
          <p:nvPr/>
        </p:nvSpPr>
        <p:spPr>
          <a:xfrm>
            <a:off x="7376007" y="5751576"/>
            <a:ext cx="109728" cy="109728"/>
          </a:xfrm>
          <a:prstGeom prst="roundRect">
            <a:avLst>
              <a:gd name="adj" fmla="val 35000"/>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7540599" y="5669280"/>
            <a:ext cx="1028700" cy="501650"/>
          </a:xfrm>
          <a:prstGeom prst="rect">
            <a:avLst/>
          </a:prstGeom>
          <a:noFill/>
        </p:spPr>
        <p:txBody>
          <a:bodyPr wrap="none" anchor="ctr"/>
          <a:lstStyle/>
          <a:p>
            <a:pPr algn="l"/>
            <a:r>
              <a:rPr sz="1000" b="0">
                <a:solidFill>
                  <a:srgbClr val="5A6A7A"/>
                </a:solidFill>
                <a:latin typeface="Calibri"/>
                <a:ea typeface="微软雅黑"/>
                <a:cs typeface="Calibri"/>
              </a:rPr>
              <a:t>Construction / commissioning</a:t>
            </a:r>
          </a:p>
        </p:txBody>
      </p:sp>
      <p:sp>
        <p:nvSpPr>
          <p:cNvPr id="109" name="TextBox 108"/>
          <p:cNvSpPr txBox="1"/>
          <p:nvPr/>
        </p:nvSpPr>
        <p:spPr>
          <a:xfrm>
            <a:off x="384048" y="5980175"/>
            <a:ext cx="11423599" cy="493776"/>
          </a:xfrm>
          <a:prstGeom prst="rect">
            <a:avLst/>
          </a:prstGeom>
          <a:noFill/>
        </p:spPr>
        <p:txBody>
          <a:bodyPr wrap="square" anchor="t">
            <a:spAutoFit/>
          </a:bodyPr>
          <a:lstStyle/>
          <a:p>
            <a:pPr algn="l"/>
            <a:r>
              <a:rPr sz="1100" b="0">
                <a:solidFill>
                  <a:srgbClr val="5A6A7A"/>
                </a:solidFill>
                <a:latin typeface="Calibri"/>
                <a:ea typeface="微软雅黑"/>
                <a:cs typeface="Calibri"/>
              </a:rPr>
              <a:t>Programme note: the activities finish in late October 2027, and the remaining float sits in the programme risk allowance at the end, with delivery targeted for November 2027. As design develops, some activities can be overlapped and shortened. How far depends on how the remaining risk is treated and how much risk is acceptable.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29 / 31</a:t>
            </a:r>
          </a:p>
        </p:txBody>
      </p:sp>
      <p:sp>
        <p:nvSpPr>
          <p:cNvPr id="10" name="Rectangle 9"/>
          <p:cNvSpPr/>
          <p:nvPr/>
        </p:nvSpPr>
        <p:spPr>
          <a:xfrm>
            <a:off x="384048" y="164592"/>
            <a:ext cx="82296" cy="713232"/>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Extension · assessment outcome</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3. B902 east extension (assessment outcome)  ·  Scitech RIBA 1  ·  300291-RE-0001  ·  22 May 2026 Issue A1</a:t>
            </a:r>
          </a:p>
        </p:txBody>
      </p:sp>
      <p:sp>
        <p:nvSpPr>
          <p:cNvPr id="13" name="Rounded Rectangle 12"/>
          <p:cNvSpPr/>
          <p:nvPr/>
        </p:nvSpPr>
        <p:spPr>
          <a:xfrm>
            <a:off x="384048" y="1051560"/>
            <a:ext cx="3710330"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1051560"/>
            <a:ext cx="82296" cy="1024128"/>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235903"/>
            <a:ext cx="3436010" cy="457200"/>
          </a:xfrm>
          <a:prstGeom prst="rect">
            <a:avLst/>
          </a:prstGeom>
          <a:noFill/>
        </p:spPr>
        <p:txBody>
          <a:bodyPr wrap="square" anchor="t">
            <a:spAutoFit/>
          </a:bodyPr>
          <a:lstStyle/>
          <a:p>
            <a:pPr algn="l"/>
            <a:r>
              <a:rPr sz="2000" b="1">
                <a:solidFill>
                  <a:srgbClr val="0F2B46"/>
                </a:solidFill>
                <a:latin typeface="Calibri"/>
                <a:ea typeface="微软雅黑"/>
                <a:cs typeface="Calibri"/>
              </a:rPr>
              <a:t>FS complete</a:t>
            </a:r>
          </a:p>
        </p:txBody>
      </p:sp>
      <p:sp>
        <p:nvSpPr>
          <p:cNvPr id="16" name="TextBox 15"/>
          <p:cNvSpPr txBox="1"/>
          <p:nvPr/>
        </p:nvSpPr>
        <p:spPr>
          <a:xfrm>
            <a:off x="566928" y="1618488"/>
            <a:ext cx="3436010" cy="409651"/>
          </a:xfrm>
          <a:prstGeom prst="rect">
            <a:avLst/>
          </a:prstGeom>
          <a:noFill/>
        </p:spPr>
        <p:txBody>
          <a:bodyPr wrap="square" anchor="t">
            <a:spAutoFit/>
          </a:bodyPr>
          <a:lstStyle/>
          <a:p>
            <a:pPr algn="l"/>
            <a:r>
              <a:rPr sz="1200" b="0">
                <a:solidFill>
                  <a:srgbClr val="5A6A7A"/>
                </a:solidFill>
                <a:latin typeface="Calibri"/>
                <a:ea typeface="微软雅黑"/>
                <a:cs typeface="Calibri"/>
              </a:rPr>
              <a:t>RIBA 1</a:t>
            </a:r>
          </a:p>
        </p:txBody>
      </p:sp>
      <p:sp>
        <p:nvSpPr>
          <p:cNvPr id="17" name="Rounded Rectangle 16"/>
          <p:cNvSpPr/>
          <p:nvPr/>
        </p:nvSpPr>
        <p:spPr>
          <a:xfrm>
            <a:off x="4240682" y="1051560"/>
            <a:ext cx="3710330"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40682" y="1051560"/>
            <a:ext cx="82296" cy="1024128"/>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23562" y="1235903"/>
            <a:ext cx="3436010" cy="457200"/>
          </a:xfrm>
          <a:prstGeom prst="rect">
            <a:avLst/>
          </a:prstGeom>
          <a:noFill/>
        </p:spPr>
        <p:txBody>
          <a:bodyPr wrap="square" anchor="t">
            <a:spAutoFit/>
          </a:bodyPr>
          <a:lstStyle/>
          <a:p>
            <a:pPr algn="l"/>
            <a:r>
              <a:rPr sz="2000" b="1">
                <a:solidFill>
                  <a:srgbClr val="0F2B46"/>
                </a:solidFill>
                <a:latin typeface="Calibri"/>
                <a:ea typeface="微软雅黑"/>
                <a:cs typeface="Calibri"/>
              </a:rPr>
              <a:t>£78.1M</a:t>
            </a:r>
          </a:p>
        </p:txBody>
      </p:sp>
      <p:sp>
        <p:nvSpPr>
          <p:cNvPr id="20" name="TextBox 19"/>
          <p:cNvSpPr txBox="1"/>
          <p:nvPr/>
        </p:nvSpPr>
        <p:spPr>
          <a:xfrm>
            <a:off x="4423562" y="1618488"/>
            <a:ext cx="3436010" cy="409651"/>
          </a:xfrm>
          <a:prstGeom prst="rect">
            <a:avLst/>
          </a:prstGeom>
          <a:noFill/>
        </p:spPr>
        <p:txBody>
          <a:bodyPr wrap="square" anchor="t">
            <a:spAutoFit/>
          </a:bodyPr>
          <a:lstStyle/>
          <a:p>
            <a:pPr algn="l"/>
            <a:r>
              <a:rPr sz="1200" b="0">
                <a:solidFill>
                  <a:srgbClr val="5A6A7A"/>
                </a:solidFill>
                <a:latin typeface="Calibri"/>
                <a:ea typeface="微软雅黑"/>
                <a:cs typeface="Calibri"/>
              </a:rPr>
              <a:t>Project OOM</a:t>
            </a:r>
          </a:p>
        </p:txBody>
      </p:sp>
      <p:sp>
        <p:nvSpPr>
          <p:cNvPr id="21" name="Rounded Rectangle 20"/>
          <p:cNvSpPr/>
          <p:nvPr/>
        </p:nvSpPr>
        <p:spPr>
          <a:xfrm>
            <a:off x="8097316" y="1051560"/>
            <a:ext cx="3710330" cy="10241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97316" y="1051560"/>
            <a:ext cx="82296" cy="1024128"/>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0196" y="1235903"/>
            <a:ext cx="3436010" cy="457200"/>
          </a:xfrm>
          <a:prstGeom prst="rect">
            <a:avLst/>
          </a:prstGeom>
          <a:noFill/>
        </p:spPr>
        <p:txBody>
          <a:bodyPr wrap="square" anchor="t">
            <a:spAutoFit/>
          </a:bodyPr>
          <a:lstStyle/>
          <a:p>
            <a:pPr algn="l"/>
            <a:r>
              <a:rPr sz="2000" b="1">
                <a:solidFill>
                  <a:srgbClr val="0F2B46"/>
                </a:solidFill>
                <a:latin typeface="Calibri"/>
                <a:ea typeface="微软雅黑"/>
                <a:cs typeface="Calibri"/>
              </a:rPr>
              <a:t>2030-05</a:t>
            </a:r>
          </a:p>
        </p:txBody>
      </p:sp>
      <p:sp>
        <p:nvSpPr>
          <p:cNvPr id="24" name="TextBox 23"/>
          <p:cNvSpPr txBox="1"/>
          <p:nvPr/>
        </p:nvSpPr>
        <p:spPr>
          <a:xfrm>
            <a:off x="8280196" y="1618488"/>
            <a:ext cx="3436010" cy="409651"/>
          </a:xfrm>
          <a:prstGeom prst="rect">
            <a:avLst/>
          </a:prstGeom>
          <a:noFill/>
        </p:spPr>
        <p:txBody>
          <a:bodyPr wrap="square" anchor="t">
            <a:spAutoFit/>
          </a:bodyPr>
          <a:lstStyle/>
          <a:p>
            <a:pPr algn="l"/>
            <a:r>
              <a:rPr sz="1200" b="0">
                <a:solidFill>
                  <a:srgbClr val="5A6A7A"/>
                </a:solidFill>
                <a:latin typeface="Calibri"/>
                <a:ea typeface="微软雅黑"/>
                <a:cs typeface="Calibri"/>
              </a:rPr>
              <a:t>Master-programme completion</a:t>
            </a:r>
          </a:p>
        </p:txBody>
      </p:sp>
      <p:sp>
        <p:nvSpPr>
          <p:cNvPr id="25" name="TextBox 24"/>
          <p:cNvSpPr txBox="1"/>
          <p:nvPr/>
        </p:nvSpPr>
        <p:spPr>
          <a:xfrm>
            <a:off x="429768" y="2276856"/>
            <a:ext cx="11332159" cy="4160520"/>
          </a:xfrm>
          <a:prstGeom prst="rect">
            <a:avLst/>
          </a:prstGeom>
          <a:noFill/>
        </p:spPr>
        <p:txBody>
          <a:bodyPr wrap="square">
            <a:spAutoFit/>
          </a:bodyPr>
          <a:lstStyle/>
          <a:p>
            <a:pPr>
              <a:spcAft>
                <a:spcPts val="1100"/>
              </a:spcAft>
            </a:pPr>
            <a:r>
              <a:rPr sz="1600" b="0">
                <a:solidFill>
                  <a:srgbClr val="2C3E50"/>
                </a:solidFill>
                <a:latin typeface="Calibri"/>
                <a:ea typeface="微软雅黑"/>
                <a:cs typeface="Calibri"/>
              </a:rPr>
              <a:t>•  Scope: about 600 m² on the east side, four storeys plus a plant mezzanine, 10 reactors, a 2,500 L hydrogenation vessel, 3 filter-dryers and the utilities.</a:t>
            </a:r>
          </a:p>
          <a:p>
            <a:pPr>
              <a:spcAft>
                <a:spcPts val="1100"/>
              </a:spcAft>
            </a:pPr>
            <a:r>
              <a:rPr sz="1600" b="0">
                <a:solidFill>
                  <a:srgbClr val="2C3E50"/>
                </a:solidFill>
                <a:latin typeface="Calibri"/>
                <a:ea typeface="微软雅黑"/>
                <a:cs typeface="Calibri"/>
              </a:rPr>
              <a:t>•  Option: Option 1, demolish or relocate the existing hydrogenation building, and connect through to the lower floors of 902.</a:t>
            </a:r>
          </a:p>
          <a:p>
            <a:pPr>
              <a:spcAft>
                <a:spcPts val="1100"/>
              </a:spcAft>
            </a:pPr>
            <a:r>
              <a:rPr sz="1600" b="0">
                <a:solidFill>
                  <a:srgbClr val="2C3E50"/>
                </a:solidFill>
                <a:latin typeface="Calibri"/>
                <a:ea typeface="微软雅黑"/>
                <a:cs typeface="Calibri"/>
              </a:rPr>
              <a:t>•  Status: the feasibility study is complete. Completion is planned for May 2030, on the designer's master programme. A late start to RIBA 2 concept design would have to be absorbed within the stage.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30 / 31</a:t>
            </a:r>
          </a:p>
        </p:txBody>
      </p:sp>
      <p:sp>
        <p:nvSpPr>
          <p:cNvPr id="10" name="Rectangle 9"/>
          <p:cNvSpPr/>
          <p:nvPr/>
        </p:nvSpPr>
        <p:spPr>
          <a:xfrm>
            <a:off x="384048" y="164592"/>
            <a:ext cx="82296" cy="713232"/>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46304"/>
            <a:ext cx="11240719" cy="438912"/>
          </a:xfrm>
          <a:prstGeom prst="rect">
            <a:avLst/>
          </a:prstGeom>
          <a:noFill/>
        </p:spPr>
        <p:txBody>
          <a:bodyPr wrap="square" anchor="t">
            <a:spAutoFit/>
          </a:bodyPr>
          <a:lstStyle/>
          <a:p>
            <a:pPr algn="l"/>
            <a:r>
              <a:rPr sz="2600" b="1">
                <a:solidFill>
                  <a:srgbClr val="0F2B46"/>
                </a:solidFill>
                <a:latin typeface="Calibri"/>
                <a:ea typeface="微软雅黑"/>
                <a:cs typeface="Calibri"/>
              </a:rPr>
              <a:t>Extension · investment</a:t>
            </a:r>
          </a:p>
        </p:txBody>
      </p:sp>
      <p:sp>
        <p:nvSpPr>
          <p:cNvPr id="12" name="TextBox 11"/>
          <p:cNvSpPr txBox="1"/>
          <p:nvPr/>
        </p:nvSpPr>
        <p:spPr>
          <a:xfrm>
            <a:off x="566928" y="585216"/>
            <a:ext cx="11240719" cy="310896"/>
          </a:xfrm>
          <a:prstGeom prst="rect">
            <a:avLst/>
          </a:prstGeom>
          <a:noFill/>
        </p:spPr>
        <p:txBody>
          <a:bodyPr wrap="square" anchor="t">
            <a:spAutoFit/>
          </a:bodyPr>
          <a:lstStyle/>
          <a:p>
            <a:pPr algn="l"/>
            <a:r>
              <a:rPr sz="1300" b="0">
                <a:solidFill>
                  <a:srgbClr val="5A6A7A"/>
                </a:solidFill>
                <a:latin typeface="Calibri"/>
                <a:ea typeface="微软雅黑"/>
                <a:cs typeface="Calibri"/>
              </a:rPr>
              <a:t>300291-CM-0001</a:t>
            </a:r>
          </a:p>
        </p:txBody>
      </p:sp>
      <p:sp>
        <p:nvSpPr>
          <p:cNvPr id="13" name="Rounded Rectangle 12"/>
          <p:cNvSpPr/>
          <p:nvPr/>
        </p:nvSpPr>
        <p:spPr>
          <a:xfrm>
            <a:off x="384048" y="1024128"/>
            <a:ext cx="11423599" cy="475488"/>
          </a:xfrm>
          <a:prstGeom prst="roundRect">
            <a:avLst>
              <a:gd name="adj" fmla="val 8000"/>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216" y="1078992"/>
            <a:ext cx="5943600" cy="365760"/>
          </a:xfrm>
          <a:prstGeom prst="rect">
            <a:avLst/>
          </a:prstGeom>
          <a:noFill/>
        </p:spPr>
        <p:txBody>
          <a:bodyPr wrap="square" anchor="t">
            <a:spAutoFit/>
          </a:bodyPr>
          <a:lstStyle/>
          <a:p>
            <a:pPr algn="l"/>
            <a:r>
              <a:rPr sz="1600" b="1">
                <a:solidFill>
                  <a:srgbClr val="FFFFFF"/>
                </a:solidFill>
                <a:latin typeface="Calibri"/>
                <a:ea typeface="微软雅黑"/>
                <a:cs typeface="Calibri"/>
              </a:rPr>
              <a:t>Project OOM total</a:t>
            </a:r>
          </a:p>
        </p:txBody>
      </p:sp>
      <p:sp>
        <p:nvSpPr>
          <p:cNvPr id="15" name="TextBox 14"/>
          <p:cNvSpPr txBox="1"/>
          <p:nvPr/>
        </p:nvSpPr>
        <p:spPr>
          <a:xfrm>
            <a:off x="6784848" y="1078992"/>
            <a:ext cx="4754880" cy="365760"/>
          </a:xfrm>
          <a:prstGeom prst="rect">
            <a:avLst/>
          </a:prstGeom>
          <a:noFill/>
        </p:spPr>
        <p:txBody>
          <a:bodyPr wrap="square" anchor="t">
            <a:spAutoFit/>
          </a:bodyPr>
          <a:lstStyle/>
          <a:p>
            <a:pPr algn="r"/>
            <a:r>
              <a:rPr sz="1800" b="1">
                <a:solidFill>
                  <a:srgbClr val="FFFFFF"/>
                </a:solidFill>
                <a:latin typeface="Calibri"/>
                <a:ea typeface="微软雅黑"/>
                <a:cs typeface="Calibri"/>
              </a:rPr>
              <a:t>£78,108,089</a:t>
            </a:r>
          </a:p>
        </p:txBody>
      </p:sp>
      <p:graphicFrame>
        <p:nvGraphicFramePr>
          <p:cNvPr id="16" name="Table 15"/>
          <p:cNvGraphicFramePr>
            <a:graphicFrameLocks noGrp="1"/>
          </p:cNvGraphicFramePr>
          <p:nvPr/>
        </p:nvGraphicFramePr>
        <p:xfrm>
          <a:off x="384048" y="1627632"/>
          <a:ext cx="5577839" cy="4709160"/>
        </p:xfrm>
        <a:graphic>
          <a:graphicData uri="http://schemas.openxmlformats.org/drawingml/2006/table">
            <a:tbl>
              <a:tblPr firstRow="1" bandRow="1">
                <a:tableStyleId>{5C22544A-7EE6-4342-B048-85BDC9FD1C3A}</a:tableStyleId>
              </a:tblPr>
              <a:tblGrid>
                <a:gridCol w="4016044">
                  <a:extLst>
                    <a:ext uri="{9D8B030D-6E8A-4147-A177-3AD203B41FA5}">
                      <a16:colId xmlns:a16="http://schemas.microsoft.com/office/drawing/2014/main" val="20000"/>
                    </a:ext>
                  </a:extLst>
                </a:gridCol>
                <a:gridCol w="1561795">
                  <a:extLst>
                    <a:ext uri="{9D8B030D-6E8A-4147-A177-3AD203B41FA5}">
                      <a16:colId xmlns:a16="http://schemas.microsoft.com/office/drawing/2014/main" val="20001"/>
                    </a:ext>
                  </a:extLst>
                </a:gridCol>
              </a:tblGrid>
              <a:tr h="336368">
                <a:tc>
                  <a:txBody>
                    <a:bodyPr/>
                    <a:lstStyle/>
                    <a:p>
                      <a:pPr algn="l"/>
                      <a:r>
                        <a:rPr sz="1200" b="1">
                          <a:solidFill>
                            <a:srgbClr val="FFFFFF"/>
                          </a:solidFill>
                          <a:latin typeface="Calibri"/>
                          <a:ea typeface="微软雅黑"/>
                          <a:cs typeface="Calibri"/>
                        </a:rPr>
                        <a:t>Direct construction</a:t>
                      </a:r>
                    </a:p>
                  </a:txBody>
                  <a:tcPr anchor="ctr">
                    <a:solidFill>
                      <a:srgbClr val="1A3A55"/>
                    </a:solidFill>
                  </a:tcPr>
                </a:tc>
                <a:tc>
                  <a:txBody>
                    <a:bodyPr/>
                    <a:lstStyle/>
                    <a:p>
                      <a:pPr algn="r"/>
                      <a:r>
                        <a:rPr sz="1200" b="1">
                          <a:solidFill>
                            <a:srgbClr val="FFFFFF"/>
                          </a:solidFill>
                          <a:latin typeface="Calibri"/>
                          <a:ea typeface="微软雅黑"/>
                          <a:cs typeface="Calibri"/>
                        </a:rPr>
                        <a:t>£59,489,961</a:t>
                      </a:r>
                    </a:p>
                  </a:txBody>
                  <a:tcPr anchor="ctr">
                    <a:solidFill>
                      <a:srgbClr val="1A3A55"/>
                    </a:solidFill>
                  </a:tcPr>
                </a:tc>
                <a:extLst>
                  <a:ext uri="{0D108BD9-81ED-4DB2-BD59-A6C34878D82A}">
                    <a16:rowId xmlns:a16="http://schemas.microsoft.com/office/drawing/2014/main" val="10000"/>
                  </a:ext>
                </a:extLst>
              </a:tr>
              <a:tr h="336368">
                <a:tc>
                  <a:txBody>
                    <a:bodyPr/>
                    <a:lstStyle/>
                    <a:p>
                      <a:pPr algn="l"/>
                      <a:r>
                        <a:rPr sz="1200" b="0">
                          <a:solidFill>
                            <a:srgbClr val="2C3E50"/>
                          </a:solidFill>
                          <a:latin typeface="Calibri"/>
                          <a:ea typeface="微软雅黑"/>
                          <a:cs typeface="Calibri"/>
                        </a:rPr>
                        <a:t>Site clearance and demolition</a:t>
                      </a:r>
                    </a:p>
                  </a:txBody>
                  <a:tcPr anchor="ctr">
                    <a:solidFill>
                      <a:srgbClr val="FFFFFF"/>
                    </a:solidFill>
                  </a:tcPr>
                </a:tc>
                <a:tc>
                  <a:txBody>
                    <a:bodyPr/>
                    <a:lstStyle/>
                    <a:p>
                      <a:pPr algn="r"/>
                      <a:r>
                        <a:rPr sz="1200" b="0">
                          <a:solidFill>
                            <a:srgbClr val="2C3E50"/>
                          </a:solidFill>
                          <a:latin typeface="Calibri"/>
                          <a:ea typeface="微软雅黑"/>
                          <a:cs typeface="Calibri"/>
                        </a:rPr>
                        <a:t>£254,960</a:t>
                      </a:r>
                    </a:p>
                  </a:txBody>
                  <a:tcPr anchor="ctr">
                    <a:solidFill>
                      <a:srgbClr val="FFFFFF"/>
                    </a:solidFill>
                  </a:tcPr>
                </a:tc>
                <a:extLst>
                  <a:ext uri="{0D108BD9-81ED-4DB2-BD59-A6C34878D82A}">
                    <a16:rowId xmlns:a16="http://schemas.microsoft.com/office/drawing/2014/main" val="10001"/>
                  </a:ext>
                </a:extLst>
              </a:tr>
              <a:tr h="336368">
                <a:tc>
                  <a:txBody>
                    <a:bodyPr/>
                    <a:lstStyle/>
                    <a:p>
                      <a:pPr algn="l"/>
                      <a:r>
                        <a:rPr sz="1200" b="0">
                          <a:solidFill>
                            <a:srgbClr val="2C3E50"/>
                          </a:solidFill>
                          <a:latin typeface="Calibri"/>
                          <a:ea typeface="微软雅黑"/>
                          <a:cs typeface="Calibri"/>
                        </a:rPr>
                        <a:t>Substructure</a:t>
                      </a:r>
                    </a:p>
                  </a:txBody>
                  <a:tcPr anchor="ctr">
                    <a:solidFill>
                      <a:srgbClr val="F6F8FA"/>
                    </a:solidFill>
                  </a:tcPr>
                </a:tc>
                <a:tc>
                  <a:txBody>
                    <a:bodyPr/>
                    <a:lstStyle/>
                    <a:p>
                      <a:pPr algn="r"/>
                      <a:r>
                        <a:rPr sz="1200" b="0">
                          <a:solidFill>
                            <a:srgbClr val="2C3E50"/>
                          </a:solidFill>
                          <a:latin typeface="Calibri"/>
                          <a:ea typeface="微软雅黑"/>
                          <a:cs typeface="Calibri"/>
                        </a:rPr>
                        <a:t>£1,499,680</a:t>
                      </a:r>
                    </a:p>
                  </a:txBody>
                  <a:tcPr anchor="ctr">
                    <a:solidFill>
                      <a:srgbClr val="F6F8FA"/>
                    </a:solidFill>
                  </a:tcPr>
                </a:tc>
                <a:extLst>
                  <a:ext uri="{0D108BD9-81ED-4DB2-BD59-A6C34878D82A}">
                    <a16:rowId xmlns:a16="http://schemas.microsoft.com/office/drawing/2014/main" val="10002"/>
                  </a:ext>
                </a:extLst>
              </a:tr>
              <a:tr h="336368">
                <a:tc>
                  <a:txBody>
                    <a:bodyPr/>
                    <a:lstStyle/>
                    <a:p>
                      <a:pPr algn="l"/>
                      <a:r>
                        <a:rPr sz="1200" b="0">
                          <a:solidFill>
                            <a:srgbClr val="2C3E50"/>
                          </a:solidFill>
                          <a:latin typeface="Calibri"/>
                          <a:ea typeface="微软雅黑"/>
                          <a:cs typeface="Calibri"/>
                        </a:rPr>
                        <a:t>Superstructure</a:t>
                      </a:r>
                    </a:p>
                  </a:txBody>
                  <a:tcPr anchor="ctr">
                    <a:solidFill>
                      <a:srgbClr val="FFFFFF"/>
                    </a:solidFill>
                  </a:tcPr>
                </a:tc>
                <a:tc>
                  <a:txBody>
                    <a:bodyPr/>
                    <a:lstStyle/>
                    <a:p>
                      <a:pPr algn="r"/>
                      <a:r>
                        <a:rPr sz="1200" b="0">
                          <a:solidFill>
                            <a:srgbClr val="2C3E50"/>
                          </a:solidFill>
                          <a:latin typeface="Calibri"/>
                          <a:ea typeface="微软雅黑"/>
                          <a:cs typeface="Calibri"/>
                        </a:rPr>
                        <a:t>£3,942,636</a:t>
                      </a:r>
                    </a:p>
                  </a:txBody>
                  <a:tcPr anchor="ctr">
                    <a:solidFill>
                      <a:srgbClr val="FFFFFF"/>
                    </a:solidFill>
                  </a:tcPr>
                </a:tc>
                <a:extLst>
                  <a:ext uri="{0D108BD9-81ED-4DB2-BD59-A6C34878D82A}">
                    <a16:rowId xmlns:a16="http://schemas.microsoft.com/office/drawing/2014/main" val="10003"/>
                  </a:ext>
                </a:extLst>
              </a:tr>
              <a:tr h="336368">
                <a:tc>
                  <a:txBody>
                    <a:bodyPr/>
                    <a:lstStyle/>
                    <a:p>
                      <a:pPr algn="l"/>
                      <a:r>
                        <a:rPr sz="1200" b="0">
                          <a:solidFill>
                            <a:srgbClr val="2C3E50"/>
                          </a:solidFill>
                          <a:latin typeface="Calibri"/>
                          <a:ea typeface="微软雅黑"/>
                          <a:cs typeface="Calibri"/>
                        </a:rPr>
                        <a:t>Internal finishes</a:t>
                      </a:r>
                    </a:p>
                  </a:txBody>
                  <a:tcPr anchor="ctr">
                    <a:solidFill>
                      <a:srgbClr val="F6F8FA"/>
                    </a:solidFill>
                  </a:tcPr>
                </a:tc>
                <a:tc>
                  <a:txBody>
                    <a:bodyPr/>
                    <a:lstStyle/>
                    <a:p>
                      <a:pPr algn="r"/>
                      <a:r>
                        <a:rPr sz="1200" b="0">
                          <a:solidFill>
                            <a:srgbClr val="2C3E50"/>
                          </a:solidFill>
                          <a:latin typeface="Calibri"/>
                          <a:ea typeface="微软雅黑"/>
                          <a:cs typeface="Calibri"/>
                        </a:rPr>
                        <a:t>£1,270,672</a:t>
                      </a:r>
                    </a:p>
                  </a:txBody>
                  <a:tcPr anchor="ctr">
                    <a:solidFill>
                      <a:srgbClr val="F6F8FA"/>
                    </a:solidFill>
                  </a:tcPr>
                </a:tc>
                <a:extLst>
                  <a:ext uri="{0D108BD9-81ED-4DB2-BD59-A6C34878D82A}">
                    <a16:rowId xmlns:a16="http://schemas.microsoft.com/office/drawing/2014/main" val="10004"/>
                  </a:ext>
                </a:extLst>
              </a:tr>
              <a:tr h="336368">
                <a:tc>
                  <a:txBody>
                    <a:bodyPr/>
                    <a:lstStyle/>
                    <a:p>
                      <a:pPr algn="l"/>
                      <a:r>
                        <a:rPr sz="1200" b="0">
                          <a:solidFill>
                            <a:srgbClr val="2C3E50"/>
                          </a:solidFill>
                          <a:latin typeface="Calibri"/>
                          <a:ea typeface="微软雅黑"/>
                          <a:cs typeface="Calibri"/>
                        </a:rPr>
                        <a:t>Fittings and equipment</a:t>
                      </a:r>
                    </a:p>
                  </a:txBody>
                  <a:tcPr anchor="ctr">
                    <a:solidFill>
                      <a:srgbClr val="FFFFFF"/>
                    </a:solidFill>
                  </a:tcPr>
                </a:tc>
                <a:tc>
                  <a:txBody>
                    <a:bodyPr/>
                    <a:lstStyle/>
                    <a:p>
                      <a:pPr algn="r"/>
                      <a:r>
                        <a:rPr sz="1200" b="0">
                          <a:solidFill>
                            <a:srgbClr val="2C3E50"/>
                          </a:solidFill>
                          <a:latin typeface="Calibri"/>
                          <a:ea typeface="微软雅黑"/>
                          <a:cs typeface="Calibri"/>
                        </a:rPr>
                        <a:t>£154,960</a:t>
                      </a:r>
                    </a:p>
                  </a:txBody>
                  <a:tcPr anchor="ctr">
                    <a:solidFill>
                      <a:srgbClr val="FFFFFF"/>
                    </a:solidFill>
                  </a:tcPr>
                </a:tc>
                <a:extLst>
                  <a:ext uri="{0D108BD9-81ED-4DB2-BD59-A6C34878D82A}">
                    <a16:rowId xmlns:a16="http://schemas.microsoft.com/office/drawing/2014/main" val="10005"/>
                  </a:ext>
                </a:extLst>
              </a:tr>
              <a:tr h="336368">
                <a:tc>
                  <a:txBody>
                    <a:bodyPr/>
                    <a:lstStyle/>
                    <a:p>
                      <a:pPr algn="l"/>
                      <a:r>
                        <a:rPr sz="1200" b="0">
                          <a:solidFill>
                            <a:srgbClr val="2C3E50"/>
                          </a:solidFill>
                          <a:latin typeface="Calibri"/>
                          <a:ea typeface="微软雅黑"/>
                          <a:cs typeface="Calibri"/>
                        </a:rPr>
                        <a:t>Building services</a:t>
                      </a:r>
                    </a:p>
                  </a:txBody>
                  <a:tcPr anchor="ctr">
                    <a:solidFill>
                      <a:srgbClr val="F6F8FA"/>
                    </a:solidFill>
                  </a:tcPr>
                </a:tc>
                <a:tc>
                  <a:txBody>
                    <a:bodyPr/>
                    <a:lstStyle/>
                    <a:p>
                      <a:pPr algn="r"/>
                      <a:r>
                        <a:rPr sz="1200" b="0">
                          <a:solidFill>
                            <a:srgbClr val="2C3E50"/>
                          </a:solidFill>
                          <a:latin typeface="Calibri"/>
                          <a:ea typeface="微软雅黑"/>
                          <a:cs typeface="Calibri"/>
                        </a:rPr>
                        <a:t>£9,532,716</a:t>
                      </a:r>
                    </a:p>
                  </a:txBody>
                  <a:tcPr anchor="ctr">
                    <a:solidFill>
                      <a:srgbClr val="F6F8FA"/>
                    </a:solidFill>
                  </a:tcPr>
                </a:tc>
                <a:extLst>
                  <a:ext uri="{0D108BD9-81ED-4DB2-BD59-A6C34878D82A}">
                    <a16:rowId xmlns:a16="http://schemas.microsoft.com/office/drawing/2014/main" val="10006"/>
                  </a:ext>
                </a:extLst>
              </a:tr>
              <a:tr h="336368">
                <a:tc>
                  <a:txBody>
                    <a:bodyPr/>
                    <a:lstStyle/>
                    <a:p>
                      <a:pPr algn="l"/>
                      <a:r>
                        <a:rPr sz="1200" b="0">
                          <a:solidFill>
                            <a:srgbClr val="2C3E50"/>
                          </a:solidFill>
                          <a:latin typeface="Calibri"/>
                          <a:ea typeface="微软雅黑"/>
                          <a:cs typeface="Calibri"/>
                        </a:rPr>
                        <a:t>Process equipment</a:t>
                      </a:r>
                    </a:p>
                  </a:txBody>
                  <a:tcPr anchor="ctr">
                    <a:solidFill>
                      <a:srgbClr val="FFFFFF"/>
                    </a:solidFill>
                  </a:tcPr>
                </a:tc>
                <a:tc>
                  <a:txBody>
                    <a:bodyPr/>
                    <a:lstStyle/>
                    <a:p>
                      <a:pPr algn="r"/>
                      <a:r>
                        <a:rPr sz="1200" b="0">
                          <a:solidFill>
                            <a:srgbClr val="2C3E50"/>
                          </a:solidFill>
                          <a:latin typeface="Calibri"/>
                          <a:ea typeface="微软雅黑"/>
                          <a:cs typeface="Calibri"/>
                        </a:rPr>
                        <a:t>£23,249,083</a:t>
                      </a:r>
                    </a:p>
                  </a:txBody>
                  <a:tcPr anchor="ctr">
                    <a:solidFill>
                      <a:srgbClr val="FFFFFF"/>
                    </a:solidFill>
                  </a:tcPr>
                </a:tc>
                <a:extLst>
                  <a:ext uri="{0D108BD9-81ED-4DB2-BD59-A6C34878D82A}">
                    <a16:rowId xmlns:a16="http://schemas.microsoft.com/office/drawing/2014/main" val="10007"/>
                  </a:ext>
                </a:extLst>
              </a:tr>
              <a:tr h="336368">
                <a:tc>
                  <a:txBody>
                    <a:bodyPr/>
                    <a:lstStyle/>
                    <a:p>
                      <a:pPr algn="l"/>
                      <a:r>
                        <a:rPr sz="1200" b="0">
                          <a:solidFill>
                            <a:srgbClr val="2C3E50"/>
                          </a:solidFill>
                          <a:latin typeface="Calibri"/>
                          <a:ea typeface="微软雅黑"/>
                          <a:cs typeface="Calibri"/>
                        </a:rPr>
                        <a:t>Works to the existing building</a:t>
                      </a:r>
                    </a:p>
                  </a:txBody>
                  <a:tcPr anchor="ctr">
                    <a:solidFill>
                      <a:srgbClr val="F6F8FA"/>
                    </a:solidFill>
                  </a:tcPr>
                </a:tc>
                <a:tc>
                  <a:txBody>
                    <a:bodyPr/>
                    <a:lstStyle/>
                    <a:p>
                      <a:pPr algn="r"/>
                      <a:r>
                        <a:rPr sz="1200" b="0">
                          <a:solidFill>
                            <a:srgbClr val="2C3E50"/>
                          </a:solidFill>
                          <a:latin typeface="Calibri"/>
                          <a:ea typeface="微软雅黑"/>
                          <a:cs typeface="Calibri"/>
                        </a:rPr>
                        <a:t>£204,000</a:t>
                      </a:r>
                    </a:p>
                  </a:txBody>
                  <a:tcPr anchor="ctr">
                    <a:solidFill>
                      <a:srgbClr val="F6F8FA"/>
                    </a:solidFill>
                  </a:tcPr>
                </a:tc>
                <a:extLst>
                  <a:ext uri="{0D108BD9-81ED-4DB2-BD59-A6C34878D82A}">
                    <a16:rowId xmlns:a16="http://schemas.microsoft.com/office/drawing/2014/main" val="10008"/>
                  </a:ext>
                </a:extLst>
              </a:tr>
              <a:tr h="336368">
                <a:tc>
                  <a:txBody>
                    <a:bodyPr/>
                    <a:lstStyle/>
                    <a:p>
                      <a:pPr algn="l"/>
                      <a:r>
                        <a:rPr sz="1200" b="0">
                          <a:solidFill>
                            <a:srgbClr val="2C3E50"/>
                          </a:solidFill>
                          <a:latin typeface="Calibri"/>
                          <a:ea typeface="微软雅黑"/>
                          <a:cs typeface="Calibri"/>
                        </a:rPr>
                        <a:t>External works</a:t>
                      </a:r>
                    </a:p>
                  </a:txBody>
                  <a:tcPr anchor="ctr">
                    <a:solidFill>
                      <a:srgbClr val="FFFFFF"/>
                    </a:solidFill>
                  </a:tcPr>
                </a:tc>
                <a:tc>
                  <a:txBody>
                    <a:bodyPr/>
                    <a:lstStyle/>
                    <a:p>
                      <a:pPr algn="r"/>
                      <a:r>
                        <a:rPr sz="1200" b="0">
                          <a:solidFill>
                            <a:srgbClr val="2C3E50"/>
                          </a:solidFill>
                          <a:latin typeface="Calibri"/>
                          <a:ea typeface="微软雅黑"/>
                          <a:cs typeface="Calibri"/>
                        </a:rPr>
                        <a:t>£1,859,520</a:t>
                      </a:r>
                    </a:p>
                  </a:txBody>
                  <a:tcPr anchor="ctr">
                    <a:solidFill>
                      <a:srgbClr val="FFFFFF"/>
                    </a:solidFill>
                  </a:tcPr>
                </a:tc>
                <a:extLst>
                  <a:ext uri="{0D108BD9-81ED-4DB2-BD59-A6C34878D82A}">
                    <a16:rowId xmlns:a16="http://schemas.microsoft.com/office/drawing/2014/main" val="10009"/>
                  </a:ext>
                </a:extLst>
              </a:tr>
              <a:tr h="336368">
                <a:tc>
                  <a:txBody>
                    <a:bodyPr/>
                    <a:lstStyle/>
                    <a:p>
                      <a:pPr algn="l"/>
                      <a:r>
                        <a:rPr sz="1200" b="0">
                          <a:solidFill>
                            <a:srgbClr val="2C3E50"/>
                          </a:solidFill>
                          <a:latin typeface="Calibri"/>
                          <a:ea typeface="微软雅黑"/>
                          <a:cs typeface="Calibri"/>
                        </a:rPr>
                        <a:t>Preliminaries (8%)</a:t>
                      </a:r>
                    </a:p>
                  </a:txBody>
                  <a:tcPr anchor="ctr">
                    <a:solidFill>
                      <a:srgbClr val="F6F8FA"/>
                    </a:solidFill>
                  </a:tcPr>
                </a:tc>
                <a:tc>
                  <a:txBody>
                    <a:bodyPr/>
                    <a:lstStyle/>
                    <a:p>
                      <a:pPr algn="r"/>
                      <a:r>
                        <a:rPr sz="1200" b="0">
                          <a:solidFill>
                            <a:srgbClr val="2C3E50"/>
                          </a:solidFill>
                          <a:latin typeface="Calibri"/>
                          <a:ea typeface="微软雅黑"/>
                          <a:cs typeface="Calibri"/>
                        </a:rPr>
                        <a:t>£3,357,458</a:t>
                      </a:r>
                    </a:p>
                  </a:txBody>
                  <a:tcPr anchor="ctr">
                    <a:solidFill>
                      <a:srgbClr val="F6F8FA"/>
                    </a:solidFill>
                  </a:tcPr>
                </a:tc>
                <a:extLst>
                  <a:ext uri="{0D108BD9-81ED-4DB2-BD59-A6C34878D82A}">
                    <a16:rowId xmlns:a16="http://schemas.microsoft.com/office/drawing/2014/main" val="10010"/>
                  </a:ext>
                </a:extLst>
              </a:tr>
              <a:tr h="336368">
                <a:tc>
                  <a:txBody>
                    <a:bodyPr/>
                    <a:lstStyle/>
                    <a:p>
                      <a:pPr algn="l"/>
                      <a:r>
                        <a:rPr sz="1200" b="0">
                          <a:solidFill>
                            <a:srgbClr val="2C3E50"/>
                          </a:solidFill>
                          <a:latin typeface="Calibri"/>
                          <a:ea typeface="微软雅黑"/>
                          <a:cs typeface="Calibri"/>
                        </a:rPr>
                        <a:t>Contractor overhead and profit (5%)</a:t>
                      </a:r>
                    </a:p>
                  </a:txBody>
                  <a:tcPr anchor="ctr">
                    <a:solidFill>
                      <a:srgbClr val="FFFFFF"/>
                    </a:solidFill>
                  </a:tcPr>
                </a:tc>
                <a:tc>
                  <a:txBody>
                    <a:bodyPr/>
                    <a:lstStyle/>
                    <a:p>
                      <a:pPr algn="r"/>
                      <a:r>
                        <a:rPr sz="1200" b="0">
                          <a:solidFill>
                            <a:srgbClr val="2C3E50"/>
                          </a:solidFill>
                          <a:latin typeface="Calibri"/>
                          <a:ea typeface="微软雅黑"/>
                          <a:cs typeface="Calibri"/>
                        </a:rPr>
                        <a:t>£2,266,284</a:t>
                      </a:r>
                    </a:p>
                  </a:txBody>
                  <a:tcPr anchor="ctr">
                    <a:solidFill>
                      <a:srgbClr val="FFFFFF"/>
                    </a:solidFill>
                  </a:tcPr>
                </a:tc>
                <a:extLst>
                  <a:ext uri="{0D108BD9-81ED-4DB2-BD59-A6C34878D82A}">
                    <a16:rowId xmlns:a16="http://schemas.microsoft.com/office/drawing/2014/main" val="10011"/>
                  </a:ext>
                </a:extLst>
              </a:tr>
              <a:tr h="336368">
                <a:tc>
                  <a:txBody>
                    <a:bodyPr/>
                    <a:lstStyle/>
                    <a:p>
                      <a:pPr algn="l"/>
                      <a:r>
                        <a:rPr sz="1200" b="1">
                          <a:solidFill>
                            <a:srgbClr val="0F2B46"/>
                          </a:solidFill>
                          <a:latin typeface="Calibri"/>
                          <a:ea typeface="微软雅黑"/>
                          <a:cs typeface="Calibri"/>
                        </a:rPr>
                        <a:t>Subtotal</a:t>
                      </a:r>
                    </a:p>
                  </a:txBody>
                  <a:tcPr anchor="ctr">
                    <a:solidFill>
                      <a:srgbClr val="E8EEF4"/>
                    </a:solidFill>
                  </a:tcPr>
                </a:tc>
                <a:tc>
                  <a:txBody>
                    <a:bodyPr/>
                    <a:lstStyle/>
                    <a:p>
                      <a:pPr algn="r"/>
                      <a:r>
                        <a:rPr sz="1200" b="1">
                          <a:solidFill>
                            <a:srgbClr val="0F2B46"/>
                          </a:solidFill>
                          <a:latin typeface="Calibri"/>
                          <a:ea typeface="微软雅黑"/>
                          <a:cs typeface="Calibri"/>
                        </a:rPr>
                        <a:t>£47,591,969</a:t>
                      </a:r>
                    </a:p>
                  </a:txBody>
                  <a:tcPr anchor="ctr">
                    <a:solidFill>
                      <a:srgbClr val="E8EEF4"/>
                    </a:solidFill>
                  </a:tcPr>
                </a:tc>
                <a:extLst>
                  <a:ext uri="{0D108BD9-81ED-4DB2-BD59-A6C34878D82A}">
                    <a16:rowId xmlns:a16="http://schemas.microsoft.com/office/drawing/2014/main" val="10012"/>
                  </a:ext>
                </a:extLst>
              </a:tr>
              <a:tr h="336376">
                <a:tc>
                  <a:txBody>
                    <a:bodyPr/>
                    <a:lstStyle/>
                    <a:p>
                      <a:pPr algn="l"/>
                      <a:r>
                        <a:rPr sz="1200" b="1">
                          <a:solidFill>
                            <a:srgbClr val="0F2B46"/>
                          </a:solidFill>
                          <a:latin typeface="Calibri"/>
                          <a:ea typeface="微软雅黑"/>
                          <a:cs typeface="Calibri"/>
                        </a:rPr>
                        <a:t>Contingency (25%)</a:t>
                      </a:r>
                    </a:p>
                  </a:txBody>
                  <a:tcPr anchor="ctr">
                    <a:solidFill>
                      <a:srgbClr val="E8EEF4"/>
                    </a:solidFill>
                  </a:tcPr>
                </a:tc>
                <a:tc>
                  <a:txBody>
                    <a:bodyPr/>
                    <a:lstStyle/>
                    <a:p>
                      <a:pPr algn="r"/>
                      <a:r>
                        <a:rPr sz="1200" b="1">
                          <a:solidFill>
                            <a:srgbClr val="0F2B46"/>
                          </a:solidFill>
                          <a:latin typeface="Calibri"/>
                          <a:ea typeface="微软雅黑"/>
                          <a:cs typeface="Calibri"/>
                        </a:rPr>
                        <a:t>£11,897,992</a:t>
                      </a:r>
                    </a:p>
                  </a:txBody>
                  <a:tcPr anchor="ctr">
                    <a:solidFill>
                      <a:srgbClr val="E8EEF4"/>
                    </a:solidFill>
                  </a:tcPr>
                </a:tc>
                <a:extLst>
                  <a:ext uri="{0D108BD9-81ED-4DB2-BD59-A6C34878D82A}">
                    <a16:rowId xmlns:a16="http://schemas.microsoft.com/office/drawing/2014/main" val="10013"/>
                  </a:ext>
                </a:extLst>
              </a:tr>
            </a:tbl>
          </a:graphicData>
        </a:graphic>
      </p:graphicFrame>
      <p:graphicFrame>
        <p:nvGraphicFramePr>
          <p:cNvPr id="17" name="Table 16"/>
          <p:cNvGraphicFramePr>
            <a:graphicFrameLocks noGrp="1"/>
          </p:cNvGraphicFramePr>
          <p:nvPr/>
        </p:nvGraphicFramePr>
        <p:xfrm>
          <a:off x="6126480" y="1627632"/>
          <a:ext cx="5626302" cy="4709160"/>
        </p:xfrm>
        <a:graphic>
          <a:graphicData uri="http://schemas.openxmlformats.org/drawingml/2006/table">
            <a:tbl>
              <a:tblPr firstRow="1" bandRow="1">
                <a:tableStyleId>{5C22544A-7EE6-4342-B048-85BDC9FD1C3A}</a:tableStyleId>
              </a:tblPr>
              <a:tblGrid>
                <a:gridCol w="4050938">
                  <a:extLst>
                    <a:ext uri="{9D8B030D-6E8A-4147-A177-3AD203B41FA5}">
                      <a16:colId xmlns:a16="http://schemas.microsoft.com/office/drawing/2014/main" val="20000"/>
                    </a:ext>
                  </a:extLst>
                </a:gridCol>
                <a:gridCol w="1575364">
                  <a:extLst>
                    <a:ext uri="{9D8B030D-6E8A-4147-A177-3AD203B41FA5}">
                      <a16:colId xmlns:a16="http://schemas.microsoft.com/office/drawing/2014/main" val="20001"/>
                    </a:ext>
                  </a:extLst>
                </a:gridCol>
              </a:tblGrid>
              <a:tr h="470916">
                <a:tc>
                  <a:txBody>
                    <a:bodyPr/>
                    <a:lstStyle/>
                    <a:p>
                      <a:pPr algn="l"/>
                      <a:r>
                        <a:rPr sz="1200" b="1">
                          <a:solidFill>
                            <a:srgbClr val="FFFFFF"/>
                          </a:solidFill>
                          <a:latin typeface="Calibri"/>
                          <a:ea typeface="微软雅黑"/>
                          <a:cs typeface="Calibri"/>
                        </a:rPr>
                        <a:t>Other project costs</a:t>
                      </a:r>
                    </a:p>
                  </a:txBody>
                  <a:tcPr anchor="ctr">
                    <a:solidFill>
                      <a:srgbClr val="1A3A55"/>
                    </a:solidFill>
                  </a:tcPr>
                </a:tc>
                <a:tc>
                  <a:txBody>
                    <a:bodyPr/>
                    <a:lstStyle/>
                    <a:p>
                      <a:pPr algn="r"/>
                      <a:r>
                        <a:rPr sz="1200" b="1">
                          <a:solidFill>
                            <a:srgbClr val="FFFFFF"/>
                          </a:solidFill>
                          <a:latin typeface="Calibri"/>
                          <a:ea typeface="微软雅黑"/>
                          <a:cs typeface="Calibri"/>
                        </a:rPr>
                        <a:t>£5,077,946</a:t>
                      </a:r>
                    </a:p>
                  </a:txBody>
                  <a:tcPr anchor="ctr">
                    <a:solidFill>
                      <a:srgbClr val="1A3A55"/>
                    </a:solidFill>
                  </a:tcPr>
                </a:tc>
                <a:extLst>
                  <a:ext uri="{0D108BD9-81ED-4DB2-BD59-A6C34878D82A}">
                    <a16:rowId xmlns:a16="http://schemas.microsoft.com/office/drawing/2014/main" val="10000"/>
                  </a:ext>
                </a:extLst>
              </a:tr>
              <a:tr h="470916">
                <a:tc>
                  <a:txBody>
                    <a:bodyPr/>
                    <a:lstStyle/>
                    <a:p>
                      <a:pPr algn="l"/>
                      <a:r>
                        <a:rPr sz="1200" b="0">
                          <a:solidFill>
                            <a:srgbClr val="2C3E50"/>
                          </a:solidFill>
                          <a:latin typeface="Calibri"/>
                          <a:ea typeface="微软雅黑"/>
                          <a:cs typeface="Calibri"/>
                        </a:rPr>
                        <a:t>Design team fees (8%)</a:t>
                      </a:r>
                    </a:p>
                  </a:txBody>
                  <a:tcPr anchor="ctr">
                    <a:solidFill>
                      <a:srgbClr val="FFFFFF"/>
                    </a:solidFill>
                  </a:tcPr>
                </a:tc>
                <a:tc>
                  <a:txBody>
                    <a:bodyPr/>
                    <a:lstStyle/>
                    <a:p>
                      <a:pPr algn="r"/>
                      <a:r>
                        <a:rPr sz="1200" b="0">
                          <a:solidFill>
                            <a:srgbClr val="2C3E50"/>
                          </a:solidFill>
                          <a:latin typeface="Calibri"/>
                          <a:ea typeface="微软雅黑"/>
                          <a:cs typeface="Calibri"/>
                        </a:rPr>
                        <a:t>£3,807,357</a:t>
                      </a:r>
                    </a:p>
                  </a:txBody>
                  <a:tcPr anchor="ctr">
                    <a:solidFill>
                      <a:srgbClr val="FFFFFF"/>
                    </a:solidFill>
                  </a:tcPr>
                </a:tc>
                <a:extLst>
                  <a:ext uri="{0D108BD9-81ED-4DB2-BD59-A6C34878D82A}">
                    <a16:rowId xmlns:a16="http://schemas.microsoft.com/office/drawing/2014/main" val="10001"/>
                  </a:ext>
                </a:extLst>
              </a:tr>
              <a:tr h="470916">
                <a:tc>
                  <a:txBody>
                    <a:bodyPr/>
                    <a:lstStyle/>
                    <a:p>
                      <a:pPr algn="l"/>
                      <a:r>
                        <a:rPr sz="1200" b="0">
                          <a:solidFill>
                            <a:srgbClr val="2C3E50"/>
                          </a:solidFill>
                          <a:latin typeface="Calibri"/>
                          <a:ea typeface="微软雅黑"/>
                          <a:cs typeface="Calibri"/>
                        </a:rPr>
                        <a:t>Surveys and investigations</a:t>
                      </a:r>
                    </a:p>
                  </a:txBody>
                  <a:tcPr anchor="ctr">
                    <a:solidFill>
                      <a:srgbClr val="F6F8FA"/>
                    </a:solidFill>
                  </a:tcPr>
                </a:tc>
                <a:tc>
                  <a:txBody>
                    <a:bodyPr/>
                    <a:lstStyle/>
                    <a:p>
                      <a:pPr algn="r"/>
                      <a:r>
                        <a:rPr sz="1200" b="0">
                          <a:solidFill>
                            <a:srgbClr val="2C3E50"/>
                          </a:solidFill>
                          <a:latin typeface="Calibri"/>
                          <a:ea typeface="微软雅黑"/>
                          <a:cs typeface="Calibri"/>
                        </a:rPr>
                        <a:t>£80,000</a:t>
                      </a:r>
                    </a:p>
                  </a:txBody>
                  <a:tcPr anchor="ctr">
                    <a:solidFill>
                      <a:srgbClr val="F6F8FA"/>
                    </a:solidFill>
                  </a:tcPr>
                </a:tc>
                <a:extLst>
                  <a:ext uri="{0D108BD9-81ED-4DB2-BD59-A6C34878D82A}">
                    <a16:rowId xmlns:a16="http://schemas.microsoft.com/office/drawing/2014/main" val="10002"/>
                  </a:ext>
                </a:extLst>
              </a:tr>
              <a:tr h="470916">
                <a:tc>
                  <a:txBody>
                    <a:bodyPr/>
                    <a:lstStyle/>
                    <a:p>
                      <a:pPr algn="l"/>
                      <a:r>
                        <a:rPr sz="1200" b="0">
                          <a:solidFill>
                            <a:srgbClr val="2C3E50"/>
                          </a:solidFill>
                          <a:latin typeface="Calibri"/>
                          <a:ea typeface="微软雅黑"/>
                          <a:cs typeface="Calibri"/>
                        </a:rPr>
                        <a:t>BREEAM</a:t>
                      </a:r>
                    </a:p>
                  </a:txBody>
                  <a:tcPr anchor="ctr">
                    <a:solidFill>
                      <a:srgbClr val="FFFFFF"/>
                    </a:solidFill>
                  </a:tcPr>
                </a:tc>
                <a:tc>
                  <a:txBody>
                    <a:bodyPr/>
                    <a:lstStyle/>
                    <a:p>
                      <a:pPr algn="r"/>
                      <a:r>
                        <a:rPr sz="1200" b="0">
                          <a:solidFill>
                            <a:srgbClr val="2C3E50"/>
                          </a:solidFill>
                          <a:latin typeface="Calibri"/>
                          <a:ea typeface="微软雅黑"/>
                          <a:cs typeface="Calibri"/>
                        </a:rPr>
                        <a:t>£150,000</a:t>
                      </a:r>
                    </a:p>
                  </a:txBody>
                  <a:tcPr anchor="ctr">
                    <a:solidFill>
                      <a:srgbClr val="FFFFFF"/>
                    </a:solidFill>
                  </a:tcPr>
                </a:tc>
                <a:extLst>
                  <a:ext uri="{0D108BD9-81ED-4DB2-BD59-A6C34878D82A}">
                    <a16:rowId xmlns:a16="http://schemas.microsoft.com/office/drawing/2014/main" val="10003"/>
                  </a:ext>
                </a:extLst>
              </a:tr>
              <a:tr h="470916">
                <a:tc>
                  <a:txBody>
                    <a:bodyPr/>
                    <a:lstStyle/>
                    <a:p>
                      <a:pPr algn="l"/>
                      <a:r>
                        <a:rPr sz="1200" b="0">
                          <a:solidFill>
                            <a:srgbClr val="2C3E50"/>
                          </a:solidFill>
                          <a:latin typeface="Calibri"/>
                          <a:ea typeface="微软雅黑"/>
                          <a:cs typeface="Calibri"/>
                        </a:rPr>
                        <a:t>Planning and statutory fees</a:t>
                      </a:r>
                    </a:p>
                  </a:txBody>
                  <a:tcPr anchor="ctr">
                    <a:solidFill>
                      <a:srgbClr val="F6F8FA"/>
                    </a:solidFill>
                  </a:tcPr>
                </a:tc>
                <a:tc>
                  <a:txBody>
                    <a:bodyPr/>
                    <a:lstStyle/>
                    <a:p>
                      <a:pPr algn="r"/>
                      <a:r>
                        <a:rPr sz="1200" b="0">
                          <a:solidFill>
                            <a:srgbClr val="2C3E50"/>
                          </a:solidFill>
                          <a:latin typeface="Calibri"/>
                          <a:ea typeface="微软雅黑"/>
                          <a:cs typeface="Calibri"/>
                        </a:rPr>
                        <a:t>£25,000</a:t>
                      </a:r>
                    </a:p>
                  </a:txBody>
                  <a:tcPr anchor="ctr">
                    <a:solidFill>
                      <a:srgbClr val="F6F8FA"/>
                    </a:solidFill>
                  </a:tcPr>
                </a:tc>
                <a:extLst>
                  <a:ext uri="{0D108BD9-81ED-4DB2-BD59-A6C34878D82A}">
                    <a16:rowId xmlns:a16="http://schemas.microsoft.com/office/drawing/2014/main" val="10004"/>
                  </a:ext>
                </a:extLst>
              </a:tr>
              <a:tr h="470916">
                <a:tc>
                  <a:txBody>
                    <a:bodyPr/>
                    <a:lstStyle/>
                    <a:p>
                      <a:pPr algn="l"/>
                      <a:r>
                        <a:rPr sz="1200" b="1">
                          <a:solidFill>
                            <a:srgbClr val="0F2B46"/>
                          </a:solidFill>
                          <a:latin typeface="Calibri"/>
                          <a:ea typeface="微软雅黑"/>
                          <a:cs typeface="Calibri"/>
                        </a:rPr>
                        <a:t>Subtotal</a:t>
                      </a:r>
                    </a:p>
                  </a:txBody>
                  <a:tcPr anchor="ctr">
                    <a:solidFill>
                      <a:srgbClr val="E8EEF4"/>
                    </a:solidFill>
                  </a:tcPr>
                </a:tc>
                <a:tc>
                  <a:txBody>
                    <a:bodyPr/>
                    <a:lstStyle/>
                    <a:p>
                      <a:pPr algn="r"/>
                      <a:r>
                        <a:rPr sz="1200" b="1">
                          <a:solidFill>
                            <a:srgbClr val="0F2B46"/>
                          </a:solidFill>
                          <a:latin typeface="Calibri"/>
                          <a:ea typeface="微软雅黑"/>
                          <a:cs typeface="Calibri"/>
                        </a:rPr>
                        <a:t>£4,062,357</a:t>
                      </a:r>
                    </a:p>
                  </a:txBody>
                  <a:tcPr anchor="ctr">
                    <a:solidFill>
                      <a:srgbClr val="E8EEF4"/>
                    </a:solidFill>
                  </a:tcPr>
                </a:tc>
                <a:extLst>
                  <a:ext uri="{0D108BD9-81ED-4DB2-BD59-A6C34878D82A}">
                    <a16:rowId xmlns:a16="http://schemas.microsoft.com/office/drawing/2014/main" val="10005"/>
                  </a:ext>
                </a:extLst>
              </a:tr>
              <a:tr h="470916">
                <a:tc>
                  <a:txBody>
                    <a:bodyPr/>
                    <a:lstStyle/>
                    <a:p>
                      <a:pPr algn="l"/>
                      <a:r>
                        <a:rPr sz="1200" b="1">
                          <a:solidFill>
                            <a:srgbClr val="0F2B46"/>
                          </a:solidFill>
                          <a:latin typeface="Calibri"/>
                          <a:ea typeface="微软雅黑"/>
                          <a:cs typeface="Calibri"/>
                        </a:rPr>
                        <a:t>Contingency (25%)</a:t>
                      </a:r>
                    </a:p>
                  </a:txBody>
                  <a:tcPr anchor="ctr">
                    <a:solidFill>
                      <a:srgbClr val="E8EEF4"/>
                    </a:solidFill>
                  </a:tcPr>
                </a:tc>
                <a:tc>
                  <a:txBody>
                    <a:bodyPr/>
                    <a:lstStyle/>
                    <a:p>
                      <a:pPr algn="r"/>
                      <a:r>
                        <a:rPr sz="1200" b="1">
                          <a:solidFill>
                            <a:srgbClr val="0F2B46"/>
                          </a:solidFill>
                          <a:latin typeface="Calibri"/>
                          <a:ea typeface="微软雅黑"/>
                          <a:cs typeface="Calibri"/>
                        </a:rPr>
                        <a:t>£1,015,589</a:t>
                      </a:r>
                    </a:p>
                  </a:txBody>
                  <a:tcPr anchor="ctr">
                    <a:solidFill>
                      <a:srgbClr val="E8EEF4"/>
                    </a:solidFill>
                  </a:tcPr>
                </a:tc>
                <a:extLst>
                  <a:ext uri="{0D108BD9-81ED-4DB2-BD59-A6C34878D82A}">
                    <a16:rowId xmlns:a16="http://schemas.microsoft.com/office/drawing/2014/main" val="10006"/>
                  </a:ext>
                </a:extLst>
              </a:tr>
              <a:tr h="470916">
                <a:tc>
                  <a:txBody>
                    <a:bodyPr/>
                    <a:lstStyle/>
                    <a:p>
                      <a:pPr algn="l"/>
                      <a:r>
                        <a:rPr sz="1200" b="1">
                          <a:solidFill>
                            <a:srgbClr val="FFFFFF"/>
                          </a:solidFill>
                          <a:latin typeface="Calibri"/>
                          <a:ea typeface="微软雅黑"/>
                          <a:cs typeface="Calibri"/>
                        </a:rPr>
                        <a:t>General risk and contingency</a:t>
                      </a:r>
                    </a:p>
                  </a:txBody>
                  <a:tcPr anchor="ctr">
                    <a:solidFill>
                      <a:srgbClr val="1A3A55"/>
                    </a:solidFill>
                  </a:tcPr>
                </a:tc>
                <a:tc>
                  <a:txBody>
                    <a:bodyPr/>
                    <a:lstStyle/>
                    <a:p>
                      <a:pPr algn="r"/>
                      <a:r>
                        <a:rPr sz="1200" b="1">
                          <a:solidFill>
                            <a:srgbClr val="FFFFFF"/>
                          </a:solidFill>
                          <a:latin typeface="Calibri"/>
                          <a:ea typeface="微软雅黑"/>
                          <a:cs typeface="Calibri"/>
                        </a:rPr>
                        <a:t>£13,540,182</a:t>
                      </a:r>
                    </a:p>
                  </a:txBody>
                  <a:tcPr anchor="ctr">
                    <a:solidFill>
                      <a:srgbClr val="1A3A55"/>
                    </a:solidFill>
                  </a:tcPr>
                </a:tc>
                <a:extLst>
                  <a:ext uri="{0D108BD9-81ED-4DB2-BD59-A6C34878D82A}">
                    <a16:rowId xmlns:a16="http://schemas.microsoft.com/office/drawing/2014/main" val="10007"/>
                  </a:ext>
                </a:extLst>
              </a:tr>
              <a:tr h="470916">
                <a:tc>
                  <a:txBody>
                    <a:bodyPr/>
                    <a:lstStyle/>
                    <a:p>
                      <a:pPr algn="l"/>
                      <a:r>
                        <a:rPr sz="1200" b="0">
                          <a:solidFill>
                            <a:srgbClr val="2C3E50"/>
                          </a:solidFill>
                          <a:latin typeface="Calibri"/>
                          <a:ea typeface="微软雅黑"/>
                          <a:cs typeface="Calibri"/>
                        </a:rPr>
                        <a:t>Whole-project contingency (25%)</a:t>
                      </a:r>
                    </a:p>
                  </a:txBody>
                  <a:tcPr anchor="ctr">
                    <a:solidFill>
                      <a:srgbClr val="F6F8FA"/>
                    </a:solidFill>
                  </a:tcPr>
                </a:tc>
                <a:tc>
                  <a:txBody>
                    <a:bodyPr/>
                    <a:lstStyle/>
                    <a:p>
                      <a:pPr algn="r"/>
                      <a:r>
                        <a:rPr sz="1200" b="0">
                          <a:solidFill>
                            <a:srgbClr val="2C3E50"/>
                          </a:solidFill>
                          <a:latin typeface="Calibri"/>
                          <a:ea typeface="微软雅黑"/>
                          <a:cs typeface="Calibri"/>
                        </a:rPr>
                        <a:t>£12,913,582</a:t>
                      </a:r>
                    </a:p>
                  </a:txBody>
                  <a:tcPr anchor="ctr">
                    <a:solidFill>
                      <a:srgbClr val="F6F8FA"/>
                    </a:solidFill>
                  </a:tcPr>
                </a:tc>
                <a:extLst>
                  <a:ext uri="{0D108BD9-81ED-4DB2-BD59-A6C34878D82A}">
                    <a16:rowId xmlns:a16="http://schemas.microsoft.com/office/drawing/2014/main" val="10008"/>
                  </a:ext>
                </a:extLst>
              </a:tr>
              <a:tr h="470916">
                <a:tc>
                  <a:txBody>
                    <a:bodyPr/>
                    <a:lstStyle/>
                    <a:p>
                      <a:pPr algn="l"/>
                      <a:r>
                        <a:rPr sz="1200" b="0">
                          <a:solidFill>
                            <a:srgbClr val="2C3E50"/>
                          </a:solidFill>
                          <a:latin typeface="Calibri"/>
                          <a:ea typeface="微软雅黑"/>
                          <a:cs typeface="Calibri"/>
                        </a:rPr>
                        <a:t>Risk register (probability-weighted total)</a:t>
                      </a:r>
                    </a:p>
                  </a:txBody>
                  <a:tcPr anchor="ctr">
                    <a:solidFill>
                      <a:srgbClr val="FFFFFF"/>
                    </a:solidFill>
                  </a:tcPr>
                </a:tc>
                <a:tc>
                  <a:txBody>
                    <a:bodyPr/>
                    <a:lstStyle/>
                    <a:p>
                      <a:pPr algn="r"/>
                      <a:r>
                        <a:rPr sz="1200" b="0">
                          <a:solidFill>
                            <a:srgbClr val="2C3E50"/>
                          </a:solidFill>
                          <a:latin typeface="Calibri"/>
                          <a:ea typeface="微软雅黑"/>
                          <a:cs typeface="Calibri"/>
                        </a:rPr>
                        <a:t>£626,600</a:t>
                      </a:r>
                    </a:p>
                  </a:txBody>
                  <a:tcPr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64008"/>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0"/>
            <a:ext cx="40233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1120" y="0"/>
            <a:ext cx="3230575"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65392"/>
            <a:ext cx="12191695" cy="10972"/>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6583680"/>
            <a:ext cx="8412480" cy="237744"/>
          </a:xfrm>
          <a:prstGeom prst="rect">
            <a:avLst/>
          </a:prstGeom>
          <a:noFill/>
        </p:spPr>
        <p:txBody>
          <a:bodyPr wrap="square" anchor="t">
            <a:spAutoFit/>
          </a:bodyPr>
          <a:lstStyle/>
          <a:p>
            <a:pPr algn="l"/>
            <a:r>
              <a:rPr sz="1100" b="0">
                <a:solidFill>
                  <a:srgbClr val="5A6A7A"/>
                </a:solidFill>
                <a:latin typeface="Calibri"/>
                <a:ea typeface="微软雅黑"/>
                <a:cs typeface="Calibri"/>
              </a:rPr>
              <a:t>Asymchem UK · Sandwich PDF capital projects</a:t>
            </a:r>
          </a:p>
        </p:txBody>
      </p:sp>
      <p:sp>
        <p:nvSpPr>
          <p:cNvPr id="9" name="TextBox 8"/>
          <p:cNvSpPr txBox="1"/>
          <p:nvPr/>
        </p:nvSpPr>
        <p:spPr>
          <a:xfrm>
            <a:off x="10344607" y="6583680"/>
            <a:ext cx="1463040" cy="237744"/>
          </a:xfrm>
          <a:prstGeom prst="rect">
            <a:avLst/>
          </a:prstGeom>
          <a:noFill/>
        </p:spPr>
        <p:txBody>
          <a:bodyPr wrap="square" anchor="t">
            <a:spAutoFit/>
          </a:bodyPr>
          <a:lstStyle/>
          <a:p>
            <a:pPr algn="r"/>
            <a:r>
              <a:rPr sz="1100" b="0">
                <a:solidFill>
                  <a:srgbClr val="5A6A7A"/>
                </a:solidFill>
                <a:latin typeface="Calibri"/>
                <a:ea typeface="微软雅黑"/>
                <a:cs typeface="Calibri"/>
              </a:rPr>
              <a:t>31 / 31</a:t>
            </a:r>
          </a:p>
        </p:txBody>
      </p:sp>
      <p:sp>
        <p:nvSpPr>
          <p:cNvPr id="10" name="Rectangle 9"/>
          <p:cNvSpPr/>
          <p:nvPr/>
        </p:nvSpPr>
        <p:spPr>
          <a:xfrm>
            <a:off x="305" y="64008"/>
            <a:ext cx="12191695" cy="6501384"/>
          </a:xfrm>
          <a:prstGeom prst="rect">
            <a:avLst/>
          </a:prstGeom>
          <a:solidFill>
            <a:srgbClr val="0F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0"/>
            <a:ext cx="4937760" cy="640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937760" y="0"/>
            <a:ext cx="4023360"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961120" y="0"/>
            <a:ext cx="3230575" cy="64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1874519"/>
            <a:ext cx="10332720" cy="1005840"/>
          </a:xfrm>
          <a:prstGeom prst="rect">
            <a:avLst/>
          </a:prstGeom>
          <a:noFill/>
        </p:spPr>
        <p:txBody>
          <a:bodyPr wrap="square" anchor="t">
            <a:spAutoFit/>
          </a:bodyPr>
          <a:lstStyle/>
          <a:p>
            <a:pPr algn="ctr"/>
            <a:r>
              <a:rPr sz="5400" b="1">
                <a:solidFill>
                  <a:srgbClr val="FFFFFF"/>
                </a:solidFill>
                <a:latin typeface="Calibri"/>
                <a:ea typeface="微软雅黑"/>
                <a:cs typeface="Calibri"/>
              </a:rPr>
              <a:t>Thank you</a:t>
            </a:r>
          </a:p>
        </p:txBody>
      </p:sp>
      <p:sp>
        <p:nvSpPr>
          <p:cNvPr id="15" name="Rectangle 14"/>
          <p:cNvSpPr/>
          <p:nvPr/>
        </p:nvSpPr>
        <p:spPr>
          <a:xfrm>
            <a:off x="5394960" y="2971800"/>
            <a:ext cx="1371600" cy="6400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246120"/>
            <a:ext cx="10332720" cy="411480"/>
          </a:xfrm>
          <a:prstGeom prst="rect">
            <a:avLst/>
          </a:prstGeom>
          <a:noFill/>
        </p:spPr>
        <p:txBody>
          <a:bodyPr wrap="square" anchor="t">
            <a:spAutoFit/>
          </a:bodyPr>
          <a:lstStyle/>
          <a:p>
            <a:pPr algn="ctr"/>
            <a:r>
              <a:rPr sz="1800" b="0" dirty="0" err="1">
                <a:solidFill>
                  <a:srgbClr val="B8C5D6"/>
                </a:solidFill>
                <a:latin typeface="Calibri"/>
                <a:ea typeface="微软雅黑"/>
                <a:cs typeface="Calibri"/>
              </a:rPr>
              <a:t>Asymchem UK  ·  Sandwich  ·  12 October 2026</a:t>
            </a:r>
            <a:r>
              <a:rPr sz="1800" b="0" dirty="0">
                <a:solidFill>
                  <a:srgbClr val="B8C5D6"/>
                </a:solidFill>
                <a:latin typeface="微软雅黑"/>
                <a:ea typeface="微软雅黑"/>
                <a:cs typeface="微软雅黑"/>
              </a:rPr>
              <a:t/>
            </a:r>
          </a:p>
        </p:txBody>
      </p:sp>
      <p:sp>
        <p:nvSpPr>
          <p:cNvPr id="21" name="TextBox 20"/>
          <p:cNvSpPr txBox="1"/>
          <p:nvPr/>
        </p:nvSpPr>
        <p:spPr>
          <a:xfrm>
            <a:off x="384048" y="6583680"/>
            <a:ext cx="8412480" cy="237744"/>
          </a:xfrm>
          <a:prstGeom prst="rect">
            <a:avLst/>
          </a:prstGeom>
          <a:noFill/>
        </p:spPr>
        <p:txBody>
          <a:bodyPr wrap="square" anchor="t">
            <a:spAutoFit/>
          </a:bodyPr>
          <a:lstStyle/>
          <a:p>
            <a:pPr algn="l"/>
            <a:r>
              <a:rPr sz="1100" b="0">
                <a:solidFill>
                  <a:srgbClr val="8A9BAE"/>
                </a:solidFill>
                <a:latin typeface="Calibri"/>
                <a:ea typeface="微软雅黑"/>
                <a:cs typeface="Calibri"/>
              </a:rPr>
              <a:t>Asymchem UK · Sandwich PDF capital projects</a:t>
            </a:r>
          </a:p>
        </p:txBody>
      </p:sp>
      <p:sp>
        <p:nvSpPr>
          <p:cNvPr id="22" name="TextBox 21"/>
          <p:cNvSpPr txBox="1"/>
          <p:nvPr/>
        </p:nvSpPr>
        <p:spPr>
          <a:xfrm>
            <a:off x="10344607" y="6583680"/>
            <a:ext cx="1463040" cy="237744"/>
          </a:xfrm>
          <a:prstGeom prst="rect">
            <a:avLst/>
          </a:prstGeom>
          <a:noFill/>
        </p:spPr>
        <p:txBody>
          <a:bodyPr wrap="square" anchor="t">
            <a:spAutoFit/>
          </a:bodyPr>
          <a:lstStyle/>
          <a:p>
            <a:pPr algn="r"/>
            <a:r>
              <a:rPr sz="1100" b="0">
                <a:solidFill>
                  <a:srgbClr val="8A9BAE"/>
                </a:solidFill>
                <a:latin typeface="Calibri"/>
                <a:ea typeface="微软雅黑"/>
                <a:cs typeface="Calibri"/>
              </a:rPr>
              <a:t>31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86</TotalTime>
  <Words>3756</Words>
  <Application>Microsoft Office PowerPoint</Application>
  <PresentationFormat>宽屏</PresentationFormat>
  <Paragraphs>1103</Paragraphs>
  <Slides>31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31</vt:i4>
      </vt:variant>
    </vt:vector>
  </HeadingPairs>
  <TitlesOfParts>
    <vt:vector size="35" baseType="lpstr">
      <vt:lpstr>微软雅黑</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Guoxi Zheng</dc:creator>
  <cp:keywords/>
  <dc:description>generated using python-pptx</dc:description>
  <cp:lastModifiedBy>Guoxi Zheng</cp:lastModifiedBy>
  <cp:revision>11</cp:revision>
  <dcterms:created xsi:type="dcterms:W3CDTF">2013-01-27T09:14:16Z</dcterms:created>
  <dcterms:modified xsi:type="dcterms:W3CDTF">2026-10-12T09:50:03Z</dcterms:modified>
  <cp:category/>
</cp:coreProperties>
</file>