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5" r:id="rId29"/>
    <p:sldId id="287" r:id="rId30"/>
    <p:sldId id="288" r:id="rId31"/>
    <p:sldId id="289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2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直接费用合计</c:v>
                </c:pt>
              </c:strCache>
            </c:strRef>
          </c:tx>
          <c:spPr>
            <a:solidFill>
              <a:srgbClr val="0F2B46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3026800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99E-4D6A-962B-86765F0B04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间接费用合计</c:v>
                </c:pt>
              </c:strCache>
            </c:strRef>
          </c:tx>
          <c:spPr>
            <a:solidFill>
              <a:srgbClr val="1A4A6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1072500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99E-4D6A-962B-86765F0B04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一般风险与预备费</c:v>
                </c:pt>
              </c:strCache>
            </c:strRef>
          </c:tx>
          <c:spPr>
            <a:solidFill>
              <a:srgbClr val="009688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1229800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99E-4D6A-962B-86765F0B04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1-9F1C-400C-B869-43BEE2F13F66}"/>
              </c:ext>
            </c:extLst>
          </c:dPt>
          <c:dPt>
            <c:idx val="1"/>
            <c:bubble3D val="0"/>
            <c:spPr>
              <a:solidFill>
                <a:srgbClr val="1A4A6E"/>
              </a:solidFill>
            </c:spPr>
            <c:extLst>
              <c:ext xmlns:c16="http://schemas.microsoft.com/office/drawing/2014/chart" uri="{C3380CC4-5D6E-409C-BE32-E72D297353CC}">
                <c16:uniqueId val="{00000003-9F1C-400C-B869-43BEE2F13F66}"/>
              </c:ext>
            </c:extLst>
          </c:dPt>
          <c:dPt>
            <c:idx val="2"/>
            <c:bubble3D val="0"/>
            <c:spPr>
              <a:solidFill>
                <a:srgbClr val="009688"/>
              </a:solidFill>
            </c:spPr>
            <c:extLst>
              <c:ext xmlns:c16="http://schemas.microsoft.com/office/drawing/2014/chart" uri="{C3380CC4-5D6E-409C-BE32-E72D297353CC}">
                <c16:uniqueId val="{00000005-9F1C-400C-B869-43BEE2F13F66}"/>
              </c:ext>
            </c:extLst>
          </c:dPt>
          <c:dPt>
            <c:idx val="3"/>
            <c:bubble3D val="0"/>
            <c:spPr>
              <a:solidFill>
                <a:srgbClr val="C9A227"/>
              </a:solidFill>
            </c:spPr>
            <c:extLst>
              <c:ext xmlns:c16="http://schemas.microsoft.com/office/drawing/2014/chart" uri="{C3380CC4-5D6E-409C-BE32-E72D297353CC}">
                <c16:uniqueId val="{00000007-9F1C-400C-B869-43BEE2F13F66}"/>
              </c:ext>
            </c:extLst>
          </c:dPt>
          <c:dPt>
            <c:idx val="4"/>
            <c:bubble3D val="0"/>
            <c:spPr>
              <a:solidFill>
                <a:srgbClr val="5B6EAE"/>
              </a:solidFill>
            </c:spPr>
            <c:extLst>
              <c:ext xmlns:c16="http://schemas.microsoft.com/office/drawing/2014/chart" uri="{C3380CC4-5D6E-409C-BE32-E72D297353CC}">
                <c16:uniqueId val="{00000009-9F1C-400C-B869-43BEE2F13F66}"/>
              </c:ext>
            </c:extLst>
          </c:dPt>
          <c:dPt>
            <c:idx val="5"/>
            <c:bubble3D val="0"/>
            <c:spPr>
              <a:solidFill>
                <a:srgbClr val="2E6DA4"/>
              </a:solidFill>
            </c:spPr>
            <c:extLst>
              <c:ext xmlns:c16="http://schemas.microsoft.com/office/drawing/2014/chart" uri="{C3380CC4-5D6E-409C-BE32-E72D297353CC}">
                <c16:uniqueId val="{0000000B-9F1C-400C-B869-43BEE2F13F66}"/>
              </c:ext>
            </c:extLst>
          </c:dPt>
          <c:dPt>
            <c:idx val="6"/>
            <c:bubble3D val="0"/>
            <c:spPr>
              <a:solidFill>
                <a:srgbClr val="8A9BAE"/>
              </a:solidFill>
            </c:spPr>
            <c:extLst>
              <c:ext xmlns:c16="http://schemas.microsoft.com/office/drawing/2014/chart" uri="{C3380CC4-5D6E-409C-BE32-E72D297353CC}">
                <c16:uniqueId val="{0000000D-9F1C-400C-B869-43BEE2F13F66}"/>
              </c:ext>
            </c:extLst>
          </c:dPt>
          <c:dPt>
            <c:idx val="7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F-9F1C-400C-B869-43BEE2F13F66}"/>
              </c:ext>
            </c:extLst>
          </c:dPt>
          <c:cat>
            <c:strRef>
              <c:f>Sheet1!$A$2:$A$9</c:f>
              <c:strCache>
                <c:ptCount val="8"/>
                <c:pt idx="0">
                  <c:v>冻干机</c:v>
                </c:pt>
                <c:pt idx="1">
                  <c:v>HPLC 撬装</c:v>
                </c:pt>
                <c:pt idx="2">
                  <c:v>储罐/容器</c:v>
                </c:pt>
                <c:pt idx="3">
                  <c:v>泵组</c:v>
                </c:pt>
                <c:pt idx="4">
                  <c:v>土建结构</c:v>
                </c:pt>
                <c:pt idx="5">
                  <c:v>机械与管道</c:v>
                </c:pt>
                <c:pt idx="6">
                  <c:v>电气仪表</c:v>
                </c:pt>
                <c:pt idx="7">
                  <c:v>暖通空调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967000</c:v>
                </c:pt>
                <c:pt idx="1">
                  <c:v>358000</c:v>
                </c:pt>
                <c:pt idx="2">
                  <c:v>200000</c:v>
                </c:pt>
                <c:pt idx="3">
                  <c:v>50000</c:v>
                </c:pt>
                <c:pt idx="4">
                  <c:v>326000</c:v>
                </c:pt>
                <c:pt idx="5">
                  <c:v>264000</c:v>
                </c:pt>
                <c:pt idx="6">
                  <c:v>128000</c:v>
                </c:pt>
                <c:pt idx="7">
                  <c:v>35300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F1C-400C-B869-43BEE2F13F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主设备小计</c:v>
                </c:pt>
              </c:strCache>
            </c:strRef>
          </c:tx>
          <c:spPr>
            <a:solidFill>
              <a:srgbClr val="0F2B46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1905000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C26-4EA5-AB31-E37A615ABB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全项目预备费</c:v>
                </c:pt>
              </c:strCache>
            </c:strRef>
          </c:tx>
          <c:spPr>
            <a:solidFill>
              <a:srgbClr val="1A4A6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571500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C26-4EA5-AB31-E37A615AB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1-3FF2-4896-AB49-438CCC4AEC20}"/>
              </c:ext>
            </c:extLst>
          </c:dPt>
          <c:dPt>
            <c:idx val="1"/>
            <c:bubble3D val="0"/>
            <c:spPr>
              <a:solidFill>
                <a:srgbClr val="1A4A6E"/>
              </a:solidFill>
            </c:spPr>
            <c:extLst>
              <c:ext xmlns:c16="http://schemas.microsoft.com/office/drawing/2014/chart" uri="{C3380CC4-5D6E-409C-BE32-E72D297353CC}">
                <c16:uniqueId val="{00000003-3FF2-4896-AB49-438CCC4AEC20}"/>
              </c:ext>
            </c:extLst>
          </c:dPt>
          <c:dPt>
            <c:idx val="2"/>
            <c:bubble3D val="0"/>
            <c:spPr>
              <a:solidFill>
                <a:srgbClr val="009688"/>
              </a:solidFill>
            </c:spPr>
            <c:extLst>
              <c:ext xmlns:c16="http://schemas.microsoft.com/office/drawing/2014/chart" uri="{C3380CC4-5D6E-409C-BE32-E72D297353CC}">
                <c16:uniqueId val="{00000005-3FF2-4896-AB49-438CCC4AEC20}"/>
              </c:ext>
            </c:extLst>
          </c:dPt>
          <c:cat>
            <c:strRef>
              <c:f>Sheet1!$A$2:$A$4</c:f>
              <c:strCache>
                <c:ptCount val="3"/>
                <c:pt idx="0">
                  <c:v>1. 固定隔离器</c:v>
                </c:pt>
                <c:pt idx="1">
                  <c:v>2. HVAC 与气闸</c:v>
                </c:pt>
                <c:pt idx="2">
                  <c:v>3. 柔性隔离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1000000</c:v>
                </c:pt>
                <c:pt idx="1">
                  <c:v>575000</c:v>
                </c:pt>
                <c:pt idx="2">
                  <c:v>330000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FF2-4896-AB49-438CCC4AEC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201168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2331720" cy="347472"/>
          </a:xfrm>
          <a:prstGeom prst="roundRect">
            <a:avLst>
              <a:gd name="adj" fmla="val 1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内部汇报 · 整体汇报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 err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凯莱英</a:t>
            </a:r>
            <a:r>
              <a:rPr sz="34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 UK · Sandwich </a:t>
            </a:r>
            <a:r>
              <a:rPr sz="34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P</a:t>
            </a:r>
            <a:r>
              <a:rPr lang="en-US" altLang="zh-CN" sz="34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ilot Plant</a:t>
            </a:r>
            <a:endParaRPr sz="34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资本项目汇报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70048"/>
            <a:ext cx="14630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2880360"/>
            <a:ext cx="3608832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608832" cy="9144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一、地面层改造 + C1 升级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404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B6EAE"/>
                </a:solidFill>
                <a:latin typeface="微软雅黑"/>
                <a:ea typeface="微软雅黑"/>
                <a:cs typeface="微软雅黑"/>
              </a:rPr>
              <a:t>£7.81M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3243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 £5.33M  ·  C1 £2.48M
2027-10 C1 / 2027-12 HPLC / 2028-06 冻干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6344" y="2880360"/>
            <a:ext cx="3608832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76344" y="2880360"/>
            <a:ext cx="3608832" cy="9144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59224" y="31546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二、OEB5 高活实验室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9224" y="38404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7A6F"/>
                </a:solidFill>
                <a:latin typeface="微软雅黑"/>
                <a:ea typeface="微软雅黑"/>
                <a:cs typeface="微软雅黑"/>
              </a:rPr>
              <a:t>£3.55M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9224" y="4617720"/>
            <a:ext cx="3243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一期口径
计划 2027-11 交付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9768" y="2880360"/>
            <a:ext cx="3608832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9768" y="2880360"/>
            <a:ext cx="3608832" cy="9144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32648" y="31546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三、B902 东侧扩建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2648" y="38404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4A6E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2648" y="4617720"/>
            <a:ext cx="3243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可研评估 OOM
2030-05 竣工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汇报</a:t>
            </a:r>
            <a:r>
              <a:rPr lang="zh-CN" altLang="en-US" sz="1400" dirty="0" smtClean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日期：</a:t>
            </a:r>
            <a:r>
              <a:rPr sz="1400" b="0" dirty="0" smtClean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dirty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2026年10月12日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项目概览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三部分 · 可行性 / 概念 / 内部估算量级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796753"/>
              </p:ext>
            </p:extLst>
          </p:nvPr>
        </p:nvGraphicFramePr>
        <p:xfrm>
          <a:off x="384048" y="1051560"/>
          <a:ext cx="11368735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投资（估算量级）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关键节点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一、HPLC + 冻干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PDF footprint 改造（地面层）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£5.33M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2027-12 HPLC / 2028-06 冻干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      </a:t>
                      </a:r>
                      <a:r>
                        <a:rPr sz="14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OEB5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</a:t>
                      </a:r>
                      <a:endParaRPr sz="14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现有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C1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OEB5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日常运行能力</a:t>
                      </a:r>
                      <a:endParaRPr sz="14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£2.48M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2027-10 安装确认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二、OEB5 高活实验室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G-128 套间改造；GIFA 215 m²；4+1 台隔离器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£3.55M（一期）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 2027-11 交付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三、B902 东侧扩建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新建四层+夹层，反应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加氢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过滤干燥</a:t>
                      </a:r>
                      <a:endParaRPr sz="14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£78.1M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2030-05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竣工</a:t>
                      </a:r>
                      <a:endParaRPr sz="14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251960"/>
            <a:ext cx="1142359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4251960"/>
            <a:ext cx="82296" cy="86868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" y="4325112"/>
            <a:ext cx="11112703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交付关联：厂房内改造（制备 HPLC + 冻干）与 C1 模块升级须同步完成，方能为制备 HPLC 操作提供 OEB5 能力；制备 HPLC 单元驱动整体交付时间线。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5212080"/>
            <a:ext cx="1142359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5212080"/>
            <a:ext cx="82296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" y="5285232"/>
            <a:ext cx="11112703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产能依据：欧洲商务已整理面向 Sandwich 的高活需求与机会（2027–2030）。已列名 AZ、Genmab、BioNTech、NCC，另有 Roche、信达、宜联询盘海外高活产能。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5925312"/>
            <a:ext cx="11423599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5925312"/>
            <a:ext cx="82296" cy="502920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5998464"/>
            <a:ext cx="11112703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第一、二部分合计（改造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£5.33M + C1 £2.48M +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高活实验室一期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£3.55M）约 £11.36M，不含 B902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东侧扩建。</a:t>
            </a:r>
            <a:r>
              <a:rPr sz="13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各线</a:t>
            </a:r>
            <a:r>
              <a:rPr lang="zh-CN" altLang="en-US" sz="13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来自不同的评估基础</a:t>
            </a:r>
            <a:r>
              <a:rPr sz="13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扩建与改造为可行性量级，C1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为内部估算，高活实验室为概念阶段成本计划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</a:t>
            </a:r>
            <a:r>
              <a:rPr lang="en-US" sz="26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+</a:t>
            </a:r>
            <a:r>
              <a:rPr lang="zh-CN" altLang="en-US" sz="26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纯化</a:t>
            </a:r>
            <a:r>
              <a:rPr lang="en-US" altLang="zh-CN" sz="26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lang="zh-CN" altLang="en-US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</a:t>
            </a:r>
            <a:r>
              <a:rPr sz="26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需求</a:t>
            </a:r>
            <a:r>
              <a:rPr sz="26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2600" b="1" dirty="0" err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客户与项目</a:t>
            </a:r>
            <a:endParaRPr sz="26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922401"/>
              </p:ext>
            </p:extLst>
          </p:nvPr>
        </p:nvGraphicFramePr>
        <p:xfrm>
          <a:off x="384048" y="769620"/>
          <a:ext cx="11368735" cy="5759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4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92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客户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2027–2030 量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商务产值口径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要点</a:t>
                      </a:r>
                      <a:endParaRPr sz="120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Exatecan（ASYM-128214）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100" b="1" kern="1200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  <a:endParaRPr sz="1100" b="1" kern="1200" dirty="0">
                        <a:solidFill>
                          <a:srgbClr val="1A4A6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43.2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$5–6M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2025-09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询盘。GMP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payload-linker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已选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欧洲供应商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Procos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意大利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公司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）；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 GMP 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仍在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康龙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宁波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  <a:endParaRPr lang="en-US" sz="1100" b="0" dirty="0" smtClean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产品估计最早</a:t>
                      </a:r>
                      <a:r>
                        <a:rPr lang="en-US" altLang="zh-CN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2030</a:t>
                      </a:r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年上市，可于</a:t>
                      </a:r>
                      <a:r>
                        <a:rPr lang="en-US" altLang="zh-CN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2028</a:t>
                      </a:r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下半年争取二供机会</a:t>
                      </a:r>
                      <a:endParaRPr sz="1100" b="1" dirty="0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ADC linker AZ14374332（ASYM-147285，Exatecan 为中间体）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100" b="1" kern="1200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  <a:endParaRPr sz="1100" b="1" kern="1200" dirty="0">
                        <a:solidFill>
                          <a:srgbClr val="1A4A6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 kg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$18M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与上一行同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AZD5305（ASYM-124995）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</a:t>
                      </a:r>
                      <a:r>
                        <a:rPr sz="1100" b="1" dirty="0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· </a:t>
                      </a:r>
                      <a:r>
                        <a:rPr sz="1100" b="1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第二供</a:t>
                      </a:r>
                      <a:endParaRPr sz="1100" b="1" dirty="0">
                        <a:solidFill>
                          <a:srgbClr val="1A4A6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步合成，最后两步为高活，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 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已拿到工艺优化</a:t>
                      </a:r>
                      <a:r>
                        <a:rPr lang="en-US" altLang="zh-CN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，正在</a:t>
                      </a:r>
                      <a:r>
                        <a:rPr lang="en-US" altLang="zh-CN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执行中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；AZ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未提供商业量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  <a:endParaRPr lang="en-US" sz="1100" b="0" dirty="0" smtClean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若 </a:t>
                      </a:r>
                      <a:r>
                        <a:rPr sz="1100" b="1" dirty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 </a:t>
                      </a:r>
                      <a:r>
                        <a:rPr sz="1100" b="1" dirty="0" err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扩展高活产能，</a:t>
                      </a:r>
                      <a:r>
                        <a:rPr sz="1100" b="1" dirty="0" err="1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可争取二供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Camizestrant / AZD9833（ASYM-147692）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</a:t>
                      </a:r>
                      <a:r>
                        <a:rPr sz="1100" b="1" dirty="0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· </a:t>
                      </a:r>
                      <a:r>
                        <a:rPr sz="1100" b="1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第二供</a:t>
                      </a:r>
                      <a:endParaRPr sz="1100" b="1" dirty="0">
                        <a:solidFill>
                          <a:srgbClr val="1A4A6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~8,800 kg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  <a:r>
                        <a:rPr 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-10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M/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yr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最后一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步为高活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。现供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Cambrex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US。公斤数由中间体年需求估算，不是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AZ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确认的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API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订单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 ADC 管线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  <a:endParaRPr sz="1100" b="1" dirty="0">
                        <a:solidFill>
                          <a:srgbClr val="5A6A7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 ADC payload-linker 管线较多；近期沟通中表示希望了解 SW 高活扩建计划。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Genmab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LD038.TFA（ASYM-129959）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71.8 kg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$86M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Payload-linker。计划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2026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年底报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BLA。天津已完成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PPQ、商业批次进行中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  <a:endParaRPr lang="en-US" sz="1100" b="0" dirty="0" smtClean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100" b="1" dirty="0" err="1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客户评估欧美二供</a:t>
                      </a:r>
                      <a:r>
                        <a:rPr sz="1100" b="1" dirty="0" err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，关注</a:t>
                      </a:r>
                      <a:r>
                        <a:rPr sz="1100" b="1" dirty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SW </a:t>
                      </a:r>
                      <a:r>
                        <a:rPr sz="1100" b="1" dirty="0" err="1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扩建计划</a:t>
                      </a:r>
                      <a:r>
                        <a:rPr 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（若有合作机会，需进一步升级</a:t>
                      </a:r>
                      <a:r>
                        <a:rPr lang="en-US" altLang="zh-CN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BLA</a:t>
                      </a:r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能力）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BioNTech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BNT3214（ASYM-139154）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转至 SW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$15–20M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现由中国支持早期研究；希望项目推进后由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Sandwich 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长期供货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NCC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 mesylate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68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已列需求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kg（2027）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仅列 2027 年 6 kg，其后年份与产值为 TBD。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Roche / 信达 / 宜联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高活海外产能询盘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三家在询问高活海外产能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</a:t>
            </a:r>
            <a:r>
              <a:rPr lang="en-US" altLang="zh-CN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+</a:t>
            </a:r>
            <a:r>
              <a:rPr lang="zh-CN" altLang="en-US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纯化</a:t>
            </a:r>
            <a:r>
              <a:rPr lang="en-US" altLang="zh-CN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lang="zh-CN" altLang="en-US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</a:t>
            </a:r>
            <a:r>
              <a:rPr sz="26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需求</a:t>
            </a:r>
            <a:r>
              <a:rPr sz="2600" b="1" dirty="0" err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：客户在问产能</a:t>
            </a:r>
            <a:endParaRPr sz="26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欧洲商务整理 · Sandwich 高活项目需求与机会（2027–2030）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4 </a:t>
            </a:r>
            <a:r>
              <a:rPr sz="2000" b="1" dirty="0" err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家列名客户</a:t>
            </a:r>
            <a:endParaRPr sz="20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· Genmab · BioNTech · NCC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3 家询盘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Roche · 信达 · 宜联（无量）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 条已丢失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Exatecan + linker GMP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明确问扩建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AZ、Genmab 已表示关注 SW 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2450592"/>
            <a:ext cx="11423599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欧洲商务列出面向</a:t>
            </a:r>
            <a:r>
              <a:rPr sz="15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Sandwich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的高活需求与机会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已列名客户为</a:t>
            </a:r>
            <a:r>
              <a:rPr sz="15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AZ、Genmab、BioNTech、NCC；另有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Roche、信达、宜联询问高活海外产能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AZ、Genmab</a:t>
            </a:r>
            <a:r>
              <a:rPr sz="15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明确希望了解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SW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高活扩建计划。部分项目的诉求是欧美第二供，用于对冲供应风险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BioNTech</a:t>
            </a:r>
            <a:r>
              <a:rPr sz="15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希望把现由中国支持的早期项目延伸到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Sandwich，并列明能力要求：与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TJ4 相当的高活密闭（1 ng/m³）、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实验室至公斤级、适用的高活色谱、高活冻干、与常规分析分开的高活分析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4048" y="4828032"/>
            <a:ext cx="3710330" cy="7315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密闭与高活分析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BioNTech 要求与 TJ4 相当的密闭（1 ng/m³），以及与常规分析分开的高活分析。对应 G-128 高活实验室。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0682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40682" y="4828032"/>
            <a:ext cx="3710330" cy="731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6986" y="4974336"/>
            <a:ext cx="3417722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</a:t>
            </a:r>
            <a:r>
              <a:rPr lang="zh-CN" altLang="en-US" sz="15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5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色谱与冻干</a:t>
            </a:r>
            <a:endParaRPr sz="15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6986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同一客户列明 fit-for-purpose 高活色谱与高活冻干。对应厂房内 HPLC + 冻干改造。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7316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97316" y="4828032"/>
            <a:ext cx="3710330" cy="7315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43620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第二供窗口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3619" y="5285232"/>
            <a:ext cx="3564027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</a:t>
            </a:r>
            <a:r>
              <a:rPr lang="zh-CN" altLang="en-US" sz="12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12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Exetecan+drug</a:t>
            </a:r>
            <a:r>
              <a:rPr lang="en-US" altLang="zh-CN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linker</a:t>
            </a:r>
            <a:r>
              <a:rPr lang="zh-CN" altLang="en-US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lang="en-US" altLang="zh-CN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AZD5305</a:t>
            </a:r>
            <a:r>
              <a:rPr lang="zh-CN" altLang="en-US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项目</a:t>
            </a:r>
            <a:endParaRPr lang="en-US" sz="1200" b="0" dirty="0" smtClean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b="0" dirty="0" smtClean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Genmab</a:t>
            </a:r>
            <a:r>
              <a:rPr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计划</a:t>
            </a:r>
            <a:r>
              <a:rPr sz="12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2026 </a:t>
            </a:r>
            <a:r>
              <a:rPr sz="12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年底报</a:t>
            </a:r>
            <a:r>
              <a:rPr sz="12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BLA，天津已进入商业批次，正在评估欧美第二供。AZ</a:t>
            </a:r>
            <a:r>
              <a:rPr sz="12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多个</a:t>
            </a:r>
            <a:r>
              <a:rPr sz="12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API </a:t>
            </a:r>
            <a:r>
              <a:rPr sz="12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亦以第二供为前提</a:t>
            </a:r>
            <a:endParaRPr sz="12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5 /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一、Pilot Plant 地面层改造 + C1 OEB5 升级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冻干（RBPC FS P01）  ·  C1 模块 OEB5 升级（内部估算）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£7.81M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第一部分投资合计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C1 OEB5 升级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最晚节点（冻干目标）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6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第一部分 · 投资与节点总览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冻干与 C1 OEB5 升级同步交付，共同形成制备 HPLC 的 OEB5 运行能力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97280"/>
          <a:ext cx="1136873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投资估算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构成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关键节点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估算依据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+ 冻干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£5,329,100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 £3,026,800 + 间接 £1,072,500 + 30% 项目预备费 £1,229,800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2027-12；冻干 2028-06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RBPC FS P01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 OEB5 升级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£2,476,500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主设备 £1,905,000 + 30% 项目预备费 £571,500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安装与确认 2027-10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内部估算；供应商预算报价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£7,805,600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其中项目预备费 £1,801,300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3611880"/>
            <a:ext cx="371033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3611880"/>
            <a:ext cx="3710330" cy="731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776472"/>
            <a:ext cx="338114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主要设备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4160520"/>
            <a:ext cx="345429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冻干机 £967,000；HPLC 撬装 £358,000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固定隔离器 £1,000,000；柔性隔离 £330,000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HVAC 与气闸 £575,000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0682" y="3611880"/>
            <a:ext cx="371033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40682" y="3611880"/>
            <a:ext cx="3710330" cy="731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05274" y="3776472"/>
            <a:ext cx="338114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交付关联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698" y="4160520"/>
            <a:ext cx="345429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C1 升级先于 HPLC 投用完成（2027-10 → 2027-12）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冻干机制造 8–10 个月，为第一部分关键路径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3611880"/>
            <a:ext cx="371033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7316" y="3611880"/>
            <a:ext cx="371033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1908" y="3776472"/>
            <a:ext cx="338114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预备费口径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5332" y="4160520"/>
            <a:ext cx="345429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两条线均按 30% 计列项目预备费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合计 £1,801,300，HPLC + 冻干另含 30% 价格风险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7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9802-RBP-ZZ-ZZ-RP-X-100000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技术可行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P01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目标（+3 个月）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冻干目标（+3 个月）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范围：制备 HPLC（DAC300/CP300）+ 冻干机（隔离器、除湿、纯蒸汽发生器等）及配套改造。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投资：Total CAPEX Estimate £5.33M（直接+间接+30% 项目预备费）；非最终 Capex。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周期：冻干机长周期驱动；优先冻干后 HPLC。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关联：须与 C1 模块 OEB5 升级同步交付，方可实现制备 HPLC 的 OEB5 运行能力。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需求对应：欧洲商务清单中，BioNTech 将高活色谱与高活冻干列为转至 Sandwich 长期供货的能力要求。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DAC300/CP300 泵撬；移动头罐；2000 L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废液罐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国内汉邦</a:t>
            </a:r>
            <a:r>
              <a:rPr lang="zh-CN" altLang="en-US" sz="13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为估价基础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PG.05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区域安装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冻干腔、隔离器、双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CIP、除湿、PSG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东富龙（</a:t>
            </a:r>
            <a:r>
              <a:rPr sz="13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Tofflon</a:t>
            </a:r>
            <a:r>
              <a:rPr sz="13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lang="zh-CN" altLang="en-US" sz="130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为估价基础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气闸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改造约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20 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9802-RBP-ZZ-ZZ-CP-X-100001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09344"/>
          <a:ext cx="5577839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£3,026,800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主工艺设备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£2,047,500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冻干机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£967,000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HPLC 撬装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 储罐/容器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 泵组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£472,500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基础设施改造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£979,300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土建结构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£326,000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机械与管道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 电气仪表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2.4 暖通空调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43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£226,000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09344"/>
          <a:ext cx="5626302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£1,072,500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FEED 研究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 详细设计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£289,000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 CDM 费用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 调试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 价格风险（30%）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£247,500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10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 / 间接 / 一般风险与预备费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£3,026,800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直接费用合计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£1,072,500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间接费用合计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£1,229,800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一般风险与预备费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011680"/>
            <a:ext cx="1142359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7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1. 主工艺设备    £2,047,500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2. 基础设施改造    £979,300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2788920"/>
            <a:ext cx="5577840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7" y="28346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429768" y="3090672"/>
          <a:ext cx="54864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126480" y="2788920"/>
            <a:ext cx="5626303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283464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直接费用 — 分项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6217920" y="3090672"/>
          <a:ext cx="54406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11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§4.4 图 1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冻干制造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8–10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供货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~18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12–14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18–20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216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068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395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25915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9352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8204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7875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6727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2028 H1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213969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/ 基准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60320" y="218027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734962" y="2198560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08031" y="213969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2026/05 – 2026/05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385440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5488" y="2385440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Engineer 就位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242601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753709" y="2444305"/>
            <a:ext cx="291070" cy="128016"/>
          </a:xfrm>
          <a:prstGeom prst="roundRect">
            <a:avLst>
              <a:gd name="adj" fmla="val 42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08031" y="2385440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2026/09 – 2026/10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263118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FEED（示意）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60320" y="267176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161207" y="2690050"/>
            <a:ext cx="941127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308031" y="263118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2027/01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287693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5488" y="287693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详细设计（示意）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291750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5112038" y="2935795"/>
            <a:ext cx="1348626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308031" y="287693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" y="312267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冻干规格 / 资金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560320" y="316325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3967160" y="3181540"/>
            <a:ext cx="53362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08031" y="312267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2026/09 – 2026/11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36842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75488" y="336842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冻干制造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320" y="340899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4578408" y="3427285"/>
            <a:ext cx="243528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308031" y="336842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361416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 FAT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560320" y="36547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7023401" y="3673030"/>
            <a:ext cx="3298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308031" y="361416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2027/08 – 2027/09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85991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75488" y="385991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冻干运输安装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60320" y="390048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7362983" y="3918775"/>
            <a:ext cx="1067258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308031" y="385991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2027/09 – 2027/12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5488" y="410565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冻干验证 → PQ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560320" y="414623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439944" y="4164520"/>
            <a:ext cx="158148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308031" y="410565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2027/12 – 2028/06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435140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5488" y="435140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规格 / 资金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60320" y="439197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772455" y="4410265"/>
            <a:ext cx="54333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308031" y="435140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5488" y="459714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制造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560320" y="463772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5393406" y="4656010"/>
            <a:ext cx="121279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308031" y="459714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2027/02 – 2027/06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84289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75488" y="484289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FAT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60320" y="48834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6615902" y="4901755"/>
            <a:ext cx="25226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308031" y="484289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2027/06 – 2027/07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5488" y="508863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运输安装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560320" y="512921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6945782" y="5147500"/>
            <a:ext cx="61124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308031" y="508863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2027/07 – 2027/09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533438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75488" y="533438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移动头罐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560320" y="537495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4510492" y="5393245"/>
            <a:ext cx="2774872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308031" y="533438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5488" y="558012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废液罐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560320" y="562070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4510492" y="5638990"/>
            <a:ext cx="2639039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308031" y="558012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" y="582587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75488" y="582587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560320" y="586644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6004654" y="5884735"/>
            <a:ext cx="1106067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0308031" y="582587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2027/04 – 2027/08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151505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932049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16849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333091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完成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35721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521811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采购 / 制造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87969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04428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验证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40217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566763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关键路径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59089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755483" y="6181344"/>
            <a:ext cx="745236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工程师就位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829903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994495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§4.3 示意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现有 C1 模块 OEB5 日常运行能力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OEB5 日常运行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升级目标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安装与确认目标（+3 个月）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范围：二层物料分装与首层最终包装固定隔离器；HVAC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升级；进出气闸联锁及雾化淋浴；覆盖各单元操作与废物流的定制柔性隔离器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估算：已取得供应商预算报价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—— ILC Dover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反应釜投料柔性隔离器整包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£115,800（含 R19–R22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投料方案概念设计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）；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Howorth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单腔分装隔离器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£250,000/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台。两者均为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Ex Works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口径，不含包装、运输、安装与调试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选型</a:t>
            </a:r>
            <a:r>
              <a:rPr sz="16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16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因属于现有厂房升级改造，涉及局部修改，非完整新机安装，</a:t>
            </a:r>
            <a:r>
              <a:rPr sz="16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不建议采用国内隔离器方案</a:t>
            </a:r>
            <a:r>
              <a:rPr lang="zh-CN" altLang="en-US" sz="160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（所有</a:t>
            </a:r>
            <a:r>
              <a:rPr lang="en-US" altLang="zh-CN" sz="160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parts</a:t>
            </a:r>
            <a:r>
              <a:rPr sz="16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英国落地须符合</a:t>
            </a:r>
            <a:r>
              <a:rPr sz="16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UK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标准并取得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CE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标志，补认证至少增加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3–4 </a:t>
            </a:r>
            <a:r>
              <a:rPr sz="16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个月</a:t>
            </a:r>
            <a:r>
              <a:rPr lang="zh-CN" altLang="en-US" sz="160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，费用与时间多不是好的选择</a:t>
            </a:r>
            <a:r>
              <a:rPr lang="zh-CN" altLang="en-US" sz="16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）</a:t>
            </a:r>
            <a:endParaRPr sz="16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交付关联：须与厂房内改造（制备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HPLC +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冻干）同步完成，方能为制备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HPLC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操作提供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OEB5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能力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周期：假设与改造项目一并批准；制备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HPLC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单元驱动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C1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模块升级交付时间线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固定隔离器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三层（second floor）：物料分装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一层（ground floor）：最终包装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HVAC 与气闸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HVAC 升级，支持日常 OEB5 运行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进出气闸联锁升级，含雾化淋浴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3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柔性隔离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多台定制柔性隔离器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覆盖模块内各单元操作及废物流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8999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8455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估价依据（供应商报价）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柔性隔离器：ILC Dover JS26-11384-0（2026-07-22）整包 £115,800，EXW，不含运输安装；交期约 20 周（图纸批准后）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固定隔离器：Howorth Q26543（2026-08-11）单腔分装隔离器 £250,000/台；选项 190 RTP £18,000、样机 £17,000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隔离器选型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不建议采用国内隔离器方案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须 CE 标志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英国落地前提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+3–4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事后补认证下限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成品高完整性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本项目所需类型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194560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英国落地须符合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UK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标准并取得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CE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标志。国内既有方案暂不具备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CE。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事后补做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CE：按已有项目经验至少增加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3–4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个月；若认证要求改设计，周期还会延长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CE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所需设计与测试文件，国内方案设计时未按该标准准备，补齐工作量大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本项目需要成品高完整性隔离器。已接触的国内供应商资料难以直接用于本项目；东富龙以设备定制隔离器为主，与本需求不匹配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推荐路径：按已取得的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Howorth、ILC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Dover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预算报价推进供货方案深化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15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内部估算 · 主设备 + 30% 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11423598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主设备（设备与设计费）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£1,905,000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三层（second floor）物料分装固定隔离器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一层（ground floor）最终包装固定隔离器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HVAC 与气闸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HVAC 系统改造/升级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气闸联锁及雾化淋浴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柔性隔离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各单元操作定制柔性隔离器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11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16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 / 全项目预备费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£1,905,000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£571,500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全项目预备费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212848"/>
            <a:ext cx="55778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7" y="228600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29768" y="2578608"/>
          <a:ext cx="54864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126480" y="2212848"/>
            <a:ext cx="562630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228600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主设备 — 分项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217920" y="2578608"/>
          <a:ext cx="544068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17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假设与改造项目一并批准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范围定稿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下单/制造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安装确认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15768" y="2167128"/>
            <a:ext cx="7427671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15768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0428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07947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9646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621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4473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范围定稿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15768" y="235595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709381" y="237423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216591" y="213969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12267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" y="312267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15768" y="333893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702995" y="3357219"/>
            <a:ext cx="1449698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216591" y="312267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410565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下单及设备制造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15768" y="432191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168983" y="4340199"/>
            <a:ext cx="2459601" cy="513892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216591" y="410565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2027/03 – 2027/08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08863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5488" y="508863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安装与确认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15768" y="530489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661162" y="532317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216591" y="508863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2027/08 – 2027/10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88558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69102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7672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4131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设计 / 准备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9920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663793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下单 + 制造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21677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186269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确认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19 /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二、OEB5 高活实验室（G-128 套间改造）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Concept 阶段 · 成本计划 260806 / 概念进度 260727 / 风险登记册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£3.55M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一期项目投资估算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DPH_G-128 Suite Alterations Concept Cost Plan 260806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£3.55M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范围：既有 G-128 套间改造为实验室与办公区，GIFA 215 m²；隔离器在成本计划中计列 4 台 × £150,000 + 1 台 × £100,000。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投资：一期项目投资（含通胀）£3,550,444；不含增值税。含二期及后续设备的全口径为 £4,300,044。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构成：建筑工程费 £1.95M + 专业服务费 £0.14M + 一期业主设备 £0.96M + 风险预备费 £0.40M + 通胀 £0.10M。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周期：概念进度（草案）自资金批准与推进决定起 262 个工作日，计划交付 2027 年 11 月；隔离器 2027-07-14 到场。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隔离器费用：目前为基于与供应商沟通的估算，最终取决于项目范围最终确认的密闭等级。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业主设备按分阶段清单待采购 £1,713,045：一期 £963,445 计入本期，二期及后续 £749,600 不计入本期。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需求对应：欧洲商务已列 AZ、Genmab、BioNTech、NCC 等对 SW 高活能力的需求或询盘；BioNTech 明确要求与 TJ4 相当的密闭及独立高活分析。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21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依据 G-128 概念成本计划分项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3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范围与面积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既有 G-128 套间（G128 及 G128A–D）改造；GIFA 215 m²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实验室区约 182 m²（机电费率基准）+ 办公区约 33 m²（地毯量）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 G128 与 G128D 之间砌块墙；混凝土墙新开 2 处传递窗洞、2 处门洞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8999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8455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隔离器与实验设备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1879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成本计划：4 台 × £150,000 + 1 台 × £100,000（合计 £700,000）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费用性质：基于与供应商沟通的估算，最终取决于项目范围最终确认的密闭等级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通风柜：假设现有可继续使用，仅列 £20,000 维修保养费用；是否新购为进度中待定项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SF6 检漏测试 £20,000；家具含更衣柜、跨越凳、移动实验台、BIBO 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4048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3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土建与装饰改造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拆除：家具与实验设备清空、地面与吊顶拆除、燃气/风管/电气/烟感/Crowcon 撤除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新建：墙面衬板 475 m²、新隔断 40 m²；5 樘单开 + 1 樘子母卫生门、2 樘木门、4 樘旧门翻新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装饰：实验室卷材乙烯地面 173 m²、金属吊顶 173 m²、办公区地毯 33 m²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8999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68999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8455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机电、安全与业主供货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1879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暖通 £217,920：AHU 恢复使用、全套风管与送回风、袋进袋出 HEPA 排风过滤、BMS 升级、系统平衡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电气 £107,380、消防喷淋 £30,030、门禁/布线/CCTV/火警 £51,345、实验室气体管道 £63,700、雾化淋浴 £35,000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业主（凯莱英）供货并安装设备：一期 £963,445（分阶段清单待采购合计 £1,713,045）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一期分项：ARD/QC £662,600、隔离器内仪器 £175,345、CRD £125,500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5577840"/>
            <a:ext cx="11423599" cy="8321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4048" y="5577840"/>
            <a:ext cx="82296" cy="832103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5216" y="5596128"/>
            <a:ext cx="1111270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风险与前提：正在就厂房改造事宜征求 DPML 同意 —— 改造完成后实验室将无法按当前运行状态交还 DPML，该沟通进展由 Clare 跟进。目前 DPML（Paul Bax，2026-08-21）原则上同意 PDF 与 DPH（含 G.128）拟议改造，最终以设计审查为准；可启动两项 Licence for Alteration，范围与图纸随设计深化补充。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业主设备分阶段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Equipment List Costs for scoping 0911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£963,445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一期设备（计入本期）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£749,600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二期及后续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£1,713,045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待采购合计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£3,550,444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一期项目投资（含通胀）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066543"/>
            <a:ext cx="563864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4048" y="2066543"/>
            <a:ext cx="82296" cy="2084831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5216" y="2139696"/>
            <a:ext cx="530946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468880"/>
            <a:ext cx="5364327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开业配置：分析 HPLC 先购 1 套；质谱及气源纳入一期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隔离器内固体操作仪器纳入一期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同期按一个项目配置反应系统（EasyMax 等先购 1 套）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8999" y="2066543"/>
            <a:ext cx="563864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68999" y="2066543"/>
            <a:ext cx="82296" cy="2084831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70167" y="2139696"/>
            <a:ext cx="530946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二期及后续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3591" y="2468880"/>
            <a:ext cx="5364327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制备 HPLC、粒度仪、自动滴定仪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结晶筛选与部分反应配套、器皿清洗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软件 £200,000，计入后续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84048" y="4279392"/>
          <a:ext cx="11368733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0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2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分组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二期及后续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ARD / QC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£832,600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£662,600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£170,000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隔离器内仪器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£383,345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£175,345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£497,100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£125,500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£371,600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5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£1,713,045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£749,600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投资总览（1/2）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2026-08-06 · GIFA 215 m²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38912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一期项目投资（含通胀）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607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£3,550,444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72768"/>
          <a:ext cx="5577839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建筑工程费合计 Total Building Works Estimate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£1,951,140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改造工程 Facilitating Works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£65,567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拆除、改造与拆砌（隔断等）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£46,967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机电拆除（燃气、风管、电气、烟感、Crowcon 等）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£18,600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上部结构 Superstructure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£68,690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 内墙与隔断（墙面衬板、新建隔断、氢气管道包封）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£42,440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 内门（5 单开 + 1 子母卫生门、2 木门、4 樘旧门翻新）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£26,250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装饰 Finishes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£58,898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墙面装饰（实验室 475 m²、办公区 70 m²）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£9,810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 地面（实验室卷材乙烯 173 m²、踢脚 136 m、办公区地毯 33 m²）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£23,631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3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 吊顶（实验室金属吊顶 173 m²、周边收口 136 m）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£25,457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572768"/>
          <a:ext cx="5626302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家具与设备 Fittings, Furnishings and Equipment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£765,000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4 台 × £150,000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1 台 × £100,000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通风柜（假设现有可用，仅列维修保养）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SF6 检漏测试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家具（更衣柜、跨越凳、移动实验台、BIBO 桶）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办公区家具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机电安装 Services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£537,574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5.6 暖通空调（AHU 恢复使用、全套风管、袋进袋出 HEPA 排风、BMS 升级、系统平衡）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£217,920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 电气（小动力 182 m²、照明 182 m²，含设备接电）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£107,380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 给水（冷热水、水槽复装、雾化淋浴 £35,000）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£38,600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改造与建筑工程小计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£1,495,729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投资总览（2/2）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续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51560"/>
          <a:ext cx="1142359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临建与承包商设计 Preliminaries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£362,500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6.1 临时工程（保留设备与公共区域防护、临时照明）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 现场福利与临建（施工期 21 周）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 设计与施工管理（勘查、RIBA 2/3 与 RIBA 4 承包商设计、RIBA 5 现场资源 22 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管理费与利润 Overheads and Profit（5.00%）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£92,911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专业服务费 Professional Services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项目管理（合同前 33 周 / 合同后 22 周 / 缺陷期）、设计支持、商务支持与合同管理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业主（凯莱英）供货并安装设备 Equipment (supplied and installed by the Client)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一期设备（分阶段清单，计入本期）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二期及后续设备 £749,600（不计入本期）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风险预备费 Risk Allowance Estimate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 设计发展风险（依风险登记册）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 通胀 Inflation（2.15%）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自基准日至施工期的通胀调整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一期项目投资（含通胀）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£3,550,444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25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ARD / QC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£832,600  ·  一期 £662,600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系统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 Technologies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HPLC/质谱系统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Agilent Technologies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氮气发生器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氢气发生器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电动移液器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Handystep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Milli-Q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Undersink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Millipore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制备 HPLC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Large Fumehood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国内汉邦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pH 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Waters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质谱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库仑法 KF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Fumehood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Metrohm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26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隔离器内仪器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£383,345  ·  一期 £175,345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 TC45 浸入式冷却器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自动滴定仪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台式粉末 X 射线衍射仪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粒度仪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Malvern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微量天平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3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干燥箱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Salvis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新购/既有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FTIR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Thermo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27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CRD（1/2）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£497,100  ·  一期 £125,500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实验室冰柜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双反应釜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vessels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梅特勒 SP-50 加料单元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 SP-50 Dosing units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控制器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Controller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电机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Motors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支架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Stand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循环冷水机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大称量天平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Sartorius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28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CRD（2/2）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£497,100  ·  一期 £125,500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Stem 加热模块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Electrothermal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搅拌加热板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旋转蒸发仪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顶置搅拌器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软件（待定）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Software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器皿清洗机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Miscellaneous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Miele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Asymchem Concept Programme_260727（DRAFT CONCEPT PROGRAMME）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262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总工期（工作日）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2026-10-13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资金批准与推进决定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2027-07-14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隔离器到场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计划交付（含进度风险预留）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52439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4095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07961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9648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资金批准节点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0" y="217953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246131" y="2197825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08031" y="213969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383971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" y="238397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顾问任命 + BoD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0" y="2423813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246131" y="2442101"/>
            <a:ext cx="212275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308031" y="238397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262824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主承包商招标任命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266808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474735" y="2686376"/>
            <a:ext cx="555180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08031" y="262824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872522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5488" y="2872522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合同授予与动员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60320" y="291236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029916" y="2930652"/>
            <a:ext cx="457207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308031" y="2872522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2026/12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" y="3116797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勘查与项目控制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3156639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503453" y="3174927"/>
            <a:ext cx="930744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308031" y="3116797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3361073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5488" y="3361073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实验室设计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60320" y="340091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4503453" y="3419202"/>
            <a:ext cx="173085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308031" y="3361073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" y="3605348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CDM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320" y="3645190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4503453" y="3663478"/>
            <a:ext cx="449043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308031" y="3605348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84962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75488" y="384962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隔离器采购制造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560320" y="3889465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732056" y="3907753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308031" y="384962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" y="4093899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通风柜采购（待定）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60320" y="4133741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4732056" y="4152029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308031" y="4093899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33817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75488" y="433817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实验室家具采购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560320" y="4378016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4732056" y="4396304"/>
            <a:ext cx="2449327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308031" y="433817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4582450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分包工程招标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60320" y="462229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732056" y="4640579"/>
            <a:ext cx="222072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308031" y="4582450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826725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75488" y="4826725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施工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0" y="48665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7001767" y="4884855"/>
            <a:ext cx="1763515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308031" y="4826725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2027/05 – 2027/09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5488" y="507100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调试与移交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60320" y="51108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781611" y="5129130"/>
            <a:ext cx="326576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308031" y="507100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2027/09 – 2027/10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315276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75488" y="531527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进度风险预留 → 交付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560320" y="535511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9124517" y="5373406"/>
            <a:ext cx="57150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308031" y="531527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2027/10 – 2027/11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29802" y="2139696"/>
            <a:ext cx="16459" cy="3419856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275522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622395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786987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设计 / 合约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144871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309463" y="5669280"/>
            <a:ext cx="173736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采购 / 制造 / 预留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376007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540599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调试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4048" y="5980175"/>
            <a:ext cx="11423599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进度说明：各项活动于 2027 年 10 月下旬完成，余量计入末段进度风险预留，交付目标 2027 年 11 月。后续设计推进中部分工作有并行压缩的空间，但取决于最终确认的风险处理方式与可接受的风险水平。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评估结论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三、B902 东侧扩建（评估结果）  ·  Scitech RIBA 1  ·  300291-RE-0001  ·  2026-05-22 Issue A1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RIBA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 OOM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2030-05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总控完成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范围：东侧约 600 m²，四层+设备夹层，10 台反应釜、2500 L 加氢釜、3 套过滤干燥机及公用工程。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方案：Option 1 — 拆除/迁址原加氢厂房；与 902 低层楼面贯通。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进展：FS 完成；计划 2030-05 竣工，沿用设计方总控计划；RIBA 2 概念设计启动延后需在阶段内消化。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300291-CM-0001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75488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 OOM 总价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£78,108,089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557783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直接工程费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£59,489,961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场地清理拆除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£254,960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地下结构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£1,499,680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地上结构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£3,942,636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内部装修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£1,270,672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装置与设备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£154,960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建筑机电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£9,532,716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£23,249,083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既有建筑改造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£204,000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室外工程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£1,859,520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临建 (8%)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£3,357,458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承包商管理费与利润 (5%)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£2,266,284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£47,591,969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63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£11,897,992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27632"/>
          <a:ext cx="5626302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其他项目费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£5,077,946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设计团队费 (8%)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£3,807,357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勘测与调查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BREEAM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规划与法定费用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£4,062,357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£1,015,589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£13,540,182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全项目预备费（25%）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£12,913,582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风险登记册（概率加权总和）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£626,600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" y="64008"/>
            <a:ext cx="12191695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971800"/>
            <a:ext cx="137160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dirty="0" err="1">
                <a:solidFill>
                  <a:srgbClr val="B8C5D6"/>
                </a:solidFill>
                <a:latin typeface="微软雅黑"/>
                <a:ea typeface="微软雅黑"/>
                <a:cs typeface="微软雅黑"/>
              </a:rPr>
              <a:t>Asymchem</a:t>
            </a:r>
            <a:r>
              <a:rPr sz="1800" b="0" dirty="0">
                <a:solidFill>
                  <a:srgbClr val="B8C5D6"/>
                </a:solidFill>
                <a:latin typeface="微软雅黑"/>
                <a:ea typeface="微软雅黑"/>
                <a:cs typeface="微软雅黑"/>
              </a:rPr>
              <a:t> UK  ·  Sandwich  ·  2026年10月12日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3756</Words>
  <Application>Microsoft Office PowerPoint</Application>
  <PresentationFormat>宽屏</PresentationFormat>
  <Paragraphs>1103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5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Guoxi Zheng</dc:creator>
  <cp:keywords/>
  <dc:description>generated using python-pptx</dc:description>
  <cp:lastModifiedBy>Guoxi Zheng</cp:lastModifiedBy>
  <cp:revision>11</cp:revision>
  <dcterms:created xsi:type="dcterms:W3CDTF">2013-01-27T09:14:16Z</dcterms:created>
  <dcterms:modified xsi:type="dcterms:W3CDTF">2026-10-12T09:50:03Z</dcterms:modified>
  <cp:category/>
</cp:coreProperties>
</file>