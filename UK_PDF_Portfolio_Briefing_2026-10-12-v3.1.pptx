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99E-4D6A-962B-86765F0B04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99E-4D6A-962B-86765F0B04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99E-4D6A-962B-86765F0B0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9F1C-400C-B869-43BEE2F13F66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9F1C-400C-B869-43BEE2F13F66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9F1C-400C-B869-43BEE2F13F66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9F1C-400C-B869-43BEE2F13F66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9F1C-400C-B869-43BEE2F13F66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9F1C-400C-B869-43BEE2F13F66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9F1C-400C-B869-43BEE2F13F66}"/>
              </c:ext>
            </c:extLst>
          </c:dPt>
          <c:dPt>
            <c:idx val="7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F-9F1C-400C-B869-43BEE2F13F66}"/>
              </c:ext>
            </c:extLst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F1C-400C-B869-43BEE2F13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C26-4EA5-AB31-E37A615AB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C26-4EA5-AB31-E37A615AB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3FF2-4896-AB49-438CCC4AEC20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3FF2-4896-AB49-438CCC4AEC20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3FF2-4896-AB49-438CCC4AEC20}"/>
              </c:ext>
            </c:extLst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F2-4896-AB49-438CCC4AE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</a:t>
            </a:r>
            <a:r>
              <a:rPr sz="34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UK · Sandwich </a:t>
            </a:r>
            <a:r>
              <a:rPr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P</a:t>
            </a:r>
            <a:r>
              <a:rPr lang="en-US" altLang="zh-CN"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ilot Plant</a:t>
            </a:r>
            <a:endParaRPr sz="34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608832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一、地面层改造 + C1 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 £5.33M  ·  C1 £2.48M
2027-10 C1 / 2027-12 HPLC / 2028-06 冻干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6344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6344" y="2880360"/>
            <a:ext cx="3608832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9224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224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一期口径（不含二期设备）
计划 2027-11 交付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9768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9768" y="2880360"/>
            <a:ext cx="3608832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2648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三、B902 东侧扩建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648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2648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可研评估 OOM
2030-05 竣工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汇报</a:t>
            </a:r>
            <a:r>
              <a:rPr lang="zh-CN" altLang="en-US" sz="140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日期：</a:t>
            </a:r>
            <a:r>
              <a:rPr sz="1400" b="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2026年10月12日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三部分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796753"/>
              </p:ext>
            </p:extLst>
          </p:nvPr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改造（地面层）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      </a:t>
                      </a:r>
                      <a:r>
                        <a:rPr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日常运行能力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二、OEB5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£3.55M（一期）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三、B902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加氢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过滤干燥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竣工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第一、二部分合计（改造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£5.33M + C1 £2.48M +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高活实验室一期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£3.55M，不含二期设备）约 £11.36M，不含 B902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东侧扩建。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各线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来自不同的评估基础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扩建与改造为可行性量级，C1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为内部估算，高活实验室为概念阶段成本计划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客户与项目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22401"/>
              </p:ext>
            </p:extLst>
          </p:nvPr>
        </p:nvGraphicFramePr>
        <p:xfrm>
          <a:off x="384048" y="769620"/>
          <a:ext cx="11368735" cy="575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询盘。GMP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payload-linker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已选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欧洲供应商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Procos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意大利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公司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 GMP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仍在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康龙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宁波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产品估计最早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年上市，可于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2028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下半年争取二供机会</a:t>
                      </a:r>
                      <a:endParaRPr sz="1100" b="1" dirty="0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步合成，最后两步为高活，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已拿到工艺优化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，正在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未提供商业量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 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扩展高活产能，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可争取二供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M/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yr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最后一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步为高活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。现供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Cambrex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US。公斤数由中间体年需求估算，不是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确认的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API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  <a:endParaRPr sz="1100" b="1" dirty="0">
                        <a:solidFill>
                          <a:srgbClr val="5A6A7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2026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年底报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BLA。天津已完成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PPQ、商业批次进行中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客户评估欧美二供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，关注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SW 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扩建计划</a:t>
                      </a:r>
                      <a:r>
                        <a:rPr 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（若有合作机会，需进一步升级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能力）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Sandwich 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长期供货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三家在询问高活海外产能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：客户在问产能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</a:t>
            </a:r>
            <a:r>
              <a:rPr sz="20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家列名客户</a:t>
            </a:r>
            <a:endParaRPr sz="20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450592"/>
            <a:ext cx="11423599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欧洲商务列出面向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的高活需求与机会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已列名客户为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AZ、Genmab、BioNTech、NCC；另有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Roche、信达、宜联询问高活海外产能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明确希望了解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SW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高活扩建计划。部分项目的诉求是欧美第二供，用于对冲供应风险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希望把现由中国支持的早期项目延伸到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Sandwich，并列明能力要求：与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TJ4 相当的高活密闭（1 ng/m³）、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实验室至公斤级、适用的高活色谱、高活冻干、与常规分析分开的高活分析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zh-CN" altLang="en-US" sz="15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色谱与冻干</a:t>
            </a:r>
            <a:endParaRPr sz="15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19" y="5285232"/>
            <a:ext cx="3564027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</a:t>
            </a:r>
            <a:r>
              <a:rPr lang="zh-CN" altLang="en-US" sz="12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Exetecan+drug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linker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AZD5305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项目</a:t>
            </a: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</a:t>
            </a:r>
            <a:r>
              <a:rPr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2026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年底报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BLA，天津已进入商业批次，正在评估欧美第二供。AZ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亦以第二供为前提</a:t>
            </a:r>
            <a:endParaRPr sz="12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一、Pilot Plant 地面层改造 + C1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冻干（RBPC FS P01）  ·  C1 模块 OEB5 升级（内部估算）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第一部分投资合计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C1 OEB5 升级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最晚节点（冻干目标）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第一部分 · 投资与节点总览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冻干与 C1 OEB5 升级同步交付，共同形成制备 HPLC 的 OEB5 运行能力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97280"/>
          <a:ext cx="113687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投资估算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估算依据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£5,329,100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 £3,026,800 + 间接 £1,072,500 + 30% 项目预备费 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2027-12；冻干 2028-06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RBPC FS P01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£2,476,500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 £1,905,000 + 30% 项目预备费 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安装与确认 2027-10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内部估算；供应商预算报价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£7,805,600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其中项目预备费 £1,801,300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3611880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主要设备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 £967,000；HPLC 撬装 £358,000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 £1,000,000；柔性隔离 £330,000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与气闸 £575,000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0682" y="3611880"/>
            <a:ext cx="371033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5274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交付关联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C1 升级先于 HPLC 投用完成（2027-10 → 2027-12）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冻干机制造 8–10 个月，为第一部分关键路径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3611880"/>
            <a:ext cx="371033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1908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预备费口径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两条线均按 30% 计列项目预备费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合计 £1,801,300，HPLC + 冻干另含 30% 价格风险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废液罐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国内汉邦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区域安装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冻干腔、隔离器、双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CIP、除湿、PSG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东富龙（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Tofflon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CN" altLang="en-US" sz="13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气闸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改造约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 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3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51505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32049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范围：二层物料分装与首层最终包装固定隔离器；HVAC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升级；进出气闸联锁及雾化淋浴；覆盖各单元操作与废物流的定制柔性隔离器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估算：已取得供应商预算报价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—— ILC Dover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反应釜投料柔性隔离器整包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£115,800（含 R19–R22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投料方案概念设计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）；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Howorth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单腔分装隔离器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£250,000/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台。两者均为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Ex Works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口径，不含包装、运输、安装与调试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选型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因属于现有厂房升级改造，涉及局部修改，非完整新机安装，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（所有</a:t>
            </a:r>
            <a:r>
              <a:rPr lang="en-US" altLang="zh-CN" sz="160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parts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英国落地须符合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UK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标准并取得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标志，补认证至少增加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3–4 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个月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，费用与时间多不是好的选择</a:t>
            </a:r>
            <a:r>
              <a:rPr lang="zh-CN" altLang="en-US" sz="16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6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交付关联：须与厂房内改造（制备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+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冻干）同步完成，方能为制备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操作提供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OEB5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能力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周期：假设与改造项目一并批准；制备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单元驱动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C1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模块升级交付时间线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隔离器选型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须 CE 标志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英国落地前提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+3–4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事后补认证下限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成品高完整性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本项目所需类型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英国落地须符合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UK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标准并取得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标志。国内既有方案暂不具备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事后补做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CE：按已有项目经验至少增加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3–4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个月；若认证要求改设计，周期还会延长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所需设计与测试文件，国内方案设计时未按该标准准备，补齐工作量大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本项目需要成品高完整性隔离器。已接触的国内供应商资料难以直接用于本项目；东富龙以设备定制隔离器为主，与本需求不匹配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推荐路径：按已取得的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Howorth、ILC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Dover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预算报价推进供货方案深化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11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8558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6910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一期项目投资估算（不含二期设备）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一期项目投资估算（不含二期设备）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投资：一期项目投资（含通胀）£3,550,444；不含增值税。含二期及后续设备的全口径为 £4,300,044。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一期业主设备 £0.96M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隔离器费用：目前为基于与供应商沟通的估算，最终取决于项目范围最终确认的密闭等级。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业主设备分两期：一期为启动必要设备 £963,445，计入本期；二期及后续为全面配置设备 £749,600，不计入本期（两期合计待采购 £1,713,045）。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业主（凯莱英）供货并安装设备：一期 £963,445（分阶段清单待采购合计 £1,713,045）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一期分项：ARD/QC £662,600、隔离器内仪器 £175,345、CRD £125,500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业主设备分阶段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Equipment List Costs for scoping 0911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一期设备（计入本期）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待采购合计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 · 启动必要设备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开业配置：分析 HPLC 先购 1 套；质谱及气源纳入一期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隔离器内固体操作仪器纳入一期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同期按一个项目配置反应系统（EasyMax 等先购 1 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二期及后续 · 全面配置设备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制备 HPLC、粒度仪、自动滴定仪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结晶筛选与部分反应配套、器皿清洗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软件 £200,000，计入后续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ARD / QC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£832,600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£662,600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隔离器内仪器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£383,345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£175,345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£497,100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£125,500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£371,600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一期设备（分阶段清单，计入本期）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二期及后续设备 £749,600（不计入本期）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£3,550,444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£832,600  ·  一期 £662,600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£383,345  ·  一期 £175,345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自动滴定仪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软件（待定）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29802" y="2139696"/>
            <a:ext cx="16459" cy="3419856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27552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评估结论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三、B902 东侧扩建（评估结果）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31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dirty="0" err="1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</a:t>
            </a:r>
            <a:r>
              <a:rPr sz="1800" b="0" dirty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 UK  ·  Sandwich  ·  2026年10月12日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3756</Words>
  <Application>Microsoft Office PowerPoint</Application>
  <PresentationFormat>宽屏</PresentationFormat>
  <Paragraphs>1103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Guoxi Zheng</dc:creator>
  <cp:keywords/>
  <dc:description>generated using python-pptx</dc:description>
  <cp:lastModifiedBy>Guoxi Zheng</cp:lastModifiedBy>
  <cp:revision>11</cp:revision>
  <dcterms:created xsi:type="dcterms:W3CDTF">2013-01-27T09:14:16Z</dcterms:created>
  <dcterms:modified xsi:type="dcterms:W3CDTF">2026-10-12T09:50:03Z</dcterms:modified>
  <cp:category/>
</cp:coreProperties>
</file>